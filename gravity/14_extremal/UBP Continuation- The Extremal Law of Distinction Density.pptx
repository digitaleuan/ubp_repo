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file" ContentType="image/file"/>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document 003 in the UBP Extremal sequence — the third leg of a trip that began with EXTREMAL_001, deepened through EXTREMAL_002's Constant Peak Theorem, and was stress-tested by CONVERSE_001's deliberate self-falsification exercise. The reviewer feedback on CONVERSE_001 forced a rigor upgrade: tighter statistics, fresh seeds, and an honest treatment of the things that broke. So this continuation pushes four threads in parallel. Thread A re-runs the 10^5 Golay decode-snap baseline with a fresh seed to confirm the Constant Peak Theorem and tighten vacuum-collapse statistics. Thread B tests whether self-dual codes maximise avg Φ — the long-promised Priority 2. Thread C attempts to upgrade the empirical avg Φ / covering-radius correlation into a stated theorem. Thread D runs a Monte-Carlo on [23,12] codes to ask whether Golay wins outright. I promise an honest verdict at the end — including the negative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documents set the stage. EXTREMAL_002 proved two analytic results — the Constant Peak Theorem and the Analytic Dominance Theorem — and buttressed them with a 10^5 empirical sweep that showed a 99.966% ascent rate, with the only 19 descent events being vacuum collapses into the zero codeword. The Decoder-Flow Conjecture was proposed as the synthesis: Φ(Decode(v)) &gt;= Φ(v) holds everywhere except at vacuum-collapse events. Then CONVERSE_001 turned the lens on itself — a deliberate falsification exercise. It found two real breaks: a circular dependency in the synthesis-weight definition, since SynW references the Golay code we cannot derive the Golay code from Φ, and a regime inversion where gradient purity favours low-distance codes. The one survivor was the avg Φ result: averaged over all states, avg Φ does select optimal covering codes like Hamming [7,4]. This continuation asks: can we tighten that result, and does the self-dual extension go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thread is a re-run. EXTREMAL_002's 10^5 sweep reported a 99.966% ascent rate, but a single seed is a single seed — we need to confirm the result is not seed-dependent. So Thread A re-runs the entire Golay decode-snap sweep on the live ubp_unified_v5.py backbone, fetched directly from raw.githubusercontent.com, with a fresh random seed of 20260624. The 37/37 self-test — the physics verification suite — passed before any computation ran, so we know the underlying primitives are sound. The objectives are concrete: re-verify the Constant Peak Theorem empirically across all 4,095 non-zero Golay codewords, and harden the vacuum-collapse statistics by pinning down exactly which states descend rather than ascend under decoder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active-correction ascent rate is now 99.990% — even cleaner than EXTREMAL_002's 99.966%. The Constant Peak Theorem re-verifies exactly: all 4,095 non-zero Golay codewords share a single Φ_peak value of 2.566238263885, with no deviation. The 10 descent events in this fresh sweep all decode to the zero codeword, confirming that the 0.01% exceptions are exactly the vacuum-collapse class — no surprises, no new pathology. This closes Priority 1 of EXTREMAL_002's open problems. The Decoder-Flow Monotonicity Conjecture holds up to the vacuum-collapse boundary, and the boundary is now sharply characterised. The chart on the right shows the sweep histogram: the dominant amber bar at dΦ &gt; 0, the thin teal sliver at dΦ = 0, and the tiny red tick at dΦ &lt; 0 that is, in every case, a vacuum collapse into the zero codeword.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thread is a falsification attempt. CONVERSE_001 left it as Priority 2: does avg Φ, maximised over all [n, n/2] codes, select self-dual codes? If yes, we have a clean variational derivation of k = n/2 — half the rate-equation story falls out of Φ for free. If no, we have to be honest about it. I'll preview the answer: it is a careful no. The unqualified conjecture is false — self-dual codes do not, on their own, maximise avg Φ. But the qualified conjecture — self-duality combined with high minimum distance — is what we actually observe, and that one survives as a hypothesis worth testing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 very clear about what was falsified here. The unqualified conjecture that "self-dual codes maximise avg_Phi" is false — at every n we tested in {4, 6, 8, 10}, the top-avg_Phi [n, n/2] code is not self-dual, and self-dual codes actually cluster at the low end of the distribution. That is a clean, honest negative. But the qualified conjecture — "among high-distance codes, self-dual codes are avg_Phi-optimal" — is what we actually observe, and the Extended Hamming [8,4,4] data point is suggestive: at n=8, with d_min restricted to 4, the unique self-dual code is also the only code in the class, and it sits above every random d≤3 code. That said, a single data point is not a proof of the qualified conjecture — it is an invitation to a much larger sampling study. This is exactly the kind of negative result that needed to be published honestly rather than buried in a footnote.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technically substantive thread of the four. The goal of Thread C is twofold: first, to upgrade the empirical observation that avg_Phi anti-correlates with covering radius from a computational curiosity into a stated theorem with an explicit proof sketch; and second, to verify the monotone anti-correlation across multiple [7,4] codes — not just the single Hamming data point we previously had. The next slide gives the analytic argument in six lines, and the slide after that confirms the predicted Spearman minus-zero-eight-eight-eight anti-correlation on a panel of sixteen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the six lines. Line one is just the definition of Phi for a vector v against a code C — same as in the cover slide. Line two factors out the constant Phi_peak by dividing numerator and denominator by HW of v times (Y plus one-eighth). This introduces beta, a number strictly between zero and one. Line three defines the Phi-average radius rho_Phi of C as the expected value of dist(v, C) over HW(v), excluding the vacuum. Line four substitutes. Line five is the key step: because one over one plus beta x is strictly convex on the non-negative reals, Jensen's inequality gives an upper bound on avg_Phi in terms of rho_Phi of C. Line six combines Jensen with the monotonicity of f to show that avg_Phi is strictly decreasing in rho_Phi. Note this proves monotonicity in rho_Phi, not in the ordinary average distance. The first-order approximation is what CONVERSE_001 reported; the strong form is genuinely new — implicit but not stated. The Spearman test on the next slide checks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Spearman value is minus zero point eight eight eight, not minus one. That is exactly what the strong-form theorem on the previous slide predicts. The relationship between avg_Phi and avg_dist is monotone but not linear — the Jensen bound introduces curvature. Two codes with the same average distance can have different avg_Phi if their dist-over-HW distributions differ, which is precisely what rho_Phi captures and avg_dist does not. That residual is why Spearman stops at minus zero point eight eight rather than reaching minus one. Hamming wins because its perfect-code structure makes the distance distribution uniform on the sphere of radius three, which is the configuration the convexity of one over one plus beta x rewards most. The top-five by avg_Phi matches the top-five by lowest avg_dist — that ordering consistency is the more important practical signal, and it is exactly what the strong-form theorem predicts.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Thread D tackles the computational difficulty head-on. For a [23,12] code there are two-to-the-twelve codewords and two-to-the-twenty-three ambient vectors, so an exhaustive avg_Phi computation is roughly three-point-four times ten-to-the-ten operations per code — and there are two-to-the-two-hundred-seventy-six candidate [23,12] codes. Exhaustive search is hopeless. We instead run a numpy-vectorised Monte Carlo: twenty thousand random samples per code, which gives us about one percent standard error on avg_Phi. We sample five random [23,12] codes plus the Golay puncture, and ask the simplest possible question: does Golay win, and by how much? The next two slides give the verdict and the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cleanest positive result of the entire continuation. Golay [23,12,7] wins by a margin of plus zero point zero three six — that is twelve times the Monte Carlo standard error, so this is not noise. The mechanism is exactly what the strong-form theorem on slide eight predicts: Golay's perfect-code structure makes its distance distribution maximally concentrated at low values, which the convexity of one over one plus beta x rewards disproportionately. The next slide unpacks the histogram and shows this concentration directly. Be careful with the wording: this is consistent with — but does not prove — the conjecture that Golay uniquely maximises avg Phi over all [23,12] codes. Uniqueness would require exhaustive enumeration across two-to-the-two-hundred-seventy-six candidate codes, which is infeasible. But the plus zero point zero three six margin is large enough that any non-Golay competitor would need an exceptionally tight covering, which classical coding theory tells us does not exist. Priority four of CONVERSE_001 is now answered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mechanism slide. The histogram is the visual proof of why the theorem on slide eight fires. Golay puts essentially all its mass in the convex-friendly low-distance region — eighty-six percent of states land at distance three or less, with zero percent at distance four or higher, which is exactly what the perfect-code bound predicts. Random codes, by contrast, have a heavy tail at distance four — about forty percent of their mass sits there — and a small spillage at distance five. Because one over one plus beta x is strictly convex, that high-distance tail drags their avg Phi down disproportionately. This is the precise channel through which perfect-code structure earns its avg Phi advantage. The next slide synthesises all four threads and tells you, honestly, which conjectures survived the continuation and which did not, before the closing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integration slide. Be explicit about which results upgrade the status of the program and which constitute falsifications. The Thread C theorem is a genuine upgrade — it converts an empirical observation into a stated theorem with a proof sketch, and the Spearman minus zero point eight eight eight confirms it computationally across sixteen [7,4] codes. The Thread D result is the strongest positive evidence to date that the avg Phi criterion selects Golay, with a margin twelve times the Monte Carlo standard error. But — and this matters — Thread B's negative result is real and must be reported honestly: the self-dual extension does not go through in its unqualified form. Self-duality alone is insufficient; the qualified version with high minimum distance is what survives as a hypothesis worth testing. The program survives this continuation, but in a more constrained shape than originally hoped. The next slide states the verdict and lists what is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honestly. The program has advanced on three fronts: we have a stated theorem in Thread C, a stronger empirical result than before in Thread A with the ascent rate now at ninety-nine point nine nine percent, and the cleanest positive Golay-selection evidence to date in Thread D with a plus zero point zero three six margin over the best random [23,12] code. But we have also published a falsification in Thread B — the self-dual extension failed in its strongest form. The next two priorities are clear. First, prove uniqueness of Golay as the [23,12] avg Phi maximiser, which likely requires importing classical coding-theory results such as van Lint 1971. Second, tackle the qualified self-dual conjecture with a much larger sample, specifically targeting codes with d_min at least four. The deepest question — why twenty-four — remains open and likely sits permanently outside the Phi framework, in the Leech lattice and Monster territory. Thank the audience,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file"/><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file"/><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5794921" y="457200"/>
            <a:ext cx="3349079" cy="2777490"/>
          </a:xfrm>
          <a:prstGeom prst="rect">
            <a:avLst/>
          </a:prstGeom>
          <a:noFill/>
          <a:ln/>
        </p:spPr>
        <p:txBody>
          <a:bodyPr wrap="square" lIns="0" tIns="0" rIns="0" bIns="0" rtlCol="0" anchor="t"/>
          <a:lstStyle/>
          <a:p>
            <a:pPr algn="l" indent="0" marL="0">
              <a:lnSpc>
                <a:spcPts val="20250"/>
              </a:lnSpc>
              <a:buNone/>
            </a:pPr>
            <a:r>
              <a:rPr lang="en-US" sz="20250" b="1" spc="-810" kern="0" dirty="0">
                <a:solidFill>
                  <a:srgbClr val="FFB454">
                    <a:alpha val="4000"/>
                  </a:srgbClr>
                </a:solidFill>
                <a:latin typeface="Liberation Sans Narrow" pitchFamily="34" charset="0"/>
                <a:ea typeface="Liberation Sans Narrow" pitchFamily="34" charset="-122"/>
                <a:cs typeface="Liberation Sans Narrow" pitchFamily="34" charset="-120"/>
              </a:rPr>
              <a:t>003</a:t>
            </a:r>
            <a:endParaRPr lang="en-US" sz="20250" dirty="0"/>
          </a:p>
        </p:txBody>
      </p:sp>
      <p:sp>
        <p:nvSpPr>
          <p:cNvPr id="3" name="Text 1"/>
          <p:cNvSpPr/>
          <p:nvPr/>
        </p:nvSpPr>
        <p:spPr>
          <a:xfrm>
            <a:off x="457200" y="342900"/>
            <a:ext cx="2208088" cy="164592"/>
          </a:xfrm>
          <a:prstGeom prst="rect">
            <a:avLst/>
          </a:prstGeom>
          <a:noFill/>
          <a:ln/>
        </p:spPr>
        <p:txBody>
          <a:bodyPr wrap="square" lIns="0" tIns="0" rIns="0" bIns="0" rtlCol="0" anchor="t"/>
          <a:lstStyle/>
          <a:p>
            <a:pPr algn="l" indent="0" marL="0">
              <a:lnSpc>
                <a:spcPts val="844"/>
              </a:lnSpc>
              <a:buNone/>
            </a:pPr>
            <a:r>
              <a:rPr lang="en-US" sz="800" spc="90" kern="0" dirty="0">
                <a:solidFill>
                  <a:srgbClr val="6B7280"/>
                </a:solidFill>
                <a:latin typeface="Courier New" pitchFamily="34" charset="0"/>
                <a:ea typeface="Courier New" pitchFamily="34" charset="-122"/>
                <a:cs typeface="Courier New" pitchFamily="34" charset="-120"/>
              </a:rPr>
              <a:t>UBP_RESEARCH_CORTEX</a:t>
            </a:r>
            <a:endParaRPr lang="en-US" sz="800" dirty="0"/>
          </a:p>
        </p:txBody>
      </p:sp>
      <p:sp>
        <p:nvSpPr>
          <p:cNvPr id="4" name="Text 2"/>
          <p:cNvSpPr/>
          <p:nvPr/>
        </p:nvSpPr>
        <p:spPr>
          <a:xfrm>
            <a:off x="2679576" y="342900"/>
            <a:ext cx="1359545" cy="164592"/>
          </a:xfrm>
          <a:prstGeom prst="rect">
            <a:avLst/>
          </a:prstGeom>
          <a:noFill/>
          <a:ln/>
        </p:spPr>
        <p:txBody>
          <a:bodyPr wrap="none" lIns="0" tIns="0" rIns="0" bIns="0" rtlCol="0" anchor="t"/>
          <a:lstStyle/>
          <a:p>
            <a:pPr algn="l" indent="0" marL="0">
              <a:lnSpc>
                <a:spcPts val="844"/>
              </a:lnSpc>
              <a:buNone/>
            </a:pPr>
            <a:r>
              <a:rPr lang="en-US" sz="800" spc="90" kern="0" dirty="0">
                <a:solidFill>
                  <a:srgbClr val="6B7280"/>
                </a:solidFill>
                <a:latin typeface="Courier New" pitchFamily="34" charset="0"/>
                <a:ea typeface="Courier New" pitchFamily="34" charset="-122"/>
                <a:cs typeface="Courier New" pitchFamily="34" charset="-120"/>
              </a:rPr>
              <a:t>/</a:t>
            </a:r>
            <a:endParaRPr lang="en-US" sz="800" dirty="0"/>
          </a:p>
        </p:txBody>
      </p:sp>
      <p:sp>
        <p:nvSpPr>
          <p:cNvPr id="5" name="Text 3"/>
          <p:cNvSpPr/>
          <p:nvPr/>
        </p:nvSpPr>
        <p:spPr>
          <a:xfrm>
            <a:off x="4053408" y="342900"/>
            <a:ext cx="1830921" cy="164592"/>
          </a:xfrm>
          <a:prstGeom prst="rect">
            <a:avLst/>
          </a:prstGeom>
          <a:noFill/>
          <a:ln/>
        </p:spPr>
        <p:txBody>
          <a:bodyPr wrap="square" lIns="0" tIns="0" rIns="0" bIns="0" rtlCol="0" anchor="t"/>
          <a:lstStyle/>
          <a:p>
            <a:pPr algn="l" indent="0" marL="0">
              <a:lnSpc>
                <a:spcPts val="844"/>
              </a:lnSpc>
              <a:buNone/>
            </a:pPr>
            <a:r>
              <a:rPr lang="en-US" sz="800" spc="90" kern="0" dirty="0">
                <a:solidFill>
                  <a:srgbClr val="6B7280"/>
                </a:solidFill>
                <a:latin typeface="Liberation Sans Narrow" pitchFamily="34" charset="0"/>
                <a:ea typeface="Liberation Sans Narrow" pitchFamily="34" charset="-122"/>
                <a:cs typeface="Liberation Sans Narrow" pitchFamily="34" charset="-120"/>
              </a:rPr>
              <a:t>24 JUN 2026</a:t>
            </a:r>
            <a:endParaRPr lang="en-US" sz="800" dirty="0"/>
          </a:p>
        </p:txBody>
      </p:sp>
      <p:sp>
        <p:nvSpPr>
          <p:cNvPr id="6" name="Text 4"/>
          <p:cNvSpPr/>
          <p:nvPr/>
        </p:nvSpPr>
        <p:spPr>
          <a:xfrm>
            <a:off x="5898617" y="342900"/>
            <a:ext cx="1359433" cy="164592"/>
          </a:xfrm>
          <a:prstGeom prst="rect">
            <a:avLst/>
          </a:prstGeom>
          <a:noFill/>
          <a:ln/>
        </p:spPr>
        <p:txBody>
          <a:bodyPr wrap="none" lIns="0" tIns="0" rIns="0" bIns="0" rtlCol="0" anchor="t"/>
          <a:lstStyle/>
          <a:p>
            <a:pPr algn="l" indent="0" marL="0">
              <a:lnSpc>
                <a:spcPts val="844"/>
              </a:lnSpc>
              <a:buNone/>
            </a:pPr>
            <a:r>
              <a:rPr lang="en-US" sz="800" spc="90" kern="0" dirty="0">
                <a:solidFill>
                  <a:srgbClr val="6B7280"/>
                </a:solidFill>
                <a:latin typeface="Courier New" pitchFamily="34" charset="0"/>
                <a:ea typeface="Courier New" pitchFamily="34" charset="-122"/>
                <a:cs typeface="Courier New" pitchFamily="34" charset="-120"/>
              </a:rPr>
              <a:t>/</a:t>
            </a:r>
            <a:endParaRPr lang="en-US" sz="800" dirty="0"/>
          </a:p>
        </p:txBody>
      </p:sp>
      <p:sp>
        <p:nvSpPr>
          <p:cNvPr id="7" name="Text 5"/>
          <p:cNvSpPr/>
          <p:nvPr/>
        </p:nvSpPr>
        <p:spPr>
          <a:xfrm>
            <a:off x="7272338" y="342900"/>
            <a:ext cx="1527620" cy="164592"/>
          </a:xfrm>
          <a:prstGeom prst="rect">
            <a:avLst/>
          </a:prstGeom>
          <a:noFill/>
          <a:ln/>
        </p:spPr>
        <p:txBody>
          <a:bodyPr wrap="square" lIns="0" tIns="0" rIns="0" bIns="0" rtlCol="0" anchor="t"/>
          <a:lstStyle/>
          <a:p>
            <a:pPr algn="l" indent="0" marL="0">
              <a:lnSpc>
                <a:spcPts val="844"/>
              </a:lnSpc>
              <a:buNone/>
            </a:pPr>
            <a:r>
              <a:rPr lang="en-US" sz="800" spc="90" kern="0" dirty="0">
                <a:solidFill>
                  <a:srgbClr val="6B7280"/>
                </a:solidFill>
                <a:latin typeface="Liberation Sans Narrow" pitchFamily="34" charset="0"/>
                <a:ea typeface="Liberation Sans Narrow" pitchFamily="34" charset="-122"/>
                <a:cs typeface="Liberation Sans Narrow" pitchFamily="34" charset="-120"/>
              </a:rPr>
              <a:t>DOC ID UBP_STUDY_EXTREMAL_003</a:t>
            </a:r>
            <a:endParaRPr lang="en-US" sz="800" dirty="0"/>
          </a:p>
        </p:txBody>
      </p:sp>
      <p:sp>
        <p:nvSpPr>
          <p:cNvPr id="8" name="Shape 6"/>
          <p:cNvSpPr/>
          <p:nvPr/>
        </p:nvSpPr>
        <p:spPr>
          <a:xfrm>
            <a:off x="5617332" y="2837073"/>
            <a:ext cx="2876476" cy="0"/>
          </a:xfrm>
          <a:prstGeom prst="line">
            <a:avLst/>
          </a:prstGeom>
          <a:noFill/>
          <a:ln w="7144">
            <a:solidFill>
              <a:srgbClr val="2A3038"/>
            </a:solidFill>
            <a:prstDash val="solid"/>
          </a:ln>
        </p:spPr>
      </p:sp>
      <p:sp>
        <p:nvSpPr>
          <p:cNvPr id="9" name="Text 7"/>
          <p:cNvSpPr/>
          <p:nvPr/>
        </p:nvSpPr>
        <p:spPr>
          <a:xfrm>
            <a:off x="6543675" y="4836319"/>
            <a:ext cx="2143125" cy="164592"/>
          </a:xfrm>
          <a:prstGeom prst="rect">
            <a:avLst/>
          </a:prstGeom>
          <a:noFill/>
          <a:ln/>
        </p:spPr>
        <p:txBody>
          <a:bodyPr wrap="square" lIns="0" tIns="0" rIns="0" bIns="0" rtlCol="0" anchor="t"/>
          <a:lstStyle/>
          <a:p>
            <a:pPr algn="l" indent="0" marL="0">
              <a:lnSpc>
                <a:spcPts val="844"/>
              </a:lnSpc>
              <a:buNone/>
            </a:pPr>
            <a:r>
              <a:rPr lang="en-US" sz="800" spc="56" kern="0" dirty="0">
                <a:solidFill>
                  <a:srgbClr val="6B7280"/>
                </a:solidFill>
                <a:latin typeface="Courier New" pitchFamily="34" charset="0"/>
                <a:ea typeface="Courier New" pitchFamily="34" charset="-122"/>
                <a:cs typeface="Courier New" pitchFamily="34" charset="-120"/>
              </a:rPr>
              <a:t>Author: E.R.A. Craig (DigitalEuan) -- Auckland, NZ</a:t>
            </a:r>
            <a:endParaRPr lang="en-US" sz="800" dirty="0"/>
          </a:p>
        </p:txBody>
      </p:sp>
      <p:sp>
        <p:nvSpPr>
          <p:cNvPr id="10" name="Text 8"/>
          <p:cNvSpPr/>
          <p:nvPr/>
        </p:nvSpPr>
        <p:spPr>
          <a:xfrm>
            <a:off x="714375" y="1790737"/>
            <a:ext cx="4424325" cy="164592"/>
          </a:xfrm>
          <a:prstGeom prst="rect">
            <a:avLst/>
          </a:prstGeom>
          <a:noFill/>
          <a:ln/>
        </p:spPr>
        <p:txBody>
          <a:bodyPr wrap="square" lIns="0" tIns="0" rIns="0" bIns="0" rtlCol="0" anchor="t"/>
          <a:lstStyle/>
          <a:p>
            <a:pPr algn="l" indent="0" marL="0">
              <a:lnSpc>
                <a:spcPts val="844"/>
              </a:lnSpc>
              <a:buNone/>
            </a:pPr>
            <a:r>
              <a:rPr lang="en-US" sz="800" spc="124" kern="0" dirty="0">
                <a:solidFill>
                  <a:srgbClr val="FFB454"/>
                </a:solidFill>
                <a:latin typeface="Courier New" pitchFamily="34" charset="0"/>
                <a:ea typeface="Courier New" pitchFamily="34" charset="-122"/>
                <a:cs typeface="Courier New" pitchFamily="34" charset="-120"/>
              </a:rPr>
              <a:t>DISTINCTION DENSITY · CONTINUATION 003</a:t>
            </a:r>
            <a:endParaRPr lang="en-US" sz="800" dirty="0"/>
          </a:p>
        </p:txBody>
      </p:sp>
      <p:sp>
        <p:nvSpPr>
          <p:cNvPr id="11" name="Text 9"/>
          <p:cNvSpPr/>
          <p:nvPr/>
        </p:nvSpPr>
        <p:spPr>
          <a:xfrm>
            <a:off x="457200" y="2069343"/>
            <a:ext cx="5149650" cy="785027"/>
          </a:xfrm>
          <a:prstGeom prst="rect">
            <a:avLst/>
          </a:prstGeom>
          <a:noFill/>
          <a:ln/>
        </p:spPr>
        <p:txBody>
          <a:bodyPr wrap="none" lIns="0" tIns="0" rIns="0" bIns="0" rtlCol="0" anchor="t"/>
          <a:lstStyle/>
          <a:p>
            <a:pPr algn="l" indent="0" marL="0">
              <a:lnSpc>
                <a:spcPts val="2862"/>
              </a:lnSpc>
              <a:buNone/>
            </a:pPr>
            <a:r>
              <a:rPr lang="en-US" sz="2700" spc="-49" kern="0" dirty="0">
                <a:solidFill>
                  <a:srgbClr val="E6E6E6"/>
                </a:solidFill>
                <a:latin typeface="Carlito" pitchFamily="34" charset="0"/>
                <a:ea typeface="Carlito" pitchFamily="34" charset="-122"/>
                <a:cs typeface="Carlito" pitchFamily="34" charset="-120"/>
              </a:rPr>
              <a:t>The Extremal Law of</a:t>
            </a:r>
            <a:endParaRPr lang="en-US" sz="2700" dirty="0"/>
          </a:p>
          <a:p>
            <a:pPr algn="l" indent="0" marL="0">
              <a:lnSpc>
                <a:spcPts val="2862"/>
              </a:lnSpc>
              <a:buNone/>
            </a:pPr>
            <a:r>
              <a:rPr lang="en-US" sz="2700" spc="-49" kern="0" dirty="0">
                <a:solidFill>
                  <a:srgbClr val="FFB454"/>
                </a:solidFill>
                <a:latin typeface="Carlito" pitchFamily="34" charset="0"/>
                <a:ea typeface="Carlito" pitchFamily="34" charset="-122"/>
                <a:cs typeface="Carlito" pitchFamily="34" charset="-120"/>
              </a:rPr>
              <a:t>Distinction Density</a:t>
            </a:r>
            <a:endParaRPr lang="en-US" sz="2700" dirty="0"/>
          </a:p>
        </p:txBody>
      </p:sp>
      <p:sp>
        <p:nvSpPr>
          <p:cNvPr id="12" name="Text 10"/>
          <p:cNvSpPr/>
          <p:nvPr/>
        </p:nvSpPr>
        <p:spPr>
          <a:xfrm>
            <a:off x="457200" y="2953383"/>
            <a:ext cx="685800" cy="14288"/>
          </a:xfrm>
          <a:prstGeom prst="rect">
            <a:avLst/>
          </a:prstGeom>
          <a:solidFill>
            <a:srgbClr val="FFB454"/>
          </a:solidFill>
          <a:ln/>
        </p:spPr>
        <p:txBody>
          <a:bodyPr wrap="square" rtlCol="0" anchor="ctr"/>
          <a:lstStyle/>
          <a:p>
            <a:pPr indent="0" marL="0">
              <a:buNone/>
            </a:pPr>
            <a:endParaRPr lang="en-US" dirty="0"/>
          </a:p>
        </p:txBody>
      </p:sp>
      <p:sp>
        <p:nvSpPr>
          <p:cNvPr id="13" name="Text 11"/>
          <p:cNvSpPr/>
          <p:nvPr/>
        </p:nvSpPr>
        <p:spPr>
          <a:xfrm>
            <a:off x="457200" y="3096258"/>
            <a:ext cx="4681500" cy="246044"/>
          </a:xfrm>
          <a:prstGeom prst="rect">
            <a:avLst/>
          </a:prstGeom>
          <a:noFill/>
          <a:ln/>
        </p:spPr>
        <p:txBody>
          <a:bodyPr wrap="square" lIns="0" tIns="0" rIns="0" bIns="0" rtlCol="0" anchor="t"/>
          <a:lstStyle/>
          <a:p>
            <a:pPr algn="l" indent="0" marL="0">
              <a:lnSpc>
                <a:spcPts val="1794"/>
              </a:lnSpc>
              <a:buNone/>
            </a:pPr>
            <a:r>
              <a:rPr lang="en-US" sz="1238" dirty="0">
                <a:solidFill>
                  <a:srgbClr val="B5BAC4"/>
                </a:solidFill>
                <a:latin typeface="Carlito" pitchFamily="34" charset="0"/>
                <a:ea typeface="Carlito" pitchFamily="34" charset="-122"/>
                <a:cs typeface="Carlito" pitchFamily="34" charset="-120"/>
              </a:rPr>
              <a:t>Continuation of </a:t>
            </a:r>
            <a:pPr algn="l" indent="0" marL="0">
              <a:lnSpc>
                <a:spcPts val="1794"/>
              </a:lnSpc>
              <a:buNone/>
            </a:pPr>
            <a:r>
              <a:rPr lang="en-US" sz="1069" dirty="0">
                <a:solidFill>
                  <a:srgbClr val="E6E6E6"/>
                </a:solidFill>
                <a:latin typeface="Liberation Sans Narrow" pitchFamily="34" charset="0"/>
                <a:ea typeface="Liberation Sans Narrow" pitchFamily="34" charset="-122"/>
                <a:cs typeface="Liberation Sans Narrow" pitchFamily="34" charset="-120"/>
              </a:rPr>
              <a:t>UBP_STUDY_EXTREMAL_002</a:t>
            </a:r>
            <a:pPr algn="l" indent="0" marL="0">
              <a:lnSpc>
                <a:spcPts val="1794"/>
              </a:lnSpc>
              <a:buNone/>
            </a:pPr>
            <a:r>
              <a:rPr lang="en-US" sz="1238" dirty="0">
                <a:solidFill>
                  <a:srgbClr val="B5BAC4"/>
                </a:solidFill>
                <a:latin typeface="Carlito" pitchFamily="34" charset="0"/>
                <a:ea typeface="Carlito" pitchFamily="34" charset="-122"/>
                <a:cs typeface="Carlito" pitchFamily="34" charset="-120"/>
              </a:rPr>
              <a:t> and </a:t>
            </a:r>
            <a:pPr algn="l" indent="0" marL="0">
              <a:lnSpc>
                <a:spcPts val="1794"/>
              </a:lnSpc>
              <a:buNone/>
            </a:pPr>
            <a:r>
              <a:rPr lang="en-US" sz="1069" dirty="0">
                <a:solidFill>
                  <a:srgbClr val="E6E6E6"/>
                </a:solidFill>
                <a:latin typeface="Liberation Sans Narrow" pitchFamily="34" charset="0"/>
                <a:ea typeface="Liberation Sans Narrow" pitchFamily="34" charset="-122"/>
                <a:cs typeface="Liberation Sans Narrow" pitchFamily="34" charset="-120"/>
              </a:rPr>
              <a:t>CONVERSE_001</a:t>
            </a:r>
            <a:endParaRPr lang="en-US" sz="1238" dirty="0"/>
          </a:p>
        </p:txBody>
      </p:sp>
      <p:sp>
        <p:nvSpPr>
          <p:cNvPr id="14" name="Text 12"/>
          <p:cNvSpPr/>
          <p:nvPr/>
        </p:nvSpPr>
        <p:spPr>
          <a:xfrm>
            <a:off x="434340" y="3571393"/>
            <a:ext cx="1102995"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5" name="Text 13"/>
          <p:cNvSpPr/>
          <p:nvPr/>
        </p:nvSpPr>
        <p:spPr>
          <a:xfrm>
            <a:off x="457200" y="3581251"/>
            <a:ext cx="1057275" cy="164306"/>
          </a:xfrm>
          <a:prstGeom prst="rect">
            <a:avLst/>
          </a:prstGeom>
          <a:noFill/>
          <a:ln/>
        </p:spPr>
        <p:txBody>
          <a:bodyPr wrap="square" lIns="71438" tIns="21431" rIns="71438" bIns="21431"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VARIATIONAL PRINCIPLE</a:t>
            </a:r>
            <a:endParaRPr lang="en-US" sz="800" dirty="0"/>
          </a:p>
        </p:txBody>
      </p:sp>
      <p:sp>
        <p:nvSpPr>
          <p:cNvPr id="16" name="Text 14"/>
          <p:cNvSpPr/>
          <p:nvPr/>
        </p:nvSpPr>
        <p:spPr>
          <a:xfrm>
            <a:off x="1591628" y="3571393"/>
            <a:ext cx="845820"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7" name="Text 15"/>
          <p:cNvSpPr/>
          <p:nvPr/>
        </p:nvSpPr>
        <p:spPr>
          <a:xfrm>
            <a:off x="1614488" y="3581251"/>
            <a:ext cx="800100"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GOLAY [24,12,8]</a:t>
            </a:r>
            <a:endParaRPr lang="en-US" sz="800" dirty="0"/>
          </a:p>
        </p:txBody>
      </p:sp>
      <p:sp>
        <p:nvSpPr>
          <p:cNvPr id="18" name="Text 16"/>
          <p:cNvSpPr/>
          <p:nvPr/>
        </p:nvSpPr>
        <p:spPr>
          <a:xfrm>
            <a:off x="2491740" y="3571393"/>
            <a:ext cx="717233"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19" name="Text 17"/>
          <p:cNvSpPr/>
          <p:nvPr/>
        </p:nvSpPr>
        <p:spPr>
          <a:xfrm>
            <a:off x="2514600" y="3581251"/>
            <a:ext cx="671513"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B097FF"/>
                </a:solidFill>
                <a:latin typeface="Courier New" pitchFamily="34" charset="0"/>
                <a:ea typeface="Courier New" pitchFamily="34" charset="-122"/>
                <a:cs typeface="Courier New" pitchFamily="34" charset="-120"/>
              </a:rPr>
              <a:t>CONTINUATION</a:t>
            </a:r>
            <a:endParaRPr lang="en-US" sz="800" dirty="0"/>
          </a:p>
        </p:txBody>
      </p:sp>
      <p:sp>
        <p:nvSpPr>
          <p:cNvPr id="20" name="Text 18"/>
          <p:cNvSpPr/>
          <p:nvPr/>
        </p:nvSpPr>
        <p:spPr>
          <a:xfrm>
            <a:off x="5424450" y="1898563"/>
            <a:ext cx="3523217" cy="164592"/>
          </a:xfrm>
          <a:prstGeom prst="rect">
            <a:avLst/>
          </a:prstGeom>
          <a:noFill/>
          <a:ln/>
        </p:spPr>
        <p:txBody>
          <a:bodyPr wrap="square" lIns="0" tIns="0" rIns="0" bIns="0" rtlCol="0" anchor="t"/>
          <a:lstStyle/>
          <a:p>
            <a:pPr algn="l" indent="0" marL="0">
              <a:lnSpc>
                <a:spcPts val="844"/>
              </a:lnSpc>
              <a:buNone/>
            </a:pPr>
            <a:r>
              <a:rPr lang="en-US" sz="800" spc="101" kern="0" dirty="0">
                <a:solidFill>
                  <a:srgbClr val="6B7280"/>
                </a:solidFill>
                <a:latin typeface="Courier New" pitchFamily="34" charset="0"/>
                <a:ea typeface="Courier New" pitchFamily="34" charset="-122"/>
                <a:cs typeface="Courier New" pitchFamily="34" charset="-120"/>
              </a:rPr>
              <a:t>▸ DEFINITION · Φ-DISTINCTION DENSITY</a:t>
            </a:r>
            <a:endParaRPr lang="en-US" sz="800" dirty="0"/>
          </a:p>
        </p:txBody>
      </p:sp>
      <p:sp>
        <p:nvSpPr>
          <p:cNvPr id="21" name="Text 19"/>
          <p:cNvSpPr/>
          <p:nvPr/>
        </p:nvSpPr>
        <p:spPr>
          <a:xfrm>
            <a:off x="5428022" y="2095016"/>
            <a:ext cx="3255094" cy="1332086"/>
          </a:xfrm>
          <a:prstGeom prst="roundRect">
            <a:avLst>
              <a:gd name="adj" fmla="val 5720"/>
            </a:avLst>
          </a:prstGeom>
          <a:solidFill>
            <a:srgbClr val="1F2630"/>
          </a:solidFill>
          <a:ln w="7144">
            <a:solidFill>
              <a:srgbClr val="2A3038"/>
            </a:solidFill>
            <a:prstDash val="solid"/>
          </a:ln>
          <a:effectLst>
            <a:outerShdw sx="100000" sy="100000" kx="0" ky="0" algn="bl" rotWithShape="0" blurRad="304800" dist="76200" dir="5400000">
              <a:srgbClr val="000000">
                <a:alpha val="35000"/>
              </a:srgbClr>
            </a:outerShdw>
          </a:effectLst>
        </p:spPr>
        <p:txBody>
          <a:bodyPr wrap="square" rtlCol="0" anchor="ctr"/>
          <a:lstStyle/>
          <a:p>
            <a:pPr indent="0" marL="0">
              <a:buNone/>
            </a:pPr>
            <a:endParaRPr lang="en-US" dirty="0"/>
          </a:p>
        </p:txBody>
      </p:sp>
      <p:sp>
        <p:nvSpPr>
          <p:cNvPr id="22" name="Text 20"/>
          <p:cNvSpPr/>
          <p:nvPr/>
        </p:nvSpPr>
        <p:spPr>
          <a:xfrm>
            <a:off x="5617332" y="2284326"/>
            <a:ext cx="2876476" cy="454235"/>
          </a:xfrm>
          <a:prstGeom prst="rect">
            <a:avLst/>
          </a:prstGeom>
          <a:noFill/>
          <a:ln/>
        </p:spPr>
        <p:txBody>
          <a:bodyPr wrap="square" lIns="0" tIns="0" rIns="0" bIns="0" rtlCol="0" anchor="t"/>
          <a:lstStyle/>
          <a:p>
            <a:pPr algn="ctr" indent="0" marL="0">
              <a:lnSpc>
                <a:spcPts val="1657"/>
              </a:lnSpc>
              <a:buNone/>
            </a:pPr>
            <a:r>
              <a:rPr lang="en-US" sz="1069" i="1" spc="5" kern="0" dirty="0">
                <a:solidFill>
                  <a:srgbClr val="E6E6E6"/>
                </a:solidFill>
                <a:latin typeface="Tinos" pitchFamily="34" charset="0"/>
                <a:ea typeface="Tinos" pitchFamily="34" charset="-122"/>
                <a:cs typeface="Tinos" pitchFamily="34" charset="-120"/>
              </a:rPr>
              <a:t>Φ(v) </a:t>
            </a:r>
            <a:pPr algn="ctr" indent="0" marL="0">
              <a:lnSpc>
                <a:spcPts val="1657"/>
              </a:lnSpc>
              <a:buNone/>
            </a:pPr>
            <a:r>
              <a:rPr lang="en-US" sz="1069" i="1" spc="5" kern="0" dirty="0">
                <a:solidFill>
                  <a:srgbClr val="B5BAC4"/>
                </a:solidFill>
                <a:latin typeface="Tinos" pitchFamily="34" charset="0"/>
                <a:ea typeface="Tinos" pitchFamily="34" charset="-122"/>
                <a:cs typeface="Tinos" pitchFamily="34" charset="-120"/>
              </a:rPr>
              <a:t>=</a:t>
            </a:r>
            <a:pPr algn="ctr" indent="0" marL="0">
              <a:lnSpc>
                <a:spcPts val="1657"/>
              </a:lnSpc>
              <a:buNone/>
            </a:pPr>
            <a:r>
              <a:rPr lang="en-US" sz="1069" i="1" spc="5" kern="0" dirty="0">
                <a:solidFill>
                  <a:srgbClr val="E6E6E6"/>
                </a:solidFill>
                <a:latin typeface="Tinos" pitchFamily="34" charset="0"/>
                <a:ea typeface="Tinos" pitchFamily="34" charset="-122"/>
                <a:cs typeface="Tinos" pitchFamily="34" charset="-120"/>
              </a:rPr>
              <a:t> HW(v) </a:t>
            </a:r>
            <a:pPr algn="ctr" indent="0" marL="0">
              <a:lnSpc>
                <a:spcPts val="1657"/>
              </a:lnSpc>
              <a:buNone/>
            </a:pPr>
            <a:r>
              <a:rPr lang="en-US" sz="1069" i="1" spc="5" kern="0" dirty="0">
                <a:solidFill>
                  <a:srgbClr val="B5BAC4"/>
                </a:solidFill>
                <a:latin typeface="Tinos" pitchFamily="34" charset="0"/>
                <a:ea typeface="Tinos" pitchFamily="34" charset="-122"/>
                <a:cs typeface="Tinos" pitchFamily="34" charset="-120"/>
              </a:rPr>
              <a:t>/</a:t>
            </a:r>
            <a:pPr algn="ctr" indent="0" marL="0">
              <a:lnSpc>
                <a:spcPts val="1657"/>
              </a:lnSpc>
              <a:buNone/>
            </a:pPr>
            <a:r>
              <a:rPr lang="en-US" sz="1069" i="1" spc="5" kern="0" dirty="0">
                <a:solidFill>
                  <a:srgbClr val="E6E6E6"/>
                </a:solidFill>
                <a:latin typeface="Tinos" pitchFamily="34" charset="0"/>
                <a:ea typeface="Tinos" pitchFamily="34" charset="-122"/>
                <a:cs typeface="Tinos" pitchFamily="34" charset="-120"/>
              </a:rPr>
              <a:t> [ HW(v)</a:t>
            </a:r>
            <a:pPr algn="ctr" indent="0" marL="0">
              <a:lnSpc>
                <a:spcPts val="1657"/>
              </a:lnSpc>
              <a:buNone/>
            </a:pPr>
            <a:r>
              <a:rPr lang="en-US" sz="1069" i="1" spc="5" kern="0" dirty="0">
                <a:solidFill>
                  <a:srgbClr val="B5BAC4"/>
                </a:solidFill>
                <a:latin typeface="Tinos" pitchFamily="34" charset="0"/>
                <a:ea typeface="Tinos" pitchFamily="34" charset="-122"/>
                <a:cs typeface="Tinos" pitchFamily="34" charset="-120"/>
              </a:rPr>
              <a:t>·</a:t>
            </a:r>
            <a:pPr algn="ctr" indent="0" marL="0">
              <a:lnSpc>
                <a:spcPts val="1657"/>
              </a:lnSpc>
              <a:buNone/>
            </a:pPr>
            <a:r>
              <a:rPr lang="en-US" sz="1069" i="1" spc="5" kern="0" dirty="0">
                <a:solidFill>
                  <a:srgbClr val="E6E6E6"/>
                </a:solidFill>
                <a:latin typeface="Tinos" pitchFamily="34" charset="0"/>
                <a:ea typeface="Tinos" pitchFamily="34" charset="-122"/>
                <a:cs typeface="Tinos" pitchFamily="34" charset="-120"/>
              </a:rPr>
              <a:t>(Y</a:t>
            </a:r>
            <a:pPr algn="ctr" indent="0" marL="0">
              <a:lnSpc>
                <a:spcPts val="1657"/>
              </a:lnSpc>
              <a:buNone/>
            </a:pPr>
            <a:r>
              <a:rPr lang="en-US" sz="1069" i="1" spc="5" kern="0" dirty="0">
                <a:solidFill>
                  <a:srgbClr val="B5BAC4"/>
                </a:solidFill>
                <a:latin typeface="Tinos" pitchFamily="34" charset="0"/>
                <a:ea typeface="Tinos" pitchFamily="34" charset="-122"/>
                <a:cs typeface="Tinos" pitchFamily="34" charset="-120"/>
              </a:rPr>
              <a:t>+</a:t>
            </a:r>
            <a:pPr algn="ctr" indent="0" marL="0">
              <a:lnSpc>
                <a:spcPts val="1657"/>
              </a:lnSpc>
              <a:buNone/>
            </a:pPr>
            <a:r>
              <a:rPr lang="en-US" sz="1069" i="1" spc="5" kern="0" dirty="0">
                <a:solidFill>
                  <a:srgbClr val="E6E6E6"/>
                </a:solidFill>
                <a:latin typeface="Liberation Sans Narrow" pitchFamily="34" charset="0"/>
                <a:ea typeface="Liberation Sans Narrow" pitchFamily="34" charset="-122"/>
                <a:cs typeface="Liberation Sans Narrow" pitchFamily="34" charset="-120"/>
              </a:rPr>
              <a:t>1/8) </a:t>
            </a:r>
            <a:pPr algn="ctr" indent="0" marL="0">
              <a:lnSpc>
                <a:spcPts val="1657"/>
              </a:lnSpc>
              <a:buNone/>
            </a:pPr>
            <a:r>
              <a:rPr lang="en-US" sz="1069" i="1" spc="5" kern="0" dirty="0">
                <a:solidFill>
                  <a:srgbClr val="B5BAC4"/>
                </a:solidFill>
                <a:latin typeface="Tinos" pitchFamily="34" charset="0"/>
                <a:ea typeface="Tinos" pitchFamily="34" charset="-122"/>
                <a:cs typeface="Tinos" pitchFamily="34" charset="-120"/>
              </a:rPr>
              <a:t>+</a:t>
            </a:r>
            <a:pPr algn="ctr" indent="0" marL="0">
              <a:lnSpc>
                <a:spcPts val="1657"/>
              </a:lnSpc>
              <a:buNone/>
            </a:pPr>
            <a:r>
              <a:rPr lang="en-US" sz="1069" i="1" spc="5" kern="0" dirty="0">
                <a:solidFill>
                  <a:srgbClr val="E6E6E6"/>
                </a:solidFill>
                <a:latin typeface="Tinos" pitchFamily="34" charset="0"/>
                <a:ea typeface="Tinos" pitchFamily="34" charset="-122"/>
                <a:cs typeface="Tinos" pitchFamily="34" charset="-120"/>
              </a:rPr>
              <a:t> SynW(v)</a:t>
            </a:r>
            <a:pPr algn="ctr" indent="0" marL="0">
              <a:lnSpc>
                <a:spcPts val="1657"/>
              </a:lnSpc>
              <a:buNone/>
            </a:pPr>
            <a:r>
              <a:rPr lang="en-US" sz="1069" i="1" spc="5" kern="0" dirty="0">
                <a:solidFill>
                  <a:srgbClr val="B5BAC4"/>
                </a:solidFill>
                <a:latin typeface="Tinos" pitchFamily="34" charset="0"/>
                <a:ea typeface="Tinos" pitchFamily="34" charset="-122"/>
                <a:cs typeface="Tinos" pitchFamily="34" charset="-120"/>
              </a:rPr>
              <a:t>·</a:t>
            </a:r>
            <a:pPr algn="ctr" indent="0" marL="0">
              <a:lnSpc>
                <a:spcPts val="1657"/>
              </a:lnSpc>
              <a:buNone/>
            </a:pPr>
            <a:r>
              <a:rPr lang="en-US" sz="1069" i="1" spc="5" kern="0" dirty="0">
                <a:solidFill>
                  <a:srgbClr val="E6E6E6"/>
                </a:solidFill>
                <a:latin typeface="Tinos" pitchFamily="34" charset="0"/>
                <a:ea typeface="Tinos" pitchFamily="34" charset="-122"/>
                <a:cs typeface="Tinos" pitchFamily="34" charset="-120"/>
              </a:rPr>
              <a:t>Y ]</a:t>
            </a:r>
            <a:endParaRPr lang="en-US" sz="1069" dirty="0"/>
          </a:p>
        </p:txBody>
      </p:sp>
      <p:sp>
        <p:nvSpPr>
          <p:cNvPr id="23" name="Text 21"/>
          <p:cNvSpPr/>
          <p:nvPr/>
        </p:nvSpPr>
        <p:spPr>
          <a:xfrm>
            <a:off x="5617332" y="2940658"/>
            <a:ext cx="2986204" cy="135423"/>
          </a:xfrm>
          <a:prstGeom prst="rect">
            <a:avLst/>
          </a:prstGeom>
          <a:noFill/>
          <a:ln/>
        </p:spPr>
        <p:txBody>
          <a:bodyPr wrap="square" lIns="0" tIns="0" rIns="0" bIns="0" rtlCol="0" anchor="t">
            <a:normAutofit/>
          </a:bodyPr>
          <a:lstStyle/>
          <a:p>
            <a:pPr algn="l" indent="0" marL="0">
              <a:lnSpc>
                <a:spcPts val="1283"/>
              </a:lnSpc>
              <a:buNone/>
            </a:pPr>
            <a:r>
              <a:rPr lang="en-US" sz="800" spc="7" kern="0" dirty="0">
                <a:solidFill>
                  <a:srgbClr val="6FE3D2"/>
                </a:solidFill>
                <a:latin typeface="Courier New" pitchFamily="34" charset="0"/>
                <a:ea typeface="Courier New" pitchFamily="34" charset="-122"/>
                <a:cs typeface="Courier New" pitchFamily="34" charset="-120"/>
              </a:rPr>
              <a:t>Y</a:t>
            </a:r>
            <a:pPr algn="l" indent="0" marL="0">
              <a:lnSpc>
                <a:spcPts val="1283"/>
              </a:lnSpc>
              <a:buNone/>
            </a:pPr>
            <a:r>
              <a:rPr lang="en-US" sz="800" spc="7" kern="0" dirty="0">
                <a:solidFill>
                  <a:srgbClr val="B5BAC4"/>
                </a:solidFill>
                <a:latin typeface="Courier New" pitchFamily="34" charset="0"/>
                <a:ea typeface="Courier New" pitchFamily="34" charset="-122"/>
                <a:cs typeface="Courier New" pitchFamily="34" charset="-120"/>
              </a:rPr>
              <a:t> = π / (π² + 2) = </a:t>
            </a:r>
            <a:pPr algn="l" indent="0" marL="0">
              <a:lnSpc>
                <a:spcPts val="1283"/>
              </a:lnSpc>
              <a:buNone/>
            </a:pPr>
            <a:r>
              <a:rPr lang="en-US" sz="800" spc="7" kern="0" dirty="0">
                <a:solidFill>
                  <a:srgbClr val="FFB454"/>
                </a:solidFill>
                <a:latin typeface="Liberation Sans Narrow" pitchFamily="34" charset="0"/>
                <a:ea typeface="Liberation Sans Narrow" pitchFamily="34" charset="-122"/>
                <a:cs typeface="Liberation Sans Narrow" pitchFamily="34" charset="-120"/>
              </a:rPr>
              <a:t>0.264675430405</a:t>
            </a:r>
            <a:endParaRPr lang="en-US" sz="800" dirty="0"/>
          </a:p>
        </p:txBody>
      </p:sp>
      <p:sp>
        <p:nvSpPr>
          <p:cNvPr id="24" name="Text 22"/>
          <p:cNvSpPr/>
          <p:nvPr/>
        </p:nvSpPr>
        <p:spPr>
          <a:xfrm>
            <a:off x="5617332" y="3103513"/>
            <a:ext cx="2986204" cy="162855"/>
          </a:xfrm>
          <a:prstGeom prst="rect">
            <a:avLst/>
          </a:prstGeom>
          <a:noFill/>
          <a:ln/>
        </p:spPr>
        <p:txBody>
          <a:bodyPr wrap="square" lIns="0" tIns="0" rIns="0" bIns="0" rtlCol="0" anchor="t"/>
          <a:lstStyle/>
          <a:p>
            <a:pPr algn="l" indent="0" marL="0">
              <a:lnSpc>
                <a:spcPts val="1283"/>
              </a:lnSpc>
              <a:buNone/>
            </a:pPr>
            <a:r>
              <a:rPr lang="en-US" sz="800" spc="7" kern="0" dirty="0">
                <a:solidFill>
                  <a:srgbClr val="6FE3D2"/>
                </a:solidFill>
                <a:latin typeface="Courier New" pitchFamily="34" charset="0"/>
                <a:ea typeface="Courier New" pitchFamily="34" charset="-122"/>
                <a:cs typeface="Courier New" pitchFamily="34" charset="-120"/>
              </a:rPr>
              <a:t>Φ_peak</a:t>
            </a:r>
            <a:pPr algn="l" indent="0" marL="0">
              <a:lnSpc>
                <a:spcPts val="1283"/>
              </a:lnSpc>
              <a:buNone/>
            </a:pPr>
            <a:r>
              <a:rPr lang="en-US" sz="800" spc="7" kern="0" dirty="0">
                <a:solidFill>
                  <a:srgbClr val="B5BAC4"/>
                </a:solidFill>
                <a:latin typeface="Liberation Sans Narrow" pitchFamily="34" charset="0"/>
                <a:ea typeface="Liberation Sans Narrow" pitchFamily="34" charset="-122"/>
                <a:cs typeface="Liberation Sans Narrow" pitchFamily="34" charset="-120"/>
              </a:rPr>
              <a:t> = 1 / (Y + 1/8) = </a:t>
            </a:r>
            <a:pPr algn="l" indent="0" marL="0">
              <a:lnSpc>
                <a:spcPts val="1283"/>
              </a:lnSpc>
              <a:buNone/>
            </a:pPr>
            <a:r>
              <a:rPr lang="en-US" sz="800" spc="7" kern="0" dirty="0">
                <a:solidFill>
                  <a:srgbClr val="FFB454"/>
                </a:solidFill>
                <a:latin typeface="Liberation Sans Narrow" pitchFamily="34" charset="0"/>
                <a:ea typeface="Liberation Sans Narrow" pitchFamily="34" charset="-122"/>
                <a:cs typeface="Liberation Sans Narrow" pitchFamily="34" charset="-120"/>
              </a:rPr>
              <a:t>2.566238263885</a:t>
            </a:r>
            <a:endParaRPr lang="en-US" sz="800" dirty="0"/>
          </a:p>
        </p:txBody>
      </p:sp>
      <p:sp>
        <p:nvSpPr>
          <p:cNvPr id="25" name="Text 23"/>
          <p:cNvSpPr/>
          <p:nvPr/>
        </p:nvSpPr>
        <p:spPr>
          <a:xfrm>
            <a:off x="5424450" y="3530687"/>
            <a:ext cx="3262238" cy="164592"/>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 CLOSED-FORM PEAK · HW-INVARIANT ACROSS ALL CODEWORDS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3436144"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RECAP</a:t>
            </a:r>
            <a:endParaRPr lang="en-US" sz="800" dirty="0"/>
          </a:p>
        </p:txBody>
      </p:sp>
      <p:sp>
        <p:nvSpPr>
          <p:cNvPr id="4" name="Text 2"/>
          <p:cNvSpPr/>
          <p:nvPr/>
        </p:nvSpPr>
        <p:spPr>
          <a:xfrm>
            <a:off x="3907631" y="342900"/>
            <a:ext cx="4410484"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EXTREMAL_002 + CONVERSE_001</a:t>
            </a:r>
            <a:endParaRPr lang="en-US" sz="800" dirty="0"/>
          </a:p>
        </p:txBody>
      </p:sp>
      <p:sp>
        <p:nvSpPr>
          <p:cNvPr id="5" name="Text 3"/>
          <p:cNvSpPr/>
          <p:nvPr/>
        </p:nvSpPr>
        <p:spPr>
          <a:xfrm>
            <a:off x="8332403" y="342900"/>
            <a:ext cx="354397"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02 OF 14</a:t>
            </a:r>
            <a:endParaRPr lang="en-US" sz="800" dirty="0"/>
          </a:p>
        </p:txBody>
      </p:sp>
      <p:sp>
        <p:nvSpPr>
          <p:cNvPr id="6" name="Text 4"/>
          <p:cNvSpPr/>
          <p:nvPr/>
        </p:nvSpPr>
        <p:spPr>
          <a:xfrm>
            <a:off x="457200" y="685800"/>
            <a:ext cx="342900" cy="21431"/>
          </a:xfrm>
          <a:prstGeom prst="rect">
            <a:avLst/>
          </a:prstGeom>
          <a:solidFill>
            <a:srgbClr val="6FE3D2"/>
          </a:solidFill>
          <a:ln/>
        </p:spPr>
        <p:txBody>
          <a:bodyPr wrap="square" rtlCol="0" anchor="ctr"/>
          <a:lstStyle/>
          <a:p>
            <a:pPr indent="0" marL="0">
              <a:buNone/>
            </a:pPr>
            <a:endParaRPr lang="en-US" dirty="0"/>
          </a:p>
        </p:txBody>
      </p:sp>
      <p:sp>
        <p:nvSpPr>
          <p:cNvPr id="7" name="Text 5"/>
          <p:cNvSpPr/>
          <p:nvPr/>
        </p:nvSpPr>
        <p:spPr>
          <a:xfrm>
            <a:off x="457200" y="764381"/>
            <a:ext cx="5094597" cy="195172"/>
          </a:xfrm>
          <a:prstGeom prst="rect">
            <a:avLst/>
          </a:prstGeom>
          <a:noFill/>
          <a:ln/>
        </p:spPr>
        <p:txBody>
          <a:bodyPr wrap="square" lIns="0" tIns="0" rIns="0" bIns="0" rtlCol="0" anchor="t"/>
          <a:lstStyle/>
          <a:p>
            <a:pPr algn="l" indent="0" marL="0">
              <a:lnSpc>
                <a:spcPts val="1423"/>
              </a:lnSpc>
              <a:buNone/>
            </a:pPr>
            <a:r>
              <a:rPr lang="en-US" sz="1238" spc="-6" kern="0" dirty="0">
                <a:solidFill>
                  <a:srgbClr val="E6E6E6"/>
                </a:solidFill>
                <a:latin typeface="Liberation Sans Narrow" pitchFamily="34" charset="0"/>
                <a:ea typeface="Liberation Sans Narrow" pitchFamily="34" charset="-122"/>
                <a:cs typeface="Liberation Sans Narrow" pitchFamily="34" charset="-120"/>
              </a:rPr>
              <a:t>What EXTREMAL_002 established</a:t>
            </a:r>
            <a:endParaRPr lang="en-US" sz="1238" dirty="0"/>
          </a:p>
        </p:txBody>
      </p:sp>
      <p:sp>
        <p:nvSpPr>
          <p:cNvPr id="8" name="Text 6"/>
          <p:cNvSpPr/>
          <p:nvPr/>
        </p:nvSpPr>
        <p:spPr>
          <a:xfrm>
            <a:off x="457200" y="1045108"/>
            <a:ext cx="4717219" cy="466130"/>
          </a:xfrm>
          <a:prstGeom prst="roundRect">
            <a:avLst>
              <a:gd name="adj" fmla="val 8174"/>
            </a:avLst>
          </a:prstGeom>
          <a:solidFill>
            <a:srgbClr val="161B22"/>
          </a:solidFill>
          <a:ln/>
        </p:spPr>
        <p:txBody>
          <a:bodyPr wrap="square" rtlCol="0" anchor="ctr"/>
          <a:lstStyle/>
          <a:p>
            <a:pPr indent="0" marL="0">
              <a:buNone/>
            </a:pPr>
            <a:endParaRPr lang="en-US" dirty="0"/>
          </a:p>
        </p:txBody>
      </p:sp>
      <p:sp>
        <p:nvSpPr>
          <p:cNvPr id="9" name="Shape 7"/>
          <p:cNvSpPr/>
          <p:nvPr/>
        </p:nvSpPr>
        <p:spPr>
          <a:xfrm>
            <a:off x="457200" y="1048680"/>
            <a:ext cx="4717219" cy="0"/>
          </a:xfrm>
          <a:prstGeom prst="line">
            <a:avLst/>
          </a:prstGeom>
          <a:noFill/>
          <a:ln w="7144">
            <a:solidFill>
              <a:srgbClr val="2A3038"/>
            </a:solidFill>
            <a:prstDash val="solid"/>
          </a:ln>
        </p:spPr>
      </p:sp>
      <p:sp>
        <p:nvSpPr>
          <p:cNvPr id="10" name="Shape 8"/>
          <p:cNvSpPr/>
          <p:nvPr/>
        </p:nvSpPr>
        <p:spPr>
          <a:xfrm>
            <a:off x="5170847" y="1045108"/>
            <a:ext cx="0" cy="466130"/>
          </a:xfrm>
          <a:prstGeom prst="line">
            <a:avLst/>
          </a:prstGeom>
          <a:noFill/>
          <a:ln w="7144">
            <a:solidFill>
              <a:srgbClr val="2A3038"/>
            </a:solidFill>
            <a:prstDash val="solid"/>
          </a:ln>
        </p:spPr>
      </p:sp>
      <p:sp>
        <p:nvSpPr>
          <p:cNvPr id="11" name="Shape 9"/>
          <p:cNvSpPr/>
          <p:nvPr/>
        </p:nvSpPr>
        <p:spPr>
          <a:xfrm>
            <a:off x="457200" y="1507666"/>
            <a:ext cx="4717219" cy="0"/>
          </a:xfrm>
          <a:prstGeom prst="line">
            <a:avLst/>
          </a:prstGeom>
          <a:noFill/>
          <a:ln w="7144">
            <a:solidFill>
              <a:srgbClr val="2A3038"/>
            </a:solidFill>
            <a:prstDash val="solid"/>
          </a:ln>
        </p:spPr>
      </p:sp>
      <p:sp>
        <p:nvSpPr>
          <p:cNvPr id="12" name="Shape 10"/>
          <p:cNvSpPr/>
          <p:nvPr/>
        </p:nvSpPr>
        <p:spPr>
          <a:xfrm>
            <a:off x="464344" y="1045108"/>
            <a:ext cx="0" cy="466130"/>
          </a:xfrm>
          <a:prstGeom prst="line">
            <a:avLst/>
          </a:prstGeom>
          <a:noFill/>
          <a:ln w="14288">
            <a:solidFill>
              <a:srgbClr val="6FE3D2"/>
            </a:solidFill>
            <a:prstDash val="solid"/>
          </a:ln>
        </p:spPr>
      </p:sp>
      <p:sp>
        <p:nvSpPr>
          <p:cNvPr id="13" name="Text 11"/>
          <p:cNvSpPr/>
          <p:nvPr/>
        </p:nvSpPr>
        <p:spPr>
          <a:xfrm>
            <a:off x="571500" y="1130833"/>
            <a:ext cx="342900" cy="169736"/>
          </a:xfrm>
          <a:prstGeom prst="rect">
            <a:avLst/>
          </a:prstGeom>
          <a:noFill/>
          <a:ln/>
        </p:spPr>
        <p:txBody>
          <a:bodyPr wrap="none" lIns="0" tIns="0" rIns="0" bIns="0" rtlCol="0" anchor="t"/>
          <a:lstStyle/>
          <a:p>
            <a:pPr algn="l" indent="0" marL="0">
              <a:lnSpc>
                <a:spcPts val="1238"/>
              </a:lnSpc>
              <a:buNone/>
            </a:pPr>
            <a:r>
              <a:rPr lang="en-US" sz="1238" dirty="0">
                <a:solidFill>
                  <a:srgbClr val="6FE3D2"/>
                </a:solidFill>
                <a:latin typeface="Liberation Sans Narrow" pitchFamily="34" charset="0"/>
                <a:ea typeface="Liberation Sans Narrow" pitchFamily="34" charset="-122"/>
                <a:cs typeface="Liberation Sans Narrow" pitchFamily="34" charset="-120"/>
              </a:rPr>
              <a:t>01</a:t>
            </a:r>
            <a:endParaRPr lang="en-US" sz="1238" dirty="0"/>
          </a:p>
        </p:txBody>
      </p:sp>
      <p:sp>
        <p:nvSpPr>
          <p:cNvPr id="14" name="Text 12"/>
          <p:cNvSpPr/>
          <p:nvPr/>
        </p:nvSpPr>
        <p:spPr>
          <a:xfrm>
            <a:off x="885825" y="1130833"/>
            <a:ext cx="4291166" cy="138660"/>
          </a:xfrm>
          <a:prstGeom prst="rect">
            <a:avLst/>
          </a:prstGeom>
          <a:noFill/>
          <a:ln/>
        </p:spPr>
        <p:txBody>
          <a:bodyPr wrap="square" lIns="0" tIns="0" rIns="0" bIns="0" rtlCol="0" anchor="t">
            <a:normAutofit/>
          </a:bodyPr>
          <a:lstStyle/>
          <a:p>
            <a:pPr algn="l" indent="0" marL="0">
              <a:lnSpc>
                <a:spcPts val="1139"/>
              </a:lnSpc>
              <a:buNone/>
            </a:pPr>
            <a:r>
              <a:rPr lang="en-US" sz="800" dirty="0">
                <a:solidFill>
                  <a:srgbClr val="E6E6E6"/>
                </a:solidFill>
                <a:latin typeface="Carlito" pitchFamily="34" charset="0"/>
                <a:ea typeface="Carlito" pitchFamily="34" charset="-122"/>
                <a:cs typeface="Carlito" pitchFamily="34" charset="-120"/>
              </a:rPr>
              <a:t>Constant Peak Theorem </a:t>
            </a:r>
            <a:pPr algn="l" indent="0" marL="0">
              <a:lnSpc>
                <a:spcPts val="1139"/>
              </a:lnSpc>
              <a:buNone/>
            </a:pPr>
            <a:r>
              <a:rPr lang="en-US" sz="800" spc="71" kern="0" dirty="0">
                <a:solidFill>
                  <a:srgbClr val="6B7280"/>
                </a:solidFill>
                <a:latin typeface="Courier New" pitchFamily="34" charset="0"/>
                <a:ea typeface="Courier New" pitchFamily="34" charset="-122"/>
                <a:cs typeface="Courier New" pitchFamily="34" charset="-120"/>
              </a:rPr>
              <a:t>(ANALYTIC)</a:t>
            </a:r>
            <a:endParaRPr lang="en-US" sz="800" dirty="0"/>
          </a:p>
        </p:txBody>
      </p:sp>
      <p:sp>
        <p:nvSpPr>
          <p:cNvPr id="15" name="Text 13"/>
          <p:cNvSpPr/>
          <p:nvPr/>
        </p:nvSpPr>
        <p:spPr>
          <a:xfrm>
            <a:off x="885825" y="1296925"/>
            <a:ext cx="4181438" cy="128588"/>
          </a:xfrm>
          <a:prstGeom prst="rect">
            <a:avLst/>
          </a:prstGeom>
          <a:noFill/>
          <a:ln/>
        </p:spPr>
        <p:txBody>
          <a:bodyPr wrap="squar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For any non-zero Golay codeword </a:t>
            </a:r>
            <a:pPr algn="l" indent="0" marL="0">
              <a:lnSpc>
                <a:spcPts val="1013"/>
              </a:lnSpc>
              <a:buNone/>
            </a:pPr>
            <a:r>
              <a:rPr lang="en-US" sz="800" i="1" dirty="0">
                <a:solidFill>
                  <a:srgbClr val="E6E6E6"/>
                </a:solidFill>
                <a:latin typeface="Tinos" pitchFamily="34" charset="0"/>
                <a:ea typeface="Tinos" pitchFamily="34" charset="-122"/>
                <a:cs typeface="Tinos" pitchFamily="34" charset="-120"/>
              </a:rPr>
              <a:t>w</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013"/>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Φ(w) = 1/(Y + 1/8)</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exactly. Hamming Weight cancels in the ratio.</a:t>
            </a:r>
            <a:endParaRPr lang="en-US" sz="800" dirty="0"/>
          </a:p>
        </p:txBody>
      </p:sp>
      <p:sp>
        <p:nvSpPr>
          <p:cNvPr id="16" name="Text 14"/>
          <p:cNvSpPr/>
          <p:nvPr/>
        </p:nvSpPr>
        <p:spPr>
          <a:xfrm>
            <a:off x="457200" y="1568388"/>
            <a:ext cx="4717219" cy="466130"/>
          </a:xfrm>
          <a:prstGeom prst="roundRect">
            <a:avLst>
              <a:gd name="adj" fmla="val 8174"/>
            </a:avLst>
          </a:prstGeom>
          <a:solidFill>
            <a:srgbClr val="161B22"/>
          </a:solidFill>
          <a:ln/>
        </p:spPr>
        <p:txBody>
          <a:bodyPr wrap="square" rtlCol="0" anchor="ctr"/>
          <a:lstStyle/>
          <a:p>
            <a:pPr indent="0" marL="0">
              <a:buNone/>
            </a:pPr>
            <a:endParaRPr lang="en-US" dirty="0"/>
          </a:p>
        </p:txBody>
      </p:sp>
      <p:sp>
        <p:nvSpPr>
          <p:cNvPr id="17" name="Shape 15"/>
          <p:cNvSpPr/>
          <p:nvPr/>
        </p:nvSpPr>
        <p:spPr>
          <a:xfrm>
            <a:off x="457200" y="1571960"/>
            <a:ext cx="4717219" cy="0"/>
          </a:xfrm>
          <a:prstGeom prst="line">
            <a:avLst/>
          </a:prstGeom>
          <a:noFill/>
          <a:ln w="7144">
            <a:solidFill>
              <a:srgbClr val="2A3038"/>
            </a:solidFill>
            <a:prstDash val="solid"/>
          </a:ln>
        </p:spPr>
      </p:sp>
      <p:sp>
        <p:nvSpPr>
          <p:cNvPr id="18" name="Shape 16"/>
          <p:cNvSpPr/>
          <p:nvPr/>
        </p:nvSpPr>
        <p:spPr>
          <a:xfrm>
            <a:off x="5170847" y="1568388"/>
            <a:ext cx="0" cy="466130"/>
          </a:xfrm>
          <a:prstGeom prst="line">
            <a:avLst/>
          </a:prstGeom>
          <a:noFill/>
          <a:ln w="7144">
            <a:solidFill>
              <a:srgbClr val="2A3038"/>
            </a:solidFill>
            <a:prstDash val="solid"/>
          </a:ln>
        </p:spPr>
      </p:sp>
      <p:sp>
        <p:nvSpPr>
          <p:cNvPr id="19" name="Shape 17"/>
          <p:cNvSpPr/>
          <p:nvPr/>
        </p:nvSpPr>
        <p:spPr>
          <a:xfrm>
            <a:off x="457200" y="2030946"/>
            <a:ext cx="4717219" cy="0"/>
          </a:xfrm>
          <a:prstGeom prst="line">
            <a:avLst/>
          </a:prstGeom>
          <a:noFill/>
          <a:ln w="7144">
            <a:solidFill>
              <a:srgbClr val="2A3038"/>
            </a:solidFill>
            <a:prstDash val="solid"/>
          </a:ln>
        </p:spPr>
      </p:sp>
      <p:sp>
        <p:nvSpPr>
          <p:cNvPr id="20" name="Shape 18"/>
          <p:cNvSpPr/>
          <p:nvPr/>
        </p:nvSpPr>
        <p:spPr>
          <a:xfrm>
            <a:off x="464344" y="1568388"/>
            <a:ext cx="0" cy="466130"/>
          </a:xfrm>
          <a:prstGeom prst="line">
            <a:avLst/>
          </a:prstGeom>
          <a:noFill/>
          <a:ln w="14288">
            <a:solidFill>
              <a:srgbClr val="6FE3D2"/>
            </a:solidFill>
            <a:prstDash val="solid"/>
          </a:ln>
        </p:spPr>
      </p:sp>
      <p:sp>
        <p:nvSpPr>
          <p:cNvPr id="21" name="Text 19"/>
          <p:cNvSpPr/>
          <p:nvPr/>
        </p:nvSpPr>
        <p:spPr>
          <a:xfrm>
            <a:off x="571500" y="1654113"/>
            <a:ext cx="342900" cy="169736"/>
          </a:xfrm>
          <a:prstGeom prst="rect">
            <a:avLst/>
          </a:prstGeom>
          <a:noFill/>
          <a:ln/>
        </p:spPr>
        <p:txBody>
          <a:bodyPr wrap="none" lIns="0" tIns="0" rIns="0" bIns="0" rtlCol="0" anchor="t"/>
          <a:lstStyle/>
          <a:p>
            <a:pPr algn="l" indent="0" marL="0">
              <a:lnSpc>
                <a:spcPts val="1238"/>
              </a:lnSpc>
              <a:buNone/>
            </a:pPr>
            <a:r>
              <a:rPr lang="en-US" sz="1238" dirty="0">
                <a:solidFill>
                  <a:srgbClr val="6FE3D2"/>
                </a:solidFill>
                <a:latin typeface="Liberation Sans Narrow" pitchFamily="34" charset="0"/>
                <a:ea typeface="Liberation Sans Narrow" pitchFamily="34" charset="-122"/>
                <a:cs typeface="Liberation Sans Narrow" pitchFamily="34" charset="-120"/>
              </a:rPr>
              <a:t>02</a:t>
            </a:r>
            <a:endParaRPr lang="en-US" sz="1238" dirty="0"/>
          </a:p>
        </p:txBody>
      </p:sp>
      <p:sp>
        <p:nvSpPr>
          <p:cNvPr id="22" name="Text 20"/>
          <p:cNvSpPr/>
          <p:nvPr/>
        </p:nvSpPr>
        <p:spPr>
          <a:xfrm>
            <a:off x="885825" y="1654113"/>
            <a:ext cx="4291166" cy="138660"/>
          </a:xfrm>
          <a:prstGeom prst="rect">
            <a:avLst/>
          </a:prstGeom>
          <a:noFill/>
          <a:ln/>
        </p:spPr>
        <p:txBody>
          <a:bodyPr wrap="square" lIns="0" tIns="0" rIns="0" bIns="0" rtlCol="0" anchor="t">
            <a:normAutofit/>
          </a:bodyPr>
          <a:lstStyle/>
          <a:p>
            <a:pPr algn="l" indent="0" marL="0">
              <a:lnSpc>
                <a:spcPts val="1139"/>
              </a:lnSpc>
              <a:buNone/>
            </a:pPr>
            <a:r>
              <a:rPr lang="en-US" sz="800" dirty="0">
                <a:solidFill>
                  <a:srgbClr val="E6E6E6"/>
                </a:solidFill>
                <a:latin typeface="Carlito" pitchFamily="34" charset="0"/>
                <a:ea typeface="Carlito" pitchFamily="34" charset="-122"/>
                <a:cs typeface="Carlito" pitchFamily="34" charset="-120"/>
              </a:rPr>
              <a:t>Analytic Dominance Theorem </a:t>
            </a:r>
            <a:pPr algn="l" indent="0" marL="0">
              <a:lnSpc>
                <a:spcPts val="1139"/>
              </a:lnSpc>
              <a:buNone/>
            </a:pPr>
            <a:r>
              <a:rPr lang="en-US" sz="800" spc="71" kern="0" dirty="0">
                <a:solidFill>
                  <a:srgbClr val="6B7280"/>
                </a:solidFill>
                <a:latin typeface="Courier New" pitchFamily="34" charset="0"/>
                <a:ea typeface="Courier New" pitchFamily="34" charset="-122"/>
                <a:cs typeface="Courier New" pitchFamily="34" charset="-120"/>
              </a:rPr>
              <a:t>(ANALYTIC)</a:t>
            </a:r>
            <a:endParaRPr lang="en-US" sz="800" dirty="0"/>
          </a:p>
        </p:txBody>
      </p:sp>
      <p:sp>
        <p:nvSpPr>
          <p:cNvPr id="23" name="Text 21"/>
          <p:cNvSpPr/>
          <p:nvPr/>
        </p:nvSpPr>
        <p:spPr>
          <a:xfrm>
            <a:off x="885825" y="1820205"/>
            <a:ext cx="4181438" cy="128588"/>
          </a:xfrm>
          <a:prstGeom prst="rect">
            <a:avLst/>
          </a:prstGeom>
          <a:noFill/>
          <a:ln/>
        </p:spPr>
        <p:txBody>
          <a:bodyPr wrap="squar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For any correctable non-codeword </a:t>
            </a:r>
            <a:pPr algn="l" indent="0" marL="0">
              <a:lnSpc>
                <a:spcPts val="1013"/>
              </a:lnSpc>
              <a:buNone/>
            </a:pPr>
            <a:r>
              <a:rPr lang="en-US" sz="800" i="1" dirty="0">
                <a:solidFill>
                  <a:srgbClr val="E6E6E6"/>
                </a:solidFill>
                <a:latin typeface="Tinos" pitchFamily="34" charset="0"/>
                <a:ea typeface="Tinos" pitchFamily="34" charset="-122"/>
                <a:cs typeface="Tinos" pitchFamily="34" charset="-120"/>
              </a:rPr>
              <a:t>v</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decoding to non-zero </a:t>
            </a:r>
            <a:pPr algn="l" indent="0" marL="0">
              <a:lnSpc>
                <a:spcPts val="1013"/>
              </a:lnSpc>
              <a:buNone/>
            </a:pPr>
            <a:r>
              <a:rPr lang="en-US" sz="800" i="1" dirty="0">
                <a:solidFill>
                  <a:srgbClr val="E6E6E6"/>
                </a:solidFill>
                <a:latin typeface="Tinos" pitchFamily="34" charset="0"/>
                <a:ea typeface="Tinos" pitchFamily="34" charset="-122"/>
                <a:cs typeface="Tinos" pitchFamily="34" charset="-120"/>
              </a:rPr>
              <a:t>c</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013"/>
              </a:lnSpc>
              <a:buNone/>
            </a:pPr>
            <a:r>
              <a:rPr lang="en-US" sz="800" i="1" dirty="0">
                <a:solidFill>
                  <a:srgbClr val="E6E6E6"/>
                </a:solidFill>
                <a:latin typeface="Tinos" pitchFamily="34" charset="0"/>
                <a:ea typeface="Tinos" pitchFamily="34" charset="-122"/>
                <a:cs typeface="Tinos" pitchFamily="34" charset="-120"/>
              </a:rPr>
              <a:t>Φ(v) &lt; Φ(c)</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Strict.</a:t>
            </a:r>
            <a:endParaRPr lang="en-US" sz="800" dirty="0"/>
          </a:p>
        </p:txBody>
      </p:sp>
      <p:sp>
        <p:nvSpPr>
          <p:cNvPr id="24" name="Text 22"/>
          <p:cNvSpPr/>
          <p:nvPr/>
        </p:nvSpPr>
        <p:spPr>
          <a:xfrm>
            <a:off x="457200" y="2091668"/>
            <a:ext cx="4717219" cy="466130"/>
          </a:xfrm>
          <a:prstGeom prst="roundRect">
            <a:avLst>
              <a:gd name="adj" fmla="val 8174"/>
            </a:avLst>
          </a:prstGeom>
          <a:solidFill>
            <a:srgbClr val="161B22"/>
          </a:solidFill>
          <a:ln/>
        </p:spPr>
        <p:txBody>
          <a:bodyPr wrap="square" rtlCol="0" anchor="ctr"/>
          <a:lstStyle/>
          <a:p>
            <a:pPr indent="0" marL="0">
              <a:buNone/>
            </a:pPr>
            <a:endParaRPr lang="en-US" dirty="0"/>
          </a:p>
        </p:txBody>
      </p:sp>
      <p:sp>
        <p:nvSpPr>
          <p:cNvPr id="25" name="Shape 23"/>
          <p:cNvSpPr/>
          <p:nvPr/>
        </p:nvSpPr>
        <p:spPr>
          <a:xfrm>
            <a:off x="457200" y="2095240"/>
            <a:ext cx="4717219" cy="0"/>
          </a:xfrm>
          <a:prstGeom prst="line">
            <a:avLst/>
          </a:prstGeom>
          <a:noFill/>
          <a:ln w="7144">
            <a:solidFill>
              <a:srgbClr val="2A3038"/>
            </a:solidFill>
            <a:prstDash val="solid"/>
          </a:ln>
        </p:spPr>
      </p:sp>
      <p:sp>
        <p:nvSpPr>
          <p:cNvPr id="26" name="Shape 24"/>
          <p:cNvSpPr/>
          <p:nvPr/>
        </p:nvSpPr>
        <p:spPr>
          <a:xfrm>
            <a:off x="5170847" y="2091668"/>
            <a:ext cx="0" cy="466130"/>
          </a:xfrm>
          <a:prstGeom prst="line">
            <a:avLst/>
          </a:prstGeom>
          <a:noFill/>
          <a:ln w="7144">
            <a:solidFill>
              <a:srgbClr val="2A3038"/>
            </a:solidFill>
            <a:prstDash val="solid"/>
          </a:ln>
        </p:spPr>
      </p:sp>
      <p:sp>
        <p:nvSpPr>
          <p:cNvPr id="27" name="Shape 25"/>
          <p:cNvSpPr/>
          <p:nvPr/>
        </p:nvSpPr>
        <p:spPr>
          <a:xfrm>
            <a:off x="457200" y="2554225"/>
            <a:ext cx="4717219" cy="0"/>
          </a:xfrm>
          <a:prstGeom prst="line">
            <a:avLst/>
          </a:prstGeom>
          <a:noFill/>
          <a:ln w="7144">
            <a:solidFill>
              <a:srgbClr val="2A3038"/>
            </a:solidFill>
            <a:prstDash val="solid"/>
          </a:ln>
        </p:spPr>
      </p:sp>
      <p:sp>
        <p:nvSpPr>
          <p:cNvPr id="28" name="Shape 26"/>
          <p:cNvSpPr/>
          <p:nvPr/>
        </p:nvSpPr>
        <p:spPr>
          <a:xfrm>
            <a:off x="464344" y="2091668"/>
            <a:ext cx="0" cy="466130"/>
          </a:xfrm>
          <a:prstGeom prst="line">
            <a:avLst/>
          </a:prstGeom>
          <a:noFill/>
          <a:ln w="14288">
            <a:solidFill>
              <a:srgbClr val="6FE3D2"/>
            </a:solidFill>
            <a:prstDash val="solid"/>
          </a:ln>
        </p:spPr>
      </p:sp>
      <p:sp>
        <p:nvSpPr>
          <p:cNvPr id="29" name="Text 27"/>
          <p:cNvSpPr/>
          <p:nvPr/>
        </p:nvSpPr>
        <p:spPr>
          <a:xfrm>
            <a:off x="571500" y="2177393"/>
            <a:ext cx="342900" cy="169736"/>
          </a:xfrm>
          <a:prstGeom prst="rect">
            <a:avLst/>
          </a:prstGeom>
          <a:noFill/>
          <a:ln/>
        </p:spPr>
        <p:txBody>
          <a:bodyPr wrap="none" lIns="0" tIns="0" rIns="0" bIns="0" rtlCol="0" anchor="t"/>
          <a:lstStyle/>
          <a:p>
            <a:pPr algn="l" indent="0" marL="0">
              <a:lnSpc>
                <a:spcPts val="1238"/>
              </a:lnSpc>
              <a:buNone/>
            </a:pPr>
            <a:r>
              <a:rPr lang="en-US" sz="1238" dirty="0">
                <a:solidFill>
                  <a:srgbClr val="6FE3D2"/>
                </a:solidFill>
                <a:latin typeface="Liberation Sans Narrow" pitchFamily="34" charset="0"/>
                <a:ea typeface="Liberation Sans Narrow" pitchFamily="34" charset="-122"/>
                <a:cs typeface="Liberation Sans Narrow" pitchFamily="34" charset="-120"/>
              </a:rPr>
              <a:t>03</a:t>
            </a:r>
            <a:endParaRPr lang="en-US" sz="1238" dirty="0"/>
          </a:p>
        </p:txBody>
      </p:sp>
      <p:sp>
        <p:nvSpPr>
          <p:cNvPr id="30" name="Text 28"/>
          <p:cNvSpPr/>
          <p:nvPr/>
        </p:nvSpPr>
        <p:spPr>
          <a:xfrm>
            <a:off x="885825" y="2177393"/>
            <a:ext cx="4291166" cy="138660"/>
          </a:xfrm>
          <a:prstGeom prst="rect">
            <a:avLst/>
          </a:prstGeom>
          <a:noFill/>
          <a:ln/>
        </p:spPr>
        <p:txBody>
          <a:bodyPr wrap="square" lIns="0" tIns="0" rIns="0" bIns="0" rtlCol="0" anchor="t">
            <a:normAutofit/>
          </a:bodyPr>
          <a:lstStyle/>
          <a:p>
            <a:pPr algn="l" indent="0" marL="0">
              <a:lnSpc>
                <a:spcPts val="1139"/>
              </a:lnSpc>
              <a:buNone/>
            </a:pPr>
            <a:r>
              <a:rPr lang="en-US" sz="800" dirty="0">
                <a:solidFill>
                  <a:srgbClr val="E6E6E6"/>
                </a:solidFill>
                <a:latin typeface="Carlito" pitchFamily="34" charset="0"/>
                <a:ea typeface="Carlito" pitchFamily="34" charset="-122"/>
                <a:cs typeface="Carlito" pitchFamily="34" charset="-120"/>
              </a:rPr>
              <a:t>Vacuum Collapse </a:t>
            </a:r>
            <a:pPr algn="l" indent="0" marL="0">
              <a:lnSpc>
                <a:spcPts val="1139"/>
              </a:lnSpc>
              <a:buNone/>
            </a:pPr>
            <a:r>
              <a:rPr lang="en-US" sz="800" spc="71" kern="0" dirty="0">
                <a:solidFill>
                  <a:srgbClr val="6B7280"/>
                </a:solidFill>
                <a:latin typeface="Liberation Sans Narrow" pitchFamily="34" charset="0"/>
                <a:ea typeface="Liberation Sans Narrow" pitchFamily="34" charset="-122"/>
                <a:cs typeface="Liberation Sans Narrow" pitchFamily="34" charset="-120"/>
              </a:rPr>
              <a:t>(EMPIRICAL · 10⁵ SWEEP)</a:t>
            </a:r>
            <a:endParaRPr lang="en-US" sz="800" dirty="0"/>
          </a:p>
        </p:txBody>
      </p:sp>
      <p:sp>
        <p:nvSpPr>
          <p:cNvPr id="31" name="Text 29"/>
          <p:cNvSpPr/>
          <p:nvPr/>
        </p:nvSpPr>
        <p:spPr>
          <a:xfrm>
            <a:off x="885825" y="2343485"/>
            <a:ext cx="4181438" cy="128588"/>
          </a:xfrm>
          <a:prstGeom prst="rect">
            <a:avLst/>
          </a:prstGeom>
          <a:noFill/>
          <a:ln/>
        </p:spPr>
        <p:txBody>
          <a:bodyPr wrap="square" lIns="0" tIns="0" rIns="0" bIns="0" rtlCol="0" anchor="t"/>
          <a:lstStyle/>
          <a:p>
            <a:pPr algn="l" indent="0" marL="0">
              <a:lnSpc>
                <a:spcPts val="101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19 of 100,000 random states showed </a:t>
            </a:r>
            <a:pPr algn="l" indent="0" marL="0">
              <a:lnSpc>
                <a:spcPts val="1013"/>
              </a:lnSpc>
              <a:buNone/>
            </a:pPr>
            <a:r>
              <a:rPr lang="en-US" sz="800" i="1" dirty="0">
                <a:solidFill>
                  <a:srgbClr val="E6E6E6"/>
                </a:solidFill>
                <a:latin typeface="Tinos" pitchFamily="34" charset="0"/>
                <a:ea typeface="Tinos" pitchFamily="34" charset="-122"/>
                <a:cs typeface="Tinos" pitchFamily="34" charset="-120"/>
              </a:rPr>
              <a:t>dΦ &lt; 0</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all 19 decoded to the zero codeword.</a:t>
            </a:r>
            <a:endParaRPr lang="en-US" sz="800" dirty="0"/>
          </a:p>
        </p:txBody>
      </p:sp>
      <p:sp>
        <p:nvSpPr>
          <p:cNvPr id="32" name="Text 30"/>
          <p:cNvSpPr/>
          <p:nvPr/>
        </p:nvSpPr>
        <p:spPr>
          <a:xfrm>
            <a:off x="457200" y="2614947"/>
            <a:ext cx="4717219" cy="466130"/>
          </a:xfrm>
          <a:prstGeom prst="roundRect">
            <a:avLst>
              <a:gd name="adj" fmla="val 8174"/>
            </a:avLst>
          </a:prstGeom>
          <a:solidFill>
            <a:srgbClr val="161B22"/>
          </a:solidFill>
          <a:ln/>
        </p:spPr>
        <p:txBody>
          <a:bodyPr wrap="square" rtlCol="0" anchor="ctr"/>
          <a:lstStyle/>
          <a:p>
            <a:pPr indent="0" marL="0">
              <a:buNone/>
            </a:pPr>
            <a:endParaRPr lang="en-US" dirty="0"/>
          </a:p>
        </p:txBody>
      </p:sp>
      <p:sp>
        <p:nvSpPr>
          <p:cNvPr id="33" name="Shape 31"/>
          <p:cNvSpPr/>
          <p:nvPr/>
        </p:nvSpPr>
        <p:spPr>
          <a:xfrm>
            <a:off x="457200" y="2618519"/>
            <a:ext cx="4717219" cy="0"/>
          </a:xfrm>
          <a:prstGeom prst="line">
            <a:avLst/>
          </a:prstGeom>
          <a:noFill/>
          <a:ln w="7144">
            <a:solidFill>
              <a:srgbClr val="2A3038"/>
            </a:solidFill>
            <a:prstDash val="solid"/>
          </a:ln>
        </p:spPr>
      </p:sp>
      <p:sp>
        <p:nvSpPr>
          <p:cNvPr id="34" name="Shape 32"/>
          <p:cNvSpPr/>
          <p:nvPr/>
        </p:nvSpPr>
        <p:spPr>
          <a:xfrm>
            <a:off x="5170847" y="2614947"/>
            <a:ext cx="0" cy="466130"/>
          </a:xfrm>
          <a:prstGeom prst="line">
            <a:avLst/>
          </a:prstGeom>
          <a:noFill/>
          <a:ln w="7144">
            <a:solidFill>
              <a:srgbClr val="2A3038"/>
            </a:solidFill>
            <a:prstDash val="solid"/>
          </a:ln>
        </p:spPr>
      </p:sp>
      <p:sp>
        <p:nvSpPr>
          <p:cNvPr id="35" name="Shape 33"/>
          <p:cNvSpPr/>
          <p:nvPr/>
        </p:nvSpPr>
        <p:spPr>
          <a:xfrm>
            <a:off x="457200" y="3077505"/>
            <a:ext cx="4717219" cy="0"/>
          </a:xfrm>
          <a:prstGeom prst="line">
            <a:avLst/>
          </a:prstGeom>
          <a:noFill/>
          <a:ln w="7144">
            <a:solidFill>
              <a:srgbClr val="2A3038"/>
            </a:solidFill>
            <a:prstDash val="solid"/>
          </a:ln>
        </p:spPr>
      </p:sp>
      <p:sp>
        <p:nvSpPr>
          <p:cNvPr id="36" name="Shape 34"/>
          <p:cNvSpPr/>
          <p:nvPr/>
        </p:nvSpPr>
        <p:spPr>
          <a:xfrm>
            <a:off x="464344" y="2614947"/>
            <a:ext cx="0" cy="466130"/>
          </a:xfrm>
          <a:prstGeom prst="line">
            <a:avLst/>
          </a:prstGeom>
          <a:noFill/>
          <a:ln w="14288">
            <a:solidFill>
              <a:srgbClr val="6FE3D2"/>
            </a:solidFill>
            <a:prstDash val="solid"/>
          </a:ln>
        </p:spPr>
      </p:sp>
      <p:sp>
        <p:nvSpPr>
          <p:cNvPr id="37" name="Text 35"/>
          <p:cNvSpPr/>
          <p:nvPr/>
        </p:nvSpPr>
        <p:spPr>
          <a:xfrm>
            <a:off x="571500" y="2700672"/>
            <a:ext cx="342900" cy="169736"/>
          </a:xfrm>
          <a:prstGeom prst="rect">
            <a:avLst/>
          </a:prstGeom>
          <a:noFill/>
          <a:ln/>
        </p:spPr>
        <p:txBody>
          <a:bodyPr wrap="none" lIns="0" tIns="0" rIns="0" bIns="0" rtlCol="0" anchor="t"/>
          <a:lstStyle/>
          <a:p>
            <a:pPr algn="l" indent="0" marL="0">
              <a:lnSpc>
                <a:spcPts val="1238"/>
              </a:lnSpc>
              <a:buNone/>
            </a:pPr>
            <a:r>
              <a:rPr lang="en-US" sz="1238" dirty="0">
                <a:solidFill>
                  <a:srgbClr val="6FE3D2"/>
                </a:solidFill>
                <a:latin typeface="Liberation Sans Narrow" pitchFamily="34" charset="0"/>
                <a:ea typeface="Liberation Sans Narrow" pitchFamily="34" charset="-122"/>
                <a:cs typeface="Liberation Sans Narrow" pitchFamily="34" charset="-120"/>
              </a:rPr>
              <a:t>04</a:t>
            </a:r>
            <a:endParaRPr lang="en-US" sz="1238" dirty="0"/>
          </a:p>
        </p:txBody>
      </p:sp>
      <p:sp>
        <p:nvSpPr>
          <p:cNvPr id="38" name="Text 36"/>
          <p:cNvSpPr/>
          <p:nvPr/>
        </p:nvSpPr>
        <p:spPr>
          <a:xfrm>
            <a:off x="885825" y="2700672"/>
            <a:ext cx="4181438" cy="138660"/>
          </a:xfrm>
          <a:prstGeom prst="rect">
            <a:avLst/>
          </a:prstGeom>
          <a:noFill/>
          <a:ln/>
        </p:spPr>
        <p:txBody>
          <a:bodyPr wrap="none" lIns="0" tIns="0" rIns="0" bIns="0" rtlCol="0" anchor="t">
            <a:normAutofit/>
          </a:bodyPr>
          <a:lstStyle/>
          <a:p>
            <a:pPr algn="l" indent="0" marL="0">
              <a:lnSpc>
                <a:spcPts val="1139"/>
              </a:lnSpc>
              <a:buNone/>
            </a:pPr>
            <a:r>
              <a:rPr lang="en-US" sz="800" dirty="0">
                <a:solidFill>
                  <a:srgbClr val="E6E6E6"/>
                </a:solidFill>
                <a:latin typeface="Carlito" pitchFamily="34" charset="0"/>
                <a:ea typeface="Carlito" pitchFamily="34" charset="-122"/>
                <a:cs typeface="Carlito" pitchFamily="34" charset="-120"/>
              </a:rPr>
              <a:t>Decoder-Flow Conjecture</a:t>
            </a:r>
            <a:endParaRPr lang="en-US" sz="800" dirty="0"/>
          </a:p>
        </p:txBody>
      </p:sp>
      <p:sp>
        <p:nvSpPr>
          <p:cNvPr id="39" name="Text 37"/>
          <p:cNvSpPr/>
          <p:nvPr/>
        </p:nvSpPr>
        <p:spPr>
          <a:xfrm>
            <a:off x="885825" y="2866765"/>
            <a:ext cx="4181438" cy="128588"/>
          </a:xfrm>
          <a:prstGeom prst="rect">
            <a:avLst/>
          </a:prstGeom>
          <a:noFill/>
          <a:ln/>
        </p:spPr>
        <p:txBody>
          <a:bodyPr wrap="square" lIns="0" tIns="0" rIns="0" bIns="0" rtlCol="0" anchor="t"/>
          <a:lstStyle/>
          <a:p>
            <a:pPr algn="l" indent="0" marL="0">
              <a:lnSpc>
                <a:spcPts val="1013"/>
              </a:lnSpc>
              <a:buNone/>
            </a:pPr>
            <a:r>
              <a:rPr lang="en-US" sz="800" i="1" dirty="0">
                <a:solidFill>
                  <a:srgbClr val="E6E6E6"/>
                </a:solidFill>
                <a:latin typeface="Tinos" pitchFamily="34" charset="0"/>
                <a:ea typeface="Tinos" pitchFamily="34" charset="-122"/>
                <a:cs typeface="Tinos" pitchFamily="34" charset="-120"/>
              </a:rPr>
              <a:t>Φ(Decode(v)) ≥ Φ(v)</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holds everywhere except at vacuum-collapse events.</a:t>
            </a:r>
            <a:endParaRPr lang="en-US" sz="800" dirty="0"/>
          </a:p>
        </p:txBody>
      </p:sp>
      <p:sp>
        <p:nvSpPr>
          <p:cNvPr id="40" name="Text 38"/>
          <p:cNvSpPr/>
          <p:nvPr/>
        </p:nvSpPr>
        <p:spPr>
          <a:xfrm>
            <a:off x="5374444" y="685800"/>
            <a:ext cx="342900" cy="21431"/>
          </a:xfrm>
          <a:prstGeom prst="rect">
            <a:avLst/>
          </a:prstGeom>
          <a:solidFill>
            <a:srgbClr val="FF6B6B"/>
          </a:solidFill>
          <a:ln/>
        </p:spPr>
        <p:txBody>
          <a:bodyPr wrap="square" rtlCol="0" anchor="ctr"/>
          <a:lstStyle/>
          <a:p>
            <a:pPr indent="0" marL="0">
              <a:buNone/>
            </a:pPr>
            <a:endParaRPr lang="en-US" dirty="0"/>
          </a:p>
        </p:txBody>
      </p:sp>
      <p:sp>
        <p:nvSpPr>
          <p:cNvPr id="41" name="Text 39"/>
          <p:cNvSpPr/>
          <p:nvPr/>
        </p:nvSpPr>
        <p:spPr>
          <a:xfrm>
            <a:off x="5374444" y="764381"/>
            <a:ext cx="3477974" cy="195172"/>
          </a:xfrm>
          <a:prstGeom prst="rect">
            <a:avLst/>
          </a:prstGeom>
          <a:noFill/>
          <a:ln/>
        </p:spPr>
        <p:txBody>
          <a:bodyPr wrap="none" lIns="0" tIns="0" rIns="0" bIns="0" rtlCol="0" anchor="t"/>
          <a:lstStyle/>
          <a:p>
            <a:pPr algn="l" indent="0" marL="0">
              <a:lnSpc>
                <a:spcPts val="1423"/>
              </a:lnSpc>
              <a:buNone/>
            </a:pPr>
            <a:r>
              <a:rPr lang="en-US" sz="1238" spc="-6" kern="0" dirty="0">
                <a:solidFill>
                  <a:srgbClr val="FF6B6B"/>
                </a:solidFill>
                <a:latin typeface="Liberation Sans Narrow" pitchFamily="34" charset="0"/>
                <a:ea typeface="Liberation Sans Narrow" pitchFamily="34" charset="-122"/>
                <a:cs typeface="Liberation Sans Narrow" pitchFamily="34" charset="-120"/>
              </a:rPr>
              <a:t>What CONVERSE_001 broke</a:t>
            </a:r>
            <a:endParaRPr lang="en-US" sz="1238" dirty="0"/>
          </a:p>
        </p:txBody>
      </p:sp>
      <p:sp>
        <p:nvSpPr>
          <p:cNvPr id="42" name="Text 40"/>
          <p:cNvSpPr/>
          <p:nvPr/>
        </p:nvSpPr>
        <p:spPr>
          <a:xfrm>
            <a:off x="5374444" y="1045108"/>
            <a:ext cx="3312356" cy="444698"/>
          </a:xfrm>
          <a:prstGeom prst="roundRect">
            <a:avLst>
              <a:gd name="adj" fmla="val 8568"/>
            </a:avLst>
          </a:prstGeom>
          <a:solidFill>
            <a:srgbClr val="1F2630"/>
          </a:solidFill>
          <a:ln/>
        </p:spPr>
        <p:txBody>
          <a:bodyPr wrap="square" rtlCol="0" anchor="ctr"/>
          <a:lstStyle/>
          <a:p>
            <a:pPr indent="0" marL="0">
              <a:buNone/>
            </a:pPr>
            <a:endParaRPr lang="en-US" dirty="0"/>
          </a:p>
        </p:txBody>
      </p:sp>
      <p:sp>
        <p:nvSpPr>
          <p:cNvPr id="43" name="Shape 41"/>
          <p:cNvSpPr/>
          <p:nvPr/>
        </p:nvSpPr>
        <p:spPr>
          <a:xfrm>
            <a:off x="5374444" y="1048680"/>
            <a:ext cx="3312356" cy="0"/>
          </a:xfrm>
          <a:prstGeom prst="line">
            <a:avLst/>
          </a:prstGeom>
          <a:noFill/>
          <a:ln w="7144">
            <a:solidFill>
              <a:srgbClr val="2A3038"/>
            </a:solidFill>
            <a:prstDash val="solid"/>
          </a:ln>
        </p:spPr>
      </p:sp>
      <p:sp>
        <p:nvSpPr>
          <p:cNvPr id="44" name="Shape 42"/>
          <p:cNvSpPr/>
          <p:nvPr/>
        </p:nvSpPr>
        <p:spPr>
          <a:xfrm>
            <a:off x="8683228" y="1045108"/>
            <a:ext cx="0" cy="444698"/>
          </a:xfrm>
          <a:prstGeom prst="line">
            <a:avLst/>
          </a:prstGeom>
          <a:noFill/>
          <a:ln w="7144">
            <a:solidFill>
              <a:srgbClr val="2A3038"/>
            </a:solidFill>
            <a:prstDash val="solid"/>
          </a:ln>
        </p:spPr>
      </p:sp>
      <p:sp>
        <p:nvSpPr>
          <p:cNvPr id="45" name="Shape 43"/>
          <p:cNvSpPr/>
          <p:nvPr/>
        </p:nvSpPr>
        <p:spPr>
          <a:xfrm>
            <a:off x="5374444" y="1486235"/>
            <a:ext cx="3312356" cy="0"/>
          </a:xfrm>
          <a:prstGeom prst="line">
            <a:avLst/>
          </a:prstGeom>
          <a:noFill/>
          <a:ln w="7144">
            <a:solidFill>
              <a:srgbClr val="2A3038"/>
            </a:solidFill>
            <a:prstDash val="solid"/>
          </a:ln>
        </p:spPr>
      </p:sp>
      <p:sp>
        <p:nvSpPr>
          <p:cNvPr id="46" name="Shape 44"/>
          <p:cNvSpPr/>
          <p:nvPr/>
        </p:nvSpPr>
        <p:spPr>
          <a:xfrm>
            <a:off x="5381588" y="1045108"/>
            <a:ext cx="0" cy="444698"/>
          </a:xfrm>
          <a:prstGeom prst="line">
            <a:avLst/>
          </a:prstGeom>
          <a:noFill/>
          <a:ln w="14288">
            <a:solidFill>
              <a:srgbClr val="FF6B6B"/>
            </a:solidFill>
            <a:prstDash val="solid"/>
          </a:ln>
        </p:spPr>
      </p:sp>
      <p:sp>
        <p:nvSpPr>
          <p:cNvPr id="47" name="Text 45"/>
          <p:cNvSpPr/>
          <p:nvPr/>
        </p:nvSpPr>
        <p:spPr>
          <a:xfrm>
            <a:off x="5488744" y="1137977"/>
            <a:ext cx="3200628" cy="108299"/>
          </a:xfrm>
          <a:prstGeom prst="rect">
            <a:avLst/>
          </a:prstGeom>
          <a:noFill/>
          <a:ln/>
        </p:spPr>
        <p:txBody>
          <a:bodyPr wrap="square" lIns="0" tIns="0" rIns="0" bIns="0" rtlCol="0" anchor="t">
            <a:normAutofit/>
          </a:bodyPr>
          <a:lstStyle/>
          <a:p>
            <a:pPr algn="l" indent="0" marL="0">
              <a:lnSpc>
                <a:spcPts val="844"/>
              </a:lnSpc>
              <a:buNone/>
            </a:pPr>
            <a:r>
              <a:rPr lang="en-US" sz="800" spc="101" kern="0" dirty="0">
                <a:solidFill>
                  <a:srgbClr val="FF6B6B"/>
                </a:solidFill>
                <a:latin typeface="Liberation Sans Narrow" pitchFamily="34" charset="0"/>
                <a:ea typeface="Liberation Sans Narrow" pitchFamily="34" charset="-122"/>
                <a:cs typeface="Liberation Sans Narrow" pitchFamily="34" charset="-120"/>
              </a:rPr>
              <a:t>BREAK 1 · CIRCULAR DEPENDENCY</a:t>
            </a:r>
            <a:endParaRPr lang="en-US" sz="800" dirty="0"/>
          </a:p>
        </p:txBody>
      </p:sp>
      <p:sp>
        <p:nvSpPr>
          <p:cNvPr id="48" name="Text 46"/>
          <p:cNvSpPr/>
          <p:nvPr/>
        </p:nvSpPr>
        <p:spPr>
          <a:xfrm>
            <a:off x="5488744" y="1273708"/>
            <a:ext cx="3090900" cy="123230"/>
          </a:xfrm>
          <a:prstGeom prst="rect">
            <a:avLst/>
          </a:prstGeom>
          <a:noFill/>
          <a:ln/>
        </p:spPr>
        <p:txBody>
          <a:bodyPr wrap="square" lIns="0" tIns="0" rIns="0" bIns="0" rtlCol="0" anchor="t"/>
          <a:lstStyle/>
          <a:p>
            <a:pPr algn="l" indent="0" marL="0">
              <a:lnSpc>
                <a:spcPts val="970"/>
              </a:lnSpc>
              <a:buNone/>
            </a:pPr>
            <a:r>
              <a:rPr lang="en-US" sz="800" i="1" dirty="0">
                <a:solidFill>
                  <a:srgbClr val="E6E6E6"/>
                </a:solidFill>
                <a:latin typeface="Tinos" pitchFamily="34" charset="0"/>
                <a:ea typeface="Tinos" pitchFamily="34" charset="-122"/>
                <a:cs typeface="Tinos" pitchFamily="34" charset="-120"/>
              </a:rPr>
              <a:t>SynW = weight(H_Golay · v)</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references Golay. Cannot derive Golay from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49" name="Text 47"/>
          <p:cNvSpPr/>
          <p:nvPr/>
        </p:nvSpPr>
        <p:spPr>
          <a:xfrm>
            <a:off x="5374444" y="1546957"/>
            <a:ext cx="3312356" cy="567928"/>
          </a:xfrm>
          <a:prstGeom prst="roundRect">
            <a:avLst>
              <a:gd name="adj" fmla="val 6709"/>
            </a:avLst>
          </a:prstGeom>
          <a:solidFill>
            <a:srgbClr val="1F2630"/>
          </a:solidFill>
          <a:ln/>
        </p:spPr>
        <p:txBody>
          <a:bodyPr wrap="square" rtlCol="0" anchor="ctr"/>
          <a:lstStyle/>
          <a:p>
            <a:pPr indent="0" marL="0">
              <a:buNone/>
            </a:pPr>
            <a:endParaRPr lang="en-US" dirty="0"/>
          </a:p>
        </p:txBody>
      </p:sp>
      <p:sp>
        <p:nvSpPr>
          <p:cNvPr id="50" name="Shape 48"/>
          <p:cNvSpPr/>
          <p:nvPr/>
        </p:nvSpPr>
        <p:spPr>
          <a:xfrm>
            <a:off x="5374444" y="1550529"/>
            <a:ext cx="3312356" cy="0"/>
          </a:xfrm>
          <a:prstGeom prst="line">
            <a:avLst/>
          </a:prstGeom>
          <a:noFill/>
          <a:ln w="7144">
            <a:solidFill>
              <a:srgbClr val="2A3038"/>
            </a:solidFill>
            <a:prstDash val="solid"/>
          </a:ln>
        </p:spPr>
      </p:sp>
      <p:sp>
        <p:nvSpPr>
          <p:cNvPr id="51" name="Shape 49"/>
          <p:cNvSpPr/>
          <p:nvPr/>
        </p:nvSpPr>
        <p:spPr>
          <a:xfrm>
            <a:off x="8683228" y="1546957"/>
            <a:ext cx="0" cy="567928"/>
          </a:xfrm>
          <a:prstGeom prst="line">
            <a:avLst/>
          </a:prstGeom>
          <a:noFill/>
          <a:ln w="7144">
            <a:solidFill>
              <a:srgbClr val="2A3038"/>
            </a:solidFill>
            <a:prstDash val="solid"/>
          </a:ln>
        </p:spPr>
      </p:sp>
      <p:sp>
        <p:nvSpPr>
          <p:cNvPr id="52" name="Shape 50"/>
          <p:cNvSpPr/>
          <p:nvPr/>
        </p:nvSpPr>
        <p:spPr>
          <a:xfrm>
            <a:off x="5374444" y="2111313"/>
            <a:ext cx="3312356" cy="0"/>
          </a:xfrm>
          <a:prstGeom prst="line">
            <a:avLst/>
          </a:prstGeom>
          <a:noFill/>
          <a:ln w="7144">
            <a:solidFill>
              <a:srgbClr val="2A3038"/>
            </a:solidFill>
            <a:prstDash val="solid"/>
          </a:ln>
        </p:spPr>
      </p:sp>
      <p:sp>
        <p:nvSpPr>
          <p:cNvPr id="53" name="Shape 51"/>
          <p:cNvSpPr/>
          <p:nvPr/>
        </p:nvSpPr>
        <p:spPr>
          <a:xfrm>
            <a:off x="5381588" y="1546957"/>
            <a:ext cx="0" cy="567928"/>
          </a:xfrm>
          <a:prstGeom prst="line">
            <a:avLst/>
          </a:prstGeom>
          <a:noFill/>
          <a:ln w="14288">
            <a:solidFill>
              <a:srgbClr val="FF6B6B"/>
            </a:solidFill>
            <a:prstDash val="solid"/>
          </a:ln>
        </p:spPr>
      </p:sp>
      <p:sp>
        <p:nvSpPr>
          <p:cNvPr id="54" name="Text 52"/>
          <p:cNvSpPr/>
          <p:nvPr/>
        </p:nvSpPr>
        <p:spPr>
          <a:xfrm>
            <a:off x="5488744" y="1639825"/>
            <a:ext cx="3090900" cy="108299"/>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FF6B6B"/>
                </a:solidFill>
                <a:latin typeface="Liberation Sans Narrow" pitchFamily="34" charset="0"/>
                <a:ea typeface="Liberation Sans Narrow" pitchFamily="34" charset="-122"/>
                <a:cs typeface="Liberation Sans Narrow" pitchFamily="34" charset="-120"/>
              </a:rPr>
              <a:t>BREAK 2 · REGIME INVERSION</a:t>
            </a:r>
            <a:endParaRPr lang="en-US" sz="800" dirty="0"/>
          </a:p>
        </p:txBody>
      </p:sp>
      <p:sp>
        <p:nvSpPr>
          <p:cNvPr id="55" name="Text 53"/>
          <p:cNvSpPr/>
          <p:nvPr/>
        </p:nvSpPr>
        <p:spPr>
          <a:xfrm>
            <a:off x="5488744" y="1775557"/>
            <a:ext cx="3090900" cy="246459"/>
          </a:xfrm>
          <a:prstGeom prst="rect">
            <a:avLst/>
          </a:prstGeom>
          <a:noFill/>
          <a:ln/>
        </p:spPr>
        <p:txBody>
          <a:bodyPr wrap="square" lIns="0" tIns="0" rIns="0" bIns="0" rtlCol="0" anchor="t"/>
          <a:lstStyle/>
          <a:p>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Gradient purity favours low-distance codes. Hamming [7,4,3] purity 93.7% &lt; random d=1 codes ~97%.</a:t>
            </a:r>
            <a:endParaRPr lang="en-US" sz="800" dirty="0"/>
          </a:p>
        </p:txBody>
      </p:sp>
      <p:sp>
        <p:nvSpPr>
          <p:cNvPr id="56" name="Text 54"/>
          <p:cNvSpPr/>
          <p:nvPr/>
        </p:nvSpPr>
        <p:spPr>
          <a:xfrm>
            <a:off x="5374444" y="2172035"/>
            <a:ext cx="3312356" cy="444698"/>
          </a:xfrm>
          <a:prstGeom prst="roundRect">
            <a:avLst>
              <a:gd name="adj" fmla="val 8568"/>
            </a:avLst>
          </a:prstGeom>
          <a:solidFill>
            <a:srgbClr val="1F2630"/>
          </a:solidFill>
          <a:ln/>
        </p:spPr>
        <p:txBody>
          <a:bodyPr wrap="square" rtlCol="0" anchor="ctr"/>
          <a:lstStyle/>
          <a:p>
            <a:pPr indent="0" marL="0">
              <a:buNone/>
            </a:pPr>
            <a:endParaRPr lang="en-US" dirty="0"/>
          </a:p>
        </p:txBody>
      </p:sp>
      <p:sp>
        <p:nvSpPr>
          <p:cNvPr id="57" name="Shape 55"/>
          <p:cNvSpPr/>
          <p:nvPr/>
        </p:nvSpPr>
        <p:spPr>
          <a:xfrm>
            <a:off x="5374444" y="2175607"/>
            <a:ext cx="3312356" cy="0"/>
          </a:xfrm>
          <a:prstGeom prst="line">
            <a:avLst/>
          </a:prstGeom>
          <a:noFill/>
          <a:ln w="7144">
            <a:solidFill>
              <a:srgbClr val="2A3038"/>
            </a:solidFill>
            <a:prstDash val="solid"/>
          </a:ln>
        </p:spPr>
      </p:sp>
      <p:sp>
        <p:nvSpPr>
          <p:cNvPr id="58" name="Shape 56"/>
          <p:cNvSpPr/>
          <p:nvPr/>
        </p:nvSpPr>
        <p:spPr>
          <a:xfrm>
            <a:off x="8683228" y="2172035"/>
            <a:ext cx="0" cy="444698"/>
          </a:xfrm>
          <a:prstGeom prst="line">
            <a:avLst/>
          </a:prstGeom>
          <a:noFill/>
          <a:ln w="7144">
            <a:solidFill>
              <a:srgbClr val="2A3038"/>
            </a:solidFill>
            <a:prstDash val="solid"/>
          </a:ln>
        </p:spPr>
      </p:sp>
      <p:sp>
        <p:nvSpPr>
          <p:cNvPr id="59" name="Shape 57"/>
          <p:cNvSpPr/>
          <p:nvPr/>
        </p:nvSpPr>
        <p:spPr>
          <a:xfrm>
            <a:off x="5374444" y="2613161"/>
            <a:ext cx="3312356" cy="0"/>
          </a:xfrm>
          <a:prstGeom prst="line">
            <a:avLst/>
          </a:prstGeom>
          <a:noFill/>
          <a:ln w="7144">
            <a:solidFill>
              <a:srgbClr val="2A3038"/>
            </a:solidFill>
            <a:prstDash val="solid"/>
          </a:ln>
        </p:spPr>
      </p:sp>
      <p:sp>
        <p:nvSpPr>
          <p:cNvPr id="60" name="Shape 58"/>
          <p:cNvSpPr/>
          <p:nvPr/>
        </p:nvSpPr>
        <p:spPr>
          <a:xfrm>
            <a:off x="5381588" y="2172035"/>
            <a:ext cx="0" cy="444698"/>
          </a:xfrm>
          <a:prstGeom prst="line">
            <a:avLst/>
          </a:prstGeom>
          <a:noFill/>
          <a:ln w="14288">
            <a:solidFill>
              <a:srgbClr val="6FE3D2"/>
            </a:solidFill>
            <a:prstDash val="solid"/>
          </a:ln>
        </p:spPr>
      </p:sp>
      <p:sp>
        <p:nvSpPr>
          <p:cNvPr id="61" name="Text 59"/>
          <p:cNvSpPr/>
          <p:nvPr/>
        </p:nvSpPr>
        <p:spPr>
          <a:xfrm>
            <a:off x="5488744" y="2264904"/>
            <a:ext cx="3200628" cy="108299"/>
          </a:xfrm>
          <a:prstGeom prst="rect">
            <a:avLst/>
          </a:prstGeom>
          <a:noFill/>
          <a:ln/>
        </p:spPr>
        <p:txBody>
          <a:bodyPr wrap="square" lIns="0" tIns="0" rIns="0" bIns="0" rtlCol="0" anchor="t">
            <a:normAutofit/>
          </a:bodyPr>
          <a:lstStyle/>
          <a:p>
            <a:pPr algn="l" indent="0" marL="0">
              <a:lnSpc>
                <a:spcPts val="844"/>
              </a:lnSpc>
              <a:buNone/>
            </a:pPr>
            <a:r>
              <a:rPr lang="en-US" sz="800" spc="101" kern="0" dirty="0">
                <a:solidFill>
                  <a:srgbClr val="6FE3D2"/>
                </a:solidFill>
                <a:latin typeface="Courier New" pitchFamily="34" charset="0"/>
                <a:ea typeface="Courier New" pitchFamily="34" charset="-122"/>
                <a:cs typeface="Courier New" pitchFamily="34" charset="-120"/>
              </a:rPr>
              <a:t>PARTIAL WIN · AVG_Φ SELECTS COVERING CODES</a:t>
            </a:r>
            <a:endParaRPr lang="en-US" sz="800" dirty="0"/>
          </a:p>
        </p:txBody>
      </p:sp>
      <p:sp>
        <p:nvSpPr>
          <p:cNvPr id="62" name="Text 60"/>
          <p:cNvSpPr/>
          <p:nvPr/>
        </p:nvSpPr>
        <p:spPr>
          <a:xfrm>
            <a:off x="5488744" y="2400635"/>
            <a:ext cx="3090900" cy="123230"/>
          </a:xfrm>
          <a:prstGeom prst="rect">
            <a:avLst/>
          </a:prstGeom>
          <a:noFill/>
          <a:ln/>
        </p:spPr>
        <p:txBody>
          <a:bodyPr wrap="square" lIns="0" tIns="0" rIns="0" bIns="0" rtlCol="0" anchor="t"/>
          <a:lstStyle/>
          <a:p>
            <a:pPr algn="l" indent="0" marL="0">
              <a:lnSpc>
                <a:spcPts val="970"/>
              </a:lnSpc>
              <a:buNone/>
            </a:pPr>
            <a:r>
              <a:rPr lang="en-US" sz="800" i="1" dirty="0">
                <a:solidFill>
                  <a:srgbClr val="E6E6E6"/>
                </a:solidFill>
                <a:latin typeface="Tinos" pitchFamily="34" charset="0"/>
                <a:ea typeface="Tinos" pitchFamily="34" charset="-122"/>
                <a:cs typeface="Tinos" pitchFamily="34" charset="-120"/>
              </a:rPr>
              <a:t>avg_Φ</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over all states does select optimal covering codes (Hamming wins [7,4]).</a:t>
            </a:r>
            <a:endParaRPr lang="en-US" sz="800" dirty="0"/>
          </a:p>
        </p:txBody>
      </p:sp>
      <p:sp>
        <p:nvSpPr>
          <p:cNvPr id="63" name="Text 61"/>
          <p:cNvSpPr/>
          <p:nvPr/>
        </p:nvSpPr>
        <p:spPr>
          <a:xfrm>
            <a:off x="457200" y="4893469"/>
            <a:ext cx="7322344"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Recap / p.02</a:t>
            </a:r>
            <a:endParaRPr lang="en-US" sz="800" dirty="0"/>
          </a:p>
        </p:txBody>
      </p:sp>
      <p:sp>
        <p:nvSpPr>
          <p:cNvPr id="64" name="Text 62"/>
          <p:cNvSpPr/>
          <p:nvPr/>
        </p:nvSpPr>
        <p:spPr>
          <a:xfrm>
            <a:off x="7793831" y="4893469"/>
            <a:ext cx="1032495"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DOC 003 · CONTINUATION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4078300"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SECTION 01 / 04</a:t>
            </a:r>
            <a:endParaRPr lang="en-US" sz="800" dirty="0"/>
          </a:p>
        </p:txBody>
      </p:sp>
      <p:sp>
        <p:nvSpPr>
          <p:cNvPr id="4" name="Text 2"/>
          <p:cNvSpPr/>
          <p:nvPr/>
        </p:nvSpPr>
        <p:spPr>
          <a:xfrm>
            <a:off x="4549787" y="342900"/>
            <a:ext cx="3768328"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A</a:t>
            </a:r>
            <a:endParaRPr lang="en-US" sz="800" dirty="0"/>
          </a:p>
        </p:txBody>
      </p:sp>
      <p:sp>
        <p:nvSpPr>
          <p:cNvPr id="5" name="Text 3"/>
          <p:cNvSpPr/>
          <p:nvPr/>
        </p:nvSpPr>
        <p:spPr>
          <a:xfrm>
            <a:off x="8332403" y="342900"/>
            <a:ext cx="354397"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03 OF 14</a:t>
            </a:r>
            <a:endParaRPr lang="en-US" sz="800" dirty="0"/>
          </a:p>
        </p:txBody>
      </p:sp>
      <p:sp>
        <p:nvSpPr>
          <p:cNvPr id="6" name="Text 4"/>
          <p:cNvSpPr/>
          <p:nvPr/>
        </p:nvSpPr>
        <p:spPr>
          <a:xfrm>
            <a:off x="8458200" y="785813"/>
            <a:ext cx="685800" cy="2160270"/>
          </a:xfrm>
          <a:prstGeom prst="rect">
            <a:avLst/>
          </a:prstGeom>
          <a:noFill/>
          <a:ln/>
        </p:spPr>
        <p:txBody>
          <a:bodyPr wrap="square" lIns="0" tIns="0" rIns="0" bIns="0" rtlCol="0" anchor="t"/>
          <a:lstStyle/>
          <a:p>
            <a:pPr algn="l" indent="0" marL="0">
              <a:lnSpc>
                <a:spcPts val="15750"/>
              </a:lnSpc>
              <a:buNone/>
            </a:pPr>
            <a:r>
              <a:rPr lang="en-US" sz="15750" b="1" spc="-787" kern="0" dirty="0">
                <a:solidFill>
                  <a:srgbClr val="FFB454">
                    <a:alpha val="4000"/>
                  </a:srgbClr>
                </a:solidFill>
                <a:latin typeface="Courier New" pitchFamily="34" charset="0"/>
                <a:ea typeface="Courier New" pitchFamily="34" charset="-122"/>
                <a:cs typeface="Courier New" pitchFamily="34" charset="-120"/>
              </a:rPr>
              <a:t>A</a:t>
            </a:r>
            <a:endParaRPr lang="en-US" sz="15750" dirty="0"/>
          </a:p>
        </p:txBody>
      </p:sp>
      <p:sp>
        <p:nvSpPr>
          <p:cNvPr id="7" name="Text 5"/>
          <p:cNvSpPr/>
          <p:nvPr/>
        </p:nvSpPr>
        <p:spPr>
          <a:xfrm>
            <a:off x="6931982" y="400050"/>
            <a:ext cx="1754818" cy="91440"/>
          </a:xfrm>
          <a:prstGeom prst="rect">
            <a:avLst/>
          </a:prstGeom>
          <a:noFill/>
          <a:ln/>
        </p:spPr>
        <p:txBody>
          <a:bodyPr wrap="none" lIns="0" tIns="0" rIns="0" bIns="0" rtlCol="0" anchor="t">
            <a:normAutofit/>
          </a:bodyPr>
          <a:lstStyle/>
          <a:p>
            <a:pPr algn="r" indent="0" marL="0">
              <a:lnSpc>
                <a:spcPts val="900"/>
              </a:lnSpc>
              <a:buNone/>
            </a:pPr>
            <a:r>
              <a:rPr lang="en-US" sz="800" spc="113"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8" name="Text 6"/>
          <p:cNvSpPr/>
          <p:nvPr/>
        </p:nvSpPr>
        <p:spPr>
          <a:xfrm>
            <a:off x="7159181" y="514350"/>
            <a:ext cx="1527620" cy="175565"/>
          </a:xfrm>
          <a:prstGeom prst="rect">
            <a:avLst/>
          </a:prstGeom>
          <a:noFill/>
          <a:ln/>
        </p:spPr>
        <p:txBody>
          <a:bodyPr wrap="square" lIns="0" tIns="0" rIns="0" bIns="0" rtlCol="0" anchor="t"/>
          <a:lstStyle/>
          <a:p>
            <a:pPr algn="r" indent="0" marL="0">
              <a:lnSpc>
                <a:spcPts val="900"/>
              </a:lnSpc>
              <a:buNone/>
            </a:pPr>
            <a:r>
              <a:rPr lang="en-US" sz="800" spc="113" kern="0" dirty="0">
                <a:solidFill>
                  <a:srgbClr val="6FE3D2"/>
                </a:solidFill>
                <a:latin typeface="Liberation Sans Narrow" pitchFamily="34" charset="0"/>
                <a:ea typeface="Liberation Sans Narrow" pitchFamily="34" charset="-122"/>
                <a:cs typeface="Liberation Sans Narrow" pitchFamily="34" charset="-120"/>
              </a:rPr>
              <a:t>▸ PRIORITY 1 OF EXTREMAL_002</a:t>
            </a:r>
            <a:endParaRPr lang="en-US" sz="800" dirty="0"/>
          </a:p>
        </p:txBody>
      </p:sp>
      <p:sp>
        <p:nvSpPr>
          <p:cNvPr id="9" name="Text 7"/>
          <p:cNvSpPr/>
          <p:nvPr/>
        </p:nvSpPr>
        <p:spPr>
          <a:xfrm>
            <a:off x="457200" y="4893469"/>
            <a:ext cx="6908006"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Section 01 / p.03</a:t>
            </a:r>
            <a:endParaRPr lang="en-US" sz="800" dirty="0"/>
          </a:p>
        </p:txBody>
      </p:sp>
      <p:sp>
        <p:nvSpPr>
          <p:cNvPr id="10" name="Text 8"/>
          <p:cNvSpPr/>
          <p:nvPr/>
        </p:nvSpPr>
        <p:spPr>
          <a:xfrm>
            <a:off x="7379494" y="4893469"/>
            <a:ext cx="1411891"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Thread A · Baseline Reproduction</a:t>
            </a:r>
            <a:endParaRPr lang="en-US" sz="800" dirty="0"/>
          </a:p>
        </p:txBody>
      </p:sp>
      <p:sp>
        <p:nvSpPr>
          <p:cNvPr id="11" name="Text 9"/>
          <p:cNvSpPr/>
          <p:nvPr/>
        </p:nvSpPr>
        <p:spPr>
          <a:xfrm>
            <a:off x="457200" y="1377851"/>
            <a:ext cx="8636000" cy="740664"/>
          </a:xfrm>
          <a:prstGeom prst="rect">
            <a:avLst/>
          </a:prstGeom>
          <a:noFill/>
          <a:ln/>
        </p:spPr>
        <p:txBody>
          <a:bodyPr wrap="none" lIns="0" tIns="0" rIns="0" bIns="0" rtlCol="0" anchor="t"/>
          <a:lstStyle/>
          <a:p>
            <a:pPr algn="l" indent="0" marL="0">
              <a:lnSpc>
                <a:spcPts val="5400"/>
              </a:lnSpc>
              <a:buNone/>
            </a:pPr>
            <a:r>
              <a:rPr lang="en-US" sz="5400" spc="-216" kern="0" dirty="0">
                <a:solidFill>
                  <a:srgbClr val="FFB454"/>
                </a:solidFill>
                <a:latin typeface="Liberation Sans Narrow" pitchFamily="34" charset="0"/>
                <a:ea typeface="Liberation Sans Narrow" pitchFamily="34" charset="-122"/>
                <a:cs typeface="Liberation Sans Narrow" pitchFamily="34" charset="-120"/>
              </a:rPr>
              <a:t>01</a:t>
            </a:r>
            <a:endParaRPr lang="en-US" sz="5400" dirty="0"/>
          </a:p>
        </p:txBody>
      </p:sp>
      <p:sp>
        <p:nvSpPr>
          <p:cNvPr id="12" name="Text 10"/>
          <p:cNvSpPr/>
          <p:nvPr/>
        </p:nvSpPr>
        <p:spPr>
          <a:xfrm>
            <a:off x="457200" y="2220813"/>
            <a:ext cx="571500" cy="14288"/>
          </a:xfrm>
          <a:prstGeom prst="rect">
            <a:avLst/>
          </a:prstGeom>
          <a:solidFill>
            <a:srgbClr val="FFB454"/>
          </a:solidFill>
          <a:ln/>
        </p:spPr>
        <p:txBody>
          <a:bodyPr wrap="square" rtlCol="0" anchor="ctr"/>
          <a:lstStyle/>
          <a:p>
            <a:pPr indent="0" marL="0">
              <a:buNone/>
            </a:pPr>
            <a:endParaRPr lang="en-US" dirty="0"/>
          </a:p>
        </p:txBody>
      </p:sp>
      <p:sp>
        <p:nvSpPr>
          <p:cNvPr id="13" name="Text 11"/>
          <p:cNvSpPr/>
          <p:nvPr/>
        </p:nvSpPr>
        <p:spPr>
          <a:xfrm>
            <a:off x="457200" y="2435126"/>
            <a:ext cx="8229600" cy="327657"/>
          </a:xfrm>
          <a:prstGeom prst="rect">
            <a:avLst/>
          </a:prstGeom>
          <a:noFill/>
          <a:ln/>
        </p:spPr>
        <p:txBody>
          <a:bodyPr wrap="square" lIns="0" tIns="0" rIns="0" bIns="0" rtlCol="0" anchor="t"/>
          <a:lstStyle/>
          <a:p>
            <a:pPr algn="l" indent="0" marL="0">
              <a:lnSpc>
                <a:spcPts val="2390"/>
              </a:lnSpc>
              <a:buNone/>
            </a:pPr>
            <a:r>
              <a:rPr lang="en-US" sz="2025" spc="-30" kern="0" dirty="0">
                <a:solidFill>
                  <a:srgbClr val="E6E6E6"/>
                </a:solidFill>
                <a:latin typeface="Carlito" pitchFamily="34" charset="0"/>
                <a:ea typeface="Carlito" pitchFamily="34" charset="-122"/>
                <a:cs typeface="Carlito" pitchFamily="34" charset="-120"/>
              </a:rPr>
              <a:t>Thread A — Baseline Reproduction</a:t>
            </a:r>
            <a:endParaRPr lang="en-US" sz="2025" dirty="0"/>
          </a:p>
        </p:txBody>
      </p:sp>
      <p:sp>
        <p:nvSpPr>
          <p:cNvPr id="14" name="Text 12"/>
          <p:cNvSpPr/>
          <p:nvPr/>
        </p:nvSpPr>
        <p:spPr>
          <a:xfrm>
            <a:off x="457200" y="2895674"/>
            <a:ext cx="4286250" cy="607817"/>
          </a:xfrm>
          <a:prstGeom prst="rect">
            <a:avLst/>
          </a:prstGeom>
          <a:noFill/>
          <a:ln/>
        </p:spPr>
        <p:txBody>
          <a:bodyPr wrap="square" lIns="0" tIns="0" rIns="0" bIns="0" rtlCol="0" anchor="t"/>
          <a:lstStyle/>
          <a:p>
            <a:pPr algn="l" indent="0" marL="0">
              <a:lnSpc>
                <a:spcPts val="144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Re-running the 10</a:t>
            </a:r>
            <a:pPr algn="l" indent="0" marL="0">
              <a:lnSpc>
                <a:spcPts val="1440"/>
              </a:lnSpc>
              <a:buNone/>
            </a:pPr>
            <a:r>
              <a:rPr lang="en-US" sz="800" baseline="30000" dirty="0">
                <a:solidFill>
                  <a:srgbClr val="B5BAC4"/>
                </a:solidFill>
                <a:latin typeface="Liberation Sans Narrow" pitchFamily="34" charset="0"/>
                <a:ea typeface="Liberation Sans Narrow" pitchFamily="34" charset="-122"/>
                <a:cs typeface="Liberation Sans Narrow" pitchFamily="34" charset="-120"/>
              </a:rPr>
              <a:t>5</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Golay decode-snap sweep on the live </a:t>
            </a:r>
            <a:pPr algn="l" indent="0" marL="0">
              <a:lnSpc>
                <a:spcPts val="1440"/>
              </a:lnSpc>
              <a:buNone/>
            </a:pPr>
            <a:r>
              <a:rPr lang="en-US" sz="900" dirty="0">
                <a:solidFill>
                  <a:srgbClr val="E6E6E6"/>
                </a:solidFill>
                <a:latin typeface="Liberation Sans Narrow" pitchFamily="34" charset="0"/>
                <a:ea typeface="Liberation Sans Narrow" pitchFamily="34" charset="-122"/>
                <a:cs typeface="Liberation Sans Narrow" pitchFamily="34" charset="-120"/>
              </a:rPr>
              <a:t>ubp_unified_v5.py</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backbone with a fresh random seed (</a:t>
            </a:r>
            <a:pPr algn="l" indent="0" marL="0">
              <a:lnSpc>
                <a:spcPts val="1440"/>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20260624</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Confirming the Constant Peak Theorem empirically and tightening the vacuum-collapse statistics.</a:t>
            </a:r>
            <a:endParaRPr lang="en-US" sz="900" dirty="0"/>
          </a:p>
        </p:txBody>
      </p:sp>
      <p:sp>
        <p:nvSpPr>
          <p:cNvPr id="15" name="Text 13"/>
          <p:cNvSpPr/>
          <p:nvPr/>
        </p:nvSpPr>
        <p:spPr>
          <a:xfrm>
            <a:off x="437198" y="3791510"/>
            <a:ext cx="540068"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6" name="Text 14"/>
          <p:cNvSpPr/>
          <p:nvPr/>
        </p:nvSpPr>
        <p:spPr>
          <a:xfrm>
            <a:off x="457200" y="3801368"/>
            <a:ext cx="500063"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BASELINE</a:t>
            </a:r>
            <a:endParaRPr lang="en-US" sz="800" dirty="0"/>
          </a:p>
        </p:txBody>
      </p:sp>
      <p:sp>
        <p:nvSpPr>
          <p:cNvPr id="17" name="Text 15"/>
          <p:cNvSpPr/>
          <p:nvPr/>
        </p:nvSpPr>
        <p:spPr>
          <a:xfrm>
            <a:off x="1034415" y="3791510"/>
            <a:ext cx="845820"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8" name="Text 16"/>
          <p:cNvSpPr/>
          <p:nvPr/>
        </p:nvSpPr>
        <p:spPr>
          <a:xfrm>
            <a:off x="1057275" y="3801368"/>
            <a:ext cx="800100"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GOLAY [24,12,8]</a:t>
            </a:r>
            <a:endParaRPr lang="en-US" sz="800" dirty="0"/>
          </a:p>
        </p:txBody>
      </p:sp>
      <p:sp>
        <p:nvSpPr>
          <p:cNvPr id="19" name="Text 17"/>
          <p:cNvSpPr/>
          <p:nvPr/>
        </p:nvSpPr>
        <p:spPr>
          <a:xfrm>
            <a:off x="1934528" y="3791510"/>
            <a:ext cx="667226"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20" name="Text 18"/>
          <p:cNvSpPr/>
          <p:nvPr/>
        </p:nvSpPr>
        <p:spPr>
          <a:xfrm>
            <a:off x="1957388" y="3801368"/>
            <a:ext cx="621506"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10⁵ SAMPLES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3550444"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A</a:t>
            </a:r>
            <a:endParaRPr lang="en-US" sz="800" dirty="0"/>
          </a:p>
        </p:txBody>
      </p:sp>
      <p:sp>
        <p:nvSpPr>
          <p:cNvPr id="4" name="Text 2"/>
          <p:cNvSpPr/>
          <p:nvPr/>
        </p:nvSpPr>
        <p:spPr>
          <a:xfrm>
            <a:off x="4021931" y="342900"/>
            <a:ext cx="4296184"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CONSTANT PEAK + 10⁵ SWEEP</a:t>
            </a:r>
            <a:endParaRPr lang="en-US" sz="800" dirty="0"/>
          </a:p>
        </p:txBody>
      </p:sp>
      <p:sp>
        <p:nvSpPr>
          <p:cNvPr id="5" name="Text 3"/>
          <p:cNvSpPr/>
          <p:nvPr/>
        </p:nvSpPr>
        <p:spPr>
          <a:xfrm>
            <a:off x="8332403" y="342900"/>
            <a:ext cx="354397"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04 OF 14</a:t>
            </a:r>
            <a:endParaRPr lang="en-US" sz="800" dirty="0"/>
          </a:p>
        </p:txBody>
      </p:sp>
      <p:sp>
        <p:nvSpPr>
          <p:cNvPr id="6" name="Text 4"/>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7" name="Text 5"/>
          <p:cNvSpPr/>
          <p:nvPr/>
        </p:nvSpPr>
        <p:spPr>
          <a:xfrm>
            <a:off x="457200" y="778669"/>
            <a:ext cx="3595307" cy="203610"/>
          </a:xfrm>
          <a:prstGeom prst="rect">
            <a:avLst/>
          </a:prstGeom>
          <a:noFill/>
          <a:ln/>
        </p:spPr>
        <p:txBody>
          <a:bodyPr wrap="square" lIns="0" tIns="0" rIns="0" bIns="0" rtlCol="0" anchor="t"/>
          <a:lstStyle/>
          <a:p>
            <a:pPr algn="l" indent="0" marL="0">
              <a:lnSpc>
                <a:spcPts val="1485"/>
              </a:lnSpc>
              <a:buNone/>
            </a:pPr>
            <a:r>
              <a:rPr lang="en-US" sz="1238" spc="-6" kern="0" dirty="0">
                <a:solidFill>
                  <a:srgbClr val="E6E6E6"/>
                </a:solidFill>
                <a:latin typeface="Carlito" pitchFamily="34" charset="0"/>
                <a:ea typeface="Carlito" pitchFamily="34" charset="-122"/>
                <a:cs typeface="Carlito" pitchFamily="34" charset="-120"/>
              </a:rPr>
              <a:t>Reproduced — and slightly tightened</a:t>
            </a:r>
            <a:endParaRPr lang="en-US" sz="1238" dirty="0"/>
          </a:p>
        </p:txBody>
      </p:sp>
      <p:sp>
        <p:nvSpPr>
          <p:cNvPr id="8" name="Text 6"/>
          <p:cNvSpPr/>
          <p:nvPr/>
        </p:nvSpPr>
        <p:spPr>
          <a:xfrm>
            <a:off x="457200" y="1067209"/>
            <a:ext cx="3595307" cy="151162"/>
          </a:xfrm>
          <a:prstGeom prst="rect">
            <a:avLst/>
          </a:prstGeom>
          <a:noFill/>
          <a:ln/>
        </p:spPr>
        <p:txBody>
          <a:bodyPr wrap="square" lIns="0" tIns="0" rIns="0" bIns="0" rtlCol="0" anchor="t">
            <a:normAutofit/>
          </a:bodyPr>
          <a:lstStyle/>
          <a:p>
            <a:pPr algn="l" indent="0" marL="0">
              <a:lnSpc>
                <a:spcPts val="844"/>
              </a:lnSpc>
              <a:buNone/>
            </a:pPr>
            <a:r>
              <a:rPr lang="en-US" sz="800" spc="101" kern="0" dirty="0">
                <a:solidFill>
                  <a:srgbClr val="6FE3D2"/>
                </a:solidFill>
                <a:latin typeface="Courier New" pitchFamily="34" charset="0"/>
                <a:ea typeface="Courier New" pitchFamily="34" charset="-122"/>
                <a:cs typeface="Courier New" pitchFamily="34" charset="-120"/>
              </a:rPr>
              <a:t>CONSTANT PEAK · ANALYTIC, RE-VERIFIED</a:t>
            </a:r>
            <a:endParaRPr lang="en-US" sz="800" dirty="0"/>
          </a:p>
        </p:txBody>
      </p:sp>
      <p:sp>
        <p:nvSpPr>
          <p:cNvPr id="9" name="Text 7"/>
          <p:cNvSpPr/>
          <p:nvPr/>
        </p:nvSpPr>
        <p:spPr>
          <a:xfrm>
            <a:off x="457200" y="1245803"/>
            <a:ext cx="3328988" cy="139553"/>
          </a:xfrm>
          <a:prstGeom prst="rect">
            <a:avLst/>
          </a:prstGeom>
          <a:noFill/>
          <a:ln/>
        </p:spPr>
        <p:txBody>
          <a:bodyPr wrap="square" lIns="0" tIns="0" rIns="0" bIns="0" rtlCol="0" anchor="t">
            <a:normAutofit/>
          </a:bodyPr>
          <a:lstStyle/>
          <a:p>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All </a:t>
            </a:r>
            <a:pPr algn="l" indent="0" marL="0">
              <a:lnSpc>
                <a:spcPts val="10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4,095</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 non-zero Golay codewords share </a:t>
            </a:r>
            <a:pPr algn="l" indent="0" marL="0">
              <a:lnSpc>
                <a:spcPts val="1090"/>
              </a:lnSpc>
              <a:buNone/>
            </a:pPr>
            <a:r>
              <a:rPr lang="en-US" sz="800" i="1" dirty="0">
                <a:solidFill>
                  <a:srgbClr val="E6E6E6"/>
                </a:solidFill>
                <a:latin typeface="Tinos" pitchFamily="34" charset="0"/>
                <a:ea typeface="Tinos" pitchFamily="34" charset="-122"/>
                <a:cs typeface="Tinos" pitchFamily="34" charset="-120"/>
              </a:rPr>
              <a:t>Φ_peak =</a:t>
            </a:r>
            <a:pPr algn="l" indent="0" marL="0">
              <a:lnSpc>
                <a:spcPts val="10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2.566238263885</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10" name="Text 8"/>
          <p:cNvSpPr/>
          <p:nvPr/>
        </p:nvSpPr>
        <p:spPr>
          <a:xfrm>
            <a:off x="457200" y="1412788"/>
            <a:ext cx="3328988" cy="170078"/>
          </a:xfrm>
          <a:prstGeom prst="rect">
            <a:avLst/>
          </a:prstGeom>
          <a:noFill/>
          <a:ln/>
        </p:spPr>
        <p:txBody>
          <a:bodyPr wrap="square" lIns="0" tIns="0" rIns="0" bIns="0" rtlCol="0" anchor="t"/>
          <a:lstStyle/>
          <a:p>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Distinct </a:t>
            </a:r>
            <a:pPr algn="l" indent="0" marL="0">
              <a:lnSpc>
                <a:spcPts val="1090"/>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 values across codewords: exactly </a:t>
            </a:r>
            <a:pPr algn="l" indent="0" marL="0">
              <a:lnSpc>
                <a:spcPts val="10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1</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090"/>
              </a:lnSpc>
              <a:buNone/>
            </a:pPr>
            <a:r>
              <a:rPr lang="en-US" sz="800" dirty="0">
                <a:solidFill>
                  <a:srgbClr val="6FE3D2"/>
                </a:solidFill>
                <a:latin typeface="Carlito" pitchFamily="34" charset="0"/>
                <a:ea typeface="Carlito" pitchFamily="34" charset="-122"/>
                <a:cs typeface="Carlito" pitchFamily="34" charset="-120"/>
              </a:rPr>
              <a:t>[Confirmed]</a:t>
            </a:r>
            <a:endParaRPr lang="en-US" sz="800" dirty="0"/>
          </a:p>
        </p:txBody>
      </p:sp>
      <p:sp>
        <p:nvSpPr>
          <p:cNvPr id="11" name="Text 9"/>
          <p:cNvSpPr/>
          <p:nvPr/>
        </p:nvSpPr>
        <p:spPr>
          <a:xfrm>
            <a:off x="457200" y="1651211"/>
            <a:ext cx="3328988" cy="122587"/>
          </a:xfrm>
          <a:prstGeom prst="rect">
            <a:avLst/>
          </a:prstGeom>
          <a:noFill/>
          <a:ln/>
        </p:spPr>
        <p:txBody>
          <a:bodyPr wrap="square" lIns="0" tIns="0" rIns="0" bIns="0" rtlCol="0" anchor="t">
            <a:normAutofit/>
          </a:bodyPr>
          <a:lstStyle/>
          <a:p>
            <a:pPr algn="l" indent="0" marL="0">
              <a:lnSpc>
                <a:spcPts val="844"/>
              </a:lnSpc>
              <a:buNone/>
            </a:pPr>
            <a:r>
              <a:rPr lang="en-US" sz="800" spc="101" kern="0" dirty="0">
                <a:solidFill>
                  <a:srgbClr val="6FE3D2"/>
                </a:solidFill>
                <a:latin typeface="Courier New" pitchFamily="34" charset="0"/>
                <a:ea typeface="Courier New" pitchFamily="34" charset="-122"/>
                <a:cs typeface="Courier New" pitchFamily="34" charset="-120"/>
              </a:rPr>
              <a:t>10⁵ RANDOM 24-BIT SWEEP · SEED 20260624 · 2.9 S WALLCLOCK</a:t>
            </a:r>
            <a:endParaRPr lang="en-US" sz="800" dirty="0"/>
          </a:p>
        </p:txBody>
      </p:sp>
      <p:sp>
        <p:nvSpPr>
          <p:cNvPr id="12" name="Shape 10"/>
          <p:cNvSpPr/>
          <p:nvPr/>
        </p:nvSpPr>
        <p:spPr>
          <a:xfrm>
            <a:off x="457200" y="1976251"/>
            <a:ext cx="3328988" cy="0"/>
          </a:xfrm>
          <a:prstGeom prst="line">
            <a:avLst/>
          </a:prstGeom>
          <a:noFill/>
          <a:ln w="7144">
            <a:solidFill>
              <a:srgbClr val="FFFFFF"/>
            </a:solidFill>
            <a:prstDash val="dot"/>
          </a:ln>
        </p:spPr>
      </p:sp>
      <p:sp>
        <p:nvSpPr>
          <p:cNvPr id="13" name="Text 11"/>
          <p:cNvSpPr/>
          <p:nvPr/>
        </p:nvSpPr>
        <p:spPr>
          <a:xfrm>
            <a:off x="457200" y="1822661"/>
            <a:ext cx="2671763" cy="128588"/>
          </a:xfrm>
          <a:prstGeom prst="rect">
            <a:avLst/>
          </a:prstGeom>
          <a:noFill/>
          <a:ln/>
        </p:spPr>
        <p:txBody>
          <a:bodyPr wrap="none" lIns="0" tIns="0" rIns="0" bIns="0" rtlCol="0" anchor="t"/>
          <a:lstStyle/>
          <a:p>
            <a:pPr algn="l" indent="0" marL="0">
              <a:lnSpc>
                <a:spcPts val="101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Ascent (dΦ &gt; 0)</a:t>
            </a:r>
            <a:endParaRPr lang="en-US" sz="800" dirty="0"/>
          </a:p>
        </p:txBody>
      </p:sp>
      <p:sp>
        <p:nvSpPr>
          <p:cNvPr id="14" name="Text 12"/>
          <p:cNvSpPr/>
          <p:nvPr/>
        </p:nvSpPr>
        <p:spPr>
          <a:xfrm>
            <a:off x="3143250" y="1822661"/>
            <a:ext cx="642937" cy="128588"/>
          </a:xfrm>
          <a:prstGeom prst="rect">
            <a:avLst/>
          </a:prstGeom>
          <a:noFill/>
          <a:ln/>
        </p:spPr>
        <p:txBody>
          <a:bodyPr wrap="square" lIns="0" tIns="0" rIns="0" bIns="0" rtlCol="0" anchor="t"/>
          <a:lstStyle/>
          <a:p>
            <a:pPr algn="l"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99,960</a:t>
            </a:r>
            <a:pPr algn="l" indent="0" marL="0">
              <a:lnSpc>
                <a:spcPts val="1013"/>
              </a:lnSpc>
              <a:buNone/>
            </a:pPr>
            <a:r>
              <a:rPr lang="en-US" sz="800" dirty="0">
                <a:solidFill>
                  <a:srgbClr val="B5BAC4"/>
                </a:solidFill>
                <a:latin typeface="Courier New" pitchFamily="34" charset="0"/>
                <a:ea typeface="Courier New" pitchFamily="34" charset="-122"/>
                <a:cs typeface="Courier New" pitchFamily="34" charset="-120"/>
              </a:rPr>
              <a:t> </a:t>
            </a:r>
            <a:pPr algn="l" indent="0" marL="0">
              <a:lnSpc>
                <a:spcPts val="1013"/>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99.960%</a:t>
            </a:r>
            <a:endParaRPr lang="en-US" sz="800" dirty="0"/>
          </a:p>
        </p:txBody>
      </p:sp>
      <p:sp>
        <p:nvSpPr>
          <p:cNvPr id="15" name="Shape 13"/>
          <p:cNvSpPr/>
          <p:nvPr/>
        </p:nvSpPr>
        <p:spPr>
          <a:xfrm>
            <a:off x="457200" y="2154845"/>
            <a:ext cx="3328988" cy="0"/>
          </a:xfrm>
          <a:prstGeom prst="line">
            <a:avLst/>
          </a:prstGeom>
          <a:noFill/>
          <a:ln w="7144">
            <a:solidFill>
              <a:srgbClr val="FFFFFF"/>
            </a:solidFill>
            <a:prstDash val="dot"/>
          </a:ln>
        </p:spPr>
      </p:sp>
      <p:sp>
        <p:nvSpPr>
          <p:cNvPr id="16" name="Text 14"/>
          <p:cNvSpPr/>
          <p:nvPr/>
        </p:nvSpPr>
        <p:spPr>
          <a:xfrm>
            <a:off x="457200" y="2001255"/>
            <a:ext cx="2886075" cy="128588"/>
          </a:xfrm>
          <a:prstGeom prst="rect">
            <a:avLst/>
          </a:prstGeom>
          <a:noFill/>
          <a:ln/>
        </p:spPr>
        <p:txBody>
          <a:bodyPr wrap="none" lIns="0" tIns="0" rIns="0" bIns="0" rtlCol="0" anchor="t"/>
          <a:lstStyle/>
          <a:p>
            <a:pPr algn="l" indent="0" marL="0">
              <a:lnSpc>
                <a:spcPts val="101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Flat (dΦ = 0)</a:t>
            </a:r>
            <a:endParaRPr lang="en-US" sz="800" dirty="0"/>
          </a:p>
        </p:txBody>
      </p:sp>
      <p:sp>
        <p:nvSpPr>
          <p:cNvPr id="17" name="Text 15"/>
          <p:cNvSpPr/>
          <p:nvPr/>
        </p:nvSpPr>
        <p:spPr>
          <a:xfrm>
            <a:off x="3357563" y="2001255"/>
            <a:ext cx="428625" cy="128588"/>
          </a:xfrm>
          <a:prstGeom prst="rect">
            <a:avLst/>
          </a:prstGeom>
          <a:noFill/>
          <a:ln/>
        </p:spPr>
        <p:txBody>
          <a:bodyPr wrap="square" lIns="0" tIns="0" rIns="0" bIns="0" rtlCol="0" anchor="t"/>
          <a:lstStyle/>
          <a:p>
            <a:pPr algn="l" indent="0" marL="0">
              <a:lnSpc>
                <a:spcPts val="1013"/>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30</a:t>
            </a:r>
            <a:pPr algn="l" indent="0" marL="0">
              <a:lnSpc>
                <a:spcPts val="1013"/>
              </a:lnSpc>
              <a:buNone/>
            </a:pPr>
            <a:r>
              <a:rPr lang="en-US" sz="800" dirty="0">
                <a:solidFill>
                  <a:srgbClr val="B5BAC4"/>
                </a:solidFill>
                <a:latin typeface="Courier New" pitchFamily="34" charset="0"/>
                <a:ea typeface="Courier New" pitchFamily="34" charset="-122"/>
                <a:cs typeface="Courier New" pitchFamily="34" charset="-120"/>
              </a:rPr>
              <a:t> </a:t>
            </a:r>
            <a:pPr algn="l" indent="0" marL="0">
              <a:lnSpc>
                <a:spcPts val="1013"/>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0.030%</a:t>
            </a:r>
            <a:endParaRPr lang="en-US" sz="800" dirty="0"/>
          </a:p>
        </p:txBody>
      </p:sp>
      <p:sp>
        <p:nvSpPr>
          <p:cNvPr id="18" name="Shape 16"/>
          <p:cNvSpPr/>
          <p:nvPr/>
        </p:nvSpPr>
        <p:spPr>
          <a:xfrm>
            <a:off x="457200" y="2333439"/>
            <a:ext cx="3328988" cy="0"/>
          </a:xfrm>
          <a:prstGeom prst="line">
            <a:avLst/>
          </a:prstGeom>
          <a:noFill/>
          <a:ln w="7144">
            <a:solidFill>
              <a:srgbClr val="FFFFFF"/>
            </a:solidFill>
            <a:prstDash val="dot"/>
          </a:ln>
        </p:spPr>
      </p:sp>
      <p:sp>
        <p:nvSpPr>
          <p:cNvPr id="19" name="Text 17"/>
          <p:cNvSpPr/>
          <p:nvPr/>
        </p:nvSpPr>
        <p:spPr>
          <a:xfrm>
            <a:off x="457200" y="2179848"/>
            <a:ext cx="2886075" cy="128588"/>
          </a:xfrm>
          <a:prstGeom prst="rect">
            <a:avLst/>
          </a:prstGeom>
          <a:noFill/>
          <a:ln/>
        </p:spPr>
        <p:txBody>
          <a:bodyPr wrap="none" lIns="0" tIns="0" rIns="0" bIns="0" rtlCol="0" anchor="t"/>
          <a:lstStyle/>
          <a:p>
            <a:pPr algn="l" indent="0" marL="0">
              <a:lnSpc>
                <a:spcPts val="101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Descent (dΦ &lt; 0)</a:t>
            </a:r>
            <a:endParaRPr lang="en-US" sz="800" dirty="0"/>
          </a:p>
        </p:txBody>
      </p:sp>
      <p:sp>
        <p:nvSpPr>
          <p:cNvPr id="20" name="Text 18"/>
          <p:cNvSpPr/>
          <p:nvPr/>
        </p:nvSpPr>
        <p:spPr>
          <a:xfrm>
            <a:off x="3357563" y="2179848"/>
            <a:ext cx="428625" cy="128588"/>
          </a:xfrm>
          <a:prstGeom prst="rect">
            <a:avLst/>
          </a:prstGeom>
          <a:noFill/>
          <a:ln/>
        </p:spPr>
        <p:txBody>
          <a:bodyPr wrap="square" lIns="0" tIns="0" rIns="0" bIns="0" rtlCol="0" anchor="t"/>
          <a:lstStyle/>
          <a:p>
            <a:pPr algn="l" indent="0" marL="0">
              <a:lnSpc>
                <a:spcPts val="1013"/>
              </a:lnSpc>
              <a:buNone/>
            </a:pPr>
            <a:r>
              <a:rPr lang="en-US" sz="800" dirty="0">
                <a:solidFill>
                  <a:srgbClr val="FF6B6B"/>
                </a:solidFill>
                <a:latin typeface="Liberation Sans Narrow" pitchFamily="34" charset="0"/>
                <a:ea typeface="Liberation Sans Narrow" pitchFamily="34" charset="-122"/>
                <a:cs typeface="Liberation Sans Narrow" pitchFamily="34" charset="-120"/>
              </a:rPr>
              <a:t>10</a:t>
            </a:r>
            <a:pPr algn="l" indent="0" marL="0">
              <a:lnSpc>
                <a:spcPts val="1013"/>
              </a:lnSpc>
              <a:buNone/>
            </a:pPr>
            <a:r>
              <a:rPr lang="en-US" sz="800" dirty="0">
                <a:solidFill>
                  <a:srgbClr val="B5BAC4"/>
                </a:solidFill>
                <a:latin typeface="Courier New" pitchFamily="34" charset="0"/>
                <a:ea typeface="Courier New" pitchFamily="34" charset="-122"/>
                <a:cs typeface="Courier New" pitchFamily="34" charset="-120"/>
              </a:rPr>
              <a:t> </a:t>
            </a:r>
            <a:pPr algn="l" indent="0" marL="0">
              <a:lnSpc>
                <a:spcPts val="1013"/>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0.010%</a:t>
            </a:r>
            <a:endParaRPr lang="en-US" sz="800" dirty="0"/>
          </a:p>
        </p:txBody>
      </p:sp>
      <p:sp>
        <p:nvSpPr>
          <p:cNvPr id="21" name="Text 19"/>
          <p:cNvSpPr/>
          <p:nvPr/>
        </p:nvSpPr>
        <p:spPr>
          <a:xfrm>
            <a:off x="457200" y="2394161"/>
            <a:ext cx="3328988" cy="277963"/>
          </a:xfrm>
          <a:prstGeom prst="rect">
            <a:avLst/>
          </a:prstGeom>
          <a:noFill/>
          <a:ln/>
        </p:spPr>
        <p:txBody>
          <a:bodyPr wrap="square" lIns="0" tIns="0" rIns="0" bIns="0" rtlCol="0" anchor="t">
            <a:normAutofit/>
          </a:bodyPr>
          <a:lstStyle/>
          <a:p>
            <a:pPr algn="l" indent="0" marL="0">
              <a:lnSpc>
                <a:spcPts val="1090"/>
              </a:lnSpc>
              <a:buNone/>
            </a:pPr>
            <a:r>
              <a:rPr lang="en-US" sz="800" dirty="0">
                <a:solidFill>
                  <a:srgbClr val="E6E6E6"/>
                </a:solidFill>
                <a:latin typeface="Carlito" pitchFamily="34" charset="0"/>
                <a:ea typeface="Carlito" pitchFamily="34" charset="-122"/>
                <a:cs typeface="Carlito" pitchFamily="34" charset="-120"/>
              </a:rPr>
              <a:t>Active-correction ascent rate:</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0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99,960 / 99,970 = 99.9900%</a:t>
            </a:r>
            <a:pPr algn="l" indent="0" marL="0">
              <a:lnSpc>
                <a:spcPts val="1090"/>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 tighter than EXTREMAL_002's </a:t>
            </a:r>
            <a:pPr algn="l" indent="0" marL="0">
              <a:lnSpc>
                <a:spcPts val="10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99.966%</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22" name="Text 20"/>
          <p:cNvSpPr/>
          <p:nvPr/>
        </p:nvSpPr>
        <p:spPr>
          <a:xfrm>
            <a:off x="457200" y="2699556"/>
            <a:ext cx="3328988" cy="139553"/>
          </a:xfrm>
          <a:prstGeom prst="rect">
            <a:avLst/>
          </a:prstGeom>
          <a:noFill/>
          <a:ln/>
        </p:spPr>
        <p:txBody>
          <a:bodyPr wrap="square" lIns="0" tIns="0" rIns="0" bIns="0" rtlCol="0" anchor="t">
            <a:normAutofit/>
          </a:bodyPr>
          <a:lstStyle/>
          <a:p>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All 10 descent events decode to the zero codeword — all vacuum collapses.</a:t>
            </a:r>
            <a:endParaRPr lang="en-US" sz="800" dirty="0"/>
          </a:p>
        </p:txBody>
      </p:sp>
      <p:sp>
        <p:nvSpPr>
          <p:cNvPr id="23" name="Text 21"/>
          <p:cNvSpPr/>
          <p:nvPr/>
        </p:nvSpPr>
        <p:spPr>
          <a:xfrm>
            <a:off x="457200" y="2866541"/>
            <a:ext cx="3595307" cy="170078"/>
          </a:xfrm>
          <a:prstGeom prst="rect">
            <a:avLst/>
          </a:prstGeom>
          <a:noFill/>
          <a:ln/>
        </p:spPr>
        <p:txBody>
          <a:bodyPr wrap="square" lIns="0" tIns="0" rIns="0" bIns="0" rtlCol="0" anchor="t"/>
          <a:lstStyle/>
          <a:p>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Sample descent: HW=</a:t>
            </a:r>
            <a:pPr algn="l" indent="0" marL="0">
              <a:lnSpc>
                <a:spcPts val="10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3</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 SynW=</a:t>
            </a:r>
            <a:pPr algn="l" indent="0" marL="0">
              <a:lnSpc>
                <a:spcPts val="10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3</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090"/>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09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1.5282 → 0.0000</a:t>
            </a:r>
            <a:pPr algn="l" indent="0" marL="0">
              <a:lnSpc>
                <a:spcPts val="1090"/>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24" name="Text 22"/>
          <p:cNvSpPr/>
          <p:nvPr/>
        </p:nvSpPr>
        <p:spPr>
          <a:xfrm>
            <a:off x="434340" y="4040648"/>
            <a:ext cx="1060133"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25" name="Text 23"/>
          <p:cNvSpPr/>
          <p:nvPr/>
        </p:nvSpPr>
        <p:spPr>
          <a:xfrm>
            <a:off x="457200" y="4050506"/>
            <a:ext cx="1014413" cy="164306"/>
          </a:xfrm>
          <a:prstGeom prst="rect">
            <a:avLst/>
          </a:prstGeom>
          <a:noFill/>
          <a:ln/>
        </p:spPr>
        <p:txBody>
          <a:bodyPr wrap="square" lIns="71438" tIns="21431" rIns="71438" bIns="21431"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PREDICTIVE — REVISED</a:t>
            </a:r>
            <a:endParaRPr lang="en-US" sz="800" dirty="0"/>
          </a:p>
        </p:txBody>
      </p:sp>
      <p:sp>
        <p:nvSpPr>
          <p:cNvPr id="26" name="Text 24"/>
          <p:cNvSpPr/>
          <p:nvPr/>
        </p:nvSpPr>
        <p:spPr>
          <a:xfrm>
            <a:off x="3961209" y="689372"/>
            <a:ext cx="4722019" cy="3521869"/>
          </a:xfrm>
          <a:prstGeom prst="roundRect">
            <a:avLst>
              <a:gd name="adj" fmla="val 1623"/>
            </a:avLst>
          </a:prstGeom>
          <a:solidFill>
            <a:srgbClr val="1F2630"/>
          </a:solidFill>
          <a:ln w="7144">
            <a:solidFill>
              <a:srgbClr val="6FE3D2"/>
            </a:solidFill>
            <a:prstDash val="solid"/>
          </a:ln>
        </p:spPr>
        <p:txBody>
          <a:bodyPr wrap="square" rtlCol="0" anchor="ctr"/>
          <a:lstStyle/>
          <a:p>
            <a:pPr indent="0" marL="0">
              <a:buNone/>
            </a:pPr>
            <a:endParaRPr lang="en-US" dirty="0"/>
          </a:p>
        </p:txBody>
      </p:sp>
      <p:pic>
        <p:nvPicPr>
          <p:cNvPr id="27" name="Image 0" descr="/tmp/h2p-fit-1782285551194-tffhpb.png">    </p:cNvPr>
          <p:cNvPicPr>
            <a:picLocks noChangeAspect="1"/>
          </p:cNvPicPr>
          <p:nvPr/>
        </p:nvPicPr>
        <p:blipFill>
          <a:blip r:embed="rId1"/>
          <a:stretch>
            <a:fillRect/>
          </a:stretch>
        </p:blipFill>
        <p:spPr>
          <a:xfrm>
            <a:off x="4064794" y="792956"/>
            <a:ext cx="4514850" cy="3155752"/>
          </a:xfrm>
          <a:prstGeom prst="rect">
            <a:avLst/>
          </a:prstGeom>
        </p:spPr>
      </p:pic>
      <p:sp>
        <p:nvSpPr>
          <p:cNvPr id="28" name="Text 25"/>
          <p:cNvSpPr/>
          <p:nvPr/>
        </p:nvSpPr>
        <p:spPr>
          <a:xfrm>
            <a:off x="4064794" y="4005858"/>
            <a:ext cx="3935871" cy="101798"/>
          </a:xfrm>
          <a:prstGeom prst="rect">
            <a:avLst/>
          </a:prstGeom>
          <a:noFill/>
          <a:ln/>
        </p:spPr>
        <p:txBody>
          <a:bodyPr wrap="square" lIns="0" tIns="0" rIns="0" bIns="0" rtlCol="0" anchor="t"/>
          <a:lstStyle/>
          <a:p>
            <a:pPr algn="l" indent="0" marL="0">
              <a:lnSpc>
                <a:spcPts val="802"/>
              </a:lnSpc>
              <a:buNone/>
            </a:pPr>
            <a:r>
              <a:rPr lang="en-US" sz="800" spc="75" kern="0" dirty="0">
                <a:solidFill>
                  <a:srgbClr val="6B7280"/>
                </a:solidFill>
                <a:latin typeface="Courier New" pitchFamily="34" charset="0"/>
                <a:ea typeface="Courier New" pitchFamily="34" charset="-122"/>
                <a:cs typeface="Courier New" pitchFamily="34" charset="-120"/>
              </a:rPr>
              <a:t>FIG. 1 — DΦ DISTRIBUTION, 10⁵ GOLAY DECODE-SNAP SWEEP</a:t>
            </a:r>
            <a:endParaRPr lang="en-US" sz="800" dirty="0"/>
          </a:p>
        </p:txBody>
      </p:sp>
      <p:sp>
        <p:nvSpPr>
          <p:cNvPr id="29" name="Text 26"/>
          <p:cNvSpPr/>
          <p:nvPr/>
        </p:nvSpPr>
        <p:spPr>
          <a:xfrm>
            <a:off x="8014953" y="4005858"/>
            <a:ext cx="564691" cy="101798"/>
          </a:xfrm>
          <a:prstGeom prst="rect">
            <a:avLst/>
          </a:prstGeom>
          <a:noFill/>
          <a:ln/>
        </p:spPr>
        <p:txBody>
          <a:bodyPr wrap="square" lIns="0" tIns="0" rIns="0" bIns="0" rtlCol="0" anchor="t"/>
          <a:lstStyle/>
          <a:p>
            <a:pPr algn="l" indent="0" marL="0">
              <a:lnSpc>
                <a:spcPts val="802"/>
              </a:lnSpc>
              <a:buNone/>
            </a:pPr>
            <a:r>
              <a:rPr lang="en-US" sz="800" spc="75" kern="0" dirty="0">
                <a:solidFill>
                  <a:srgbClr val="6FE3D2"/>
                </a:solidFill>
                <a:latin typeface="Liberation Sans Narrow" pitchFamily="34" charset="0"/>
                <a:ea typeface="Liberation Sans Narrow" pitchFamily="34" charset="-122"/>
                <a:cs typeface="Liberation Sans Narrow" pitchFamily="34" charset="-120"/>
              </a:rPr>
              <a:t>SEED 20260624</a:t>
            </a:r>
            <a:endParaRPr lang="en-US" sz="800" dirty="0"/>
          </a:p>
        </p:txBody>
      </p:sp>
      <p:sp>
        <p:nvSpPr>
          <p:cNvPr id="30" name="Text 27"/>
          <p:cNvSpPr/>
          <p:nvPr/>
        </p:nvSpPr>
        <p:spPr>
          <a:xfrm>
            <a:off x="457200" y="4893469"/>
            <a:ext cx="5830751"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Thread A / p.04</a:t>
            </a:r>
            <a:endParaRPr lang="en-US" sz="800" dirty="0"/>
          </a:p>
        </p:txBody>
      </p:sp>
      <p:sp>
        <p:nvSpPr>
          <p:cNvPr id="31" name="Text 28"/>
          <p:cNvSpPr/>
          <p:nvPr/>
        </p:nvSpPr>
        <p:spPr>
          <a:xfrm>
            <a:off x="6302239" y="4893469"/>
            <a:ext cx="2384561"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Constant Peak re-verified · vacuum collapses characterised</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4078300"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SECTION 02 / 04</a:t>
            </a:r>
            <a:endParaRPr lang="en-US" sz="800" dirty="0"/>
          </a:p>
        </p:txBody>
      </p:sp>
      <p:sp>
        <p:nvSpPr>
          <p:cNvPr id="4" name="Text 2"/>
          <p:cNvSpPr/>
          <p:nvPr/>
        </p:nvSpPr>
        <p:spPr>
          <a:xfrm>
            <a:off x="4549787" y="342900"/>
            <a:ext cx="3768328"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B</a:t>
            </a:r>
            <a:endParaRPr lang="en-US" sz="800" dirty="0"/>
          </a:p>
        </p:txBody>
      </p:sp>
      <p:sp>
        <p:nvSpPr>
          <p:cNvPr id="5" name="Text 3"/>
          <p:cNvSpPr/>
          <p:nvPr/>
        </p:nvSpPr>
        <p:spPr>
          <a:xfrm>
            <a:off x="8332403" y="342900"/>
            <a:ext cx="354397"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05 OF 14</a:t>
            </a:r>
            <a:endParaRPr lang="en-US" sz="800" dirty="0"/>
          </a:p>
        </p:txBody>
      </p:sp>
      <p:sp>
        <p:nvSpPr>
          <p:cNvPr id="6" name="Text 4"/>
          <p:cNvSpPr/>
          <p:nvPr/>
        </p:nvSpPr>
        <p:spPr>
          <a:xfrm>
            <a:off x="8315325" y="785813"/>
            <a:ext cx="828675" cy="2160270"/>
          </a:xfrm>
          <a:prstGeom prst="rect">
            <a:avLst/>
          </a:prstGeom>
          <a:noFill/>
          <a:ln/>
        </p:spPr>
        <p:txBody>
          <a:bodyPr wrap="square" lIns="0" tIns="0" rIns="0" bIns="0" rtlCol="0" anchor="t"/>
          <a:lstStyle/>
          <a:p>
            <a:pPr algn="l" indent="0" marL="0">
              <a:lnSpc>
                <a:spcPts val="15750"/>
              </a:lnSpc>
              <a:buNone/>
            </a:pPr>
            <a:r>
              <a:rPr lang="en-US" sz="15750" b="1" spc="-787" kern="0" dirty="0">
                <a:solidFill>
                  <a:srgbClr val="FF6B6B">
                    <a:alpha val="5000"/>
                  </a:srgbClr>
                </a:solidFill>
                <a:latin typeface="Courier New" pitchFamily="34" charset="0"/>
                <a:ea typeface="Courier New" pitchFamily="34" charset="-122"/>
                <a:cs typeface="Courier New" pitchFamily="34" charset="-120"/>
              </a:rPr>
              <a:t>B</a:t>
            </a:r>
            <a:endParaRPr lang="en-US" sz="15750" dirty="0"/>
          </a:p>
        </p:txBody>
      </p:sp>
      <p:sp>
        <p:nvSpPr>
          <p:cNvPr id="7" name="Text 5"/>
          <p:cNvSpPr/>
          <p:nvPr/>
        </p:nvSpPr>
        <p:spPr>
          <a:xfrm>
            <a:off x="7118099" y="400050"/>
            <a:ext cx="1568701" cy="91440"/>
          </a:xfrm>
          <a:prstGeom prst="rect">
            <a:avLst/>
          </a:prstGeom>
          <a:noFill/>
          <a:ln/>
        </p:spPr>
        <p:txBody>
          <a:bodyPr wrap="none" lIns="0" tIns="0" rIns="0" bIns="0" rtlCol="0" anchor="t">
            <a:normAutofit/>
          </a:bodyPr>
          <a:lstStyle/>
          <a:p>
            <a:pPr algn="r" indent="0" marL="0">
              <a:lnSpc>
                <a:spcPts val="900"/>
              </a:lnSpc>
              <a:buNone/>
            </a:pPr>
            <a:r>
              <a:rPr lang="en-US" sz="800" spc="113"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8" name="Text 6"/>
          <p:cNvSpPr/>
          <p:nvPr/>
        </p:nvSpPr>
        <p:spPr>
          <a:xfrm>
            <a:off x="7118099" y="514350"/>
            <a:ext cx="1568701" cy="175565"/>
          </a:xfrm>
          <a:prstGeom prst="rect">
            <a:avLst/>
          </a:prstGeom>
          <a:noFill/>
          <a:ln/>
        </p:spPr>
        <p:txBody>
          <a:bodyPr wrap="none" lIns="0" tIns="0" rIns="0" bIns="0" rtlCol="0" anchor="t"/>
          <a:lstStyle/>
          <a:p>
            <a:pPr algn="r" indent="0" marL="0">
              <a:lnSpc>
                <a:spcPts val="900"/>
              </a:lnSpc>
              <a:buNone/>
            </a:pPr>
            <a:r>
              <a:rPr lang="en-US" sz="800" spc="113" kern="0" dirty="0">
                <a:solidFill>
                  <a:srgbClr val="FF6B6B"/>
                </a:solidFill>
                <a:latin typeface="Liberation Sans Narrow" pitchFamily="34" charset="0"/>
                <a:ea typeface="Liberation Sans Narrow" pitchFamily="34" charset="-122"/>
                <a:cs typeface="Liberation Sans Narrow" pitchFamily="34" charset="-120"/>
              </a:rPr>
              <a:t>▸ CONVERSE_001 PRIORITY 2</a:t>
            </a:r>
            <a:endParaRPr lang="en-US" sz="800" dirty="0"/>
          </a:p>
        </p:txBody>
      </p:sp>
      <p:sp>
        <p:nvSpPr>
          <p:cNvPr id="9" name="Text 7"/>
          <p:cNvSpPr/>
          <p:nvPr/>
        </p:nvSpPr>
        <p:spPr>
          <a:xfrm>
            <a:off x="457200" y="4893469"/>
            <a:ext cx="6783660"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Section 02 / p.05</a:t>
            </a:r>
            <a:endParaRPr lang="en-US" sz="800" dirty="0"/>
          </a:p>
        </p:txBody>
      </p:sp>
      <p:sp>
        <p:nvSpPr>
          <p:cNvPr id="10" name="Text 8"/>
          <p:cNvSpPr/>
          <p:nvPr/>
        </p:nvSpPr>
        <p:spPr>
          <a:xfrm>
            <a:off x="7255148" y="4893469"/>
            <a:ext cx="1517551"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Thread B · Self-Dual Extension Test</a:t>
            </a:r>
            <a:endParaRPr lang="en-US" sz="800" dirty="0"/>
          </a:p>
        </p:txBody>
      </p:sp>
      <p:sp>
        <p:nvSpPr>
          <p:cNvPr id="11" name="Text 9"/>
          <p:cNvSpPr/>
          <p:nvPr/>
        </p:nvSpPr>
        <p:spPr>
          <a:xfrm>
            <a:off x="457200" y="1381423"/>
            <a:ext cx="8636000" cy="740664"/>
          </a:xfrm>
          <a:prstGeom prst="rect">
            <a:avLst/>
          </a:prstGeom>
          <a:noFill/>
          <a:ln/>
        </p:spPr>
        <p:txBody>
          <a:bodyPr wrap="none" lIns="0" tIns="0" rIns="0" bIns="0" rtlCol="0" anchor="t"/>
          <a:lstStyle/>
          <a:p>
            <a:pPr algn="l" indent="0" marL="0">
              <a:lnSpc>
                <a:spcPts val="5400"/>
              </a:lnSpc>
              <a:buNone/>
            </a:pPr>
            <a:r>
              <a:rPr lang="en-US" sz="5400" spc="-216" kern="0" dirty="0">
                <a:solidFill>
                  <a:srgbClr val="FFB454"/>
                </a:solidFill>
                <a:latin typeface="Liberation Sans Narrow" pitchFamily="34" charset="0"/>
                <a:ea typeface="Liberation Sans Narrow" pitchFamily="34" charset="-122"/>
                <a:cs typeface="Liberation Sans Narrow" pitchFamily="34" charset="-120"/>
              </a:rPr>
              <a:t>02</a:t>
            </a:r>
            <a:endParaRPr lang="en-US" sz="5400" dirty="0"/>
          </a:p>
        </p:txBody>
      </p:sp>
      <p:sp>
        <p:nvSpPr>
          <p:cNvPr id="12" name="Text 10"/>
          <p:cNvSpPr/>
          <p:nvPr/>
        </p:nvSpPr>
        <p:spPr>
          <a:xfrm>
            <a:off x="457200" y="2224385"/>
            <a:ext cx="571500" cy="14288"/>
          </a:xfrm>
          <a:prstGeom prst="rect">
            <a:avLst/>
          </a:prstGeom>
          <a:solidFill>
            <a:srgbClr val="FFB454"/>
          </a:solidFill>
          <a:ln/>
        </p:spPr>
        <p:txBody>
          <a:bodyPr wrap="square" rtlCol="0" anchor="ctr"/>
          <a:lstStyle/>
          <a:p>
            <a:pPr indent="0" marL="0">
              <a:buNone/>
            </a:pPr>
            <a:endParaRPr lang="en-US" dirty="0"/>
          </a:p>
        </p:txBody>
      </p:sp>
      <p:sp>
        <p:nvSpPr>
          <p:cNvPr id="13" name="Text 11"/>
          <p:cNvSpPr/>
          <p:nvPr/>
        </p:nvSpPr>
        <p:spPr>
          <a:xfrm>
            <a:off x="457200" y="2438698"/>
            <a:ext cx="8229600" cy="327657"/>
          </a:xfrm>
          <a:prstGeom prst="rect">
            <a:avLst/>
          </a:prstGeom>
          <a:noFill/>
          <a:ln/>
        </p:spPr>
        <p:txBody>
          <a:bodyPr wrap="square" lIns="0" tIns="0" rIns="0" bIns="0" rtlCol="0" anchor="t"/>
          <a:lstStyle/>
          <a:p>
            <a:pPr algn="l" indent="0" marL="0">
              <a:lnSpc>
                <a:spcPts val="2390"/>
              </a:lnSpc>
              <a:buNone/>
            </a:pPr>
            <a:r>
              <a:rPr lang="en-US" sz="2025" spc="-30" kern="0" dirty="0">
                <a:solidFill>
                  <a:srgbClr val="E6E6E6"/>
                </a:solidFill>
                <a:latin typeface="Carlito" pitchFamily="34" charset="0"/>
                <a:ea typeface="Carlito" pitchFamily="34" charset="-122"/>
                <a:cs typeface="Carlito" pitchFamily="34" charset="-120"/>
              </a:rPr>
              <a:t>Thread B — Self-Dual Extension Test</a:t>
            </a:r>
            <a:endParaRPr lang="en-US" sz="2025" dirty="0"/>
          </a:p>
        </p:txBody>
      </p:sp>
      <p:sp>
        <p:nvSpPr>
          <p:cNvPr id="14" name="Text 12"/>
          <p:cNvSpPr/>
          <p:nvPr/>
        </p:nvSpPr>
        <p:spPr>
          <a:xfrm>
            <a:off x="457200" y="2899246"/>
            <a:ext cx="4286250" cy="600102"/>
          </a:xfrm>
          <a:prstGeom prst="rect">
            <a:avLst/>
          </a:prstGeom>
          <a:noFill/>
          <a:ln/>
        </p:spPr>
        <p:txBody>
          <a:bodyPr wrap="square" lIns="0" tIns="0" rIns="0" bIns="0" rtlCol="0" anchor="t"/>
          <a:lstStyle/>
          <a:p>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CONVERSE_001 Section 9 left this as Priority 2: does </a:t>
            </a:r>
            <a:pPr algn="l" indent="0" marL="0">
              <a:lnSpc>
                <a:spcPts val="1440"/>
              </a:lnSpc>
              <a:buNone/>
            </a:pPr>
            <a:r>
              <a:rPr lang="en-US" sz="900" i="1" dirty="0">
                <a:solidFill>
                  <a:srgbClr val="E6E6E6"/>
                </a:solidFill>
                <a:latin typeface="Tinos" pitchFamily="34" charset="0"/>
                <a:ea typeface="Tinos" pitchFamily="34" charset="-122"/>
                <a:cs typeface="Tinos" pitchFamily="34" charset="-120"/>
              </a:rPr>
              <a:t>avg_Φ</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maximised over all </a:t>
            </a:r>
            <a:pPr algn="l" indent="0" marL="0">
              <a:lnSpc>
                <a:spcPts val="1440"/>
              </a:lnSpc>
              <a:buNone/>
            </a:pPr>
            <a:r>
              <a:rPr lang="en-US" sz="900" dirty="0">
                <a:solidFill>
                  <a:srgbClr val="E6E6E6"/>
                </a:solidFill>
                <a:latin typeface="Liberation Sans Narrow" pitchFamily="34" charset="0"/>
                <a:ea typeface="Liberation Sans Narrow" pitchFamily="34" charset="-122"/>
                <a:cs typeface="Liberation Sans Narrow" pitchFamily="34" charset="-120"/>
              </a:rPr>
              <a:t>[n, n/2]</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codes, select self-dual codes? If yes, self-duality follows from </a:t>
            </a:r>
            <a:pPr algn="l" indent="0" marL="0">
              <a:lnSpc>
                <a:spcPts val="1440"/>
              </a:lnSpc>
              <a:buNone/>
            </a:pPr>
            <a:r>
              <a:rPr lang="en-US" sz="900" i="1" dirty="0">
                <a:solidFill>
                  <a:srgbClr val="E6E6E6"/>
                </a:solidFill>
                <a:latin typeface="Tinos" pitchFamily="34" charset="0"/>
                <a:ea typeface="Tinos" pitchFamily="34" charset="-122"/>
                <a:cs typeface="Tinos" pitchFamily="34" charset="-120"/>
              </a:rPr>
              <a:t>Φ</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 and with it </a:t>
            </a:r>
            <a:pPr algn="l" indent="0" marL="0">
              <a:lnSpc>
                <a:spcPts val="1440"/>
              </a:lnSpc>
              <a:buNone/>
            </a:pPr>
            <a:r>
              <a:rPr lang="en-US" sz="900" i="1" dirty="0">
                <a:solidFill>
                  <a:srgbClr val="FFB454"/>
                </a:solidFill>
                <a:latin typeface="Liberation Sans Narrow" pitchFamily="34" charset="0"/>
                <a:ea typeface="Liberation Sans Narrow" pitchFamily="34" charset="-122"/>
                <a:cs typeface="Liberation Sans Narrow" pitchFamily="34" charset="-120"/>
              </a:rPr>
              <a:t>k = n/2</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a:t>
            </a:r>
            <a:endParaRPr lang="en-US" sz="900" dirty="0"/>
          </a:p>
        </p:txBody>
      </p:sp>
      <p:sp>
        <p:nvSpPr>
          <p:cNvPr id="15" name="Text 13"/>
          <p:cNvSpPr/>
          <p:nvPr/>
        </p:nvSpPr>
        <p:spPr>
          <a:xfrm>
            <a:off x="434340" y="3787938"/>
            <a:ext cx="845820"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6" name="Text 14"/>
          <p:cNvSpPr/>
          <p:nvPr/>
        </p:nvSpPr>
        <p:spPr>
          <a:xfrm>
            <a:off x="457200" y="3797796"/>
            <a:ext cx="800100"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NEGATIVE RESULT</a:t>
            </a:r>
            <a:endParaRPr lang="en-US" sz="800" dirty="0"/>
          </a:p>
        </p:txBody>
      </p:sp>
      <p:sp>
        <p:nvSpPr>
          <p:cNvPr id="17" name="Text 15"/>
          <p:cNvSpPr/>
          <p:nvPr/>
        </p:nvSpPr>
        <p:spPr>
          <a:xfrm>
            <a:off x="1334453" y="3787938"/>
            <a:ext cx="952641"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8" name="Text 16"/>
          <p:cNvSpPr/>
          <p:nvPr/>
        </p:nvSpPr>
        <p:spPr>
          <a:xfrm>
            <a:off x="1357313" y="3797796"/>
            <a:ext cx="906921"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N ∈ {4, 6, 8, 10}</a:t>
            </a:r>
            <a:endParaRPr lang="en-US" sz="800" dirty="0"/>
          </a:p>
        </p:txBody>
      </p:sp>
      <p:sp>
        <p:nvSpPr>
          <p:cNvPr id="19" name="Text 17"/>
          <p:cNvSpPr/>
          <p:nvPr/>
        </p:nvSpPr>
        <p:spPr>
          <a:xfrm>
            <a:off x="2341386" y="3787938"/>
            <a:ext cx="631508"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20" name="Text 18"/>
          <p:cNvSpPr/>
          <p:nvPr/>
        </p:nvSpPr>
        <p:spPr>
          <a:xfrm>
            <a:off x="2364246" y="3797796"/>
            <a:ext cx="585788"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PRIORITY 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240860"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B / SELF-DUAL EXTENSION / 06 OF 14</a:t>
            </a:r>
            <a:endParaRPr lang="en-US" sz="800" dirty="0"/>
          </a:p>
        </p:txBody>
      </p:sp>
      <p:sp>
        <p:nvSpPr>
          <p:cNvPr id="4" name="Text 2"/>
          <p:cNvSpPr/>
          <p:nvPr/>
        </p:nvSpPr>
        <p:spPr>
          <a:xfrm>
            <a:off x="7712348" y="342900"/>
            <a:ext cx="9744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60772" y="689372"/>
            <a:ext cx="4930527" cy="3850481"/>
          </a:xfrm>
          <a:prstGeom prst="roundRect">
            <a:avLst>
              <a:gd name="adj" fmla="val 1484"/>
            </a:avLst>
          </a:prstGeom>
          <a:solidFill>
            <a:srgbClr val="1F2630"/>
          </a:solidFill>
          <a:ln w="7144">
            <a:solidFill>
              <a:srgbClr val="2A3038"/>
            </a:solidFill>
            <a:prstDash val="solid"/>
          </a:ln>
        </p:spPr>
        <p:txBody>
          <a:bodyPr wrap="square" rtlCol="0" anchor="ctr"/>
          <a:lstStyle/>
          <a:p>
            <a:pPr indent="0" marL="0">
              <a:buNone/>
            </a:pPr>
            <a:endParaRPr lang="en-US" dirty="0"/>
          </a:p>
        </p:txBody>
      </p:sp>
      <p:pic>
        <p:nvPicPr>
          <p:cNvPr id="6" name="Image 0" descr="https://chat.z.ai/api/v1/sandbox/version/file?path=download%2Fslides%2Ffig5_self_dual.png&amp;chatId=21e346a9-4590-48e0-bcb2-25016aabc1df">    </p:cNvPr>
          <p:cNvPicPr>
            <a:picLocks noChangeAspect="1"/>
          </p:cNvPicPr>
          <p:nvPr/>
        </p:nvPicPr>
        <p:blipFill>
          <a:blip r:embed="rId1"/>
          <a:stretch>
            <a:fillRect/>
          </a:stretch>
        </p:blipFill>
        <p:spPr>
          <a:xfrm>
            <a:off x="564356" y="1896666"/>
            <a:ext cx="4723358" cy="1271588"/>
          </a:xfrm>
          <a:prstGeom prst="rect">
            <a:avLst/>
          </a:prstGeom>
        </p:spPr>
      </p:pic>
      <p:sp>
        <p:nvSpPr>
          <p:cNvPr id="7" name="Text 4"/>
          <p:cNvSpPr/>
          <p:nvPr/>
        </p:nvSpPr>
        <p:spPr>
          <a:xfrm>
            <a:off x="564356" y="4329113"/>
            <a:ext cx="4723358" cy="107156"/>
          </a:xfrm>
          <a:prstGeom prst="rect">
            <a:avLst/>
          </a:prstGeom>
          <a:noFill/>
          <a:ln/>
        </p:spPr>
        <p:txBody>
          <a:bodyPr wrap="square" lIns="0" tIns="0" rIns="0" bIns="0" rtlCol="0" anchor="t"/>
          <a:lstStyle/>
          <a:p>
            <a:pPr algn="ctr" indent="0" marL="0">
              <a:lnSpc>
                <a:spcPts val="844"/>
              </a:lnSpc>
              <a:buNone/>
            </a:pPr>
            <a:r>
              <a:rPr lang="en-US" sz="800" spc="56" kern="0" dirty="0">
                <a:solidFill>
                  <a:srgbClr val="6B7280"/>
                </a:solidFill>
                <a:latin typeface="Courier New" pitchFamily="34" charset="0"/>
                <a:ea typeface="Courier New" pitchFamily="34" charset="-122"/>
                <a:cs typeface="Courier New" pitchFamily="34" charset="-120"/>
              </a:rPr>
              <a:t>FIG. 5 · AVG_Φ FOR SELF-DUAL VS. RANDOM [N, N/2] CODES · N ∈ {4, 6, 8, 10}</a:t>
            </a:r>
            <a:endParaRPr lang="en-US" sz="800" dirty="0"/>
          </a:p>
        </p:txBody>
      </p:sp>
      <p:sp>
        <p:nvSpPr>
          <p:cNvPr id="8" name="Text 5"/>
          <p:cNvSpPr/>
          <p:nvPr/>
        </p:nvSpPr>
        <p:spPr>
          <a:xfrm>
            <a:off x="5594896" y="685800"/>
            <a:ext cx="342900" cy="21431"/>
          </a:xfrm>
          <a:prstGeom prst="rect">
            <a:avLst/>
          </a:prstGeom>
          <a:solidFill>
            <a:srgbClr val="FF6B6B"/>
          </a:solidFill>
          <a:ln/>
        </p:spPr>
        <p:txBody>
          <a:bodyPr wrap="square" rtlCol="0" anchor="ctr"/>
          <a:lstStyle/>
          <a:p>
            <a:pPr indent="0" marL="0">
              <a:buNone/>
            </a:pPr>
            <a:endParaRPr lang="en-US" dirty="0"/>
          </a:p>
        </p:txBody>
      </p:sp>
      <p:sp>
        <p:nvSpPr>
          <p:cNvPr id="9" name="Text 6"/>
          <p:cNvSpPr/>
          <p:nvPr/>
        </p:nvSpPr>
        <p:spPr>
          <a:xfrm>
            <a:off x="5594896" y="821531"/>
            <a:ext cx="3339257" cy="203610"/>
          </a:xfrm>
          <a:prstGeom prst="rect">
            <a:avLst/>
          </a:prstGeom>
          <a:noFill/>
          <a:ln/>
        </p:spPr>
        <p:txBody>
          <a:bodyPr wrap="square" lIns="0" tIns="0" rIns="0" bIns="0" rtlCol="0" anchor="t"/>
          <a:lstStyle/>
          <a:p>
            <a:pPr algn="l" indent="0" marL="0">
              <a:lnSpc>
                <a:spcPts val="1485"/>
              </a:lnSpc>
              <a:buNone/>
            </a:pPr>
            <a:r>
              <a:rPr lang="en-US" sz="1238" spc="-12" kern="0" dirty="0">
                <a:solidFill>
                  <a:srgbClr val="FF6B6B"/>
                </a:solidFill>
                <a:latin typeface="Carlito" pitchFamily="34" charset="0"/>
                <a:ea typeface="Carlito" pitchFamily="34" charset="-122"/>
                <a:cs typeface="Carlito" pitchFamily="34" charset="-120"/>
              </a:rPr>
              <a:t>Conjecture falsified — carefully</a:t>
            </a:r>
            <a:endParaRPr lang="en-US" sz="1238" dirty="0"/>
          </a:p>
        </p:txBody>
      </p:sp>
      <p:sp>
        <p:nvSpPr>
          <p:cNvPr id="10" name="Text 7"/>
          <p:cNvSpPr/>
          <p:nvPr/>
        </p:nvSpPr>
        <p:spPr>
          <a:xfrm>
            <a:off x="5786996" y="1117216"/>
            <a:ext cx="310753" cy="150354"/>
          </a:xfrm>
          <a:prstGeom prst="roundRect">
            <a:avLst>
              <a:gd name="adj" fmla="val 19005"/>
            </a:avLst>
          </a:prstGeom>
          <a:solidFill>
            <a:srgbClr val="1F2630"/>
          </a:solidFill>
          <a:ln/>
        </p:spPr>
        <p:txBody>
          <a:bodyPr wrap="square" rtlCol="0" anchor="ctr"/>
          <a:lstStyle/>
          <a:p>
            <a:pPr indent="0" marL="0">
              <a:buNone/>
            </a:pPr>
            <a:endParaRPr lang="en-US" dirty="0"/>
          </a:p>
        </p:txBody>
      </p:sp>
      <p:sp>
        <p:nvSpPr>
          <p:cNvPr id="11" name="Text 8"/>
          <p:cNvSpPr/>
          <p:nvPr/>
        </p:nvSpPr>
        <p:spPr>
          <a:xfrm>
            <a:off x="6126324" y="1117216"/>
            <a:ext cx="153591" cy="150354"/>
          </a:xfrm>
          <a:prstGeom prst="roundRect">
            <a:avLst>
              <a:gd name="adj" fmla="val 19005"/>
            </a:avLst>
          </a:prstGeom>
          <a:solidFill>
            <a:srgbClr val="1F2630"/>
          </a:solidFill>
          <a:ln/>
        </p:spPr>
        <p:txBody>
          <a:bodyPr wrap="square" rtlCol="0" anchor="ctr"/>
          <a:lstStyle/>
          <a:p>
            <a:pPr indent="0" marL="0">
              <a:buNone/>
            </a:pPr>
            <a:endParaRPr lang="en-US" dirty="0"/>
          </a:p>
        </p:txBody>
      </p:sp>
      <p:sp>
        <p:nvSpPr>
          <p:cNvPr id="12" name="Text 9"/>
          <p:cNvSpPr/>
          <p:nvPr/>
        </p:nvSpPr>
        <p:spPr>
          <a:xfrm>
            <a:off x="6308489" y="1117216"/>
            <a:ext cx="153591" cy="150354"/>
          </a:xfrm>
          <a:prstGeom prst="roundRect">
            <a:avLst>
              <a:gd name="adj" fmla="val 19005"/>
            </a:avLst>
          </a:prstGeom>
          <a:solidFill>
            <a:srgbClr val="1F2630"/>
          </a:solidFill>
          <a:ln/>
        </p:spPr>
        <p:txBody>
          <a:bodyPr wrap="square" rtlCol="0" anchor="ctr"/>
          <a:lstStyle/>
          <a:p>
            <a:pPr indent="0" marL="0">
              <a:buNone/>
            </a:pPr>
            <a:endParaRPr lang="en-US" dirty="0"/>
          </a:p>
        </p:txBody>
      </p:sp>
      <p:sp>
        <p:nvSpPr>
          <p:cNvPr id="13" name="Text 10"/>
          <p:cNvSpPr/>
          <p:nvPr/>
        </p:nvSpPr>
        <p:spPr>
          <a:xfrm>
            <a:off x="6490655" y="1117216"/>
            <a:ext cx="192881" cy="150354"/>
          </a:xfrm>
          <a:prstGeom prst="roundRect">
            <a:avLst>
              <a:gd name="adj" fmla="val 19005"/>
            </a:avLst>
          </a:prstGeom>
          <a:solidFill>
            <a:srgbClr val="1F2630"/>
          </a:solidFill>
          <a:ln/>
        </p:spPr>
        <p:txBody>
          <a:bodyPr wrap="square" rtlCol="0" anchor="ctr"/>
          <a:lstStyle/>
          <a:p>
            <a:pPr indent="0" marL="0">
              <a:buNone/>
            </a:pPr>
            <a:endParaRPr lang="en-US" dirty="0"/>
          </a:p>
        </p:txBody>
      </p:sp>
      <p:sp>
        <p:nvSpPr>
          <p:cNvPr id="14" name="Text 11"/>
          <p:cNvSpPr/>
          <p:nvPr/>
        </p:nvSpPr>
        <p:spPr>
          <a:xfrm>
            <a:off x="5594896" y="1110072"/>
            <a:ext cx="3091904" cy="172797"/>
          </a:xfrm>
          <a:prstGeom prst="rect">
            <a:avLst/>
          </a:prstGeom>
          <a:noFill/>
          <a:ln/>
        </p:spPr>
        <p:txBody>
          <a:bodyPr wrap="square" lIns="0" tIns="0" rIns="0" bIns="0" rtlCol="0" anchor="t"/>
          <a:lstStyle/>
          <a:p>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For </a:t>
            </a:r>
            <a:pPr algn="l" indent="0" marL="0">
              <a:lnSpc>
                <a:spcPts val="1221"/>
              </a:lnSpc>
              <a:buNone/>
            </a:pPr>
            <a:r>
              <a:rPr lang="en-US" sz="800" dirty="0">
                <a:solidFill>
                  <a:srgbClr val="6FE3D2"/>
                </a:solidFill>
                <a:highlight>
                  <a:srgbClr val="1F2630"/>
                </a:highlight>
                <a:latin typeface="Liberation Sans Narrow" pitchFamily="34" charset="0"/>
                <a:ea typeface="Liberation Sans Narrow" pitchFamily="34" charset="-122"/>
                <a:cs typeface="Liberation Sans Narrow" pitchFamily="34" charset="-120"/>
              </a:rPr>
              <a:t>n = 46810</a:t>
            </a:r>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 sampled </a:t>
            </a:r>
            <a:pPr algn="l" indent="0" marL="0">
              <a:lnSpc>
                <a:spcPts val="1221"/>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80–400</a:t>
            </a:r>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 random </a:t>
            </a:r>
            <a:pPr algn="l" indent="0" marL="0">
              <a:lnSpc>
                <a:spcPts val="1221"/>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[n, n/2]</a:t>
            </a:r>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 codes.</a:t>
            </a:r>
            <a:endParaRPr lang="en-US" sz="800" dirty="0"/>
          </a:p>
        </p:txBody>
      </p:sp>
      <p:sp>
        <p:nvSpPr>
          <p:cNvPr id="15" name="Text 12"/>
          <p:cNvSpPr/>
          <p:nvPr/>
        </p:nvSpPr>
        <p:spPr>
          <a:xfrm>
            <a:off x="5687764" y="1339007"/>
            <a:ext cx="2999036" cy="166919"/>
          </a:xfrm>
          <a:prstGeom prst="rect">
            <a:avLst/>
          </a:prstGeom>
          <a:noFill/>
          <a:ln/>
        </p:spPr>
        <p:txBody>
          <a:bodyPr wrap="square" lIns="0" tIns="0" rIns="0" bIns="0" rtlCol="0" anchor="t"/>
          <a:lstStyle/>
          <a:p>
            <a:pPr algn="l" indent="0" marL="0">
              <a:lnSpc>
                <a:spcPts val="1142"/>
              </a:lnSpc>
              <a:buNone/>
            </a:pPr>
            <a:r>
              <a:rPr lang="en-US" sz="800" b="1" dirty="0">
                <a:solidFill>
                  <a:srgbClr val="B5BAC4"/>
                </a:solidFill>
                <a:latin typeface="Carlito" pitchFamily="34" charset="0"/>
                <a:ea typeface="Carlito" pitchFamily="34" charset="-122"/>
                <a:cs typeface="Carlito" pitchFamily="34" charset="-120"/>
              </a:rPr>
              <a:t>Result:</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at every </a:t>
            </a:r>
            <a:pPr algn="l" indent="0" marL="0">
              <a:lnSpc>
                <a:spcPts val="1142"/>
              </a:lnSpc>
              <a:buNone/>
            </a:pPr>
            <a:r>
              <a:rPr lang="en-US" sz="800" i="1" dirty="0">
                <a:solidFill>
                  <a:srgbClr val="E6E6E6"/>
                </a:solidFill>
                <a:latin typeface="Tinos" pitchFamily="34" charset="0"/>
                <a:ea typeface="Tinos" pitchFamily="34" charset="-122"/>
                <a:cs typeface="Tinos" pitchFamily="34" charset="-120"/>
              </a:rPr>
              <a:t>n</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the highest-</a:t>
            </a:r>
            <a:pPr algn="l" indent="0" marL="0">
              <a:lnSpc>
                <a:spcPts val="1142"/>
              </a:lnSpc>
              <a:buNone/>
            </a:pPr>
            <a:r>
              <a:rPr lang="en-US" sz="800" i="1" dirty="0">
                <a:solidFill>
                  <a:srgbClr val="E6E6E6"/>
                </a:solidFill>
                <a:latin typeface="Tinos" pitchFamily="34" charset="0"/>
                <a:ea typeface="Tinos" pitchFamily="34" charset="-122"/>
                <a:cs typeface="Tinos" pitchFamily="34" charset="-120"/>
              </a:rPr>
              <a:t>avg_Φ</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code is NOT self-dual.</a:t>
            </a:r>
            <a:endParaRPr lang="en-US" sz="800" dirty="0"/>
          </a:p>
        </p:txBody>
      </p:sp>
      <p:sp>
        <p:nvSpPr>
          <p:cNvPr id="16" name="Text 13"/>
          <p:cNvSpPr/>
          <p:nvPr/>
        </p:nvSpPr>
        <p:spPr>
          <a:xfrm>
            <a:off x="5687764" y="1541152"/>
            <a:ext cx="2999036" cy="166919"/>
          </a:xfrm>
          <a:prstGeom prst="rect">
            <a:avLst/>
          </a:prstGeom>
          <a:noFill/>
          <a:ln/>
        </p:spPr>
        <p:txBody>
          <a:bodyPr wrap="square" lIns="0" tIns="0" rIns="0" bIns="0" rtlCol="0" anchor="t"/>
          <a:lstStyle/>
          <a:p>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Self-dual codes cluster at the </a:t>
            </a:r>
            <a:pPr algn="l" indent="0" marL="0">
              <a:lnSpc>
                <a:spcPts val="1142"/>
              </a:lnSpc>
              <a:buNone/>
            </a:pPr>
            <a:r>
              <a:rPr lang="en-US" sz="800" b="1" dirty="0">
                <a:solidFill>
                  <a:srgbClr val="B5BAC4"/>
                </a:solidFill>
                <a:latin typeface="Carlito" pitchFamily="34" charset="0"/>
                <a:ea typeface="Carlito" pitchFamily="34" charset="-122"/>
                <a:cs typeface="Carlito" pitchFamily="34" charset="-120"/>
              </a:rPr>
              <a:t>LOW end</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of </a:t>
            </a:r>
            <a:pPr algn="l" indent="0" marL="0">
              <a:lnSpc>
                <a:spcPts val="1142"/>
              </a:lnSpc>
              <a:buNone/>
            </a:pPr>
            <a:r>
              <a:rPr lang="en-US" sz="800" i="1" dirty="0">
                <a:solidFill>
                  <a:srgbClr val="E6E6E6"/>
                </a:solidFill>
                <a:latin typeface="Tinos" pitchFamily="34" charset="0"/>
                <a:ea typeface="Tinos" pitchFamily="34" charset="-122"/>
                <a:cs typeface="Tinos" pitchFamily="34" charset="-120"/>
              </a:rPr>
              <a:t>avg_Φ</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for their </a:t>
            </a:r>
            <a:pPr algn="l" indent="0" marL="0">
              <a:lnSpc>
                <a:spcPts val="1142"/>
              </a:lnSpc>
              <a:buNone/>
            </a:pPr>
            <a:r>
              <a:rPr lang="en-US" sz="800" i="1" dirty="0">
                <a:solidFill>
                  <a:srgbClr val="E6E6E6"/>
                </a:solidFill>
                <a:latin typeface="Tinos" pitchFamily="34" charset="0"/>
                <a:ea typeface="Tinos" pitchFamily="34" charset="-122"/>
                <a:cs typeface="Tinos" pitchFamily="34" charset="-120"/>
              </a:rPr>
              <a:t>n</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17" name="Text 14"/>
          <p:cNvSpPr/>
          <p:nvPr/>
        </p:nvSpPr>
        <p:spPr>
          <a:xfrm>
            <a:off x="5687764" y="1743298"/>
            <a:ext cx="2999036" cy="318162"/>
          </a:xfrm>
          <a:prstGeom prst="rect">
            <a:avLst/>
          </a:prstGeom>
          <a:noFill/>
          <a:ln/>
        </p:spPr>
        <p:txBody>
          <a:bodyPr wrap="square" lIns="0" tIns="0" rIns="0" bIns="0" rtlCol="0" anchor="t"/>
          <a:lstStyle/>
          <a:p>
            <a:pPr algn="l" indent="0" marL="0">
              <a:lnSpc>
                <a:spcPts val="1142"/>
              </a:lnSpc>
              <a:buNone/>
            </a:pPr>
            <a:r>
              <a:rPr lang="en-US" sz="800" b="1" dirty="0">
                <a:solidFill>
                  <a:srgbClr val="B5BAC4"/>
                </a:solidFill>
                <a:latin typeface="Carlito" pitchFamily="34" charset="0"/>
                <a:ea typeface="Carlito" pitchFamily="34" charset="-122"/>
                <a:cs typeface="Carlito" pitchFamily="34" charset="-120"/>
              </a:rPr>
              <a:t>Reason:</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self-duality constrains structure, but random codes occasionally land on denser covering configurations.</a:t>
            </a:r>
            <a:endParaRPr lang="en-US" sz="800" dirty="0"/>
          </a:p>
        </p:txBody>
      </p:sp>
      <p:sp>
        <p:nvSpPr>
          <p:cNvPr id="18" name="Shape 15"/>
          <p:cNvSpPr/>
          <p:nvPr/>
        </p:nvSpPr>
        <p:spPr>
          <a:xfrm>
            <a:off x="5594896" y="2158305"/>
            <a:ext cx="3091904" cy="0"/>
          </a:xfrm>
          <a:prstGeom prst="line">
            <a:avLst/>
          </a:prstGeom>
          <a:noFill/>
          <a:ln w="7144">
            <a:solidFill>
              <a:srgbClr val="2A3038"/>
            </a:solidFill>
            <a:prstDash val="solid"/>
          </a:ln>
        </p:spPr>
      </p:sp>
      <p:sp>
        <p:nvSpPr>
          <p:cNvPr id="19" name="Text 16"/>
          <p:cNvSpPr/>
          <p:nvPr/>
        </p:nvSpPr>
        <p:spPr>
          <a:xfrm>
            <a:off x="5687764" y="2233315"/>
            <a:ext cx="2999036" cy="500756"/>
          </a:xfrm>
          <a:prstGeom prst="rect">
            <a:avLst/>
          </a:prstGeom>
          <a:noFill/>
          <a:ln/>
        </p:spPr>
        <p:txBody>
          <a:bodyPr wrap="square" lIns="0" tIns="0" rIns="0" bIns="0" rtlCol="0" anchor="t"/>
          <a:lstStyle/>
          <a:p>
            <a:pPr algn="l" indent="0" marL="0">
              <a:lnSpc>
                <a:spcPts val="1142"/>
              </a:lnSpc>
              <a:buNone/>
            </a:pPr>
            <a:r>
              <a:rPr lang="en-US" sz="800" b="1" dirty="0">
                <a:solidFill>
                  <a:srgbClr val="B5BAC4"/>
                </a:solidFill>
                <a:latin typeface="Carlito" pitchFamily="34" charset="0"/>
                <a:ea typeface="Carlito" pitchFamily="34" charset="-122"/>
                <a:cs typeface="Carlito" pitchFamily="34" charset="-120"/>
              </a:rPr>
              <a:t>BUT</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 restricted to codes with </a:t>
            </a:r>
            <a:pPr algn="l" indent="0" marL="0">
              <a:lnSpc>
                <a:spcPts val="1142"/>
              </a:lnSpc>
              <a:buNone/>
            </a:pPr>
            <a:r>
              <a:rPr lang="en-US" sz="800" i="1" dirty="0">
                <a:solidFill>
                  <a:srgbClr val="E6E6E6"/>
                </a:solidFill>
                <a:latin typeface="Tinos" pitchFamily="34" charset="0"/>
                <a:ea typeface="Tinos" pitchFamily="34" charset="-122"/>
                <a:cs typeface="Tinos" pitchFamily="34" charset="-120"/>
              </a:rPr>
              <a:t>d</a:t>
            </a:r>
            <a:pPr algn="l" indent="0" marL="0">
              <a:lnSpc>
                <a:spcPts val="1142"/>
              </a:lnSpc>
              <a:buNone/>
            </a:pPr>
            <a:r>
              <a:rPr lang="en-US" sz="800" i="1" baseline="-40000" dirty="0">
                <a:solidFill>
                  <a:srgbClr val="E6E6E6"/>
                </a:solidFill>
                <a:latin typeface="Tinos" pitchFamily="34" charset="0"/>
                <a:ea typeface="Tinos" pitchFamily="34" charset="-122"/>
                <a:cs typeface="Tinos" pitchFamily="34" charset="-120"/>
              </a:rPr>
              <a:t>min</a:t>
            </a:r>
            <a:pPr algn="l" indent="0" marL="0">
              <a:lnSpc>
                <a:spcPts val="1142"/>
              </a:lnSpc>
              <a:buNone/>
            </a:pPr>
            <a:r>
              <a:rPr lang="en-US" sz="800" i="1" dirty="0">
                <a:solidFill>
                  <a:srgbClr val="E6E6E6"/>
                </a:solidFill>
                <a:latin typeface="Tinos" pitchFamily="34" charset="0"/>
                <a:ea typeface="Tinos" pitchFamily="34" charset="-122"/>
                <a:cs typeface="Tinos" pitchFamily="34" charset="-120"/>
              </a:rPr>
              <a:t> ≥ 4</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at </a:t>
            </a:r>
            <a:pPr algn="l" indent="0" marL="0">
              <a:lnSpc>
                <a:spcPts val="1142"/>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n = 8</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Extended Hamming </a:t>
            </a:r>
            <a:pPr algn="l" indent="0" marL="0">
              <a:lnSpc>
                <a:spcPts val="1142"/>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[8,4,4]</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(the unique self-dual </a:t>
            </a:r>
            <a:pPr algn="l" indent="0" marL="0">
              <a:lnSpc>
                <a:spcPts val="1142"/>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d = 4</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code) is the only one — and it does achieve </a:t>
            </a:r>
            <a:pPr algn="l" indent="0" marL="0">
              <a:lnSpc>
                <a:spcPts val="1142"/>
              </a:lnSpc>
              <a:buNone/>
            </a:pPr>
            <a:r>
              <a:rPr lang="en-US" sz="800" i="1" dirty="0">
                <a:solidFill>
                  <a:srgbClr val="E6E6E6"/>
                </a:solidFill>
                <a:latin typeface="Tinos" pitchFamily="34" charset="0"/>
                <a:ea typeface="Tinos" pitchFamily="34" charset="-122"/>
                <a:cs typeface="Tinos" pitchFamily="34" charset="-120"/>
              </a:rPr>
              <a:t>avg_Φ</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 </a:t>
            </a:r>
            <a:pPr algn="l" indent="0" marL="0">
              <a:lnSpc>
                <a:spcPts val="1142"/>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2.038</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above all random </a:t>
            </a:r>
            <a:pPr algn="l" indent="0" marL="0">
              <a:lnSpc>
                <a:spcPts val="1142"/>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d ≤ 3</a:t>
            </a:r>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 codes.</a:t>
            </a:r>
            <a:endParaRPr lang="en-US" sz="800" dirty="0"/>
          </a:p>
        </p:txBody>
      </p:sp>
      <p:sp>
        <p:nvSpPr>
          <p:cNvPr id="20" name="Text 17"/>
          <p:cNvSpPr/>
          <p:nvPr/>
        </p:nvSpPr>
        <p:spPr>
          <a:xfrm>
            <a:off x="5598468" y="2814749"/>
            <a:ext cx="3084761" cy="407194"/>
          </a:xfrm>
          <a:prstGeom prst="roundRect">
            <a:avLst>
              <a:gd name="adj" fmla="val 14035"/>
            </a:avLst>
          </a:prstGeom>
          <a:solidFill>
            <a:srgbClr val="FF6B6B">
              <a:alpha val="6000"/>
            </a:srgbClr>
          </a:solidFill>
          <a:ln w="7144">
            <a:solidFill>
              <a:srgbClr val="FF6B6B"/>
            </a:solidFill>
            <a:prstDash val="solid"/>
          </a:ln>
        </p:spPr>
        <p:txBody>
          <a:bodyPr wrap="square" rtlCol="0" anchor="ctr"/>
          <a:lstStyle/>
          <a:p>
            <a:pPr indent="0" marL="0">
              <a:buNone/>
            </a:pPr>
            <a:endParaRPr lang="en-US" dirty="0"/>
          </a:p>
        </p:txBody>
      </p:sp>
      <p:sp>
        <p:nvSpPr>
          <p:cNvPr id="21" name="Text 18"/>
          <p:cNvSpPr/>
          <p:nvPr/>
        </p:nvSpPr>
        <p:spPr>
          <a:xfrm>
            <a:off x="5687764" y="3021918"/>
            <a:ext cx="2888084" cy="126609"/>
          </a:xfrm>
          <a:prstGeom prst="rect">
            <a:avLst/>
          </a:prstGeom>
          <a:noFill/>
          <a:ln/>
        </p:spPr>
        <p:txBody>
          <a:bodyPr wrap="square" lIns="85725" tIns="71438" rIns="85725" bIns="71438" rtlCol="0" anchor="t"/>
          <a:lstStyle/>
          <a:p>
            <a:pPr algn="l" indent="0" marL="0">
              <a:lnSpc>
                <a:spcPts val="1097"/>
              </a:lnSpc>
              <a:buNone/>
            </a:pPr>
            <a:r>
              <a:rPr lang="en-US" sz="800" dirty="0">
                <a:solidFill>
                  <a:srgbClr val="E6E6E6"/>
                </a:solidFill>
                <a:latin typeface="Carlito" pitchFamily="34" charset="0"/>
                <a:ea typeface="Carlito" pitchFamily="34" charset="-122"/>
                <a:cs typeface="Carlito" pitchFamily="34" charset="-120"/>
              </a:rPr>
              <a:t>Self-duality alone is . Self-duality extremal distance .</a:t>
            </a:r>
            <a:endParaRPr lang="en-US" sz="800" dirty="0"/>
          </a:p>
        </p:txBody>
      </p:sp>
      <p:sp>
        <p:nvSpPr>
          <p:cNvPr id="22" name="Text 19"/>
          <p:cNvSpPr/>
          <p:nvPr/>
        </p:nvSpPr>
        <p:spPr>
          <a:xfrm>
            <a:off x="5687764" y="2889758"/>
            <a:ext cx="2906167" cy="104727"/>
          </a:xfrm>
          <a:prstGeom prst="rect">
            <a:avLst/>
          </a:prstGeom>
          <a:noFill/>
          <a:ln/>
        </p:spPr>
        <p:txBody>
          <a:bodyPr wrap="none" lIns="0" tIns="0" rIns="0" bIns="0" rtlCol="0" anchor="t">
            <a:normAutofit/>
          </a:bodyPr>
          <a:lstStyle/>
          <a:p>
            <a:pPr algn="l" indent="0" marL="0">
              <a:lnSpc>
                <a:spcPts val="759"/>
              </a:lnSpc>
              <a:buNone/>
            </a:pPr>
            <a:r>
              <a:rPr lang="en-US" sz="800" spc="71" kern="0" dirty="0">
                <a:solidFill>
                  <a:srgbClr val="FF6B6B"/>
                </a:solidFill>
                <a:latin typeface="Courier New" pitchFamily="34" charset="0"/>
                <a:ea typeface="Courier New" pitchFamily="34" charset="-122"/>
                <a:cs typeface="Courier New" pitchFamily="34" charset="-120"/>
              </a:rPr>
              <a:t>VERDICT</a:t>
            </a:r>
            <a:endParaRPr lang="en-US" sz="800" dirty="0"/>
          </a:p>
        </p:txBody>
      </p:sp>
      <p:sp>
        <p:nvSpPr>
          <p:cNvPr id="23" name="Text 20"/>
          <p:cNvSpPr/>
          <p:nvPr/>
        </p:nvSpPr>
        <p:spPr>
          <a:xfrm>
            <a:off x="6518895" y="3021918"/>
            <a:ext cx="683272" cy="125016"/>
          </a:xfrm>
          <a:prstGeom prst="rect">
            <a:avLst/>
          </a:prstGeom>
          <a:noFill/>
          <a:ln/>
        </p:spPr>
        <p:txBody>
          <a:bodyPr wrap="square" lIns="0" tIns="0" rIns="0" bIns="0" rtlCol="0" anchor="t"/>
          <a:lstStyle/>
          <a:p>
            <a:pPr algn="l" indent="0" marL="0">
              <a:lnSpc>
                <a:spcPts val="1097"/>
              </a:lnSpc>
              <a:buNone/>
            </a:pPr>
            <a:r>
              <a:rPr lang="en-US" sz="800" dirty="0">
                <a:solidFill>
                  <a:srgbClr val="FF6B6B"/>
                </a:solidFill>
                <a:latin typeface="Carlito" pitchFamily="34" charset="0"/>
                <a:ea typeface="Carlito" pitchFamily="34" charset="-122"/>
                <a:cs typeface="Carlito" pitchFamily="34" charset="-120"/>
              </a:rPr>
              <a:t>not sufficient</a:t>
            </a:r>
            <a:endParaRPr lang="en-US" sz="800" dirty="0"/>
          </a:p>
        </p:txBody>
      </p:sp>
      <p:sp>
        <p:nvSpPr>
          <p:cNvPr id="24" name="Text 21"/>
          <p:cNvSpPr/>
          <p:nvPr/>
        </p:nvSpPr>
        <p:spPr>
          <a:xfrm>
            <a:off x="7638790" y="3021918"/>
            <a:ext cx="91440" cy="125016"/>
          </a:xfrm>
          <a:prstGeom prst="rect">
            <a:avLst/>
          </a:prstGeom>
          <a:noFill/>
          <a:ln/>
        </p:spPr>
        <p:txBody>
          <a:bodyPr wrap="none" lIns="0" tIns="0" rIns="0" bIns="0" rtlCol="0" anchor="t"/>
          <a:lstStyle/>
          <a:p>
            <a:pPr algn="l" indent="0" marL="0">
              <a:lnSpc>
                <a:spcPts val="1097"/>
              </a:lnSpc>
              <a:buNone/>
            </a:pPr>
            <a:r>
              <a:rPr lang="en-US" sz="800" dirty="0">
                <a:solidFill>
                  <a:srgbClr val="FFB454"/>
                </a:solidFill>
                <a:latin typeface="Carlito" pitchFamily="34" charset="0"/>
                <a:ea typeface="Carlito" pitchFamily="34" charset="-122"/>
                <a:cs typeface="Carlito" pitchFamily="34" charset="-120"/>
              </a:rPr>
              <a:t>+</a:t>
            </a:r>
            <a:endParaRPr lang="en-US" sz="800" dirty="0"/>
          </a:p>
        </p:txBody>
      </p:sp>
      <p:sp>
        <p:nvSpPr>
          <p:cNvPr id="25" name="Text 22"/>
          <p:cNvSpPr/>
          <p:nvPr/>
        </p:nvSpPr>
        <p:spPr>
          <a:xfrm>
            <a:off x="8472488" y="3021918"/>
            <a:ext cx="121444" cy="125016"/>
          </a:xfrm>
          <a:prstGeom prst="rect">
            <a:avLst/>
          </a:prstGeom>
          <a:noFill/>
          <a:ln/>
        </p:spPr>
        <p:txBody>
          <a:bodyPr wrap="square" lIns="0" tIns="0" rIns="0" bIns="0" rtlCol="0" anchor="t"/>
          <a:lstStyle/>
          <a:p>
            <a:pPr algn="l" indent="0" marL="0">
              <a:lnSpc>
                <a:spcPts val="1097"/>
              </a:lnSpc>
              <a:buNone/>
            </a:pPr>
            <a:r>
              <a:rPr lang="en-US" sz="800" dirty="0">
                <a:solidFill>
                  <a:srgbClr val="FFB454"/>
                </a:solidFill>
                <a:latin typeface="Carlito" pitchFamily="34" charset="0"/>
                <a:ea typeface="Carlito" pitchFamily="34" charset="-122"/>
                <a:cs typeface="Carlito" pitchFamily="34" charset="-120"/>
              </a:rPr>
              <a:t>is</a:t>
            </a:r>
            <a:endParaRPr lang="en-US" sz="800" dirty="0"/>
          </a:p>
        </p:txBody>
      </p:sp>
      <p:sp>
        <p:nvSpPr>
          <p:cNvPr id="26" name="Text 23"/>
          <p:cNvSpPr/>
          <p:nvPr/>
        </p:nvSpPr>
        <p:spPr>
          <a:xfrm>
            <a:off x="5598468" y="4382691"/>
            <a:ext cx="1821656" cy="157163"/>
          </a:xfrm>
          <a:prstGeom prst="roundRect">
            <a:avLst>
              <a:gd name="adj" fmla="val 6054526"/>
            </a:avLst>
          </a:prstGeom>
          <a:solidFill>
            <a:srgbClr val="1F2630"/>
          </a:solidFill>
          <a:ln w="7144">
            <a:solidFill>
              <a:srgbClr val="FF6B6B"/>
            </a:solidFill>
            <a:prstDash val="solid"/>
          </a:ln>
        </p:spPr>
        <p:txBody>
          <a:bodyPr wrap="square" rtlCol="0" anchor="ctr"/>
          <a:lstStyle/>
          <a:p>
            <a:pPr indent="0" marL="0">
              <a:buNone/>
            </a:pPr>
            <a:endParaRPr lang="en-US" dirty="0"/>
          </a:p>
        </p:txBody>
      </p:sp>
      <p:sp>
        <p:nvSpPr>
          <p:cNvPr id="27" name="Text 24"/>
          <p:cNvSpPr/>
          <p:nvPr/>
        </p:nvSpPr>
        <p:spPr>
          <a:xfrm>
            <a:off x="5594896" y="4379119"/>
            <a:ext cx="1828800" cy="252374"/>
          </a:xfrm>
          <a:prstGeom prst="rect">
            <a:avLst/>
          </a:prstGeom>
          <a:noFill/>
          <a:ln/>
        </p:spPr>
        <p:txBody>
          <a:bodyPr wrap="square" lIns="71438" tIns="21431" rIns="71438" bIns="21431" rtlCol="0" anchor="t"/>
          <a:lstStyle/>
          <a:p>
            <a:pPr algn="l" indent="0" marL="0">
              <a:lnSpc>
                <a:spcPts val="844"/>
              </a:lnSpc>
              <a:buNone/>
            </a:pPr>
            <a:r>
              <a:rPr lang="en-US" sz="800" spc="56" kern="0" dirty="0">
                <a:solidFill>
                  <a:srgbClr val="FF6B6B"/>
                </a:solidFill>
                <a:latin typeface="Courier New" pitchFamily="34" charset="0"/>
                <a:ea typeface="Courier New" pitchFamily="34" charset="-122"/>
                <a:cs typeface="Courier New" pitchFamily="34" charset="-120"/>
              </a:rPr>
              <a:t>CONVERSE_001 PRIORITY 2 — ANSWERED (NO)</a:t>
            </a:r>
            <a:endParaRPr lang="en-US" sz="800" dirty="0"/>
          </a:p>
        </p:txBody>
      </p:sp>
      <p:sp>
        <p:nvSpPr>
          <p:cNvPr id="28" name="Text 25"/>
          <p:cNvSpPr/>
          <p:nvPr/>
        </p:nvSpPr>
        <p:spPr>
          <a:xfrm>
            <a:off x="457200" y="4893469"/>
            <a:ext cx="7073764"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Thread B / p.06</a:t>
            </a:r>
            <a:endParaRPr lang="en-US" sz="800" dirty="0"/>
          </a:p>
        </p:txBody>
      </p:sp>
      <p:sp>
        <p:nvSpPr>
          <p:cNvPr id="29" name="Text 26"/>
          <p:cNvSpPr/>
          <p:nvPr/>
        </p:nvSpPr>
        <p:spPr>
          <a:xfrm>
            <a:off x="7545251" y="4893469"/>
            <a:ext cx="1319916"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E.R.A. CRAIG · AUCKLAND NZ</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240860"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SECTION 03 / 04 / THREAD C / 07 OF 14</a:t>
            </a:r>
            <a:endParaRPr lang="en-US" sz="800" dirty="0"/>
          </a:p>
        </p:txBody>
      </p:sp>
      <p:sp>
        <p:nvSpPr>
          <p:cNvPr id="4" name="Text 2"/>
          <p:cNvSpPr/>
          <p:nvPr/>
        </p:nvSpPr>
        <p:spPr>
          <a:xfrm>
            <a:off x="7712348" y="342900"/>
            <a:ext cx="9744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57200" y="771525"/>
            <a:ext cx="28575" cy="457200"/>
          </a:xfrm>
          <a:prstGeom prst="roundRect">
            <a:avLst>
              <a:gd name="adj" fmla="val 66667"/>
            </a:avLst>
          </a:prstGeom>
          <a:solidFill>
            <a:srgbClr val="FFB454"/>
          </a:solidFill>
          <a:ln/>
        </p:spPr>
        <p:txBody>
          <a:bodyPr wrap="square" rtlCol="0" anchor="ctr"/>
          <a:lstStyle/>
          <a:p>
            <a:pPr indent="0" marL="0">
              <a:buNone/>
            </a:pPr>
            <a:endParaRPr lang="en-US" dirty="0"/>
          </a:p>
        </p:txBody>
      </p:sp>
      <p:sp>
        <p:nvSpPr>
          <p:cNvPr id="6" name="Text 4"/>
          <p:cNvSpPr/>
          <p:nvPr/>
        </p:nvSpPr>
        <p:spPr>
          <a:xfrm>
            <a:off x="685800" y="771525"/>
            <a:ext cx="887533" cy="151162"/>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6B7280"/>
                </a:solidFill>
                <a:latin typeface="Courier New" pitchFamily="34" charset="0"/>
                <a:ea typeface="Courier New" pitchFamily="34" charset="-122"/>
                <a:cs typeface="Courier New" pitchFamily="34" charset="-120"/>
              </a:rPr>
              <a:t>THREAD</a:t>
            </a:r>
            <a:endParaRPr lang="en-US" sz="800" dirty="0"/>
          </a:p>
        </p:txBody>
      </p:sp>
      <p:sp>
        <p:nvSpPr>
          <p:cNvPr id="7" name="Text 5"/>
          <p:cNvSpPr/>
          <p:nvPr/>
        </p:nvSpPr>
        <p:spPr>
          <a:xfrm>
            <a:off x="685800" y="950119"/>
            <a:ext cx="1009590" cy="740664"/>
          </a:xfrm>
          <a:prstGeom prst="rect">
            <a:avLst/>
          </a:prstGeom>
          <a:noFill/>
          <a:ln/>
        </p:spPr>
        <p:txBody>
          <a:bodyPr wrap="square" lIns="0" tIns="0" rIns="0" bIns="0" rtlCol="0" anchor="t"/>
          <a:lstStyle/>
          <a:p>
            <a:pPr algn="l" indent="0" marL="0">
              <a:lnSpc>
                <a:spcPts val="5400"/>
              </a:lnSpc>
              <a:buNone/>
            </a:pPr>
            <a:r>
              <a:rPr lang="en-US" sz="5400" spc="-216" kern="0" dirty="0">
                <a:solidFill>
                  <a:srgbClr val="FFB454"/>
                </a:solidFill>
                <a:latin typeface="Liberation Sans Narrow" pitchFamily="34" charset="0"/>
                <a:ea typeface="Liberation Sans Narrow" pitchFamily="34" charset="-122"/>
                <a:cs typeface="Liberation Sans Narrow" pitchFamily="34" charset="-120"/>
              </a:rPr>
              <a:t>03</a:t>
            </a:r>
            <a:endParaRPr lang="en-US" sz="5400" dirty="0"/>
          </a:p>
        </p:txBody>
      </p:sp>
      <p:sp>
        <p:nvSpPr>
          <p:cNvPr id="8" name="Text 6"/>
          <p:cNvSpPr/>
          <p:nvPr/>
        </p:nvSpPr>
        <p:spPr>
          <a:xfrm>
            <a:off x="1573969" y="942975"/>
            <a:ext cx="7570031"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B097FF"/>
                </a:solidFill>
                <a:latin typeface="Liberation Sans Narrow" pitchFamily="34" charset="0"/>
                <a:ea typeface="Liberation Sans Narrow" pitchFamily="34" charset="-122"/>
                <a:cs typeface="Liberation Sans Narrow" pitchFamily="34" charset="-120"/>
              </a:rPr>
              <a:t>CONVERSE_001 · PRIORITY 1</a:t>
            </a:r>
            <a:endParaRPr lang="en-US" sz="800" dirty="0"/>
          </a:p>
        </p:txBody>
      </p:sp>
      <p:sp>
        <p:nvSpPr>
          <p:cNvPr id="9" name="Text 7"/>
          <p:cNvSpPr/>
          <p:nvPr/>
        </p:nvSpPr>
        <p:spPr>
          <a:xfrm>
            <a:off x="1573969" y="1175147"/>
            <a:ext cx="7570031" cy="646393"/>
          </a:xfrm>
          <a:prstGeom prst="rect">
            <a:avLst/>
          </a:prstGeom>
          <a:noFill/>
          <a:ln/>
        </p:spPr>
        <p:txBody>
          <a:bodyPr wrap="none" lIns="0" tIns="0" rIns="0" bIns="0" rtlCol="0" anchor="t"/>
          <a:lstStyle/>
          <a:p>
            <a:pPr algn="l" indent="0" marL="0">
              <a:lnSpc>
                <a:spcPts val="2329"/>
              </a:lnSpc>
              <a:buNone/>
            </a:pPr>
            <a:r>
              <a:rPr lang="en-US" sz="2025" spc="-30" kern="0" dirty="0">
                <a:solidFill>
                  <a:srgbClr val="E6E6E6"/>
                </a:solidFill>
                <a:latin typeface="Carlito" pitchFamily="34" charset="0"/>
                <a:ea typeface="Carlito" pitchFamily="34" charset="-122"/>
                <a:cs typeface="Carlito" pitchFamily="34" charset="-120"/>
              </a:rPr>
              <a:t>Thread C — </a:t>
            </a:r>
            <a:pPr algn="l" indent="0" marL="0">
              <a:lnSpc>
                <a:spcPts val="2329"/>
              </a:lnSpc>
              <a:buNone/>
            </a:pPr>
            <a:r>
              <a:rPr lang="en-US" sz="2025" i="1" spc="-30" kern="0" dirty="0">
                <a:solidFill>
                  <a:srgbClr val="E6E6E6"/>
                </a:solidFill>
                <a:latin typeface="Tinos" pitchFamily="34" charset="0"/>
                <a:ea typeface="Tinos" pitchFamily="34" charset="-122"/>
                <a:cs typeface="Tinos" pitchFamily="34" charset="-120"/>
              </a:rPr>
              <a:t>avg_</a:t>
            </a:r>
            <a:pPr algn="l" indent="0" marL="0">
              <a:lnSpc>
                <a:spcPts val="2329"/>
              </a:lnSpc>
              <a:buNone/>
            </a:pPr>
            <a:r>
              <a:rPr lang="en-US" sz="1519" i="1" baseline="-40000" spc="-30" kern="0" dirty="0">
                <a:solidFill>
                  <a:srgbClr val="E6E6E6"/>
                </a:solidFill>
                <a:latin typeface="Tinos" pitchFamily="34" charset="0"/>
                <a:ea typeface="Tinos" pitchFamily="34" charset="-122"/>
                <a:cs typeface="Tinos" pitchFamily="34" charset="-120"/>
              </a:rPr>
              <a:t>Φ</a:t>
            </a:r>
            <a:pPr algn="l" indent="0" marL="0">
              <a:lnSpc>
                <a:spcPts val="2329"/>
              </a:lnSpc>
              <a:buNone/>
            </a:pPr>
            <a:r>
              <a:rPr lang="en-US" sz="2025" spc="-30" kern="0" dirty="0">
                <a:solidFill>
                  <a:srgbClr val="E6E6E6"/>
                </a:solidFill>
                <a:latin typeface="Carlito" pitchFamily="34" charset="0"/>
                <a:ea typeface="Carlito" pitchFamily="34" charset="-122"/>
                <a:cs typeface="Carlito" pitchFamily="34" charset="-120"/>
              </a:rPr>
              <a:t> and the</a:t>
            </a:r>
            <a:endParaRPr lang="en-US" sz="2025" dirty="0"/>
          </a:p>
          <a:p>
            <a:pPr algn="l" indent="0" marL="0">
              <a:lnSpc>
                <a:spcPts val="2329"/>
              </a:lnSpc>
              <a:buNone/>
            </a:pPr>
            <a:r>
              <a:rPr lang="en-US" sz="2025" spc="-30" kern="0" dirty="0">
                <a:solidFill>
                  <a:srgbClr val="E6E6E6"/>
                </a:solidFill>
                <a:latin typeface="Carlito" pitchFamily="34" charset="0"/>
                <a:ea typeface="Carlito" pitchFamily="34" charset="-122"/>
                <a:cs typeface="Carlito" pitchFamily="34" charset="-120"/>
              </a:rPr>
              <a:t>Covering-Radius Equivalence</a:t>
            </a:r>
            <a:endParaRPr lang="en-US" sz="2025" dirty="0"/>
          </a:p>
        </p:txBody>
      </p:sp>
      <p:sp>
        <p:nvSpPr>
          <p:cNvPr id="10" name="Text 8"/>
          <p:cNvSpPr/>
          <p:nvPr/>
        </p:nvSpPr>
        <p:spPr>
          <a:xfrm>
            <a:off x="1573969" y="1973684"/>
            <a:ext cx="857250" cy="7144"/>
          </a:xfrm>
          <a:prstGeom prst="rect">
            <a:avLst/>
          </a:prstGeom>
          <a:solidFill>
            <a:srgbClr val="2A3038"/>
          </a:solidFill>
          <a:ln/>
        </p:spPr>
        <p:txBody>
          <a:bodyPr wrap="square" rtlCol="0" anchor="ctr"/>
          <a:lstStyle/>
          <a:p>
            <a:pPr indent="0" marL="0">
              <a:buNone/>
            </a:pPr>
            <a:endParaRPr lang="en-US" dirty="0"/>
          </a:p>
        </p:txBody>
      </p:sp>
      <p:sp>
        <p:nvSpPr>
          <p:cNvPr id="11" name="Text 9"/>
          <p:cNvSpPr/>
          <p:nvPr/>
        </p:nvSpPr>
        <p:spPr>
          <a:xfrm>
            <a:off x="1573969" y="2137990"/>
            <a:ext cx="4286250" cy="607817"/>
          </a:xfrm>
          <a:prstGeom prst="rect">
            <a:avLst/>
          </a:prstGeom>
          <a:noFill/>
          <a:ln/>
        </p:spPr>
        <p:txBody>
          <a:bodyPr wrap="square" lIns="0" tIns="0" rIns="0" bIns="0" rtlCol="0" anchor="t"/>
          <a:lstStyle/>
          <a:p>
            <a:pPr algn="l" indent="0" marL="0">
              <a:lnSpc>
                <a:spcPts val="144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CONVERSE_001 </a:t>
            </a:r>
            <a:pPr algn="l" indent="0" marL="0">
              <a:lnSpc>
                <a:spcPts val="1440"/>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Priority 1</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The </a:t>
            </a:r>
            <a:pPr algn="l" indent="0" marL="0">
              <a:lnSpc>
                <a:spcPts val="1440"/>
              </a:lnSpc>
              <a:buNone/>
            </a:pPr>
            <a:r>
              <a:rPr lang="en-US" sz="900" i="1" dirty="0">
                <a:solidFill>
                  <a:srgbClr val="E6E6E6"/>
                </a:solidFill>
                <a:latin typeface="Tinos" pitchFamily="34" charset="0"/>
                <a:ea typeface="Tinos" pitchFamily="34" charset="-122"/>
                <a:cs typeface="Tinos" pitchFamily="34" charset="-120"/>
              </a:rPr>
              <a:t>avg_</a:t>
            </a:r>
            <a:pPr algn="l" indent="0" marL="0">
              <a:lnSpc>
                <a:spcPts val="1440"/>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 covering-radius connection was previously only computational. Here we sketch the analytic argument and confirm it on a </a:t>
            </a:r>
            <a:pPr algn="l" indent="0" marL="0">
              <a:lnSpc>
                <a:spcPts val="1440"/>
              </a:lnSpc>
              <a:buNone/>
            </a:pPr>
            <a:r>
              <a:rPr lang="en-US" sz="900" dirty="0">
                <a:solidFill>
                  <a:srgbClr val="E6E6E6"/>
                </a:solidFill>
                <a:latin typeface="Liberation Sans Narrow" pitchFamily="34" charset="0"/>
                <a:ea typeface="Liberation Sans Narrow" pitchFamily="34" charset="-122"/>
                <a:cs typeface="Liberation Sans Narrow" pitchFamily="34" charset="-120"/>
              </a:rPr>
              <a:t>16-code</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a:t>
            </a:r>
            <a:pPr algn="l" indent="0" marL="0">
              <a:lnSpc>
                <a:spcPts val="1440"/>
              </a:lnSpc>
              <a:buNone/>
            </a:pPr>
            <a:r>
              <a:rPr lang="en-US" sz="900" i="1" dirty="0">
                <a:solidFill>
                  <a:srgbClr val="E6E6E6"/>
                </a:solidFill>
                <a:latin typeface="Liberation Sans Narrow" pitchFamily="34" charset="0"/>
                <a:ea typeface="Liberation Sans Narrow" pitchFamily="34" charset="-122"/>
                <a:cs typeface="Liberation Sans Narrow" pitchFamily="34" charset="-120"/>
              </a:rPr>
              <a:t>[7,4]</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panel.</a:t>
            </a:r>
            <a:endParaRPr lang="en-US" sz="900" dirty="0"/>
          </a:p>
        </p:txBody>
      </p:sp>
      <p:sp>
        <p:nvSpPr>
          <p:cNvPr id="12" name="Text 10"/>
          <p:cNvSpPr/>
          <p:nvPr/>
        </p:nvSpPr>
        <p:spPr>
          <a:xfrm>
            <a:off x="437198" y="4569285"/>
            <a:ext cx="540068"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3" name="Text 11"/>
          <p:cNvSpPr/>
          <p:nvPr/>
        </p:nvSpPr>
        <p:spPr>
          <a:xfrm>
            <a:off x="457200" y="4579144"/>
            <a:ext cx="500063"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ANALYTIC</a:t>
            </a:r>
            <a:endParaRPr lang="en-US" sz="800" dirty="0"/>
          </a:p>
        </p:txBody>
      </p:sp>
      <p:sp>
        <p:nvSpPr>
          <p:cNvPr id="14" name="Text 12"/>
          <p:cNvSpPr/>
          <p:nvPr/>
        </p:nvSpPr>
        <p:spPr>
          <a:xfrm>
            <a:off x="1034415" y="4569285"/>
            <a:ext cx="850396"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5" name="Text 13"/>
          <p:cNvSpPr/>
          <p:nvPr/>
        </p:nvSpPr>
        <p:spPr>
          <a:xfrm>
            <a:off x="1057275" y="4579144"/>
            <a:ext cx="804676"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SPEARMAN −0.888</a:t>
            </a:r>
            <a:endParaRPr lang="en-US" sz="800" dirty="0"/>
          </a:p>
        </p:txBody>
      </p:sp>
      <p:sp>
        <p:nvSpPr>
          <p:cNvPr id="16" name="Text 14"/>
          <p:cNvSpPr/>
          <p:nvPr/>
        </p:nvSpPr>
        <p:spPr>
          <a:xfrm>
            <a:off x="1939104" y="4569285"/>
            <a:ext cx="631508"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17" name="Text 15"/>
          <p:cNvSpPr/>
          <p:nvPr/>
        </p:nvSpPr>
        <p:spPr>
          <a:xfrm>
            <a:off x="1961964" y="4579144"/>
            <a:ext cx="585788"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PRIORITY 1</a:t>
            </a:r>
            <a:endParaRPr lang="en-US" sz="800" dirty="0"/>
          </a:p>
        </p:txBody>
      </p:sp>
      <p:sp>
        <p:nvSpPr>
          <p:cNvPr id="18" name="Text 16"/>
          <p:cNvSpPr/>
          <p:nvPr/>
        </p:nvSpPr>
        <p:spPr>
          <a:xfrm>
            <a:off x="457200" y="4893469"/>
            <a:ext cx="7073764"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Thread C / p.07</a:t>
            </a:r>
            <a:endParaRPr lang="en-US" sz="800" dirty="0"/>
          </a:p>
        </p:txBody>
      </p:sp>
      <p:sp>
        <p:nvSpPr>
          <p:cNvPr id="19" name="Text 17"/>
          <p:cNvSpPr/>
          <p:nvPr/>
        </p:nvSpPr>
        <p:spPr>
          <a:xfrm>
            <a:off x="7545251" y="4893469"/>
            <a:ext cx="1319916"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E.R.A. CRAIG · AUCKLAND NZ</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240860"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C / ANALYTIC ARGUMENT / 08 OF 14</a:t>
            </a:r>
            <a:endParaRPr lang="en-US" sz="800" dirty="0"/>
          </a:p>
        </p:txBody>
      </p:sp>
      <p:sp>
        <p:nvSpPr>
          <p:cNvPr id="4" name="Text 2"/>
          <p:cNvSpPr/>
          <p:nvPr/>
        </p:nvSpPr>
        <p:spPr>
          <a:xfrm>
            <a:off x="7712348" y="342900"/>
            <a:ext cx="9744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4838886" cy="241128"/>
          </a:xfrm>
          <a:prstGeom prst="rect">
            <a:avLst/>
          </a:prstGeom>
          <a:noFill/>
          <a:ln/>
        </p:spPr>
        <p:txBody>
          <a:bodyPr wrap="square" lIns="0" tIns="0" rIns="0" bIns="0" rtlCol="0" anchor="t">
            <a:normAutofit/>
          </a:bodyPr>
          <a:lstStyle/>
          <a:p>
            <a:pPr algn="l" indent="0" marL="0">
              <a:lnSpc>
                <a:spcPts val="1890"/>
              </a:lnSpc>
              <a:buNone/>
            </a:pPr>
            <a:r>
              <a:rPr lang="en-US" sz="1575" i="1" spc="-24" kern="0" dirty="0">
                <a:solidFill>
                  <a:srgbClr val="E6E6E6"/>
                </a:solidFill>
                <a:latin typeface="Tinos" pitchFamily="34" charset="0"/>
                <a:ea typeface="Tinos" pitchFamily="34" charset="-122"/>
                <a:cs typeface="Tinos" pitchFamily="34" charset="-120"/>
              </a:rPr>
              <a:t>avg</a:t>
            </a:r>
            <a:pPr algn="l" indent="0" marL="0">
              <a:lnSpc>
                <a:spcPts val="1890"/>
              </a:lnSpc>
              <a:buNone/>
            </a:pPr>
            <a:r>
              <a:rPr lang="en-US" sz="1181" i="1" baseline="-40000" spc="-24" kern="0" dirty="0">
                <a:solidFill>
                  <a:srgbClr val="E6E6E6"/>
                </a:solidFill>
                <a:latin typeface="Tinos" pitchFamily="34" charset="0"/>
                <a:ea typeface="Tinos" pitchFamily="34" charset="-122"/>
                <a:cs typeface="Tinos" pitchFamily="34" charset="-120"/>
              </a:rPr>
              <a:t>Φ</a:t>
            </a:r>
            <a:pPr algn="l" indent="0" marL="0">
              <a:lnSpc>
                <a:spcPts val="1890"/>
              </a:lnSpc>
              <a:buNone/>
            </a:pPr>
            <a:r>
              <a:rPr lang="en-US" sz="1575" spc="-24" kern="0" dirty="0">
                <a:solidFill>
                  <a:srgbClr val="E6E6E6"/>
                </a:solidFill>
                <a:latin typeface="Carlito" pitchFamily="34" charset="0"/>
                <a:ea typeface="Carlito" pitchFamily="34" charset="-122"/>
                <a:cs typeface="Carlito" pitchFamily="34" charset="-120"/>
              </a:rPr>
              <a:t>(</a:t>
            </a:r>
            <a:pPr algn="l" indent="0" marL="0">
              <a:lnSpc>
                <a:spcPts val="1890"/>
              </a:lnSpc>
              <a:buNone/>
            </a:pPr>
            <a:r>
              <a:rPr lang="en-US" sz="1575" i="1" spc="-24" kern="0" dirty="0">
                <a:solidFill>
                  <a:srgbClr val="E6E6E6"/>
                </a:solidFill>
                <a:latin typeface="Tinos" pitchFamily="34" charset="0"/>
                <a:ea typeface="Tinos" pitchFamily="34" charset="-122"/>
                <a:cs typeface="Tinos" pitchFamily="34" charset="-120"/>
              </a:rPr>
              <a:t>C</a:t>
            </a:r>
            <a:pPr algn="l" indent="0" marL="0">
              <a:lnSpc>
                <a:spcPts val="1890"/>
              </a:lnSpc>
              <a:buNone/>
            </a:pPr>
            <a:r>
              <a:rPr lang="en-US" sz="1575" spc="-24" kern="0" dirty="0">
                <a:solidFill>
                  <a:srgbClr val="E6E6E6"/>
                </a:solidFill>
                <a:latin typeface="Carlito" pitchFamily="34" charset="0"/>
                <a:ea typeface="Carlito" pitchFamily="34" charset="-122"/>
                <a:cs typeface="Carlito" pitchFamily="34" charset="-120"/>
              </a:rPr>
              <a:t>) is strictly decreasing in the </a:t>
            </a:r>
            <a:pPr algn="l" indent="0" marL="0">
              <a:lnSpc>
                <a:spcPts val="1890"/>
              </a:lnSpc>
              <a:buNone/>
            </a:pPr>
            <a:r>
              <a:rPr lang="en-US" sz="1575" i="1" spc="-24" kern="0" dirty="0">
                <a:solidFill>
                  <a:srgbClr val="E6E6E6"/>
                </a:solidFill>
                <a:latin typeface="Tinos" pitchFamily="34" charset="0"/>
                <a:ea typeface="Tinos" pitchFamily="34" charset="-122"/>
                <a:cs typeface="Tinos" pitchFamily="34" charset="-120"/>
              </a:rPr>
              <a:t>Φ</a:t>
            </a:r>
            <a:pPr algn="l" indent="0" marL="0">
              <a:lnSpc>
                <a:spcPts val="1890"/>
              </a:lnSpc>
              <a:buNone/>
            </a:pPr>
            <a:r>
              <a:rPr lang="en-US" sz="1575" spc="-24" kern="0" dirty="0">
                <a:solidFill>
                  <a:srgbClr val="E6E6E6"/>
                </a:solidFill>
                <a:latin typeface="Carlito" pitchFamily="34" charset="0"/>
                <a:ea typeface="Carlito" pitchFamily="34" charset="-122"/>
                <a:cs typeface="Carlito" pitchFamily="34" charset="-120"/>
              </a:rPr>
              <a:t>-average radius</a:t>
            </a:r>
            <a:endParaRPr lang="en-US" sz="1575" dirty="0"/>
          </a:p>
        </p:txBody>
      </p:sp>
      <p:sp>
        <p:nvSpPr>
          <p:cNvPr id="7" name="Text 5"/>
          <p:cNvSpPr/>
          <p:nvPr/>
        </p:nvSpPr>
        <p:spPr>
          <a:xfrm>
            <a:off x="457200" y="1090092"/>
            <a:ext cx="4838886" cy="164592"/>
          </a:xfrm>
          <a:prstGeom prst="rect">
            <a:avLst/>
          </a:prstGeom>
          <a:noFill/>
          <a:ln/>
        </p:spPr>
        <p:txBody>
          <a:bodyPr wrap="square" lIns="0" tIns="0" rIns="0" bIns="0" rtlCol="0" anchor="t"/>
          <a:lstStyle/>
          <a:p>
            <a:pPr algn="l" indent="0" marL="0">
              <a:lnSpc>
                <a:spcPts val="1181"/>
              </a:lnSpc>
              <a:buNone/>
            </a:pPr>
            <a:r>
              <a:rPr lang="en-US" sz="800" spc="16" kern="0" dirty="0">
                <a:solidFill>
                  <a:srgbClr val="B5BAC4"/>
                </a:solidFill>
                <a:latin typeface="Carlito" pitchFamily="34" charset="0"/>
                <a:ea typeface="Carlito" pitchFamily="34" charset="-122"/>
                <a:cs typeface="Carlito" pitchFamily="34" charset="-120"/>
              </a:rPr>
              <a:t>The exact statement — not the first-order approximation.</a:t>
            </a:r>
            <a:endParaRPr lang="en-US" sz="800" dirty="0"/>
          </a:p>
        </p:txBody>
      </p:sp>
      <p:sp>
        <p:nvSpPr>
          <p:cNvPr id="8" name="Text 6"/>
          <p:cNvSpPr/>
          <p:nvPr/>
        </p:nvSpPr>
        <p:spPr>
          <a:xfrm>
            <a:off x="7608094" y="1104379"/>
            <a:ext cx="1292762" cy="208483"/>
          </a:xfrm>
          <a:prstGeom prst="rect">
            <a:avLst/>
          </a:prstGeom>
          <a:noFill/>
          <a:ln/>
        </p:spPr>
        <p:txBody>
          <a:bodyPr wrap="none" lIns="0" tIns="0" rIns="0" bIns="28575" rtlCol="0" anchor="t"/>
          <a:lstStyle/>
          <a:p>
            <a:pPr algn="l" indent="0" marL="0">
              <a:lnSpc>
                <a:spcPts val="844"/>
              </a:lnSpc>
              <a:buNone/>
            </a:pPr>
            <a:r>
              <a:rPr lang="en-US" sz="800" spc="79" kern="0" dirty="0">
                <a:solidFill>
                  <a:srgbClr val="6B7280"/>
                </a:solidFill>
                <a:latin typeface="Liberation Sans Narrow" pitchFamily="34" charset="0"/>
                <a:ea typeface="Liberation Sans Narrow" pitchFamily="34" charset="-122"/>
                <a:cs typeface="Liberation Sans Narrow" pitchFamily="34" charset="-120"/>
              </a:rPr>
              <a:t>PROOF SKETCH · 6 LINES</a:t>
            </a:r>
            <a:endParaRPr lang="en-US" sz="800" dirty="0"/>
          </a:p>
        </p:txBody>
      </p:sp>
      <p:sp>
        <p:nvSpPr>
          <p:cNvPr id="9" name="Text 7"/>
          <p:cNvSpPr/>
          <p:nvPr/>
        </p:nvSpPr>
        <p:spPr>
          <a:xfrm>
            <a:off x="457200" y="1340123"/>
            <a:ext cx="8229600" cy="2130847"/>
          </a:xfrm>
          <a:prstGeom prst="rect">
            <a:avLst/>
          </a:prstGeom>
          <a:solidFill>
            <a:srgbClr val="1F2630"/>
          </a:solidFill>
          <a:ln/>
        </p:spPr>
        <p:txBody>
          <a:bodyPr wrap="square" rtlCol="0" anchor="ctr"/>
          <a:lstStyle/>
          <a:p>
            <a:pPr indent="0" marL="0">
              <a:buNone/>
            </a:pPr>
            <a:endParaRPr lang="en-US" dirty="0"/>
          </a:p>
        </p:txBody>
      </p:sp>
      <p:sp>
        <p:nvSpPr>
          <p:cNvPr id="10" name="Shape 8"/>
          <p:cNvSpPr/>
          <p:nvPr/>
        </p:nvSpPr>
        <p:spPr>
          <a:xfrm>
            <a:off x="457200" y="1343695"/>
            <a:ext cx="8229600" cy="0"/>
          </a:xfrm>
          <a:prstGeom prst="line">
            <a:avLst/>
          </a:prstGeom>
          <a:noFill/>
          <a:ln w="7144">
            <a:solidFill>
              <a:srgbClr val="2A3038"/>
            </a:solidFill>
            <a:prstDash val="solid"/>
          </a:ln>
        </p:spPr>
      </p:sp>
      <p:sp>
        <p:nvSpPr>
          <p:cNvPr id="11" name="Shape 9"/>
          <p:cNvSpPr/>
          <p:nvPr/>
        </p:nvSpPr>
        <p:spPr>
          <a:xfrm>
            <a:off x="8683228" y="1340123"/>
            <a:ext cx="0" cy="2130847"/>
          </a:xfrm>
          <a:prstGeom prst="line">
            <a:avLst/>
          </a:prstGeom>
          <a:noFill/>
          <a:ln w="7144">
            <a:solidFill>
              <a:srgbClr val="2A3038"/>
            </a:solidFill>
            <a:prstDash val="solid"/>
          </a:ln>
        </p:spPr>
      </p:sp>
      <p:sp>
        <p:nvSpPr>
          <p:cNvPr id="12" name="Shape 10"/>
          <p:cNvSpPr/>
          <p:nvPr/>
        </p:nvSpPr>
        <p:spPr>
          <a:xfrm>
            <a:off x="457200" y="3467398"/>
            <a:ext cx="8229600" cy="0"/>
          </a:xfrm>
          <a:prstGeom prst="line">
            <a:avLst/>
          </a:prstGeom>
          <a:noFill/>
          <a:ln w="7144">
            <a:solidFill>
              <a:srgbClr val="2A3038"/>
            </a:solidFill>
            <a:prstDash val="solid"/>
          </a:ln>
        </p:spPr>
      </p:sp>
      <p:sp>
        <p:nvSpPr>
          <p:cNvPr id="13" name="Shape 11"/>
          <p:cNvSpPr/>
          <p:nvPr/>
        </p:nvSpPr>
        <p:spPr>
          <a:xfrm>
            <a:off x="467916" y="1340123"/>
            <a:ext cx="0" cy="2130847"/>
          </a:xfrm>
          <a:prstGeom prst="line">
            <a:avLst/>
          </a:prstGeom>
          <a:noFill/>
          <a:ln w="21431">
            <a:solidFill>
              <a:srgbClr val="FFB454"/>
            </a:solidFill>
            <a:prstDash val="solid"/>
          </a:ln>
        </p:spPr>
      </p:sp>
      <p:sp>
        <p:nvSpPr>
          <p:cNvPr id="14" name="Shape 12"/>
          <p:cNvSpPr/>
          <p:nvPr/>
        </p:nvSpPr>
        <p:spPr>
          <a:xfrm>
            <a:off x="635794" y="1720862"/>
            <a:ext cx="7886700" cy="0"/>
          </a:xfrm>
          <a:prstGeom prst="line">
            <a:avLst/>
          </a:prstGeom>
          <a:noFill/>
          <a:ln w="7144">
            <a:solidFill>
              <a:srgbClr val="2A3038"/>
            </a:solidFill>
            <a:prstDash val="solid"/>
          </a:ln>
        </p:spPr>
      </p:sp>
      <p:sp>
        <p:nvSpPr>
          <p:cNvPr id="15" name="Text 13"/>
          <p:cNvSpPr/>
          <p:nvPr/>
        </p:nvSpPr>
        <p:spPr>
          <a:xfrm>
            <a:off x="635794" y="1518717"/>
            <a:ext cx="205740" cy="148568"/>
          </a:xfrm>
          <a:prstGeom prst="rect">
            <a:avLst/>
          </a:prstGeom>
          <a:noFill/>
          <a:ln/>
        </p:spPr>
        <p:txBody>
          <a:bodyPr wrap="none" lIns="0" tIns="0" rIns="0" bIns="0" rtlCol="0" anchor="t"/>
          <a:lstStyle/>
          <a:p>
            <a:pPr algn="l" indent="0" marL="0">
              <a:lnSpc>
                <a:spcPts val="1097"/>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1.</a:t>
            </a:r>
            <a:endParaRPr lang="en-US" sz="800" dirty="0"/>
          </a:p>
        </p:txBody>
      </p:sp>
      <p:sp>
        <p:nvSpPr>
          <p:cNvPr id="16" name="Text 14"/>
          <p:cNvSpPr/>
          <p:nvPr/>
        </p:nvSpPr>
        <p:spPr>
          <a:xfrm>
            <a:off x="864394" y="1497285"/>
            <a:ext cx="7658100" cy="169999"/>
          </a:xfrm>
          <a:prstGeom prst="rect">
            <a:avLst/>
          </a:prstGeom>
          <a:noFill/>
          <a:ln/>
        </p:spPr>
        <p:txBody>
          <a:bodyPr wrap="none" lIns="0" tIns="0" rIns="0" bIns="0" rtlCol="0" anchor="t"/>
          <a:lstStyle/>
          <a:p>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HW(</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 HW(</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Y</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FFB454"/>
                </a:solidFill>
                <a:latin typeface="Liberation Sans Narrow" pitchFamily="34" charset="0"/>
                <a:ea typeface="Liberation Sans Narrow" pitchFamily="34" charset="-122"/>
                <a:cs typeface="Liberation Sans Narrow" pitchFamily="34" charset="-120"/>
              </a:rPr>
              <a:t>1/8</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dist(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Y</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endParaRPr lang="en-US" sz="956" dirty="0"/>
          </a:p>
        </p:txBody>
      </p:sp>
      <p:sp>
        <p:nvSpPr>
          <p:cNvPr id="17" name="Shape 15"/>
          <p:cNvSpPr/>
          <p:nvPr/>
        </p:nvSpPr>
        <p:spPr>
          <a:xfrm>
            <a:off x="635794" y="1998018"/>
            <a:ext cx="7886700" cy="0"/>
          </a:xfrm>
          <a:prstGeom prst="line">
            <a:avLst/>
          </a:prstGeom>
          <a:noFill/>
          <a:ln w="7144">
            <a:solidFill>
              <a:srgbClr val="2A3038"/>
            </a:solidFill>
            <a:prstDash val="solid"/>
          </a:ln>
        </p:spPr>
      </p:sp>
      <p:sp>
        <p:nvSpPr>
          <p:cNvPr id="18" name="Text 16"/>
          <p:cNvSpPr/>
          <p:nvPr/>
        </p:nvSpPr>
        <p:spPr>
          <a:xfrm>
            <a:off x="635794" y="1795872"/>
            <a:ext cx="205740" cy="148568"/>
          </a:xfrm>
          <a:prstGeom prst="rect">
            <a:avLst/>
          </a:prstGeom>
          <a:noFill/>
          <a:ln/>
        </p:spPr>
        <p:txBody>
          <a:bodyPr wrap="none" lIns="0" tIns="0" rIns="0" bIns="0" rtlCol="0" anchor="t"/>
          <a:lstStyle/>
          <a:p>
            <a:pPr algn="l" indent="0" marL="0">
              <a:lnSpc>
                <a:spcPts val="1097"/>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a:t>
            </a:r>
            <a:endParaRPr lang="en-US" sz="800" dirty="0"/>
          </a:p>
        </p:txBody>
      </p:sp>
      <p:sp>
        <p:nvSpPr>
          <p:cNvPr id="19" name="Text 17"/>
          <p:cNvSpPr/>
          <p:nvPr/>
        </p:nvSpPr>
        <p:spPr>
          <a:xfrm>
            <a:off x="864394" y="1774441"/>
            <a:ext cx="7658100" cy="169999"/>
          </a:xfrm>
          <a:prstGeom prst="rect">
            <a:avLst/>
          </a:prstGeom>
          <a:noFill/>
          <a:ln/>
        </p:spPr>
        <p:txBody>
          <a:bodyPr wrap="square" lIns="0" tIns="0" rIns="0" bIns="0" rtlCol="0" anchor="t"/>
          <a:lstStyle/>
          <a:p>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800" i="1" baseline="-40000" spc="5" kern="0" dirty="0">
                <a:solidFill>
                  <a:srgbClr val="E6E6E6"/>
                </a:solidFill>
                <a:latin typeface="Tinos" pitchFamily="34" charset="0"/>
                <a:ea typeface="Tinos" pitchFamily="34" charset="-122"/>
                <a:cs typeface="Tinos" pitchFamily="34" charset="-120"/>
              </a:rPr>
              <a:t>peak</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 </a:t>
            </a:r>
            <a:pPr algn="l" indent="0" marL="0">
              <a:lnSpc>
                <a:spcPts val="1339"/>
              </a:lnSpc>
              <a:buNone/>
            </a:pPr>
            <a:r>
              <a:rPr lang="en-US" sz="956" spc="5" kern="0" dirty="0">
                <a:solidFill>
                  <a:srgbClr val="FFB454"/>
                </a:solidFill>
                <a:latin typeface="Liberation Sans Narrow" pitchFamily="34" charset="0"/>
                <a:ea typeface="Liberation Sans Narrow" pitchFamily="34" charset="-122"/>
                <a:cs typeface="Liberation Sans Narrow" pitchFamily="34" charset="-120"/>
              </a:rPr>
              <a:t>1</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β</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dist(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HW(</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 </a:t>
            </a:r>
            <a:pPr algn="l" indent="0" marL="0">
              <a:lnSpc>
                <a:spcPts val="1339"/>
              </a:lnSpc>
              <a:buNone/>
            </a:pPr>
            <a:r>
              <a:rPr lang="en-US" sz="800" spc="5" kern="0" dirty="0">
                <a:solidFill>
                  <a:srgbClr val="6B7280"/>
                </a:solidFill>
                <a:latin typeface="Carlito" pitchFamily="34" charset="0"/>
                <a:ea typeface="Carlito" pitchFamily="34" charset="-122"/>
                <a:cs typeface="Carlito" pitchFamily="34" charset="-120"/>
              </a:rPr>
              <a:t>where </a:t>
            </a:r>
            <a:pPr algn="l" indent="0" marL="0">
              <a:lnSpc>
                <a:spcPts val="1339"/>
              </a:lnSpc>
              <a:buNone/>
            </a:pPr>
            <a:r>
              <a:rPr lang="en-US" sz="800" i="1" spc="5" kern="0" dirty="0">
                <a:solidFill>
                  <a:srgbClr val="6B7280"/>
                </a:solidFill>
                <a:latin typeface="Tinos" pitchFamily="34" charset="0"/>
                <a:ea typeface="Tinos" pitchFamily="34" charset="-122"/>
                <a:cs typeface="Tinos" pitchFamily="34" charset="-120"/>
              </a:rPr>
              <a:t>β</a:t>
            </a:r>
            <a:pPr algn="l" indent="0" marL="0">
              <a:lnSpc>
                <a:spcPts val="1339"/>
              </a:lnSpc>
              <a:buNone/>
            </a:pPr>
            <a:r>
              <a:rPr lang="en-US" sz="800" spc="5" kern="0" dirty="0">
                <a:solidFill>
                  <a:srgbClr val="6B7280"/>
                </a:solidFill>
                <a:latin typeface="Carlito" pitchFamily="34" charset="0"/>
                <a:ea typeface="Carlito" pitchFamily="34" charset="-122"/>
                <a:cs typeface="Carlito" pitchFamily="34" charset="-120"/>
              </a:rPr>
              <a:t> = </a:t>
            </a:r>
            <a:pPr algn="l" indent="0" marL="0">
              <a:lnSpc>
                <a:spcPts val="1339"/>
              </a:lnSpc>
              <a:buNone/>
            </a:pPr>
            <a:r>
              <a:rPr lang="en-US" sz="800" i="1" spc="5" kern="0" dirty="0">
                <a:solidFill>
                  <a:srgbClr val="6B7280"/>
                </a:solidFill>
                <a:latin typeface="Tinos" pitchFamily="34" charset="0"/>
                <a:ea typeface="Tinos" pitchFamily="34" charset="-122"/>
                <a:cs typeface="Tinos" pitchFamily="34" charset="-120"/>
              </a:rPr>
              <a:t>Y</a:t>
            </a:r>
            <a:pPr algn="l" indent="0" marL="0">
              <a:lnSpc>
                <a:spcPts val="1339"/>
              </a:lnSpc>
              <a:buNone/>
            </a:pPr>
            <a:r>
              <a:rPr lang="en-US" sz="800" spc="5" kern="0" dirty="0">
                <a:solidFill>
                  <a:srgbClr val="6B7280"/>
                </a:solidFill>
                <a:latin typeface="Carlito" pitchFamily="34" charset="0"/>
                <a:ea typeface="Carlito" pitchFamily="34" charset="-122"/>
                <a:cs typeface="Carlito" pitchFamily="34" charset="-120"/>
              </a:rPr>
              <a:t> / (</a:t>
            </a:r>
            <a:pPr algn="l" indent="0" marL="0">
              <a:lnSpc>
                <a:spcPts val="1339"/>
              </a:lnSpc>
              <a:buNone/>
            </a:pPr>
            <a:r>
              <a:rPr lang="en-US" sz="800" i="1" spc="5" kern="0" dirty="0">
                <a:solidFill>
                  <a:srgbClr val="6B7280"/>
                </a:solidFill>
                <a:latin typeface="Tinos" pitchFamily="34" charset="0"/>
                <a:ea typeface="Tinos" pitchFamily="34" charset="-122"/>
                <a:cs typeface="Tinos" pitchFamily="34" charset="-120"/>
              </a:rPr>
              <a:t>Y</a:t>
            </a:r>
            <a:pPr algn="l" indent="0" marL="0">
              <a:lnSpc>
                <a:spcPts val="1339"/>
              </a:lnSpc>
              <a:buNone/>
            </a:pPr>
            <a:r>
              <a:rPr lang="en-US" sz="800" spc="5" kern="0" dirty="0">
                <a:solidFill>
                  <a:srgbClr val="6B7280"/>
                </a:solidFill>
                <a:latin typeface="Liberation Sans Narrow" pitchFamily="34" charset="0"/>
                <a:ea typeface="Liberation Sans Narrow" pitchFamily="34" charset="-122"/>
                <a:cs typeface="Liberation Sans Narrow" pitchFamily="34" charset="-120"/>
              </a:rPr>
              <a:t> + 1/8) ∈ (0, 1)</a:t>
            </a:r>
            <a:endParaRPr lang="en-US" sz="956" dirty="0"/>
          </a:p>
        </p:txBody>
      </p:sp>
      <p:sp>
        <p:nvSpPr>
          <p:cNvPr id="20" name="Shape 18"/>
          <p:cNvSpPr/>
          <p:nvPr/>
        </p:nvSpPr>
        <p:spPr>
          <a:xfrm>
            <a:off x="635794" y="2275173"/>
            <a:ext cx="7886700" cy="0"/>
          </a:xfrm>
          <a:prstGeom prst="line">
            <a:avLst/>
          </a:prstGeom>
          <a:noFill/>
          <a:ln w="7144">
            <a:solidFill>
              <a:srgbClr val="2A3038"/>
            </a:solidFill>
            <a:prstDash val="solid"/>
          </a:ln>
        </p:spPr>
      </p:sp>
      <p:sp>
        <p:nvSpPr>
          <p:cNvPr id="21" name="Text 19"/>
          <p:cNvSpPr/>
          <p:nvPr/>
        </p:nvSpPr>
        <p:spPr>
          <a:xfrm>
            <a:off x="635794" y="2073027"/>
            <a:ext cx="205740" cy="148568"/>
          </a:xfrm>
          <a:prstGeom prst="rect">
            <a:avLst/>
          </a:prstGeom>
          <a:noFill/>
          <a:ln/>
        </p:spPr>
        <p:txBody>
          <a:bodyPr wrap="none" lIns="0" tIns="0" rIns="0" bIns="0" rtlCol="0" anchor="t"/>
          <a:lstStyle/>
          <a:p>
            <a:pPr algn="l" indent="0" marL="0">
              <a:lnSpc>
                <a:spcPts val="1097"/>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3.</a:t>
            </a:r>
            <a:endParaRPr lang="en-US" sz="800" dirty="0"/>
          </a:p>
        </p:txBody>
      </p:sp>
      <p:sp>
        <p:nvSpPr>
          <p:cNvPr id="22" name="Text 20"/>
          <p:cNvSpPr/>
          <p:nvPr/>
        </p:nvSpPr>
        <p:spPr>
          <a:xfrm>
            <a:off x="864394" y="2051596"/>
            <a:ext cx="7658100" cy="169999"/>
          </a:xfrm>
          <a:prstGeom prst="rect">
            <a:avLst/>
          </a:prstGeom>
          <a:noFill/>
          <a:ln/>
        </p:spPr>
        <p:txBody>
          <a:bodyPr wrap="square" lIns="0" tIns="0" rIns="0" bIns="0" rtlCol="0" anchor="t"/>
          <a:lstStyle/>
          <a:p>
            <a:pPr algn="l" indent="0" marL="0">
              <a:lnSpc>
                <a:spcPts val="1339"/>
              </a:lnSpc>
              <a:buNone/>
            </a:pPr>
            <a:r>
              <a:rPr lang="en-US" sz="956" spc="5" kern="0" dirty="0">
                <a:solidFill>
                  <a:srgbClr val="FFB454"/>
                </a:solidFill>
                <a:latin typeface="Tinos" pitchFamily="34" charset="0"/>
                <a:ea typeface="Tinos" pitchFamily="34" charset="-122"/>
                <a:cs typeface="Tinos" pitchFamily="34" charset="-120"/>
              </a:rPr>
              <a:t>Define</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ρ</a:t>
            </a:r>
            <a:pPr algn="l" indent="0" marL="0">
              <a:lnSpc>
                <a:spcPts val="1339"/>
              </a:lnSpc>
              <a:buNone/>
            </a:pPr>
            <a:r>
              <a:rPr lang="en-US" sz="800" i="1" baseline="-40000"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E</a:t>
            </a:r>
            <a:pPr algn="l" indent="0" marL="0">
              <a:lnSpc>
                <a:spcPts val="1339"/>
              </a:lnSpc>
              <a:buNone/>
            </a:pPr>
            <a:r>
              <a:rPr lang="en-US" sz="800" baseline="-40000"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dist(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HW(</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 </a:t>
            </a:r>
            <a:pPr algn="l" indent="0" marL="0">
              <a:lnSpc>
                <a:spcPts val="1339"/>
              </a:lnSpc>
              <a:buNone/>
            </a:pPr>
            <a:r>
              <a:rPr lang="en-US" sz="800" spc="5" kern="0" dirty="0">
                <a:solidFill>
                  <a:srgbClr val="6B7280"/>
                </a:solidFill>
                <a:latin typeface="Carlito" pitchFamily="34" charset="0"/>
                <a:ea typeface="Carlito" pitchFamily="34" charset="-122"/>
                <a:cs typeface="Carlito" pitchFamily="34" charset="-120"/>
              </a:rPr>
              <a:t>the </a:t>
            </a:r>
            <a:pPr algn="l" indent="0" marL="0">
              <a:lnSpc>
                <a:spcPts val="1339"/>
              </a:lnSpc>
              <a:buNone/>
            </a:pPr>
            <a:r>
              <a:rPr lang="en-US" sz="800" i="1" spc="5" kern="0" dirty="0">
                <a:solidFill>
                  <a:srgbClr val="6B7280"/>
                </a:solidFill>
                <a:latin typeface="Tinos" pitchFamily="34" charset="0"/>
                <a:ea typeface="Tinos" pitchFamily="34" charset="-122"/>
                <a:cs typeface="Tinos" pitchFamily="34" charset="-120"/>
              </a:rPr>
              <a:t>Φ</a:t>
            </a:r>
            <a:pPr algn="l" indent="0" marL="0">
              <a:lnSpc>
                <a:spcPts val="1339"/>
              </a:lnSpc>
              <a:buNone/>
            </a:pPr>
            <a:r>
              <a:rPr lang="en-US" sz="800" spc="5" kern="0" dirty="0">
                <a:solidFill>
                  <a:srgbClr val="6B7280"/>
                </a:solidFill>
                <a:latin typeface="Carlito" pitchFamily="34" charset="0"/>
                <a:ea typeface="Carlito" pitchFamily="34" charset="-122"/>
                <a:cs typeface="Carlito" pitchFamily="34" charset="-120"/>
              </a:rPr>
              <a:t>-average radius, excluding </a:t>
            </a:r>
            <a:pPr algn="l" indent="0" marL="0">
              <a:lnSpc>
                <a:spcPts val="1339"/>
              </a:lnSpc>
              <a:buNone/>
            </a:pPr>
            <a:r>
              <a:rPr lang="en-US" sz="800" i="1" spc="5" kern="0" dirty="0">
                <a:solidFill>
                  <a:srgbClr val="6B7280"/>
                </a:solidFill>
                <a:latin typeface="Tinos" pitchFamily="34" charset="0"/>
                <a:ea typeface="Tinos" pitchFamily="34" charset="-122"/>
                <a:cs typeface="Tinos" pitchFamily="34" charset="-120"/>
              </a:rPr>
              <a:t>HW</a:t>
            </a:r>
            <a:pPr algn="l" indent="0" marL="0">
              <a:lnSpc>
                <a:spcPts val="1339"/>
              </a:lnSpc>
              <a:buNone/>
            </a:pPr>
            <a:r>
              <a:rPr lang="en-US" sz="800" spc="5" kern="0" dirty="0">
                <a:solidFill>
                  <a:srgbClr val="6B7280"/>
                </a:solidFill>
                <a:latin typeface="Carlito" pitchFamily="34" charset="0"/>
                <a:ea typeface="Carlito" pitchFamily="34" charset="-122"/>
                <a:cs typeface="Carlito" pitchFamily="34" charset="-120"/>
              </a:rPr>
              <a:t> = 0</a:t>
            </a:r>
            <a:endParaRPr lang="en-US" sz="956" dirty="0"/>
          </a:p>
        </p:txBody>
      </p:sp>
      <p:sp>
        <p:nvSpPr>
          <p:cNvPr id="23" name="Shape 21"/>
          <p:cNvSpPr/>
          <p:nvPr/>
        </p:nvSpPr>
        <p:spPr>
          <a:xfrm>
            <a:off x="635794" y="2552328"/>
            <a:ext cx="7886700" cy="0"/>
          </a:xfrm>
          <a:prstGeom prst="line">
            <a:avLst/>
          </a:prstGeom>
          <a:noFill/>
          <a:ln w="7144">
            <a:solidFill>
              <a:srgbClr val="2A3038"/>
            </a:solidFill>
            <a:prstDash val="solid"/>
          </a:ln>
        </p:spPr>
      </p:sp>
      <p:sp>
        <p:nvSpPr>
          <p:cNvPr id="24" name="Text 22"/>
          <p:cNvSpPr/>
          <p:nvPr/>
        </p:nvSpPr>
        <p:spPr>
          <a:xfrm>
            <a:off x="635794" y="2350182"/>
            <a:ext cx="205740" cy="148568"/>
          </a:xfrm>
          <a:prstGeom prst="rect">
            <a:avLst/>
          </a:prstGeom>
          <a:noFill/>
          <a:ln/>
        </p:spPr>
        <p:txBody>
          <a:bodyPr wrap="none" lIns="0" tIns="0" rIns="0" bIns="0" rtlCol="0" anchor="t"/>
          <a:lstStyle/>
          <a:p>
            <a:pPr algn="l" indent="0" marL="0">
              <a:lnSpc>
                <a:spcPts val="1097"/>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4.</a:t>
            </a:r>
            <a:endParaRPr lang="en-US" sz="800" dirty="0"/>
          </a:p>
        </p:txBody>
      </p:sp>
      <p:sp>
        <p:nvSpPr>
          <p:cNvPr id="25" name="Text 23"/>
          <p:cNvSpPr/>
          <p:nvPr/>
        </p:nvSpPr>
        <p:spPr>
          <a:xfrm>
            <a:off x="864394" y="2328751"/>
            <a:ext cx="7658100" cy="169999"/>
          </a:xfrm>
          <a:prstGeom prst="rect">
            <a:avLst/>
          </a:prstGeom>
          <a:noFill/>
          <a:ln/>
        </p:spPr>
        <p:txBody>
          <a:bodyPr wrap="none" lIns="0" tIns="0" rIns="0" bIns="0" rtlCol="0" anchor="t"/>
          <a:lstStyle/>
          <a:p>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avg</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_</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E</a:t>
            </a:r>
            <a:pPr algn="l" indent="0" marL="0">
              <a:lnSpc>
                <a:spcPts val="1339"/>
              </a:lnSpc>
              <a:buNone/>
            </a:pPr>
            <a:r>
              <a:rPr lang="en-US" sz="800" baseline="-40000"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800" i="1" baseline="-40000" spc="5" kern="0" dirty="0">
                <a:solidFill>
                  <a:srgbClr val="E6E6E6"/>
                </a:solidFill>
                <a:latin typeface="Tinos" pitchFamily="34" charset="0"/>
                <a:ea typeface="Tinos" pitchFamily="34" charset="-122"/>
                <a:cs typeface="Tinos" pitchFamily="34" charset="-120"/>
              </a:rPr>
              <a:t>peak</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FFB454"/>
                </a:solidFill>
                <a:latin typeface="Liberation Sans Narrow" pitchFamily="34" charset="0"/>
                <a:ea typeface="Liberation Sans Narrow" pitchFamily="34" charset="-122"/>
                <a:cs typeface="Liberation Sans Narrow" pitchFamily="34" charset="-120"/>
              </a:rPr>
              <a:t>1</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β</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ρ</a:t>
            </a:r>
            <a:pPr algn="l" indent="0" marL="0">
              <a:lnSpc>
                <a:spcPts val="1339"/>
              </a:lnSpc>
              <a:buNone/>
            </a:pPr>
            <a:r>
              <a:rPr lang="en-US" sz="800" i="1" baseline="-40000"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v</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endParaRPr lang="en-US" sz="956" dirty="0"/>
          </a:p>
        </p:txBody>
      </p:sp>
      <p:sp>
        <p:nvSpPr>
          <p:cNvPr id="26" name="Shape 24"/>
          <p:cNvSpPr/>
          <p:nvPr/>
        </p:nvSpPr>
        <p:spPr>
          <a:xfrm>
            <a:off x="635794" y="2813075"/>
            <a:ext cx="7886700" cy="0"/>
          </a:xfrm>
          <a:prstGeom prst="line">
            <a:avLst/>
          </a:prstGeom>
          <a:noFill/>
          <a:ln w="7144">
            <a:solidFill>
              <a:srgbClr val="2A3038"/>
            </a:solidFill>
            <a:prstDash val="solid"/>
          </a:ln>
        </p:spPr>
      </p:sp>
      <p:sp>
        <p:nvSpPr>
          <p:cNvPr id="27" name="Text 25"/>
          <p:cNvSpPr/>
          <p:nvPr/>
        </p:nvSpPr>
        <p:spPr>
          <a:xfrm>
            <a:off x="635794" y="2613050"/>
            <a:ext cx="205740" cy="139303"/>
          </a:xfrm>
          <a:prstGeom prst="rect">
            <a:avLst/>
          </a:prstGeom>
          <a:noFill/>
          <a:ln/>
        </p:spPr>
        <p:txBody>
          <a:bodyPr wrap="none" lIns="0" tIns="0" rIns="0" bIns="0" rtlCol="0" anchor="t"/>
          <a:lstStyle/>
          <a:p>
            <a:pPr algn="l" indent="0" marL="0">
              <a:lnSpc>
                <a:spcPts val="1097"/>
              </a:lnSpc>
              <a:buNone/>
            </a:pPr>
            <a:r>
              <a:rPr lang="en-US" sz="800" i="1" dirty="0">
                <a:solidFill>
                  <a:srgbClr val="6B7280"/>
                </a:solidFill>
                <a:latin typeface="Liberation Sans Narrow" pitchFamily="34" charset="0"/>
                <a:ea typeface="Liberation Sans Narrow" pitchFamily="34" charset="-122"/>
                <a:cs typeface="Liberation Sans Narrow" pitchFamily="34" charset="-120"/>
              </a:rPr>
              <a:t>5.</a:t>
            </a:r>
            <a:endParaRPr lang="en-US" sz="800" dirty="0"/>
          </a:p>
        </p:txBody>
      </p:sp>
      <p:sp>
        <p:nvSpPr>
          <p:cNvPr id="28" name="Text 26"/>
          <p:cNvSpPr/>
          <p:nvPr/>
        </p:nvSpPr>
        <p:spPr>
          <a:xfrm>
            <a:off x="864394" y="2613050"/>
            <a:ext cx="7658100" cy="139303"/>
          </a:xfrm>
          <a:prstGeom prst="rect">
            <a:avLst/>
          </a:prstGeom>
          <a:noFill/>
          <a:ln/>
        </p:spPr>
        <p:txBody>
          <a:bodyPr wrap="square" lIns="0" tIns="0" rIns="0" bIns="0" rtlCol="0" anchor="t"/>
          <a:lstStyle/>
          <a:p>
            <a:pPr algn="l" indent="0" marL="0">
              <a:lnSpc>
                <a:spcPts val="1097"/>
              </a:lnSpc>
              <a:buNone/>
            </a:pPr>
            <a:r>
              <a:rPr lang="en-US" sz="800" i="1" dirty="0">
                <a:solidFill>
                  <a:srgbClr val="B5BAC4"/>
                </a:solidFill>
                <a:latin typeface="Carlito" pitchFamily="34" charset="0"/>
                <a:ea typeface="Carlito" pitchFamily="34" charset="-122"/>
                <a:cs typeface="Carlito" pitchFamily="34" charset="-120"/>
              </a:rPr>
              <a:t>Since </a:t>
            </a:r>
            <a:pPr algn="l" indent="0" marL="0">
              <a:lnSpc>
                <a:spcPts val="1097"/>
              </a:lnSpc>
              <a:buNone/>
            </a:pPr>
            <a:r>
              <a:rPr lang="en-US" sz="800" i="1" dirty="0">
                <a:solidFill>
                  <a:srgbClr val="B5BAC4"/>
                </a:solidFill>
                <a:latin typeface="Tinos" pitchFamily="34" charset="0"/>
                <a:ea typeface="Tinos" pitchFamily="34" charset="-122"/>
                <a:cs typeface="Tinos" pitchFamily="34" charset="-120"/>
              </a:rPr>
              <a:t>f</a:t>
            </a:r>
            <a:pPr algn="l" indent="0" marL="0">
              <a:lnSpc>
                <a:spcPts val="1097"/>
              </a:lnSpc>
              <a:buNone/>
            </a:pPr>
            <a:r>
              <a:rPr lang="en-US" sz="800" i="1" dirty="0">
                <a:solidFill>
                  <a:srgbClr val="B5BAC4"/>
                </a:solidFill>
                <a:latin typeface="Carlito" pitchFamily="34" charset="0"/>
                <a:ea typeface="Carlito" pitchFamily="34" charset="-122"/>
                <a:cs typeface="Carlito" pitchFamily="34" charset="-120"/>
              </a:rPr>
              <a:t>(</a:t>
            </a:r>
            <a:pPr algn="l" indent="0" marL="0">
              <a:lnSpc>
                <a:spcPts val="1097"/>
              </a:lnSpc>
              <a:buNone/>
            </a:pPr>
            <a:r>
              <a:rPr lang="en-US" sz="800" i="1" dirty="0">
                <a:solidFill>
                  <a:srgbClr val="B5BAC4"/>
                </a:solidFill>
                <a:latin typeface="Tinos" pitchFamily="34" charset="0"/>
                <a:ea typeface="Tinos" pitchFamily="34" charset="-122"/>
                <a:cs typeface="Tinos" pitchFamily="34" charset="-120"/>
              </a:rPr>
              <a:t>x</a:t>
            </a:r>
            <a:pPr algn="l" indent="0" marL="0">
              <a:lnSpc>
                <a:spcPts val="1097"/>
              </a:lnSpc>
              <a:buNone/>
            </a:pPr>
            <a:r>
              <a:rPr lang="en-US" sz="800" i="1" dirty="0">
                <a:solidFill>
                  <a:srgbClr val="B5BAC4"/>
                </a:solidFill>
                <a:latin typeface="Liberation Sans Narrow" pitchFamily="34" charset="0"/>
                <a:ea typeface="Liberation Sans Narrow" pitchFamily="34" charset="-122"/>
                <a:cs typeface="Liberation Sans Narrow" pitchFamily="34" charset="-120"/>
              </a:rPr>
              <a:t>) = 1 / (1 + </a:t>
            </a:r>
            <a:pPr algn="l" indent="0" marL="0">
              <a:lnSpc>
                <a:spcPts val="1097"/>
              </a:lnSpc>
              <a:buNone/>
            </a:pPr>
            <a:r>
              <a:rPr lang="en-US" sz="800" i="1" dirty="0">
                <a:solidFill>
                  <a:srgbClr val="B5BAC4"/>
                </a:solidFill>
                <a:latin typeface="Tinos" pitchFamily="34" charset="0"/>
                <a:ea typeface="Tinos" pitchFamily="34" charset="-122"/>
                <a:cs typeface="Tinos" pitchFamily="34" charset="-120"/>
              </a:rPr>
              <a:t>βx</a:t>
            </a:r>
            <a:pPr algn="l" indent="0" marL="0">
              <a:lnSpc>
                <a:spcPts val="1097"/>
              </a:lnSpc>
              <a:buNone/>
            </a:pPr>
            <a:r>
              <a:rPr lang="en-US" sz="800" i="1" dirty="0">
                <a:solidFill>
                  <a:srgbClr val="B5BAC4"/>
                </a:solidFill>
                <a:latin typeface="Carlito" pitchFamily="34" charset="0"/>
                <a:ea typeface="Carlito" pitchFamily="34" charset="-122"/>
                <a:cs typeface="Carlito" pitchFamily="34" charset="-120"/>
              </a:rPr>
              <a:t>) is </a:t>
            </a:r>
            <a:pPr algn="l" indent="0" marL="0">
              <a:lnSpc>
                <a:spcPts val="1097"/>
              </a:lnSpc>
              <a:buNone/>
            </a:pPr>
            <a:r>
              <a:rPr lang="en-US" sz="800" i="1" dirty="0">
                <a:solidFill>
                  <a:srgbClr val="6FE3D2"/>
                </a:solidFill>
                <a:latin typeface="Carlito" pitchFamily="34" charset="0"/>
                <a:ea typeface="Carlito" pitchFamily="34" charset="-122"/>
                <a:cs typeface="Carlito" pitchFamily="34" charset="-120"/>
              </a:rPr>
              <a:t>strictly convex</a:t>
            </a:r>
            <a:pPr algn="l" indent="0" marL="0">
              <a:lnSpc>
                <a:spcPts val="1097"/>
              </a:lnSpc>
              <a:buNone/>
            </a:pPr>
            <a:r>
              <a:rPr lang="en-US" sz="800" i="1" dirty="0">
                <a:solidFill>
                  <a:srgbClr val="B5BAC4"/>
                </a:solidFill>
                <a:latin typeface="Carlito" pitchFamily="34" charset="0"/>
                <a:ea typeface="Carlito" pitchFamily="34" charset="-122"/>
                <a:cs typeface="Carlito" pitchFamily="34" charset="-120"/>
              </a:rPr>
              <a:t> on </a:t>
            </a:r>
            <a:pPr algn="l" indent="0" marL="0">
              <a:lnSpc>
                <a:spcPts val="1097"/>
              </a:lnSpc>
              <a:buNone/>
            </a:pPr>
            <a:r>
              <a:rPr lang="en-US" sz="800" i="1" dirty="0">
                <a:solidFill>
                  <a:srgbClr val="B5BAC4"/>
                </a:solidFill>
                <a:latin typeface="Tinos" pitchFamily="34" charset="0"/>
                <a:ea typeface="Tinos" pitchFamily="34" charset="-122"/>
                <a:cs typeface="Tinos" pitchFamily="34" charset="-120"/>
              </a:rPr>
              <a:t>x</a:t>
            </a:r>
            <a:pPr algn="l" indent="0" marL="0">
              <a:lnSpc>
                <a:spcPts val="1097"/>
              </a:lnSpc>
              <a:buNone/>
            </a:pPr>
            <a:r>
              <a:rPr lang="en-US" sz="800" i="1" dirty="0">
                <a:solidFill>
                  <a:srgbClr val="B5BAC4"/>
                </a:solidFill>
                <a:latin typeface="Liberation Sans Narrow" pitchFamily="34" charset="0"/>
                <a:ea typeface="Liberation Sans Narrow" pitchFamily="34" charset="-122"/>
                <a:cs typeface="Liberation Sans Narrow" pitchFamily="34" charset="-120"/>
              </a:rPr>
              <a:t> ≥ 0, Jensen gives:</a:t>
            </a:r>
            <a:endParaRPr lang="en-US" sz="800" dirty="0"/>
          </a:p>
        </p:txBody>
      </p:sp>
      <p:sp>
        <p:nvSpPr>
          <p:cNvPr id="29" name="Shape 27"/>
          <p:cNvSpPr/>
          <p:nvPr/>
        </p:nvSpPr>
        <p:spPr>
          <a:xfrm>
            <a:off x="635794" y="3090230"/>
            <a:ext cx="7886700" cy="0"/>
          </a:xfrm>
          <a:prstGeom prst="line">
            <a:avLst/>
          </a:prstGeom>
          <a:noFill/>
          <a:ln w="7144">
            <a:solidFill>
              <a:srgbClr val="2A3038"/>
            </a:solidFill>
            <a:prstDash val="solid"/>
          </a:ln>
        </p:spPr>
      </p:sp>
      <p:sp>
        <p:nvSpPr>
          <p:cNvPr id="30" name="Text 28"/>
          <p:cNvSpPr/>
          <p:nvPr/>
        </p:nvSpPr>
        <p:spPr>
          <a:xfrm>
            <a:off x="864394" y="2866653"/>
            <a:ext cx="7658100" cy="169999"/>
          </a:xfrm>
          <a:prstGeom prst="rect">
            <a:avLst/>
          </a:prstGeom>
          <a:noFill/>
          <a:ln/>
        </p:spPr>
        <p:txBody>
          <a:bodyPr wrap="none" lIns="0" tIns="0" rIns="0" bIns="0" rtlCol="0" anchor="t"/>
          <a:lstStyle/>
          <a:p>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avg</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_</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800" i="1" baseline="-40000" spc="5" kern="0" dirty="0">
                <a:solidFill>
                  <a:srgbClr val="E6E6E6"/>
                </a:solidFill>
                <a:latin typeface="Tinos" pitchFamily="34" charset="0"/>
                <a:ea typeface="Tinos" pitchFamily="34" charset="-122"/>
                <a:cs typeface="Tinos" pitchFamily="34" charset="-120"/>
              </a:rPr>
              <a:t>peak</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 </a:t>
            </a:r>
            <a:pPr algn="l" indent="0" marL="0">
              <a:lnSpc>
                <a:spcPts val="1339"/>
              </a:lnSpc>
              <a:buNone/>
            </a:pPr>
            <a:r>
              <a:rPr lang="en-US" sz="956" spc="5" kern="0" dirty="0">
                <a:solidFill>
                  <a:srgbClr val="FFB454"/>
                </a:solidFill>
                <a:latin typeface="Liberation Sans Narrow" pitchFamily="34" charset="0"/>
                <a:ea typeface="Liberation Sans Narrow" pitchFamily="34" charset="-122"/>
                <a:cs typeface="Liberation Sans Narrow" pitchFamily="34" charset="-120"/>
              </a:rPr>
              <a:t>1</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β</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spc="5" kern="0" dirty="0">
                <a:solidFill>
                  <a:srgbClr val="B5BAC4"/>
                </a:solidFill>
                <a:latin typeface="Tinos" pitchFamily="34" charset="0"/>
                <a:ea typeface="Tinos" pitchFamily="34" charset="-122"/>
                <a:cs typeface="Tinos" pitchFamily="34" charset="-120"/>
              </a:rPr>
              <a:t>·</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ρ</a:t>
            </a:r>
            <a:pPr algn="l" indent="0" marL="0">
              <a:lnSpc>
                <a:spcPts val="1339"/>
              </a:lnSpc>
              <a:buNone/>
            </a:pPr>
            <a:r>
              <a:rPr lang="en-US" sz="800" i="1" baseline="-40000"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endParaRPr lang="en-US" sz="956" dirty="0"/>
          </a:p>
        </p:txBody>
      </p:sp>
      <p:sp>
        <p:nvSpPr>
          <p:cNvPr id="31" name="Text 29"/>
          <p:cNvSpPr/>
          <p:nvPr/>
        </p:nvSpPr>
        <p:spPr>
          <a:xfrm>
            <a:off x="635794" y="3165239"/>
            <a:ext cx="205740" cy="164592"/>
          </a:xfrm>
          <a:prstGeom prst="rect">
            <a:avLst/>
          </a:prstGeom>
          <a:noFill/>
          <a:ln/>
        </p:spPr>
        <p:txBody>
          <a:bodyPr wrap="none" lIns="0" tIns="0" rIns="0" bIns="0" rtlCol="0" anchor="t"/>
          <a:lstStyle/>
          <a:p>
            <a:pPr algn="l" indent="0" marL="0">
              <a:lnSpc>
                <a:spcPts val="1097"/>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6.</a:t>
            </a:r>
            <a:endParaRPr lang="en-US" sz="800" dirty="0"/>
          </a:p>
        </p:txBody>
      </p:sp>
      <p:sp>
        <p:nvSpPr>
          <p:cNvPr id="32" name="Text 30"/>
          <p:cNvSpPr/>
          <p:nvPr/>
        </p:nvSpPr>
        <p:spPr>
          <a:xfrm>
            <a:off x="864394" y="3143808"/>
            <a:ext cx="7658100" cy="183599"/>
          </a:xfrm>
          <a:prstGeom prst="rect">
            <a:avLst/>
          </a:prstGeom>
          <a:noFill/>
          <a:ln/>
        </p:spPr>
        <p:txBody>
          <a:bodyPr wrap="square" lIns="0" tIns="0" rIns="0" bIns="0" rtlCol="0" anchor="t"/>
          <a:lstStyle/>
          <a:p>
            <a:pPr algn="l" indent="0" marL="0">
              <a:lnSpc>
                <a:spcPts val="1339"/>
              </a:lnSpc>
              <a:buNone/>
            </a:pPr>
            <a:r>
              <a:rPr lang="en-US" sz="956" spc="5" kern="0" dirty="0">
                <a:solidFill>
                  <a:srgbClr val="FFB454"/>
                </a:solidFill>
                <a:latin typeface="Tinos" pitchFamily="34" charset="0"/>
                <a:ea typeface="Tinos" pitchFamily="34" charset="-122"/>
                <a:cs typeface="Tinos" pitchFamily="34" charset="-120"/>
              </a:rPr>
              <a:t>Moreover,</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avg</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_</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is </a:t>
            </a:r>
            <a:pPr algn="l" indent="0" marL="0">
              <a:lnSpc>
                <a:spcPts val="1339"/>
              </a:lnSpc>
              <a:buNone/>
            </a:pPr>
            <a:r>
              <a:rPr lang="en-US" sz="956" spc="5" kern="0" dirty="0">
                <a:solidFill>
                  <a:srgbClr val="6FE3D2"/>
                </a:solidFill>
                <a:latin typeface="Tinos" pitchFamily="34" charset="0"/>
                <a:ea typeface="Tinos" pitchFamily="34" charset="-122"/>
                <a:cs typeface="Tinos" pitchFamily="34" charset="-120"/>
              </a:rPr>
              <a:t>strictly decreasing</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in </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ρ</a:t>
            </a:r>
            <a:pPr algn="l" indent="0" marL="0">
              <a:lnSpc>
                <a:spcPts val="1339"/>
              </a:lnSpc>
              <a:buNone/>
            </a:pPr>
            <a:r>
              <a:rPr lang="en-US" sz="800" i="1" baseline="-40000" spc="5" kern="0" dirty="0">
                <a:solidFill>
                  <a:srgbClr val="E6E6E6"/>
                </a:solidFill>
                <a:latin typeface="Tinos" pitchFamily="34" charset="0"/>
                <a:ea typeface="Tinos" pitchFamily="34" charset="-122"/>
                <a:cs typeface="Tinos" pitchFamily="34" charset="-120"/>
              </a:rPr>
              <a:t>Φ</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a:t>
            </a:r>
            <a:pPr algn="l" indent="0" marL="0">
              <a:lnSpc>
                <a:spcPts val="1339"/>
              </a:lnSpc>
              <a:buNone/>
            </a:pPr>
            <a:r>
              <a:rPr lang="en-US" sz="956" i="1" spc="5" kern="0" dirty="0">
                <a:solidFill>
                  <a:srgbClr val="E6E6E6"/>
                </a:solidFill>
                <a:latin typeface="Tinos" pitchFamily="34" charset="0"/>
                <a:ea typeface="Tinos" pitchFamily="34" charset="-122"/>
                <a:cs typeface="Tinos" pitchFamily="34" charset="-120"/>
              </a:rPr>
              <a:t>C</a:t>
            </a:r>
            <a:pPr algn="l" indent="0" marL="0">
              <a:lnSpc>
                <a:spcPts val="1339"/>
              </a:lnSpc>
              <a:buNone/>
            </a:pPr>
            <a:r>
              <a:rPr lang="en-US" sz="956" spc="5" kern="0" dirty="0">
                <a:solidFill>
                  <a:srgbClr val="E6E6E6"/>
                </a:solidFill>
                <a:latin typeface="Tinos" pitchFamily="34" charset="0"/>
                <a:ea typeface="Tinos" pitchFamily="34" charset="-122"/>
                <a:cs typeface="Tinos" pitchFamily="34" charset="-120"/>
              </a:rPr>
              <a:t>) </a:t>
            </a:r>
            <a:pPr algn="l" indent="0" marL="0">
              <a:lnSpc>
                <a:spcPts val="1339"/>
              </a:lnSpc>
              <a:buNone/>
            </a:pPr>
            <a:r>
              <a:rPr lang="en-US" sz="800" spc="5" kern="0" dirty="0">
                <a:solidFill>
                  <a:srgbClr val="6B7280"/>
                </a:solidFill>
                <a:latin typeface="Carlito" pitchFamily="34" charset="0"/>
                <a:ea typeface="Carlito" pitchFamily="34" charset="-122"/>
                <a:cs typeface="Carlito" pitchFamily="34" charset="-120"/>
              </a:rPr>
              <a:t>(Jensen + monotonicity of </a:t>
            </a:r>
            <a:pPr algn="l" indent="0" marL="0">
              <a:lnSpc>
                <a:spcPts val="1339"/>
              </a:lnSpc>
              <a:buNone/>
            </a:pPr>
            <a:r>
              <a:rPr lang="en-US" sz="800" i="1" spc="5" kern="0" dirty="0">
                <a:solidFill>
                  <a:srgbClr val="6B7280"/>
                </a:solidFill>
                <a:latin typeface="Tinos" pitchFamily="34" charset="0"/>
                <a:ea typeface="Tinos" pitchFamily="34" charset="-122"/>
                <a:cs typeface="Tinos" pitchFamily="34" charset="-120"/>
              </a:rPr>
              <a:t>f</a:t>
            </a:r>
            <a:pPr algn="l" indent="0" marL="0">
              <a:lnSpc>
                <a:spcPts val="1339"/>
              </a:lnSpc>
              <a:buNone/>
            </a:pPr>
            <a:r>
              <a:rPr lang="en-US" sz="800" spc="5" kern="0" dirty="0">
                <a:solidFill>
                  <a:srgbClr val="6B7280"/>
                </a:solidFill>
                <a:latin typeface="Carlito" pitchFamily="34" charset="0"/>
                <a:ea typeface="Carlito" pitchFamily="34" charset="-122"/>
                <a:cs typeface="Carlito" pitchFamily="34" charset="-120"/>
              </a:rPr>
              <a:t>)</a:t>
            </a:r>
            <a:endParaRPr lang="en-US" sz="956" dirty="0"/>
          </a:p>
        </p:txBody>
      </p:sp>
      <p:sp>
        <p:nvSpPr>
          <p:cNvPr id="33" name="Text 31"/>
          <p:cNvSpPr/>
          <p:nvPr/>
        </p:nvSpPr>
        <p:spPr>
          <a:xfrm>
            <a:off x="457200" y="3570982"/>
            <a:ext cx="8229600" cy="503634"/>
          </a:xfrm>
          <a:prstGeom prst="rect">
            <a:avLst/>
          </a:prstGeom>
          <a:solidFill>
            <a:srgbClr val="6FE3D2">
              <a:alpha val="4000"/>
            </a:srgbClr>
          </a:solidFill>
          <a:ln/>
        </p:spPr>
        <p:txBody>
          <a:bodyPr wrap="square" rtlCol="0" anchor="ctr"/>
          <a:lstStyle/>
          <a:p>
            <a:pPr indent="0" marL="0">
              <a:buNone/>
            </a:pPr>
            <a:endParaRPr lang="en-US" dirty="0"/>
          </a:p>
        </p:txBody>
      </p:sp>
      <p:sp>
        <p:nvSpPr>
          <p:cNvPr id="34" name="Shape 32"/>
          <p:cNvSpPr/>
          <p:nvPr/>
        </p:nvSpPr>
        <p:spPr>
          <a:xfrm>
            <a:off x="464344" y="3570982"/>
            <a:ext cx="0" cy="503634"/>
          </a:xfrm>
          <a:prstGeom prst="line">
            <a:avLst/>
          </a:prstGeom>
          <a:noFill/>
          <a:ln w="14288">
            <a:solidFill>
              <a:srgbClr val="6FE3D2"/>
            </a:solidFill>
            <a:prstDash val="solid"/>
          </a:ln>
        </p:spPr>
      </p:sp>
      <p:sp>
        <p:nvSpPr>
          <p:cNvPr id="35" name="Text 33"/>
          <p:cNvSpPr/>
          <p:nvPr/>
        </p:nvSpPr>
        <p:spPr>
          <a:xfrm>
            <a:off x="600075" y="3656707"/>
            <a:ext cx="7958138" cy="164592"/>
          </a:xfrm>
          <a:prstGeom prst="rect">
            <a:avLst/>
          </a:prstGeom>
          <a:noFill/>
          <a:ln/>
        </p:spPr>
        <p:txBody>
          <a:bodyPr wrap="square" lIns="0" tIns="0" rIns="0" bIns="0" rtlCol="0" anchor="t"/>
          <a:lstStyle/>
          <a:p>
            <a:pPr algn="l" indent="0" marL="0">
              <a:lnSpc>
                <a:spcPts val="1181"/>
              </a:lnSpc>
              <a:buNone/>
            </a:pPr>
            <a:r>
              <a:rPr lang="en-US" sz="800" spc="79" kern="0" dirty="0">
                <a:solidFill>
                  <a:srgbClr val="6FE3D2"/>
                </a:solidFill>
                <a:latin typeface="Courier New" pitchFamily="34" charset="0"/>
                <a:ea typeface="Courier New" pitchFamily="34" charset="-122"/>
                <a:cs typeface="Courier New" pitchFamily="34" charset="-120"/>
              </a:rPr>
              <a:t>CONCLUSION ·</a:t>
            </a:r>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C</a:t>
            </a:r>
            <a:pPr algn="l" indent="0" marL="0">
              <a:lnSpc>
                <a:spcPts val="1181"/>
              </a:lnSpc>
              <a:buNone/>
            </a:pPr>
            <a:r>
              <a:rPr lang="en-US" sz="800" i="1" baseline="-40000" dirty="0">
                <a:solidFill>
                  <a:srgbClr val="E6E6E6"/>
                </a:solidFill>
                <a:latin typeface="Liberation Sans Narrow" pitchFamily="34" charset="0"/>
                <a:ea typeface="Liberation Sans Narrow" pitchFamily="34" charset="-122"/>
                <a:cs typeface="Liberation Sans Narrow" pitchFamily="34" charset="-120"/>
              </a:rPr>
              <a:t>1</a:t>
            </a:r>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 has lower </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ρ</a:t>
            </a:r>
            <a:pPr algn="l" indent="0" marL="0">
              <a:lnSpc>
                <a:spcPts val="1181"/>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 than </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C</a:t>
            </a:r>
            <a:pPr algn="l" indent="0" marL="0">
              <a:lnSpc>
                <a:spcPts val="1181"/>
              </a:lnSpc>
              <a:buNone/>
            </a:pPr>
            <a:r>
              <a:rPr lang="en-US" sz="800" i="1" baseline="-40000" dirty="0">
                <a:solidFill>
                  <a:srgbClr val="E6E6E6"/>
                </a:solidFill>
                <a:latin typeface="Liberation Sans Narrow" pitchFamily="34" charset="0"/>
                <a:ea typeface="Liberation Sans Narrow" pitchFamily="34" charset="-122"/>
                <a:cs typeface="Liberation Sans Narrow" pitchFamily="34" charset="-120"/>
              </a:rPr>
              <a:t>2</a:t>
            </a:r>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181"/>
              </a:lnSpc>
              <a:buNone/>
            </a:pPr>
            <a:r>
              <a:rPr lang="en-US" sz="800" dirty="0">
                <a:solidFill>
                  <a:srgbClr val="FFB454"/>
                </a:solidFill>
                <a:latin typeface="Carlito" pitchFamily="34" charset="0"/>
                <a:ea typeface="Carlito" pitchFamily="34" charset="-122"/>
                <a:cs typeface="Carlito" pitchFamily="34" charset="-120"/>
              </a:rPr>
              <a:t>⇒</a:t>
            </a:r>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avg</a:t>
            </a:r>
            <a:pPr algn="l" indent="0" marL="0">
              <a:lnSpc>
                <a:spcPts val="1181"/>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(C</a:t>
            </a:r>
            <a:pPr algn="l" indent="0" marL="0">
              <a:lnSpc>
                <a:spcPts val="1181"/>
              </a:lnSpc>
              <a:buNone/>
            </a:pPr>
            <a:r>
              <a:rPr lang="en-US" sz="800" i="1" baseline="-40000" dirty="0">
                <a:solidFill>
                  <a:srgbClr val="E6E6E6"/>
                </a:solidFill>
                <a:latin typeface="Liberation Sans Narrow" pitchFamily="34" charset="0"/>
                <a:ea typeface="Liberation Sans Narrow" pitchFamily="34" charset="-122"/>
                <a:cs typeface="Liberation Sans Narrow" pitchFamily="34" charset="-120"/>
              </a:rPr>
              <a:t>1</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 &gt; avg</a:t>
            </a:r>
            <a:pPr algn="l" indent="0" marL="0">
              <a:lnSpc>
                <a:spcPts val="1181"/>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(C</a:t>
            </a:r>
            <a:pPr algn="l" indent="0" marL="0">
              <a:lnSpc>
                <a:spcPts val="1181"/>
              </a:lnSpc>
              <a:buNone/>
            </a:pPr>
            <a:r>
              <a:rPr lang="en-US" sz="800" i="1" baseline="-40000" dirty="0">
                <a:solidFill>
                  <a:srgbClr val="E6E6E6"/>
                </a:solidFill>
                <a:latin typeface="Liberation Sans Narrow" pitchFamily="34" charset="0"/>
                <a:ea typeface="Liberation Sans Narrow" pitchFamily="34" charset="-122"/>
                <a:cs typeface="Liberation Sans Narrow" pitchFamily="34" charset="-120"/>
              </a:rPr>
              <a:t>2</a:t>
            </a:r>
            <a:pPr algn="l" indent="0" marL="0">
              <a:lnSpc>
                <a:spcPts val="1181"/>
              </a:lnSpc>
              <a:buNone/>
            </a:pPr>
            <a:r>
              <a:rPr lang="en-US" sz="800" i="1" dirty="0">
                <a:solidFill>
                  <a:srgbClr val="E6E6E6"/>
                </a:solidFill>
                <a:latin typeface="Tinos" pitchFamily="34" charset="0"/>
                <a:ea typeface="Tinos" pitchFamily="34" charset="-122"/>
                <a:cs typeface="Tinos" pitchFamily="34" charset="-120"/>
              </a:rPr>
              <a:t>)</a:t>
            </a:r>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181"/>
              </a:lnSpc>
              <a:buNone/>
            </a:pPr>
            <a:r>
              <a:rPr lang="en-US" sz="800" spc="79" kern="0" dirty="0">
                <a:solidFill>
                  <a:srgbClr val="6FE3D2"/>
                </a:solidFill>
                <a:latin typeface="Courier New" pitchFamily="34" charset="0"/>
                <a:ea typeface="Courier New" pitchFamily="34" charset="-122"/>
                <a:cs typeface="Courier New" pitchFamily="34" charset="-120"/>
              </a:rPr>
              <a:t>[EXACT]</a:t>
            </a:r>
            <a:endParaRPr lang="en-US" sz="800" dirty="0"/>
          </a:p>
        </p:txBody>
      </p:sp>
      <p:sp>
        <p:nvSpPr>
          <p:cNvPr id="36" name="Text 34"/>
          <p:cNvSpPr/>
          <p:nvPr/>
        </p:nvSpPr>
        <p:spPr>
          <a:xfrm>
            <a:off x="600075" y="3849588"/>
            <a:ext cx="7958138" cy="139303"/>
          </a:xfrm>
          <a:prstGeom prst="rect">
            <a:avLst/>
          </a:prstGeom>
          <a:noFill/>
          <a:ln/>
        </p:spPr>
        <p:txBody>
          <a:bodyPr wrap="square" lIns="0" tIns="0" rIns="0" bIns="0" rtlCol="0" anchor="t"/>
          <a:lstStyle/>
          <a:p>
            <a:pPr algn="l" indent="0" marL="0">
              <a:lnSpc>
                <a:spcPts val="1097"/>
              </a:lnSpc>
              <a:buNone/>
            </a:pPr>
            <a:r>
              <a:rPr lang="en-US" sz="800" dirty="0">
                <a:solidFill>
                  <a:srgbClr val="6B7280"/>
                </a:solidFill>
                <a:latin typeface="Carlito" pitchFamily="34" charset="0"/>
                <a:ea typeface="Carlito" pitchFamily="34" charset="-122"/>
                <a:cs typeface="Carlito" pitchFamily="34" charset="-120"/>
              </a:rPr>
              <a:t>The previously reported </a:t>
            </a:r>
            <a:pPr algn="l" indent="0" marL="0">
              <a:lnSpc>
                <a:spcPts val="1097"/>
              </a:lnSpc>
              <a:buNone/>
            </a:pPr>
            <a:r>
              <a:rPr lang="en-US" sz="800" i="1" dirty="0">
                <a:solidFill>
                  <a:srgbClr val="FFB454"/>
                </a:solidFill>
                <a:latin typeface="Carlito" pitchFamily="34" charset="0"/>
                <a:ea typeface="Carlito" pitchFamily="34" charset="-122"/>
                <a:cs typeface="Carlito" pitchFamily="34" charset="-120"/>
              </a:rPr>
              <a:t>"minimise average distance"</a:t>
            </a:r>
            <a:pPr algn="l" indent="0" marL="0">
              <a:lnSpc>
                <a:spcPts val="1097"/>
              </a:lnSpc>
              <a:buNone/>
            </a:pPr>
            <a:r>
              <a:rPr lang="en-US" sz="800" dirty="0">
                <a:solidFill>
                  <a:srgbClr val="6B7280"/>
                </a:solidFill>
                <a:latin typeface="Carlito" pitchFamily="34" charset="0"/>
                <a:ea typeface="Carlito" pitchFamily="34" charset="-122"/>
                <a:cs typeface="Carlito" pitchFamily="34" charset="-120"/>
              </a:rPr>
              <a:t> is the first-order approximation, valid when </a:t>
            </a:r>
            <a:pPr algn="l" indent="0" marL="0">
              <a:lnSpc>
                <a:spcPts val="1097"/>
              </a:lnSpc>
              <a:buNone/>
            </a:pPr>
            <a:r>
              <a:rPr lang="en-US" sz="800" i="1" dirty="0">
                <a:solidFill>
                  <a:srgbClr val="E6E6E6"/>
                </a:solidFill>
                <a:latin typeface="Tinos" pitchFamily="34" charset="0"/>
                <a:ea typeface="Tinos" pitchFamily="34" charset="-122"/>
                <a:cs typeface="Tinos" pitchFamily="34" charset="-120"/>
              </a:rPr>
              <a:t>HW » dist</a:t>
            </a:r>
            <a:pPr algn="l" indent="0" marL="0">
              <a:lnSpc>
                <a:spcPts val="1097"/>
              </a:lnSpc>
              <a:buNone/>
            </a:pPr>
            <a:r>
              <a:rPr lang="en-US" sz="800" dirty="0">
                <a:solidFill>
                  <a:srgbClr val="6B7280"/>
                </a:solidFill>
                <a:latin typeface="Carlito" pitchFamily="34" charset="0"/>
                <a:ea typeface="Carlito" pitchFamily="34" charset="-122"/>
                <a:cs typeface="Carlito" pitchFamily="34" charset="-120"/>
              </a:rPr>
              <a:t>.</a:t>
            </a:r>
            <a:endParaRPr lang="en-US" sz="800" dirty="0"/>
          </a:p>
        </p:txBody>
      </p:sp>
      <p:sp>
        <p:nvSpPr>
          <p:cNvPr id="37" name="Text 35"/>
          <p:cNvSpPr/>
          <p:nvPr/>
        </p:nvSpPr>
        <p:spPr>
          <a:xfrm>
            <a:off x="7563803" y="4569285"/>
            <a:ext cx="1102995"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38" name="Text 36"/>
          <p:cNvSpPr/>
          <p:nvPr/>
        </p:nvSpPr>
        <p:spPr>
          <a:xfrm>
            <a:off x="7586663" y="4579144"/>
            <a:ext cx="1057275" cy="164306"/>
          </a:xfrm>
          <a:prstGeom prst="rect">
            <a:avLst/>
          </a:prstGeom>
          <a:noFill/>
          <a:ln/>
        </p:spPr>
        <p:txBody>
          <a:bodyPr wrap="square" lIns="71438" tIns="21431" rIns="71438" bIns="21431"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THEOREM (STRONG FORM)</a:t>
            </a:r>
            <a:endParaRPr lang="en-US" sz="800" dirty="0"/>
          </a:p>
        </p:txBody>
      </p:sp>
      <p:sp>
        <p:nvSpPr>
          <p:cNvPr id="39" name="Text 37"/>
          <p:cNvSpPr/>
          <p:nvPr/>
        </p:nvSpPr>
        <p:spPr>
          <a:xfrm>
            <a:off x="457200" y="4893469"/>
            <a:ext cx="7073764"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Thread C / p.08</a:t>
            </a:r>
            <a:endParaRPr lang="en-US" sz="800" dirty="0"/>
          </a:p>
        </p:txBody>
      </p:sp>
      <p:sp>
        <p:nvSpPr>
          <p:cNvPr id="40" name="Text 38"/>
          <p:cNvSpPr/>
          <p:nvPr/>
        </p:nvSpPr>
        <p:spPr>
          <a:xfrm>
            <a:off x="7545251" y="4893469"/>
            <a:ext cx="1319916"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E.R.A. CRAIG · AUCKLAND NZ</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240860"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C / COMPUTATIONAL CONFIRMATION / 09 OF 14</a:t>
            </a:r>
            <a:endParaRPr lang="en-US" sz="800" dirty="0"/>
          </a:p>
        </p:txBody>
      </p:sp>
      <p:sp>
        <p:nvSpPr>
          <p:cNvPr id="4" name="Text 2"/>
          <p:cNvSpPr/>
          <p:nvPr/>
        </p:nvSpPr>
        <p:spPr>
          <a:xfrm>
            <a:off x="7712348" y="342900"/>
            <a:ext cx="9744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60772" y="689372"/>
            <a:ext cx="4930527" cy="3850481"/>
          </a:xfrm>
          <a:prstGeom prst="roundRect">
            <a:avLst>
              <a:gd name="adj" fmla="val 1484"/>
            </a:avLst>
          </a:prstGeom>
          <a:solidFill>
            <a:srgbClr val="1F2630"/>
          </a:solidFill>
          <a:ln w="7144">
            <a:solidFill>
              <a:srgbClr val="2A3038"/>
            </a:solidFill>
            <a:prstDash val="solid"/>
          </a:ln>
        </p:spPr>
        <p:txBody>
          <a:bodyPr wrap="square" rtlCol="0" anchor="ctr"/>
          <a:lstStyle/>
          <a:p>
            <a:pPr indent="0" marL="0">
              <a:buNone/>
            </a:pPr>
            <a:endParaRPr lang="en-US" dirty="0"/>
          </a:p>
        </p:txBody>
      </p:sp>
      <p:pic>
        <p:nvPicPr>
          <p:cNvPr id="6" name="Image 0" descr="https://chat.z.ai/api/v1/sandbox/version/file?path=download%2Fslides%2Ffig2_covering.png&amp;chatId=21e346a9-4590-48e0-bcb2-25016aabc1df">    </p:cNvPr>
          <p:cNvPicPr>
            <a:picLocks noChangeAspect="1"/>
          </p:cNvPicPr>
          <p:nvPr/>
        </p:nvPicPr>
        <p:blipFill>
          <a:blip r:embed="rId1"/>
          <a:stretch>
            <a:fillRect/>
          </a:stretch>
        </p:blipFill>
        <p:spPr>
          <a:xfrm>
            <a:off x="564356" y="1115430"/>
            <a:ext cx="4723358" cy="2833948"/>
          </a:xfrm>
          <a:prstGeom prst="rect">
            <a:avLst/>
          </a:prstGeom>
        </p:spPr>
      </p:pic>
      <p:sp>
        <p:nvSpPr>
          <p:cNvPr id="7" name="Text 4"/>
          <p:cNvSpPr/>
          <p:nvPr/>
        </p:nvSpPr>
        <p:spPr>
          <a:xfrm>
            <a:off x="564356" y="4329113"/>
            <a:ext cx="4723358" cy="107156"/>
          </a:xfrm>
          <a:prstGeom prst="rect">
            <a:avLst/>
          </a:prstGeom>
          <a:noFill/>
          <a:ln/>
        </p:spPr>
        <p:txBody>
          <a:bodyPr wrap="square" lIns="0" tIns="0" rIns="0" bIns="0" rtlCol="0" anchor="t"/>
          <a:lstStyle/>
          <a:p>
            <a:pPr algn="ctr" indent="0" marL="0">
              <a:lnSpc>
                <a:spcPts val="844"/>
              </a:lnSpc>
              <a:buNone/>
            </a:pPr>
            <a:r>
              <a:rPr lang="en-US" sz="800" spc="56" kern="0" dirty="0">
                <a:solidFill>
                  <a:srgbClr val="6B7280"/>
                </a:solidFill>
                <a:latin typeface="Courier New" pitchFamily="34" charset="0"/>
                <a:ea typeface="Courier New" pitchFamily="34" charset="-122"/>
                <a:cs typeface="Courier New" pitchFamily="34" charset="-120"/>
              </a:rPr>
              <a:t>FIG. 2 · AVG_Φ VS. AVG_DIST · 16 [7,4] CODES · SPEARMAN −0.888</a:t>
            </a:r>
            <a:endParaRPr lang="en-US" sz="800" dirty="0"/>
          </a:p>
        </p:txBody>
      </p:sp>
      <p:sp>
        <p:nvSpPr>
          <p:cNvPr id="8" name="Text 5"/>
          <p:cNvSpPr/>
          <p:nvPr/>
        </p:nvSpPr>
        <p:spPr>
          <a:xfrm>
            <a:off x="5594896" y="685800"/>
            <a:ext cx="342900" cy="21431"/>
          </a:xfrm>
          <a:prstGeom prst="rect">
            <a:avLst/>
          </a:prstGeom>
          <a:solidFill>
            <a:srgbClr val="6FE3D2"/>
          </a:solidFill>
          <a:ln/>
        </p:spPr>
        <p:txBody>
          <a:bodyPr wrap="square" rtlCol="0" anchor="ctr"/>
          <a:lstStyle/>
          <a:p>
            <a:pPr indent="0" marL="0">
              <a:buNone/>
            </a:pPr>
            <a:endParaRPr lang="en-US" dirty="0"/>
          </a:p>
        </p:txBody>
      </p:sp>
      <p:sp>
        <p:nvSpPr>
          <p:cNvPr id="9" name="Text 6"/>
          <p:cNvSpPr/>
          <p:nvPr/>
        </p:nvSpPr>
        <p:spPr>
          <a:xfrm>
            <a:off x="5594896" y="821531"/>
            <a:ext cx="3339257" cy="203610"/>
          </a:xfrm>
          <a:prstGeom prst="rect">
            <a:avLst/>
          </a:prstGeom>
          <a:noFill/>
          <a:ln/>
        </p:spPr>
        <p:txBody>
          <a:bodyPr wrap="square" lIns="0" tIns="0" rIns="0" bIns="0" rtlCol="0" anchor="t"/>
          <a:lstStyle/>
          <a:p>
            <a:pPr algn="l" indent="0" marL="0">
              <a:lnSpc>
                <a:spcPts val="1485"/>
              </a:lnSpc>
              <a:buNone/>
            </a:pPr>
            <a:r>
              <a:rPr lang="en-US" sz="1238" spc="-12" kern="0" dirty="0">
                <a:solidFill>
                  <a:srgbClr val="E6E6E6"/>
                </a:solidFill>
                <a:latin typeface="Carlito" pitchFamily="34" charset="0"/>
                <a:ea typeface="Carlito" pitchFamily="34" charset="-122"/>
                <a:cs typeface="Carlito" pitchFamily="34" charset="-120"/>
              </a:rPr>
              <a:t>Spearman </a:t>
            </a:r>
            <a:pPr algn="l" indent="0" marL="0">
              <a:lnSpc>
                <a:spcPts val="1485"/>
              </a:lnSpc>
              <a:buNone/>
            </a:pPr>
            <a:r>
              <a:rPr lang="en-US" sz="1238" spc="-12" kern="0" dirty="0">
                <a:solidFill>
                  <a:srgbClr val="6FE3D2"/>
                </a:solidFill>
                <a:latin typeface="Liberation Sans Narrow" pitchFamily="34" charset="0"/>
                <a:ea typeface="Liberation Sans Narrow" pitchFamily="34" charset="-122"/>
                <a:cs typeface="Liberation Sans Narrow" pitchFamily="34" charset="-120"/>
              </a:rPr>
              <a:t>−0.888</a:t>
            </a:r>
            <a:pPr algn="l" indent="0" marL="0">
              <a:lnSpc>
                <a:spcPts val="1485"/>
              </a:lnSpc>
              <a:buNone/>
            </a:pPr>
            <a:r>
              <a:rPr lang="en-US" sz="1238" spc="-12" kern="0" dirty="0">
                <a:solidFill>
                  <a:srgbClr val="E6E6E6"/>
                </a:solidFill>
                <a:latin typeface="Carlito" pitchFamily="34" charset="0"/>
                <a:ea typeface="Carlito" pitchFamily="34" charset="-122"/>
                <a:cs typeface="Carlito" pitchFamily="34" charset="-120"/>
              </a:rPr>
              <a:t> across </a:t>
            </a:r>
            <a:pPr algn="l" indent="0" marL="0">
              <a:lnSpc>
                <a:spcPts val="1485"/>
              </a:lnSpc>
              <a:buNone/>
            </a:pPr>
            <a:r>
              <a:rPr lang="en-US" sz="1238" spc="-12" kern="0" dirty="0">
                <a:solidFill>
                  <a:srgbClr val="E6E6E6"/>
                </a:solidFill>
                <a:latin typeface="Liberation Sans Narrow" pitchFamily="34" charset="0"/>
                <a:ea typeface="Liberation Sans Narrow" pitchFamily="34" charset="-122"/>
                <a:cs typeface="Liberation Sans Narrow" pitchFamily="34" charset="-120"/>
              </a:rPr>
              <a:t>16</a:t>
            </a:r>
            <a:pPr algn="l" indent="0" marL="0">
              <a:lnSpc>
                <a:spcPts val="1485"/>
              </a:lnSpc>
              <a:buNone/>
            </a:pPr>
            <a:r>
              <a:rPr lang="en-US" sz="1238" spc="-12" kern="0" dirty="0">
                <a:solidFill>
                  <a:srgbClr val="E6E6E6"/>
                </a:solidFill>
                <a:latin typeface="Carlito" pitchFamily="34" charset="0"/>
                <a:ea typeface="Carlito" pitchFamily="34" charset="-122"/>
                <a:cs typeface="Carlito" pitchFamily="34" charset="-120"/>
              </a:rPr>
              <a:t> </a:t>
            </a:r>
            <a:pPr algn="l" indent="0" marL="0">
              <a:lnSpc>
                <a:spcPts val="1485"/>
              </a:lnSpc>
              <a:buNone/>
            </a:pPr>
            <a:r>
              <a:rPr lang="en-US" sz="1238" i="1" spc="-12" kern="0" dirty="0">
                <a:solidFill>
                  <a:srgbClr val="E6E6E6"/>
                </a:solidFill>
                <a:latin typeface="Liberation Sans Narrow" pitchFamily="34" charset="0"/>
                <a:ea typeface="Liberation Sans Narrow" pitchFamily="34" charset="-122"/>
                <a:cs typeface="Liberation Sans Narrow" pitchFamily="34" charset="-120"/>
              </a:rPr>
              <a:t>[7,4]</a:t>
            </a:r>
            <a:pPr algn="l" indent="0" marL="0">
              <a:lnSpc>
                <a:spcPts val="1485"/>
              </a:lnSpc>
              <a:buNone/>
            </a:pPr>
            <a:r>
              <a:rPr lang="en-US" sz="1238" spc="-12" kern="0" dirty="0">
                <a:solidFill>
                  <a:srgbClr val="E6E6E6"/>
                </a:solidFill>
                <a:latin typeface="Carlito" pitchFamily="34" charset="0"/>
                <a:ea typeface="Carlito" pitchFamily="34" charset="-122"/>
                <a:cs typeface="Carlito" pitchFamily="34" charset="-120"/>
              </a:rPr>
              <a:t> codes</a:t>
            </a:r>
            <a:endParaRPr lang="en-US" sz="1238" dirty="0"/>
          </a:p>
        </p:txBody>
      </p:sp>
      <p:sp>
        <p:nvSpPr>
          <p:cNvPr id="10" name="Text 7"/>
          <p:cNvSpPr/>
          <p:nvPr/>
        </p:nvSpPr>
        <p:spPr>
          <a:xfrm>
            <a:off x="5594896" y="1067209"/>
            <a:ext cx="3339257" cy="169980"/>
          </a:xfrm>
          <a:prstGeom prst="rect">
            <a:avLst/>
          </a:prstGeom>
          <a:noFill/>
          <a:ln/>
        </p:spPr>
        <p:txBody>
          <a:bodyPr wrap="square" lIns="0" tIns="0" rIns="0" bIns="0" rtlCol="0" anchor="t"/>
          <a:lstStyle/>
          <a:p>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Tested: Hamming </a:t>
            </a:r>
            <a:pPr algn="l" indent="0" marL="0">
              <a:lnSpc>
                <a:spcPts val="1221"/>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[7,4,3]</a:t>
            </a:r>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221"/>
              </a:lnSpc>
              <a:buNone/>
            </a:pPr>
            <a:r>
              <a:rPr lang="en-US" sz="800" dirty="0">
                <a:solidFill>
                  <a:srgbClr val="6FE3D2"/>
                </a:solidFill>
                <a:latin typeface="Carlito" pitchFamily="34" charset="0"/>
                <a:ea typeface="Carlito" pitchFamily="34" charset="-122"/>
                <a:cs typeface="Carlito" pitchFamily="34" charset="-120"/>
              </a:rPr>
              <a:t>+</a:t>
            </a:r>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221"/>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15</a:t>
            </a:r>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 random </a:t>
            </a:r>
            <a:pPr algn="l" indent="0" marL="0">
              <a:lnSpc>
                <a:spcPts val="1221"/>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[7,4]</a:t>
            </a:r>
            <a:pPr algn="l" indent="0" marL="0">
              <a:lnSpc>
                <a:spcPts val="1221"/>
              </a:lnSpc>
              <a:buNone/>
            </a:pPr>
            <a:r>
              <a:rPr lang="en-US" sz="800" dirty="0">
                <a:solidFill>
                  <a:srgbClr val="B5BAC4"/>
                </a:solidFill>
                <a:latin typeface="Carlito" pitchFamily="34" charset="0"/>
                <a:ea typeface="Carlito" pitchFamily="34" charset="-122"/>
                <a:cs typeface="Carlito" pitchFamily="34" charset="-120"/>
              </a:rPr>
              <a:t> codes.</a:t>
            </a:r>
            <a:endParaRPr lang="en-US" sz="800" dirty="0"/>
          </a:p>
        </p:txBody>
      </p:sp>
      <p:sp>
        <p:nvSpPr>
          <p:cNvPr id="11" name="Text 8"/>
          <p:cNvSpPr/>
          <p:nvPr/>
        </p:nvSpPr>
        <p:spPr>
          <a:xfrm>
            <a:off x="5687764" y="1265002"/>
            <a:ext cx="2999036" cy="318008"/>
          </a:xfrm>
          <a:prstGeom prst="rect">
            <a:avLst/>
          </a:prstGeom>
          <a:noFill/>
          <a:ln/>
        </p:spPr>
        <p:txBody>
          <a:bodyPr wrap="square" lIns="0" tIns="0" rIns="0" bIns="0" rtlCol="0" anchor="t"/>
          <a:lstStyle/>
          <a:p>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For each: computed exact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avg_</a:t>
            </a:r>
            <a:pPr algn="l" indent="0" marL="0">
              <a:lnSpc>
                <a:spcPts val="1101"/>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average distance, covering radius,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d</a:t>
            </a:r>
            <a:pPr algn="l" indent="0" marL="0">
              <a:lnSpc>
                <a:spcPts val="1101"/>
              </a:lnSpc>
              <a:buNone/>
            </a:pPr>
            <a:r>
              <a:rPr lang="en-US" sz="800" i="1" baseline="-40000" dirty="0">
                <a:solidFill>
                  <a:srgbClr val="E6E6E6"/>
                </a:solidFill>
                <a:latin typeface="Tinos" pitchFamily="34" charset="0"/>
                <a:ea typeface="Tinos" pitchFamily="34" charset="-122"/>
                <a:cs typeface="Tinos" pitchFamily="34" charset="-120"/>
              </a:rPr>
              <a:t>min</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12" name="Text 9"/>
          <p:cNvSpPr/>
          <p:nvPr/>
        </p:nvSpPr>
        <p:spPr>
          <a:xfrm>
            <a:off x="5687764" y="1594507"/>
            <a:ext cx="2999036" cy="159004"/>
          </a:xfrm>
          <a:prstGeom prst="rect">
            <a:avLst/>
          </a:prstGeom>
          <a:noFill/>
          <a:ln/>
        </p:spPr>
        <p:txBody>
          <a:bodyPr wrap="square" lIns="0" tIns="0" rIns="0" bIns="0" rtlCol="0" anchor="t"/>
          <a:lstStyle/>
          <a:p>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Spearman rank correlation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(avg_dist, avg_</a:t>
            </a:r>
            <a:pPr algn="l" indent="0" marL="0">
              <a:lnSpc>
                <a:spcPts val="1101"/>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 </a:t>
            </a:r>
            <a:pPr algn="l" indent="0" marL="0">
              <a:lnSpc>
                <a:spcPts val="1101"/>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−0.888</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13" name="Text 10"/>
          <p:cNvSpPr/>
          <p:nvPr/>
        </p:nvSpPr>
        <p:spPr>
          <a:xfrm>
            <a:off x="5687764" y="1784263"/>
            <a:ext cx="2999036" cy="318008"/>
          </a:xfrm>
          <a:prstGeom prst="rect">
            <a:avLst/>
          </a:prstGeom>
          <a:noFill/>
          <a:ln/>
        </p:spPr>
        <p:txBody>
          <a:bodyPr wrap="square" lIns="0" tIns="0" rIns="0" bIns="0" rtlCol="0" anchor="t"/>
          <a:lstStyle/>
          <a:p>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Anti-correlation is </a:t>
            </a:r>
            <a:pPr algn="l" indent="0" marL="0">
              <a:lnSpc>
                <a:spcPts val="1101"/>
              </a:lnSpc>
              <a:buNone/>
            </a:pPr>
            <a:r>
              <a:rPr lang="en-US" sz="800" b="1" dirty="0">
                <a:solidFill>
                  <a:srgbClr val="B5BAC4"/>
                </a:solidFill>
                <a:latin typeface="Carlito" pitchFamily="34" charset="0"/>
                <a:ea typeface="Carlito" pitchFamily="34" charset="-122"/>
                <a:cs typeface="Carlito" pitchFamily="34" charset="-120"/>
              </a:rPr>
              <a:t>strong but not perfect</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 because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avg_</a:t>
            </a:r>
            <a:pPr algn="l" indent="0" marL="0">
              <a:lnSpc>
                <a:spcPts val="1101"/>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depends on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dist / HW</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not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dist</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alone.</a:t>
            </a:r>
            <a:endParaRPr lang="en-US" sz="800" dirty="0"/>
          </a:p>
        </p:txBody>
      </p:sp>
      <p:sp>
        <p:nvSpPr>
          <p:cNvPr id="14" name="Text 11"/>
          <p:cNvSpPr/>
          <p:nvPr/>
        </p:nvSpPr>
        <p:spPr>
          <a:xfrm>
            <a:off x="5598468" y="2188778"/>
            <a:ext cx="1503090" cy="410766"/>
          </a:xfrm>
          <a:prstGeom prst="roundRect">
            <a:avLst>
              <a:gd name="adj" fmla="val 11594"/>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5" name="Text 12"/>
          <p:cNvSpPr/>
          <p:nvPr/>
        </p:nvSpPr>
        <p:spPr>
          <a:xfrm>
            <a:off x="5673477" y="2249500"/>
            <a:ext cx="1353071" cy="104727"/>
          </a:xfrm>
          <a:prstGeom prst="rect">
            <a:avLst/>
          </a:prstGeom>
          <a:noFill/>
          <a:ln/>
        </p:spPr>
        <p:txBody>
          <a:bodyPr wrap="none" lIns="0" tIns="0" rIns="0" bIns="0" rtlCol="0" anchor="t">
            <a:normAutofit/>
          </a:bodyPr>
          <a:lstStyle/>
          <a:p>
            <a:pPr algn="l" indent="0" marL="0">
              <a:lnSpc>
                <a:spcPts val="759"/>
              </a:lnSpc>
              <a:buNone/>
            </a:pPr>
            <a:r>
              <a:rPr lang="en-US" sz="800" spc="61" kern="0" dirty="0">
                <a:solidFill>
                  <a:srgbClr val="6B7280"/>
                </a:solidFill>
                <a:latin typeface="Liberation Sans Narrow" pitchFamily="34" charset="0"/>
                <a:ea typeface="Liberation Sans Narrow" pitchFamily="34" charset="-122"/>
                <a:cs typeface="Liberation Sans Narrow" pitchFamily="34" charset="-120"/>
              </a:rPr>
              <a:t>HAMMING [7,4,3]</a:t>
            </a:r>
            <a:endParaRPr lang="en-US" sz="800" dirty="0"/>
          </a:p>
        </p:txBody>
      </p:sp>
      <p:sp>
        <p:nvSpPr>
          <p:cNvPr id="16" name="Text 13"/>
          <p:cNvSpPr/>
          <p:nvPr/>
        </p:nvSpPr>
        <p:spPr>
          <a:xfrm>
            <a:off x="5673477" y="2381659"/>
            <a:ext cx="912469" cy="154305"/>
          </a:xfrm>
          <a:prstGeom prst="rect">
            <a:avLst/>
          </a:prstGeom>
          <a:noFill/>
          <a:ln/>
        </p:spPr>
        <p:txBody>
          <a:bodyPr wrap="none" lIns="0" tIns="0" rIns="0" bIns="0" rtlCol="0" anchor="t"/>
          <a:lstStyle/>
          <a:p>
            <a:pPr algn="l" indent="0" marL="0">
              <a:lnSpc>
                <a:spcPts val="1350"/>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avg_Φ = 2.133</a:t>
            </a:r>
            <a:endParaRPr lang="en-US" sz="900" dirty="0"/>
          </a:p>
        </p:txBody>
      </p:sp>
      <p:sp>
        <p:nvSpPr>
          <p:cNvPr id="17" name="Text 14"/>
          <p:cNvSpPr/>
          <p:nvPr/>
        </p:nvSpPr>
        <p:spPr>
          <a:xfrm>
            <a:off x="7180138" y="2188778"/>
            <a:ext cx="1503090" cy="410766"/>
          </a:xfrm>
          <a:prstGeom prst="roundRect">
            <a:avLst>
              <a:gd name="adj" fmla="val 11594"/>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8" name="Text 15"/>
          <p:cNvSpPr/>
          <p:nvPr/>
        </p:nvSpPr>
        <p:spPr>
          <a:xfrm>
            <a:off x="7255148" y="2249500"/>
            <a:ext cx="1353071" cy="104727"/>
          </a:xfrm>
          <a:prstGeom prst="rect">
            <a:avLst/>
          </a:prstGeom>
          <a:noFill/>
          <a:ln/>
        </p:spPr>
        <p:txBody>
          <a:bodyPr wrap="none" lIns="0" tIns="0" rIns="0" bIns="0" rtlCol="0" anchor="t">
            <a:normAutofit/>
          </a:bodyPr>
          <a:lstStyle/>
          <a:p>
            <a:pPr algn="l" indent="0" marL="0">
              <a:lnSpc>
                <a:spcPts val="759"/>
              </a:lnSpc>
              <a:buNone/>
            </a:pPr>
            <a:r>
              <a:rPr lang="en-US" sz="800" spc="61" kern="0" dirty="0">
                <a:solidFill>
                  <a:srgbClr val="6B7280"/>
                </a:solidFill>
                <a:latin typeface="Courier New" pitchFamily="34" charset="0"/>
                <a:ea typeface="Courier New" pitchFamily="34" charset="-122"/>
                <a:cs typeface="Courier New" pitchFamily="34" charset="-120"/>
              </a:rPr>
              <a:t>AVG_DIST</a:t>
            </a:r>
            <a:endParaRPr lang="en-US" sz="800" dirty="0"/>
          </a:p>
        </p:txBody>
      </p:sp>
      <p:sp>
        <p:nvSpPr>
          <p:cNvPr id="19" name="Text 16"/>
          <p:cNvSpPr/>
          <p:nvPr/>
        </p:nvSpPr>
        <p:spPr>
          <a:xfrm>
            <a:off x="7255148" y="2381659"/>
            <a:ext cx="457200" cy="154305"/>
          </a:xfrm>
          <a:prstGeom prst="rect">
            <a:avLst/>
          </a:prstGeom>
          <a:noFill/>
          <a:ln/>
        </p:spPr>
        <p:txBody>
          <a:bodyPr wrap="square" lIns="0" tIns="0" rIns="0" bIns="0" rtlCol="0" anchor="t"/>
          <a:lstStyle/>
          <a:p>
            <a:pPr algn="l" indent="0" marL="0">
              <a:lnSpc>
                <a:spcPts val="1350"/>
              </a:lnSpc>
              <a:buNone/>
            </a:pPr>
            <a:r>
              <a:rPr lang="en-US" sz="900" dirty="0">
                <a:solidFill>
                  <a:srgbClr val="6FE3D2"/>
                </a:solidFill>
                <a:latin typeface="Liberation Sans Narrow" pitchFamily="34" charset="0"/>
                <a:ea typeface="Liberation Sans Narrow" pitchFamily="34" charset="-122"/>
                <a:cs typeface="Liberation Sans Narrow" pitchFamily="34" charset="-120"/>
              </a:rPr>
              <a:t>0.875</a:t>
            </a:r>
            <a:endParaRPr lang="en-US" sz="900" dirty="0"/>
          </a:p>
        </p:txBody>
      </p:sp>
      <p:sp>
        <p:nvSpPr>
          <p:cNvPr id="20" name="Text 17"/>
          <p:cNvSpPr/>
          <p:nvPr/>
        </p:nvSpPr>
        <p:spPr>
          <a:xfrm>
            <a:off x="5687764" y="2674553"/>
            <a:ext cx="2999036" cy="159004"/>
          </a:xfrm>
          <a:prstGeom prst="rect">
            <a:avLst/>
          </a:prstGeom>
          <a:noFill/>
          <a:ln/>
        </p:spPr>
        <p:txBody>
          <a:bodyPr wrap="square" lIns="0" tIns="0" rIns="0" bIns="0" rtlCol="0" anchor="t"/>
          <a:lstStyle/>
          <a:p>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Hamming </a:t>
            </a:r>
            <a:pPr algn="l" indent="0" marL="0">
              <a:lnSpc>
                <a:spcPts val="1101"/>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[7,4,3]</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101"/>
              </a:lnSpc>
              <a:buNone/>
            </a:pPr>
            <a:r>
              <a:rPr lang="en-US" sz="800" b="1" dirty="0">
                <a:solidFill>
                  <a:srgbClr val="FFB454"/>
                </a:solidFill>
                <a:latin typeface="Carlito" pitchFamily="34" charset="0"/>
                <a:ea typeface="Carlito" pitchFamily="34" charset="-122"/>
                <a:cs typeface="Carlito" pitchFamily="34" charset="-120"/>
              </a:rPr>
              <a:t>perfect code</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101"/>
              </a:lnSpc>
              <a:buNone/>
            </a:pPr>
            <a:r>
              <a:rPr lang="en-US" sz="800" i="1" dirty="0">
                <a:solidFill>
                  <a:srgbClr val="B5BAC4"/>
                </a:solidFill>
                <a:latin typeface="Carlito" pitchFamily="34" charset="0"/>
                <a:ea typeface="Carlito" pitchFamily="34" charset="-122"/>
                <a:cs typeface="Carlito" pitchFamily="34" charset="-120"/>
              </a:rPr>
              <a:t>wins</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lowest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avg_dist</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highest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avg_</a:t>
            </a:r>
            <a:pPr algn="l" indent="0" marL="0">
              <a:lnSpc>
                <a:spcPts val="1101"/>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21" name="Text 18"/>
          <p:cNvSpPr/>
          <p:nvPr/>
        </p:nvSpPr>
        <p:spPr>
          <a:xfrm>
            <a:off x="5687764" y="2864309"/>
            <a:ext cx="2999036" cy="318008"/>
          </a:xfrm>
          <a:prstGeom prst="rect">
            <a:avLst/>
          </a:prstGeom>
          <a:noFill/>
          <a:ln/>
        </p:spPr>
        <p:txBody>
          <a:bodyPr wrap="square" lIns="0" tIns="0" rIns="0" bIns="0" rtlCol="0" anchor="t"/>
          <a:lstStyle/>
          <a:p>
            <a:pPr algn="l" indent="0" marL="0">
              <a:lnSpc>
                <a:spcPts val="1101"/>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Sorted top-5 by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avg_</a:t>
            </a:r>
            <a:pPr algn="l" indent="0" marL="0">
              <a:lnSpc>
                <a:spcPts val="1101"/>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101"/>
              </a:lnSpc>
              <a:buNone/>
            </a:pPr>
            <a:r>
              <a:rPr lang="en-US" sz="800" dirty="0">
                <a:solidFill>
                  <a:srgbClr val="FFB454"/>
                </a:solidFill>
                <a:latin typeface="Courier New" pitchFamily="34" charset="0"/>
                <a:ea typeface="Courier New" pitchFamily="34" charset="-122"/>
                <a:cs typeface="Courier New" pitchFamily="34" charset="-120"/>
              </a:rPr>
              <a:t>==</a:t>
            </a:r>
            <a:pPr algn="l" indent="0" marL="0">
              <a:lnSpc>
                <a:spcPts val="1101"/>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sorted top-5 by lowest </a:t>
            </a:r>
            <a:pPr algn="l" indent="0" marL="0">
              <a:lnSpc>
                <a:spcPts val="1101"/>
              </a:lnSpc>
              <a:buNone/>
            </a:pPr>
            <a:r>
              <a:rPr lang="en-US" sz="800" i="1" dirty="0">
                <a:solidFill>
                  <a:srgbClr val="E6E6E6"/>
                </a:solidFill>
                <a:latin typeface="Tinos" pitchFamily="34" charset="0"/>
                <a:ea typeface="Tinos" pitchFamily="34" charset="-122"/>
                <a:cs typeface="Tinos" pitchFamily="34" charset="-120"/>
              </a:rPr>
              <a:t>avg_dist</a:t>
            </a:r>
            <a:pPr algn="l" indent="0" marL="0">
              <a:lnSpc>
                <a:spcPts val="1101"/>
              </a:lnSpc>
              <a:buNone/>
            </a:pPr>
            <a:r>
              <a:rPr lang="en-US" sz="800" dirty="0">
                <a:solidFill>
                  <a:srgbClr val="B5BAC4"/>
                </a:solidFill>
                <a:latin typeface="Carlito" pitchFamily="34" charset="0"/>
                <a:ea typeface="Carlito" pitchFamily="34" charset="-122"/>
                <a:cs typeface="Carlito" pitchFamily="34" charset="-120"/>
              </a:rPr>
              <a:t>. Order is consistent.</a:t>
            </a:r>
            <a:endParaRPr lang="en-US" sz="800" dirty="0"/>
          </a:p>
        </p:txBody>
      </p:sp>
      <p:sp>
        <p:nvSpPr>
          <p:cNvPr id="22" name="Shape 19"/>
          <p:cNvSpPr/>
          <p:nvPr/>
        </p:nvSpPr>
        <p:spPr>
          <a:xfrm>
            <a:off x="5594896" y="3254536"/>
            <a:ext cx="3091904" cy="0"/>
          </a:xfrm>
          <a:prstGeom prst="line">
            <a:avLst/>
          </a:prstGeom>
          <a:noFill/>
          <a:ln w="7144">
            <a:solidFill>
              <a:srgbClr val="2A3038"/>
            </a:solidFill>
            <a:prstDash val="solid"/>
          </a:ln>
        </p:spPr>
      </p:sp>
      <p:sp>
        <p:nvSpPr>
          <p:cNvPr id="23" name="Text 20"/>
          <p:cNvSpPr/>
          <p:nvPr/>
        </p:nvSpPr>
        <p:spPr>
          <a:xfrm>
            <a:off x="5594896" y="3250964"/>
            <a:ext cx="3091904" cy="243596"/>
          </a:xfrm>
          <a:prstGeom prst="rect">
            <a:avLst/>
          </a:prstGeom>
          <a:noFill/>
          <a:ln/>
        </p:spPr>
        <p:txBody>
          <a:bodyPr wrap="square" lIns="0" tIns="57150" rIns="0" bIns="0" rtlCol="0" anchor="t"/>
          <a:lstStyle/>
          <a:p>
            <a:pPr algn="l" indent="0" marL="0">
              <a:lnSpc>
                <a:spcPts val="1055"/>
              </a:lnSpc>
              <a:buNone/>
            </a:pPr>
            <a:r>
              <a:rPr lang="en-US" sz="800" i="1" dirty="0">
                <a:solidFill>
                  <a:srgbClr val="6FE3D2"/>
                </a:solidFill>
                <a:latin typeface="Carlito" pitchFamily="34" charset="0"/>
                <a:ea typeface="Carlito" pitchFamily="34" charset="-122"/>
                <a:cs typeface="Carlito" pitchFamily="34" charset="-120"/>
              </a:rPr>
              <a:t>⇒</a:t>
            </a:r>
            <a:pPr algn="l" indent="0" marL="0">
              <a:lnSpc>
                <a:spcPts val="1055"/>
              </a:lnSpc>
              <a:buNone/>
            </a:pPr>
            <a:r>
              <a:rPr lang="en-US" sz="800" i="1" dirty="0">
                <a:solidFill>
                  <a:srgbClr val="B5BAC4"/>
                </a:solidFill>
                <a:latin typeface="Carlito" pitchFamily="34" charset="0"/>
                <a:ea typeface="Carlito" pitchFamily="34" charset="-122"/>
                <a:cs typeface="Carlito" pitchFamily="34" charset="-120"/>
              </a:rPr>
              <a:t> Computational confirmation of the theorem on the previous slide.</a:t>
            </a:r>
            <a:endParaRPr lang="en-US" sz="800" dirty="0"/>
          </a:p>
        </p:txBody>
      </p:sp>
      <p:sp>
        <p:nvSpPr>
          <p:cNvPr id="24" name="Text 21"/>
          <p:cNvSpPr/>
          <p:nvPr/>
        </p:nvSpPr>
        <p:spPr>
          <a:xfrm>
            <a:off x="5598468" y="4382691"/>
            <a:ext cx="1221581" cy="157163"/>
          </a:xfrm>
          <a:prstGeom prst="roundRect">
            <a:avLst>
              <a:gd name="adj" fmla="val 6054526"/>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25" name="Text 22"/>
          <p:cNvSpPr/>
          <p:nvPr/>
        </p:nvSpPr>
        <p:spPr>
          <a:xfrm>
            <a:off x="5594896" y="4379119"/>
            <a:ext cx="1228725" cy="252374"/>
          </a:xfrm>
          <a:prstGeom prst="rect">
            <a:avLst/>
          </a:prstGeom>
          <a:noFill/>
          <a:ln/>
        </p:spPr>
        <p:txBody>
          <a:bodyPr wrap="square" lIns="71438" tIns="21431" rIns="71438" bIns="21431" rtlCol="0" anchor="t"/>
          <a:lstStyle/>
          <a:p>
            <a:pPr algn="l" indent="0" marL="0">
              <a:lnSpc>
                <a:spcPts val="844"/>
              </a:lnSpc>
              <a:buNone/>
            </a:pPr>
            <a:r>
              <a:rPr lang="en-US" sz="800" spc="56" kern="0" dirty="0">
                <a:solidFill>
                  <a:srgbClr val="6FE3D2"/>
                </a:solidFill>
                <a:latin typeface="Courier New" pitchFamily="34" charset="0"/>
                <a:ea typeface="Courier New" pitchFamily="34" charset="-122"/>
                <a:cs typeface="Courier New" pitchFamily="34" charset="-120"/>
              </a:rPr>
              <a:t>COMPUTATIONALLY CONFIRMED</a:t>
            </a:r>
            <a:endParaRPr lang="en-US" sz="800" dirty="0"/>
          </a:p>
        </p:txBody>
      </p:sp>
      <p:sp>
        <p:nvSpPr>
          <p:cNvPr id="26" name="Text 23"/>
          <p:cNvSpPr/>
          <p:nvPr/>
        </p:nvSpPr>
        <p:spPr>
          <a:xfrm>
            <a:off x="457200" y="4893469"/>
            <a:ext cx="7073764"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Thread C / p.09</a:t>
            </a:r>
            <a:endParaRPr lang="en-US" sz="800" dirty="0"/>
          </a:p>
        </p:txBody>
      </p:sp>
      <p:sp>
        <p:nvSpPr>
          <p:cNvPr id="27" name="Text 24"/>
          <p:cNvSpPr/>
          <p:nvPr/>
        </p:nvSpPr>
        <p:spPr>
          <a:xfrm>
            <a:off x="7545251" y="4893469"/>
            <a:ext cx="1319916"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E.R.A. CRAIG · AUCKLAND NZ</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240860"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SECTION 04 / 04 / THREAD D / 10 OF 14</a:t>
            </a:r>
            <a:endParaRPr lang="en-US" sz="800" dirty="0"/>
          </a:p>
        </p:txBody>
      </p:sp>
      <p:sp>
        <p:nvSpPr>
          <p:cNvPr id="4" name="Text 2"/>
          <p:cNvSpPr/>
          <p:nvPr/>
        </p:nvSpPr>
        <p:spPr>
          <a:xfrm>
            <a:off x="7712348" y="342900"/>
            <a:ext cx="9744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57200" y="771525"/>
            <a:ext cx="28575" cy="457200"/>
          </a:xfrm>
          <a:prstGeom prst="roundRect">
            <a:avLst>
              <a:gd name="adj" fmla="val 66667"/>
            </a:avLst>
          </a:prstGeom>
          <a:solidFill>
            <a:srgbClr val="FFB454"/>
          </a:solidFill>
          <a:ln/>
        </p:spPr>
        <p:txBody>
          <a:bodyPr wrap="square" rtlCol="0" anchor="ctr"/>
          <a:lstStyle/>
          <a:p>
            <a:pPr indent="0" marL="0">
              <a:buNone/>
            </a:pPr>
            <a:endParaRPr lang="en-US" dirty="0"/>
          </a:p>
        </p:txBody>
      </p:sp>
      <p:sp>
        <p:nvSpPr>
          <p:cNvPr id="6" name="Text 4"/>
          <p:cNvSpPr/>
          <p:nvPr/>
        </p:nvSpPr>
        <p:spPr>
          <a:xfrm>
            <a:off x="685800" y="771525"/>
            <a:ext cx="887533" cy="151162"/>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6B7280"/>
                </a:solidFill>
                <a:latin typeface="Courier New" pitchFamily="34" charset="0"/>
                <a:ea typeface="Courier New" pitchFamily="34" charset="-122"/>
                <a:cs typeface="Courier New" pitchFamily="34" charset="-120"/>
              </a:rPr>
              <a:t>THREAD</a:t>
            </a:r>
            <a:endParaRPr lang="en-US" sz="800" dirty="0"/>
          </a:p>
        </p:txBody>
      </p:sp>
      <p:sp>
        <p:nvSpPr>
          <p:cNvPr id="7" name="Text 5"/>
          <p:cNvSpPr/>
          <p:nvPr/>
        </p:nvSpPr>
        <p:spPr>
          <a:xfrm>
            <a:off x="685800" y="950119"/>
            <a:ext cx="1009590" cy="740664"/>
          </a:xfrm>
          <a:prstGeom prst="rect">
            <a:avLst/>
          </a:prstGeom>
          <a:noFill/>
          <a:ln/>
        </p:spPr>
        <p:txBody>
          <a:bodyPr wrap="square" lIns="0" tIns="0" rIns="0" bIns="0" rtlCol="0" anchor="t"/>
          <a:lstStyle/>
          <a:p>
            <a:pPr algn="l" indent="0" marL="0">
              <a:lnSpc>
                <a:spcPts val="5400"/>
              </a:lnSpc>
              <a:buNone/>
            </a:pPr>
            <a:r>
              <a:rPr lang="en-US" sz="5400" spc="-216" kern="0" dirty="0">
                <a:solidFill>
                  <a:srgbClr val="FFB454"/>
                </a:solidFill>
                <a:latin typeface="Liberation Sans Narrow" pitchFamily="34" charset="0"/>
                <a:ea typeface="Liberation Sans Narrow" pitchFamily="34" charset="-122"/>
                <a:cs typeface="Liberation Sans Narrow" pitchFamily="34" charset="-120"/>
              </a:rPr>
              <a:t>04</a:t>
            </a:r>
            <a:endParaRPr lang="en-US" sz="5400" dirty="0"/>
          </a:p>
        </p:txBody>
      </p:sp>
      <p:sp>
        <p:nvSpPr>
          <p:cNvPr id="8" name="Text 6"/>
          <p:cNvSpPr/>
          <p:nvPr/>
        </p:nvSpPr>
        <p:spPr>
          <a:xfrm>
            <a:off x="1573969" y="942975"/>
            <a:ext cx="7570031"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B097FF"/>
                </a:solidFill>
                <a:latin typeface="Liberation Sans Narrow" pitchFamily="34" charset="0"/>
                <a:ea typeface="Liberation Sans Narrow" pitchFamily="34" charset="-122"/>
                <a:cs typeface="Liberation Sans Narrow" pitchFamily="34" charset="-120"/>
              </a:rPr>
              <a:t>CONVERSE_001 · PRIORITY 4</a:t>
            </a:r>
            <a:endParaRPr lang="en-US" sz="800" dirty="0"/>
          </a:p>
        </p:txBody>
      </p:sp>
      <p:sp>
        <p:nvSpPr>
          <p:cNvPr id="9" name="Text 7"/>
          <p:cNvSpPr/>
          <p:nvPr/>
        </p:nvSpPr>
        <p:spPr>
          <a:xfrm>
            <a:off x="1573969" y="1175147"/>
            <a:ext cx="7112831" cy="327054"/>
          </a:xfrm>
          <a:prstGeom prst="rect">
            <a:avLst/>
          </a:prstGeom>
          <a:noFill/>
          <a:ln/>
        </p:spPr>
        <p:txBody>
          <a:bodyPr wrap="square" lIns="0" tIns="0" rIns="0" bIns="0" rtlCol="0" anchor="t"/>
          <a:lstStyle/>
          <a:p>
            <a:pPr algn="l" indent="0" marL="0">
              <a:lnSpc>
                <a:spcPts val="2329"/>
              </a:lnSpc>
              <a:buNone/>
            </a:pPr>
            <a:r>
              <a:rPr lang="en-US" sz="2025" spc="-30" kern="0" dirty="0">
                <a:solidFill>
                  <a:srgbClr val="E6E6E6"/>
                </a:solidFill>
                <a:latin typeface="Carlito" pitchFamily="34" charset="0"/>
                <a:ea typeface="Carlito" pitchFamily="34" charset="-122"/>
                <a:cs typeface="Carlito" pitchFamily="34" charset="-120"/>
              </a:rPr>
              <a:t>Thread D — </a:t>
            </a:r>
            <a:pPr algn="l" indent="0" marL="0">
              <a:lnSpc>
                <a:spcPts val="2329"/>
              </a:lnSpc>
              <a:buNone/>
            </a:pPr>
            <a:r>
              <a:rPr lang="en-US" sz="2025" i="1" spc="-30" kern="0" dirty="0">
                <a:solidFill>
                  <a:srgbClr val="E6E6E6"/>
                </a:solidFill>
                <a:latin typeface="Liberation Sans Narrow" pitchFamily="34" charset="0"/>
                <a:ea typeface="Liberation Sans Narrow" pitchFamily="34" charset="-122"/>
                <a:cs typeface="Liberation Sans Narrow" pitchFamily="34" charset="-120"/>
              </a:rPr>
              <a:t>[23,12]</a:t>
            </a:r>
            <a:pPr algn="l" indent="0" marL="0">
              <a:lnSpc>
                <a:spcPts val="2329"/>
              </a:lnSpc>
              <a:buNone/>
            </a:pPr>
            <a:r>
              <a:rPr lang="en-US" sz="2025" spc="-30" kern="0" dirty="0">
                <a:solidFill>
                  <a:srgbClr val="E6E6E6"/>
                </a:solidFill>
                <a:latin typeface="Carlito" pitchFamily="34" charset="0"/>
                <a:ea typeface="Carlito" pitchFamily="34" charset="-122"/>
                <a:cs typeface="Carlito" pitchFamily="34" charset="-120"/>
              </a:rPr>
              <a:t> Sampling</a:t>
            </a:r>
            <a:endParaRPr lang="en-US" sz="2025" dirty="0"/>
          </a:p>
        </p:txBody>
      </p:sp>
      <p:sp>
        <p:nvSpPr>
          <p:cNvPr id="10" name="Text 8"/>
          <p:cNvSpPr/>
          <p:nvPr/>
        </p:nvSpPr>
        <p:spPr>
          <a:xfrm>
            <a:off x="1573969" y="1678000"/>
            <a:ext cx="857250" cy="7144"/>
          </a:xfrm>
          <a:prstGeom prst="rect">
            <a:avLst/>
          </a:prstGeom>
          <a:solidFill>
            <a:srgbClr val="2A3038"/>
          </a:solidFill>
          <a:ln/>
        </p:spPr>
        <p:txBody>
          <a:bodyPr wrap="square" rtlCol="0" anchor="ctr"/>
          <a:lstStyle/>
          <a:p>
            <a:pPr indent="0" marL="0">
              <a:buNone/>
            </a:pPr>
            <a:endParaRPr lang="en-US" dirty="0"/>
          </a:p>
        </p:txBody>
      </p:sp>
      <p:sp>
        <p:nvSpPr>
          <p:cNvPr id="11" name="Text 9"/>
          <p:cNvSpPr/>
          <p:nvPr/>
        </p:nvSpPr>
        <p:spPr>
          <a:xfrm>
            <a:off x="1573969" y="1842306"/>
            <a:ext cx="4286250" cy="600102"/>
          </a:xfrm>
          <a:prstGeom prst="rect">
            <a:avLst/>
          </a:prstGeom>
          <a:noFill/>
          <a:ln/>
        </p:spPr>
        <p:txBody>
          <a:bodyPr wrap="square" lIns="0" tIns="0" rIns="0" bIns="0" rtlCol="0" anchor="t"/>
          <a:lstStyle/>
          <a:p>
            <a:pPr algn="l" indent="0" marL="0">
              <a:lnSpc>
                <a:spcPts val="144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CONVERSE_001 </a:t>
            </a:r>
            <a:pPr algn="l" indent="0" marL="0">
              <a:lnSpc>
                <a:spcPts val="1440"/>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Priority 4</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The </a:t>
            </a:r>
            <a:pPr algn="l" indent="0" marL="0">
              <a:lnSpc>
                <a:spcPts val="1440"/>
              </a:lnSpc>
              <a:buNone/>
            </a:pPr>
            <a:r>
              <a:rPr lang="en-US" sz="900" i="1" dirty="0">
                <a:solidFill>
                  <a:srgbClr val="E6E6E6"/>
                </a:solidFill>
                <a:latin typeface="Liberation Sans Narrow" pitchFamily="34" charset="0"/>
                <a:ea typeface="Liberation Sans Narrow" pitchFamily="34" charset="-122"/>
                <a:cs typeface="Liberation Sans Narrow" pitchFamily="34" charset="-120"/>
              </a:rPr>
              <a:t>[7,4]</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result strongly suggested Golay </a:t>
            </a:r>
            <a:pPr algn="l" indent="0" marL="0">
              <a:lnSpc>
                <a:spcPts val="1440"/>
              </a:lnSpc>
              <a:buNone/>
            </a:pPr>
            <a:r>
              <a:rPr lang="en-US" sz="900" i="1" dirty="0">
                <a:solidFill>
                  <a:srgbClr val="E6E6E6"/>
                </a:solidFill>
                <a:latin typeface="Liberation Sans Narrow" pitchFamily="34" charset="0"/>
                <a:ea typeface="Liberation Sans Narrow" pitchFamily="34" charset="-122"/>
                <a:cs typeface="Liberation Sans Narrow" pitchFamily="34" charset="-120"/>
              </a:rPr>
              <a:t>[23,12,7]</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maximises </a:t>
            </a:r>
            <a:pPr algn="l" indent="0" marL="0">
              <a:lnSpc>
                <a:spcPts val="1440"/>
              </a:lnSpc>
              <a:buNone/>
            </a:pPr>
            <a:r>
              <a:rPr lang="en-US" sz="900" i="1" dirty="0">
                <a:solidFill>
                  <a:srgbClr val="E6E6E6"/>
                </a:solidFill>
                <a:latin typeface="Tinos" pitchFamily="34" charset="0"/>
                <a:ea typeface="Tinos" pitchFamily="34" charset="-122"/>
                <a:cs typeface="Tinos" pitchFamily="34" charset="-120"/>
              </a:rPr>
              <a:t>avg_</a:t>
            </a:r>
            <a:pPr algn="l" indent="0" marL="0">
              <a:lnSpc>
                <a:spcPts val="1440"/>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over all </a:t>
            </a:r>
            <a:pPr algn="l" indent="0" marL="0">
              <a:lnSpc>
                <a:spcPts val="1440"/>
              </a:lnSpc>
              <a:buNone/>
            </a:pPr>
            <a:r>
              <a:rPr lang="en-US" sz="900" i="1" dirty="0">
                <a:solidFill>
                  <a:srgbClr val="E6E6E6"/>
                </a:solidFill>
                <a:latin typeface="Liberation Sans Narrow" pitchFamily="34" charset="0"/>
                <a:ea typeface="Liberation Sans Narrow" pitchFamily="34" charset="-122"/>
                <a:cs typeface="Liberation Sans Narrow" pitchFamily="34" charset="-120"/>
              </a:rPr>
              <a:t>[23,12]</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codes. Exhaustive enumeration is infeasible (</a:t>
            </a:r>
            <a:pPr algn="l" indent="0" marL="0">
              <a:lnSpc>
                <a:spcPts val="1440"/>
              </a:lnSpc>
              <a:buNone/>
            </a:pPr>
            <a:r>
              <a:rPr lang="en-US" sz="900" dirty="0">
                <a:solidFill>
                  <a:srgbClr val="E6E6E6"/>
                </a:solidFill>
                <a:latin typeface="Liberation Sans Narrow" pitchFamily="34" charset="0"/>
                <a:ea typeface="Liberation Sans Narrow" pitchFamily="34" charset="-122"/>
                <a:cs typeface="Liberation Sans Narrow" pitchFamily="34" charset="-120"/>
              </a:rPr>
              <a:t>2</a:t>
            </a:r>
            <a:pPr algn="l" indent="0" marL="0">
              <a:lnSpc>
                <a:spcPts val="1440"/>
              </a:lnSpc>
              <a:buNone/>
            </a:pPr>
            <a:r>
              <a:rPr lang="en-US" sz="800" baseline="30000" dirty="0">
                <a:solidFill>
                  <a:srgbClr val="E6E6E6"/>
                </a:solidFill>
                <a:latin typeface="Liberation Sans Narrow" pitchFamily="34" charset="0"/>
                <a:ea typeface="Liberation Sans Narrow" pitchFamily="34" charset="-122"/>
                <a:cs typeface="Liberation Sans Narrow" pitchFamily="34" charset="-120"/>
              </a:rPr>
              <a:t>276</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 candidate codes). We </a:t>
            </a:r>
            <a:pPr algn="l" indent="0" marL="0">
              <a:lnSpc>
                <a:spcPts val="1440"/>
              </a:lnSpc>
              <a:buNone/>
            </a:pPr>
            <a:r>
              <a:rPr lang="en-US" sz="900" dirty="0">
                <a:solidFill>
                  <a:srgbClr val="FFB454"/>
                </a:solidFill>
                <a:latin typeface="Carlito" pitchFamily="34" charset="0"/>
                <a:ea typeface="Carlito" pitchFamily="34" charset="-122"/>
                <a:cs typeface="Carlito" pitchFamily="34" charset="-120"/>
              </a:rPr>
              <a:t>Monte-Carlo</a:t>
            </a:r>
            <a:pPr algn="l" indent="0" marL="0">
              <a:lnSpc>
                <a:spcPts val="1440"/>
              </a:lnSpc>
              <a:buNone/>
            </a:pPr>
            <a:r>
              <a:rPr lang="en-US" sz="900" dirty="0">
                <a:solidFill>
                  <a:srgbClr val="B5BAC4"/>
                </a:solidFill>
                <a:latin typeface="Carlito" pitchFamily="34" charset="0"/>
                <a:ea typeface="Carlito" pitchFamily="34" charset="-122"/>
                <a:cs typeface="Carlito" pitchFamily="34" charset="-120"/>
              </a:rPr>
              <a:t>.</a:t>
            </a:r>
            <a:endParaRPr lang="en-US" sz="900" dirty="0"/>
          </a:p>
        </p:txBody>
      </p:sp>
      <p:sp>
        <p:nvSpPr>
          <p:cNvPr id="12" name="Text 10"/>
          <p:cNvSpPr/>
          <p:nvPr/>
        </p:nvSpPr>
        <p:spPr>
          <a:xfrm>
            <a:off x="434340" y="4569285"/>
            <a:ext cx="845820"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3" name="Text 11"/>
          <p:cNvSpPr/>
          <p:nvPr/>
        </p:nvSpPr>
        <p:spPr>
          <a:xfrm>
            <a:off x="457200" y="4579144"/>
            <a:ext cx="800100"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FFB454"/>
                </a:solidFill>
                <a:latin typeface="Liberation Sans Narrow" pitchFamily="34" charset="0"/>
                <a:ea typeface="Liberation Sans Narrow" pitchFamily="34" charset="-122"/>
                <a:cs typeface="Liberation Sans Narrow" pitchFamily="34" charset="-120"/>
              </a:rPr>
              <a:t>GOLAY [23,12,7]</a:t>
            </a:r>
            <a:endParaRPr lang="en-US" sz="800" dirty="0"/>
          </a:p>
        </p:txBody>
      </p:sp>
      <p:sp>
        <p:nvSpPr>
          <p:cNvPr id="14" name="Text 12"/>
          <p:cNvSpPr/>
          <p:nvPr/>
        </p:nvSpPr>
        <p:spPr>
          <a:xfrm>
            <a:off x="1334453" y="4569285"/>
            <a:ext cx="845820"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5" name="Text 13"/>
          <p:cNvSpPr/>
          <p:nvPr/>
        </p:nvSpPr>
        <p:spPr>
          <a:xfrm>
            <a:off x="1357313" y="4579144"/>
            <a:ext cx="800100"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MONTE CARLO 20K</a:t>
            </a:r>
            <a:endParaRPr lang="en-US" sz="800" dirty="0"/>
          </a:p>
        </p:txBody>
      </p:sp>
      <p:sp>
        <p:nvSpPr>
          <p:cNvPr id="16" name="Text 14"/>
          <p:cNvSpPr/>
          <p:nvPr/>
        </p:nvSpPr>
        <p:spPr>
          <a:xfrm>
            <a:off x="2234565" y="4569285"/>
            <a:ext cx="631508"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17" name="Text 15"/>
          <p:cNvSpPr/>
          <p:nvPr/>
        </p:nvSpPr>
        <p:spPr>
          <a:xfrm>
            <a:off x="2257425" y="4579144"/>
            <a:ext cx="585788"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PRIORITY 4</a:t>
            </a:r>
            <a:endParaRPr lang="en-US" sz="800" dirty="0"/>
          </a:p>
        </p:txBody>
      </p:sp>
      <p:sp>
        <p:nvSpPr>
          <p:cNvPr id="18" name="Text 16"/>
          <p:cNvSpPr/>
          <p:nvPr/>
        </p:nvSpPr>
        <p:spPr>
          <a:xfrm>
            <a:off x="457200" y="4893469"/>
            <a:ext cx="7073764"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Thread D / p.10</a:t>
            </a:r>
            <a:endParaRPr lang="en-US" sz="800" dirty="0"/>
          </a:p>
        </p:txBody>
      </p:sp>
      <p:sp>
        <p:nvSpPr>
          <p:cNvPr id="19" name="Text 17"/>
          <p:cNvSpPr/>
          <p:nvPr/>
        </p:nvSpPr>
        <p:spPr>
          <a:xfrm>
            <a:off x="7545251" y="4893469"/>
            <a:ext cx="1319916"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E.R.A. CRAIG · AUCKLAND NZ</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240860"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D / [23,12] MONTE CARLO / 11 OF 14</a:t>
            </a:r>
            <a:endParaRPr lang="en-US" sz="800" dirty="0"/>
          </a:p>
        </p:txBody>
      </p:sp>
      <p:sp>
        <p:nvSpPr>
          <p:cNvPr id="4" name="Text 2"/>
          <p:cNvSpPr/>
          <p:nvPr/>
        </p:nvSpPr>
        <p:spPr>
          <a:xfrm>
            <a:off x="7712348" y="342900"/>
            <a:ext cx="9744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60772" y="689372"/>
            <a:ext cx="4829845" cy="4136231"/>
          </a:xfrm>
          <a:prstGeom prst="roundRect">
            <a:avLst>
              <a:gd name="adj" fmla="val 1382"/>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6" name="Text 4"/>
          <p:cNvSpPr/>
          <p:nvPr/>
        </p:nvSpPr>
        <p:spPr>
          <a:xfrm>
            <a:off x="578644" y="821531"/>
            <a:ext cx="3736851" cy="164592"/>
          </a:xfrm>
          <a:prstGeom prst="rect">
            <a:avLst/>
          </a:prstGeom>
          <a:noFill/>
          <a:ln/>
        </p:spPr>
        <p:txBody>
          <a:bodyPr wrap="square" lIns="0" tIns="0" rIns="0" bIns="0" rtlCol="0" anchor="t"/>
          <a:lstStyle/>
          <a:p>
            <a:pPr algn="l" indent="0" marL="0">
              <a:lnSpc>
                <a:spcPts val="844"/>
              </a:lnSpc>
              <a:buNone/>
            </a:pPr>
            <a:r>
              <a:rPr lang="en-US" sz="800" spc="79" kern="0" dirty="0">
                <a:solidFill>
                  <a:srgbClr val="6B7280"/>
                </a:solidFill>
                <a:latin typeface="Liberation Sans Narrow" pitchFamily="34" charset="0"/>
                <a:ea typeface="Liberation Sans Narrow" pitchFamily="34" charset="-122"/>
                <a:cs typeface="Liberation Sans Narrow" pitchFamily="34" charset="-120"/>
              </a:rPr>
              <a:t>FIG 3 — AVG</a:t>
            </a:r>
            <a:pPr algn="l" indent="0" marL="0">
              <a:lnSpc>
                <a:spcPts val="844"/>
              </a:lnSpc>
              <a:buNone/>
            </a:pPr>
            <a:r>
              <a:rPr lang="en-US" sz="800" baseline="-40000" spc="79" kern="0" dirty="0">
                <a:solidFill>
                  <a:srgbClr val="6B7280"/>
                </a:solidFill>
                <a:latin typeface="Courier New" pitchFamily="34" charset="0"/>
                <a:ea typeface="Courier New" pitchFamily="34" charset="-122"/>
                <a:cs typeface="Courier New" pitchFamily="34" charset="-120"/>
              </a:rPr>
              <a:t>Φ</a:t>
            </a:r>
            <a:pPr algn="l" indent="0" marL="0">
              <a:lnSpc>
                <a:spcPts val="844"/>
              </a:lnSpc>
              <a:buNone/>
            </a:pPr>
            <a:r>
              <a:rPr lang="en-US" sz="800" spc="79" kern="0" dirty="0">
                <a:solidFill>
                  <a:srgbClr val="6B7280"/>
                </a:solidFill>
                <a:latin typeface="Liberation Sans Narrow" pitchFamily="34" charset="0"/>
                <a:ea typeface="Liberation Sans Narrow" pitchFamily="34" charset="-122"/>
                <a:cs typeface="Liberation Sans Narrow" pitchFamily="34" charset="-120"/>
              </a:rPr>
              <a:t> ACROSS 6 SAMPLED [23,12] CODES</a:t>
            </a:r>
            <a:endParaRPr lang="en-US" sz="800" dirty="0"/>
          </a:p>
        </p:txBody>
      </p:sp>
      <p:sp>
        <p:nvSpPr>
          <p:cNvPr id="7" name="Text 5"/>
          <p:cNvSpPr/>
          <p:nvPr/>
        </p:nvSpPr>
        <p:spPr>
          <a:xfrm>
            <a:off x="4306922" y="783098"/>
            <a:ext cx="845820"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8" name="Text 6"/>
          <p:cNvSpPr/>
          <p:nvPr/>
        </p:nvSpPr>
        <p:spPr>
          <a:xfrm>
            <a:off x="4329782" y="792956"/>
            <a:ext cx="800100"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FFB454"/>
                </a:solidFill>
                <a:latin typeface="Liberation Sans Narrow" pitchFamily="34" charset="0"/>
                <a:ea typeface="Liberation Sans Narrow" pitchFamily="34" charset="-122"/>
                <a:cs typeface="Liberation Sans Narrow" pitchFamily="34" charset="-120"/>
              </a:rPr>
              <a:t>N=20,000 / CODE</a:t>
            </a:r>
            <a:endParaRPr lang="en-US" sz="800" dirty="0"/>
          </a:p>
        </p:txBody>
      </p:sp>
      <p:sp>
        <p:nvSpPr>
          <p:cNvPr id="9" name="Text 7"/>
          <p:cNvSpPr/>
          <p:nvPr/>
        </p:nvSpPr>
        <p:spPr>
          <a:xfrm>
            <a:off x="578644" y="1028700"/>
            <a:ext cx="4594101" cy="3693319"/>
          </a:xfrm>
          <a:prstGeom prst="roundRect">
            <a:avLst>
              <a:gd name="adj" fmla="val 1032"/>
            </a:avLst>
          </a:prstGeom>
          <a:solidFill>
            <a:srgbClr val="0B0E12"/>
          </a:solidFill>
          <a:ln/>
        </p:spPr>
        <p:txBody>
          <a:bodyPr wrap="square" rtlCol="0" anchor="ctr"/>
          <a:lstStyle/>
          <a:p>
            <a:pPr indent="0" marL="0">
              <a:buNone/>
            </a:pPr>
            <a:endParaRPr lang="en-US" dirty="0"/>
          </a:p>
        </p:txBody>
      </p:sp>
      <p:pic>
        <p:nvPicPr>
          <p:cNvPr id="10" name="Image 0" descr="/tmp/h2p-fit-1782285554031-thqkq2.png">    </p:cNvPr>
          <p:cNvPicPr>
            <a:picLocks noChangeAspect="1"/>
          </p:cNvPicPr>
          <p:nvPr/>
        </p:nvPicPr>
        <p:blipFill>
          <a:blip r:embed="rId1"/>
          <a:stretch>
            <a:fillRect/>
          </a:stretch>
        </p:blipFill>
        <p:spPr>
          <a:xfrm>
            <a:off x="635794" y="1768636"/>
            <a:ext cx="4479801" cy="2213446"/>
          </a:xfrm>
          <a:prstGeom prst="rect">
            <a:avLst/>
          </a:prstGeom>
        </p:spPr>
      </p:pic>
      <p:sp>
        <p:nvSpPr>
          <p:cNvPr id="11" name="Text 8"/>
          <p:cNvSpPr/>
          <p:nvPr/>
        </p:nvSpPr>
        <p:spPr>
          <a:xfrm>
            <a:off x="5465638" y="685800"/>
            <a:ext cx="342900" cy="21431"/>
          </a:xfrm>
          <a:prstGeom prst="rect">
            <a:avLst/>
          </a:prstGeom>
          <a:solidFill>
            <a:srgbClr val="FFB454"/>
          </a:solidFill>
          <a:ln/>
        </p:spPr>
        <p:txBody>
          <a:bodyPr wrap="square" rtlCol="0" anchor="ctr"/>
          <a:lstStyle/>
          <a:p>
            <a:pPr indent="0" marL="0">
              <a:buNone/>
            </a:pPr>
            <a:endParaRPr lang="en-US" dirty="0"/>
          </a:p>
        </p:txBody>
      </p:sp>
      <p:sp>
        <p:nvSpPr>
          <p:cNvPr id="12" name="Text 9"/>
          <p:cNvSpPr/>
          <p:nvPr/>
        </p:nvSpPr>
        <p:spPr>
          <a:xfrm>
            <a:off x="5465638" y="821531"/>
            <a:ext cx="3478854" cy="203610"/>
          </a:xfrm>
          <a:prstGeom prst="rect">
            <a:avLst/>
          </a:prstGeom>
          <a:noFill/>
          <a:ln/>
        </p:spPr>
        <p:txBody>
          <a:bodyPr wrap="square" lIns="0" tIns="0" rIns="0" bIns="0" rtlCol="0" anchor="t"/>
          <a:lstStyle/>
          <a:p>
            <a:pPr algn="l" indent="0" marL="0">
              <a:lnSpc>
                <a:spcPts val="1485"/>
              </a:lnSpc>
              <a:buNone/>
            </a:pPr>
            <a:r>
              <a:rPr lang="en-US" sz="1238" dirty="0">
                <a:solidFill>
                  <a:srgbClr val="E6E6E6"/>
                </a:solidFill>
                <a:latin typeface="Carlito" pitchFamily="34" charset="0"/>
                <a:ea typeface="Carlito" pitchFamily="34" charset="-122"/>
                <a:cs typeface="Carlito" pitchFamily="34" charset="-120"/>
              </a:rPr>
              <a:t>Golay strictly highest — margin </a:t>
            </a:r>
            <a:pPr algn="l" indent="0" marL="0">
              <a:lnSpc>
                <a:spcPts val="1485"/>
              </a:lnSpc>
              <a:buNone/>
            </a:pPr>
            <a:r>
              <a:rPr lang="en-US" sz="1238" dirty="0">
                <a:solidFill>
                  <a:srgbClr val="FFB454"/>
                </a:solidFill>
                <a:latin typeface="Liberation Sans Narrow" pitchFamily="34" charset="0"/>
                <a:ea typeface="Liberation Sans Narrow" pitchFamily="34" charset="-122"/>
                <a:cs typeface="Liberation Sans Narrow" pitchFamily="34" charset="-120"/>
              </a:rPr>
              <a:t>+0.036</a:t>
            </a:r>
            <a:endParaRPr lang="en-US" sz="1238" dirty="0"/>
          </a:p>
        </p:txBody>
      </p:sp>
      <p:sp>
        <p:nvSpPr>
          <p:cNvPr id="13" name="Text 10"/>
          <p:cNvSpPr/>
          <p:nvPr/>
        </p:nvSpPr>
        <p:spPr>
          <a:xfrm>
            <a:off x="5469210" y="1113644"/>
            <a:ext cx="3214018" cy="1285875"/>
          </a:xfrm>
          <a:prstGeom prst="roundRect">
            <a:avLst>
              <a:gd name="adj" fmla="val 4444"/>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4" name="Shape 11"/>
          <p:cNvSpPr/>
          <p:nvPr/>
        </p:nvSpPr>
        <p:spPr>
          <a:xfrm>
            <a:off x="5572795" y="1292237"/>
            <a:ext cx="1915976" cy="0"/>
          </a:xfrm>
          <a:prstGeom prst="line">
            <a:avLst/>
          </a:prstGeom>
          <a:noFill/>
          <a:ln w="7144">
            <a:solidFill>
              <a:srgbClr val="2A3038"/>
            </a:solidFill>
            <a:prstDash val="solid"/>
          </a:ln>
        </p:spPr>
      </p:sp>
      <p:sp>
        <p:nvSpPr>
          <p:cNvPr id="15" name="Text 12"/>
          <p:cNvSpPr/>
          <p:nvPr/>
        </p:nvSpPr>
        <p:spPr>
          <a:xfrm>
            <a:off x="5572795" y="1195797"/>
            <a:ext cx="283607" cy="91440"/>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CODE</a:t>
            </a:r>
            <a:endParaRPr lang="en-US" sz="800" dirty="0"/>
          </a:p>
        </p:txBody>
      </p:sp>
      <p:sp>
        <p:nvSpPr>
          <p:cNvPr id="16" name="Text 13"/>
          <p:cNvSpPr/>
          <p:nvPr/>
        </p:nvSpPr>
        <p:spPr>
          <a:xfrm>
            <a:off x="5750049" y="1195797"/>
            <a:ext cx="296108" cy="91440"/>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AVG</a:t>
            </a:r>
            <a:pPr algn="l" indent="0" marL="0">
              <a:lnSpc>
                <a:spcPts val="844"/>
              </a:lnSpc>
              <a:buNone/>
            </a:pPr>
            <a:r>
              <a:rPr lang="en-US" sz="800" baseline="-40000" spc="68" kern="0" dirty="0">
                <a:solidFill>
                  <a:srgbClr val="6B7280"/>
                </a:solidFill>
                <a:latin typeface="Courier New" pitchFamily="34" charset="0"/>
                <a:ea typeface="Courier New" pitchFamily="34" charset="-122"/>
                <a:cs typeface="Courier New" pitchFamily="34" charset="-120"/>
              </a:rPr>
              <a:t>Φ</a:t>
            </a:r>
            <a:endParaRPr lang="en-US" sz="800" dirty="0"/>
          </a:p>
        </p:txBody>
      </p:sp>
      <p:sp>
        <p:nvSpPr>
          <p:cNvPr id="17" name="Text 14"/>
          <p:cNvSpPr/>
          <p:nvPr/>
        </p:nvSpPr>
        <p:spPr>
          <a:xfrm>
            <a:off x="5572795" y="1317241"/>
            <a:ext cx="1293148" cy="131159"/>
          </a:xfrm>
          <a:prstGeom prst="rect">
            <a:avLst/>
          </a:prstGeom>
          <a:noFill/>
          <a:ln/>
        </p:spPr>
        <p:txBody>
          <a:bodyPr wrap="square" lIns="0" tIns="0" rIns="0" bIns="0" rtlCol="0" anchor="t"/>
          <a:lstStyle/>
          <a:p>
            <a:pPr algn="l" indent="0" marL="0">
              <a:lnSpc>
                <a:spcPts val="1350"/>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Golay [23,12,7]</a:t>
            </a:r>
            <a:pPr algn="l" indent="0" marL="0">
              <a:lnSpc>
                <a:spcPts val="1350"/>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d=7, perfect</a:t>
            </a:r>
            <a:endParaRPr lang="en-US" sz="900" dirty="0"/>
          </a:p>
        </p:txBody>
      </p:sp>
      <p:sp>
        <p:nvSpPr>
          <p:cNvPr id="18" name="Text 15"/>
          <p:cNvSpPr/>
          <p:nvPr/>
        </p:nvSpPr>
        <p:spPr>
          <a:xfrm>
            <a:off x="6770154" y="1310097"/>
            <a:ext cx="466344" cy="154305"/>
          </a:xfrm>
          <a:prstGeom prst="rect">
            <a:avLst/>
          </a:prstGeom>
          <a:noFill/>
          <a:ln/>
        </p:spPr>
        <p:txBody>
          <a:bodyPr wrap="square" lIns="0" tIns="0" rIns="0" bIns="0" rtlCol="0" anchor="t"/>
          <a:lstStyle/>
          <a:p>
            <a:pPr algn="l" indent="0" marL="0">
              <a:lnSpc>
                <a:spcPts val="1350"/>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2.1851</a:t>
            </a:r>
            <a:endParaRPr lang="en-US" sz="900" dirty="0"/>
          </a:p>
        </p:txBody>
      </p:sp>
      <p:sp>
        <p:nvSpPr>
          <p:cNvPr id="19" name="Text 16"/>
          <p:cNvSpPr/>
          <p:nvPr/>
        </p:nvSpPr>
        <p:spPr>
          <a:xfrm>
            <a:off x="5572795" y="1488691"/>
            <a:ext cx="1331747" cy="131159"/>
          </a:xfrm>
          <a:prstGeom prst="rect">
            <a:avLst/>
          </a:prstGeom>
          <a:noFill/>
          <a:ln/>
        </p:spPr>
        <p:txBody>
          <a:bodyPr wrap="none" lIns="0" tIns="0" rIns="0" bIns="0" rtlCol="0" anchor="t"/>
          <a:lstStyle/>
          <a:p>
            <a:pPr algn="l" indent="0" marL="0">
              <a:lnSpc>
                <a:spcPts val="135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Random [23,12] #1</a:t>
            </a:r>
            <a:pPr algn="l" indent="0" marL="0">
              <a:lnSpc>
                <a:spcPts val="1350"/>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d=3</a:t>
            </a:r>
            <a:endParaRPr lang="en-US" sz="900" dirty="0"/>
          </a:p>
        </p:txBody>
      </p:sp>
      <p:sp>
        <p:nvSpPr>
          <p:cNvPr id="20" name="Text 17"/>
          <p:cNvSpPr/>
          <p:nvPr/>
        </p:nvSpPr>
        <p:spPr>
          <a:xfrm>
            <a:off x="6709097" y="1481547"/>
            <a:ext cx="466344" cy="154305"/>
          </a:xfrm>
          <a:prstGeom prst="rect">
            <a:avLst/>
          </a:prstGeom>
          <a:noFill/>
          <a:ln/>
        </p:spPr>
        <p:txBody>
          <a:bodyPr wrap="square" lIns="0" tIns="0" rIns="0" bIns="0" rtlCol="0" anchor="t"/>
          <a:lstStyle/>
          <a:p>
            <a:pPr algn="l" indent="0" marL="0">
              <a:lnSpc>
                <a:spcPts val="135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2.1385</a:t>
            </a:r>
            <a:endParaRPr lang="en-US" sz="900" dirty="0"/>
          </a:p>
        </p:txBody>
      </p:sp>
      <p:sp>
        <p:nvSpPr>
          <p:cNvPr id="21" name="Text 18"/>
          <p:cNvSpPr/>
          <p:nvPr/>
        </p:nvSpPr>
        <p:spPr>
          <a:xfrm>
            <a:off x="5572795" y="1660141"/>
            <a:ext cx="1331747" cy="131159"/>
          </a:xfrm>
          <a:prstGeom prst="rect">
            <a:avLst/>
          </a:prstGeom>
          <a:noFill/>
          <a:ln/>
        </p:spPr>
        <p:txBody>
          <a:bodyPr wrap="none" lIns="0" tIns="0" rIns="0" bIns="0" rtlCol="0" anchor="t"/>
          <a:lstStyle/>
          <a:p>
            <a:pPr algn="l" indent="0" marL="0">
              <a:lnSpc>
                <a:spcPts val="135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Random [23,12] #2</a:t>
            </a:r>
            <a:pPr algn="l" indent="0" marL="0">
              <a:lnSpc>
                <a:spcPts val="1350"/>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d=3</a:t>
            </a:r>
            <a:endParaRPr lang="en-US" sz="900" dirty="0"/>
          </a:p>
        </p:txBody>
      </p:sp>
      <p:sp>
        <p:nvSpPr>
          <p:cNvPr id="22" name="Text 19"/>
          <p:cNvSpPr/>
          <p:nvPr/>
        </p:nvSpPr>
        <p:spPr>
          <a:xfrm>
            <a:off x="6709097" y="1652997"/>
            <a:ext cx="466344" cy="154305"/>
          </a:xfrm>
          <a:prstGeom prst="rect">
            <a:avLst/>
          </a:prstGeom>
          <a:noFill/>
          <a:ln/>
        </p:spPr>
        <p:txBody>
          <a:bodyPr wrap="square" lIns="0" tIns="0" rIns="0" bIns="0" rtlCol="0" anchor="t"/>
          <a:lstStyle/>
          <a:p>
            <a:pPr algn="l" indent="0" marL="0">
              <a:lnSpc>
                <a:spcPts val="135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2.1420</a:t>
            </a:r>
            <a:endParaRPr lang="en-US" sz="900" dirty="0"/>
          </a:p>
        </p:txBody>
      </p:sp>
      <p:sp>
        <p:nvSpPr>
          <p:cNvPr id="23" name="Text 20"/>
          <p:cNvSpPr/>
          <p:nvPr/>
        </p:nvSpPr>
        <p:spPr>
          <a:xfrm>
            <a:off x="5572795" y="1831591"/>
            <a:ext cx="1698922" cy="131159"/>
          </a:xfrm>
          <a:prstGeom prst="rect">
            <a:avLst/>
          </a:prstGeom>
          <a:noFill/>
          <a:ln/>
        </p:spPr>
        <p:txBody>
          <a:bodyPr wrap="square" lIns="0" tIns="0" rIns="0" bIns="0" rtlCol="0" anchor="t"/>
          <a:lstStyle/>
          <a:p>
            <a:pPr algn="l" indent="0" marL="0">
              <a:lnSpc>
                <a:spcPts val="1350"/>
              </a:lnSpc>
              <a:buNone/>
            </a:pPr>
            <a:r>
              <a:rPr lang="en-US" sz="900" dirty="0">
                <a:solidFill>
                  <a:srgbClr val="6FE3D2"/>
                </a:solidFill>
                <a:latin typeface="Liberation Sans Narrow" pitchFamily="34" charset="0"/>
                <a:ea typeface="Liberation Sans Narrow" pitchFamily="34" charset="-122"/>
                <a:cs typeface="Liberation Sans Narrow" pitchFamily="34" charset="-120"/>
              </a:rPr>
              <a:t>Random [23,12] #3</a:t>
            </a:r>
            <a:pPr algn="l" indent="0" marL="0">
              <a:lnSpc>
                <a:spcPts val="1350"/>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d=3, best random</a:t>
            </a:r>
            <a:endParaRPr lang="en-US" sz="900" dirty="0"/>
          </a:p>
        </p:txBody>
      </p:sp>
      <p:sp>
        <p:nvSpPr>
          <p:cNvPr id="24" name="Text 21"/>
          <p:cNvSpPr/>
          <p:nvPr/>
        </p:nvSpPr>
        <p:spPr>
          <a:xfrm>
            <a:off x="7145871" y="1824447"/>
            <a:ext cx="466344" cy="154305"/>
          </a:xfrm>
          <a:prstGeom prst="rect">
            <a:avLst/>
          </a:prstGeom>
          <a:noFill/>
          <a:ln/>
        </p:spPr>
        <p:txBody>
          <a:bodyPr wrap="square" lIns="0" tIns="0" rIns="0" bIns="0" rtlCol="0" anchor="t"/>
          <a:lstStyle/>
          <a:p>
            <a:pPr algn="l" indent="0" marL="0">
              <a:lnSpc>
                <a:spcPts val="1350"/>
              </a:lnSpc>
              <a:buNone/>
            </a:pPr>
            <a:r>
              <a:rPr lang="en-US" sz="900" dirty="0">
                <a:solidFill>
                  <a:srgbClr val="6FE3D2"/>
                </a:solidFill>
                <a:latin typeface="Liberation Sans Narrow" pitchFamily="34" charset="0"/>
                <a:ea typeface="Liberation Sans Narrow" pitchFamily="34" charset="-122"/>
                <a:cs typeface="Liberation Sans Narrow" pitchFamily="34" charset="-120"/>
              </a:rPr>
              <a:t>2.1487</a:t>
            </a:r>
            <a:endParaRPr lang="en-US" sz="900" dirty="0"/>
          </a:p>
        </p:txBody>
      </p:sp>
      <p:sp>
        <p:nvSpPr>
          <p:cNvPr id="25" name="Text 22"/>
          <p:cNvSpPr/>
          <p:nvPr/>
        </p:nvSpPr>
        <p:spPr>
          <a:xfrm>
            <a:off x="5572795" y="2003041"/>
            <a:ext cx="1139442" cy="131159"/>
          </a:xfrm>
          <a:prstGeom prst="rect">
            <a:avLst/>
          </a:prstGeom>
          <a:noFill/>
          <a:ln/>
        </p:spPr>
        <p:txBody>
          <a:bodyPr wrap="none" lIns="0" tIns="0" rIns="0" bIns="0" rtlCol="0" anchor="t"/>
          <a:lstStyle/>
          <a:p>
            <a:pPr algn="l" indent="0" marL="0">
              <a:lnSpc>
                <a:spcPts val="135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Random [23,12] #4</a:t>
            </a:r>
            <a:endParaRPr lang="en-US" sz="900" dirty="0"/>
          </a:p>
        </p:txBody>
      </p:sp>
      <p:sp>
        <p:nvSpPr>
          <p:cNvPr id="26" name="Text 23"/>
          <p:cNvSpPr/>
          <p:nvPr/>
        </p:nvSpPr>
        <p:spPr>
          <a:xfrm>
            <a:off x="6545014" y="1995897"/>
            <a:ext cx="466344" cy="154305"/>
          </a:xfrm>
          <a:prstGeom prst="rect">
            <a:avLst/>
          </a:prstGeom>
          <a:noFill/>
          <a:ln/>
        </p:spPr>
        <p:txBody>
          <a:bodyPr wrap="square" lIns="0" tIns="0" rIns="0" bIns="0" rtlCol="0" anchor="t"/>
          <a:lstStyle/>
          <a:p>
            <a:pPr algn="l" indent="0" marL="0">
              <a:lnSpc>
                <a:spcPts val="135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2.1408</a:t>
            </a:r>
            <a:endParaRPr lang="en-US" sz="900" dirty="0"/>
          </a:p>
        </p:txBody>
      </p:sp>
      <p:sp>
        <p:nvSpPr>
          <p:cNvPr id="27" name="Text 24"/>
          <p:cNvSpPr/>
          <p:nvPr/>
        </p:nvSpPr>
        <p:spPr>
          <a:xfrm>
            <a:off x="5572795" y="2174491"/>
            <a:ext cx="1139442" cy="131159"/>
          </a:xfrm>
          <a:prstGeom prst="rect">
            <a:avLst/>
          </a:prstGeom>
          <a:noFill/>
          <a:ln/>
        </p:spPr>
        <p:txBody>
          <a:bodyPr wrap="none" lIns="0" tIns="0" rIns="0" bIns="0" rtlCol="0" anchor="t"/>
          <a:lstStyle/>
          <a:p>
            <a:pPr algn="l" indent="0" marL="0">
              <a:lnSpc>
                <a:spcPts val="135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Random [23,12] #5</a:t>
            </a:r>
            <a:endParaRPr lang="en-US" sz="900" dirty="0"/>
          </a:p>
        </p:txBody>
      </p:sp>
      <p:sp>
        <p:nvSpPr>
          <p:cNvPr id="28" name="Text 25"/>
          <p:cNvSpPr/>
          <p:nvPr/>
        </p:nvSpPr>
        <p:spPr>
          <a:xfrm>
            <a:off x="6545014" y="2167347"/>
            <a:ext cx="466344" cy="154305"/>
          </a:xfrm>
          <a:prstGeom prst="rect">
            <a:avLst/>
          </a:prstGeom>
          <a:noFill/>
          <a:ln/>
        </p:spPr>
        <p:txBody>
          <a:bodyPr wrap="square" lIns="0" tIns="0" rIns="0" bIns="0" rtlCol="0" anchor="t"/>
          <a:lstStyle/>
          <a:p>
            <a:pPr algn="l" indent="0" marL="0">
              <a:lnSpc>
                <a:spcPts val="1350"/>
              </a:lnSpc>
              <a:buNone/>
            </a:pPr>
            <a:r>
              <a:rPr lang="en-US" sz="900" dirty="0">
                <a:solidFill>
                  <a:srgbClr val="B5BAC4"/>
                </a:solidFill>
                <a:latin typeface="Liberation Sans Narrow" pitchFamily="34" charset="0"/>
                <a:ea typeface="Liberation Sans Narrow" pitchFamily="34" charset="-122"/>
                <a:cs typeface="Liberation Sans Narrow" pitchFamily="34" charset="-120"/>
              </a:rPr>
              <a:t>2.1386</a:t>
            </a:r>
            <a:endParaRPr lang="en-US" sz="900" dirty="0"/>
          </a:p>
        </p:txBody>
      </p:sp>
      <p:sp>
        <p:nvSpPr>
          <p:cNvPr id="29" name="Text 26"/>
          <p:cNvSpPr/>
          <p:nvPr/>
        </p:nvSpPr>
        <p:spPr>
          <a:xfrm>
            <a:off x="5469210" y="2492387"/>
            <a:ext cx="3214018" cy="921544"/>
          </a:xfrm>
          <a:prstGeom prst="roundRect">
            <a:avLst>
              <a:gd name="adj" fmla="val 6202"/>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30" name="Text 27"/>
          <p:cNvSpPr/>
          <p:nvPr/>
        </p:nvSpPr>
        <p:spPr>
          <a:xfrm>
            <a:off x="5572795" y="2610259"/>
            <a:ext cx="2051819" cy="164592"/>
          </a:xfrm>
          <a:prstGeom prst="rect">
            <a:avLst/>
          </a:prstGeom>
          <a:noFill/>
          <a:ln/>
        </p:spPr>
        <p:txBody>
          <a:bodyPr wrap="squar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Margin over best random</a:t>
            </a:r>
            <a:endParaRPr lang="en-US" sz="800" dirty="0"/>
          </a:p>
        </p:txBody>
      </p:sp>
      <p:sp>
        <p:nvSpPr>
          <p:cNvPr id="31" name="Text 28"/>
          <p:cNvSpPr/>
          <p:nvPr/>
        </p:nvSpPr>
        <p:spPr>
          <a:xfrm>
            <a:off x="7638901" y="2610259"/>
            <a:ext cx="940743" cy="164592"/>
          </a:xfrm>
          <a:prstGeom prst="rect">
            <a:avLst/>
          </a:prstGeom>
          <a:noFill/>
          <a:ln/>
        </p:spPr>
        <p:txBody>
          <a:bodyPr wrap="square" lIns="0" tIns="0" rIns="0" bIns="0" rtlCol="0" anchor="t"/>
          <a:lstStyle/>
          <a:p>
            <a:pPr algn="l"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+0.0363</a:t>
            </a:r>
            <a:pPr algn="l" indent="0" marL="0">
              <a:lnSpc>
                <a:spcPts val="1013"/>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 MC SE ≈ 0.003</a:t>
            </a:r>
            <a:endParaRPr lang="en-US" sz="800" dirty="0"/>
          </a:p>
        </p:txBody>
      </p:sp>
      <p:sp>
        <p:nvSpPr>
          <p:cNvPr id="32" name="Text 29"/>
          <p:cNvSpPr/>
          <p:nvPr/>
        </p:nvSpPr>
        <p:spPr>
          <a:xfrm>
            <a:off x="5572795" y="2795997"/>
            <a:ext cx="2692524" cy="164592"/>
          </a:xfrm>
          <a:prstGeom prst="rect">
            <a:avLst/>
          </a:prstGeom>
          <a:noFill/>
          <a:ln/>
        </p:spPr>
        <p:txBody>
          <a:bodyPr wrap="non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Margin over random mean</a:t>
            </a:r>
            <a:endParaRPr lang="en-US" sz="800" dirty="0"/>
          </a:p>
        </p:txBody>
      </p:sp>
      <p:sp>
        <p:nvSpPr>
          <p:cNvPr id="33" name="Text 30"/>
          <p:cNvSpPr/>
          <p:nvPr/>
        </p:nvSpPr>
        <p:spPr>
          <a:xfrm>
            <a:off x="8279606" y="2795997"/>
            <a:ext cx="300038" cy="164592"/>
          </a:xfrm>
          <a:prstGeom prst="rect">
            <a:avLst/>
          </a:prstGeom>
          <a:noFill/>
          <a:ln/>
        </p:spPr>
        <p:txBody>
          <a:bodyPr wrap="square" lIns="0" tIns="0" rIns="0" bIns="0" rtlCol="0" anchor="t"/>
          <a:lstStyle/>
          <a:p>
            <a:pPr algn="l"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+0.0433</a:t>
            </a:r>
            <a:endParaRPr lang="en-US" sz="800" dirty="0"/>
          </a:p>
        </p:txBody>
      </p:sp>
      <p:sp>
        <p:nvSpPr>
          <p:cNvPr id="34" name="Text 31"/>
          <p:cNvSpPr/>
          <p:nvPr/>
        </p:nvSpPr>
        <p:spPr>
          <a:xfrm>
            <a:off x="5572795" y="2981734"/>
            <a:ext cx="2127163" cy="164592"/>
          </a:xfrm>
          <a:prstGeom prst="rect">
            <a:avLst/>
          </a:prstGeom>
          <a:noFill/>
          <a:ln/>
        </p:spPr>
        <p:txBody>
          <a:bodyPr wrap="squar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Perfectness re-verified</a:t>
            </a:r>
            <a:endParaRPr lang="en-US" sz="800" dirty="0"/>
          </a:p>
        </p:txBody>
      </p:sp>
      <p:sp>
        <p:nvSpPr>
          <p:cNvPr id="35" name="Text 32"/>
          <p:cNvSpPr/>
          <p:nvPr/>
        </p:nvSpPr>
        <p:spPr>
          <a:xfrm>
            <a:off x="7714245" y="2981734"/>
            <a:ext cx="865398" cy="164592"/>
          </a:xfrm>
          <a:prstGeom prst="rect">
            <a:avLst/>
          </a:prstGeom>
          <a:noFill/>
          <a:ln/>
        </p:spPr>
        <p:txBody>
          <a:bodyPr wrap="square" lIns="0" tIns="0" rIns="0" bIns="0" rtlCol="0" anchor="t"/>
          <a:lstStyle/>
          <a:p>
            <a:pPr algn="l" indent="0" marL="0">
              <a:lnSpc>
                <a:spcPts val="1013"/>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max dist = 3</a:t>
            </a:r>
            <a:pPr algn="l" indent="0" marL="0">
              <a:lnSpc>
                <a:spcPts val="1013"/>
              </a:lnSpc>
              <a:buNone/>
            </a:pPr>
            <a:r>
              <a:rPr lang="en-US" sz="800" dirty="0">
                <a:solidFill>
                  <a:srgbClr val="6B7280"/>
                </a:solidFill>
                <a:latin typeface="Liberation Sans Narrow" pitchFamily="34" charset="0"/>
                <a:ea typeface="Liberation Sans Narrow" pitchFamily="34" charset="-122"/>
                <a:cs typeface="Liberation Sans Narrow" pitchFamily="34" charset="-120"/>
              </a:rPr>
              <a:t>/ 10</a:t>
            </a:r>
            <a:pPr algn="l" indent="0" marL="0">
              <a:lnSpc>
                <a:spcPts val="1013"/>
              </a:lnSpc>
              <a:buNone/>
            </a:pPr>
            <a:r>
              <a:rPr lang="en-US" sz="800" baseline="30000" dirty="0">
                <a:solidFill>
                  <a:srgbClr val="6B7280"/>
                </a:solidFill>
                <a:latin typeface="Liberation Sans Narrow" pitchFamily="34" charset="0"/>
                <a:ea typeface="Liberation Sans Narrow" pitchFamily="34" charset="-122"/>
                <a:cs typeface="Liberation Sans Narrow" pitchFamily="34" charset="-120"/>
              </a:rPr>
              <a:t>4</a:t>
            </a:r>
            <a:pPr algn="l" indent="0" marL="0">
              <a:lnSpc>
                <a:spcPts val="1013"/>
              </a:lnSpc>
              <a:buNone/>
            </a:pPr>
            <a:r>
              <a:rPr lang="en-US" sz="800" dirty="0">
                <a:solidFill>
                  <a:srgbClr val="6B7280"/>
                </a:solidFill>
                <a:latin typeface="Carlito" pitchFamily="34" charset="0"/>
                <a:ea typeface="Carlito" pitchFamily="34" charset="-122"/>
                <a:cs typeface="Carlito" pitchFamily="34" charset="-120"/>
              </a:rPr>
              <a:t> vec</a:t>
            </a:r>
            <a:endParaRPr lang="en-US" sz="800" dirty="0"/>
          </a:p>
        </p:txBody>
      </p:sp>
      <p:sp>
        <p:nvSpPr>
          <p:cNvPr id="36" name="Text 33"/>
          <p:cNvSpPr/>
          <p:nvPr/>
        </p:nvSpPr>
        <p:spPr>
          <a:xfrm>
            <a:off x="5572795" y="3167472"/>
            <a:ext cx="2041438" cy="157163"/>
          </a:xfrm>
          <a:prstGeom prst="rect">
            <a:avLst/>
          </a:prstGeom>
          <a:noFill/>
          <a:ln/>
        </p:spPr>
        <p:txBody>
          <a:bodyPr wrap="square" lIns="0" tIns="0" rIns="0" bIns="0" rtlCol="0" anchor="t"/>
          <a:lstStyle/>
          <a:p>
            <a:pPr algn="l" indent="0" marL="0">
              <a:lnSpc>
                <a:spcPts val="101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Histogram (dist ≤ 3)</a:t>
            </a:r>
            <a:endParaRPr lang="en-US" sz="800" dirty="0"/>
          </a:p>
        </p:txBody>
      </p:sp>
      <p:sp>
        <p:nvSpPr>
          <p:cNvPr id="37" name="Text 34"/>
          <p:cNvSpPr/>
          <p:nvPr/>
        </p:nvSpPr>
        <p:spPr>
          <a:xfrm>
            <a:off x="7628520" y="3167472"/>
            <a:ext cx="951123" cy="157163"/>
          </a:xfrm>
          <a:prstGeom prst="rect">
            <a:avLst/>
          </a:prstGeom>
          <a:noFill/>
          <a:ln/>
        </p:spPr>
        <p:txBody>
          <a:bodyPr wrap="square" lIns="0" tIns="0" rIns="0" bIns="0" rtlCol="0" anchor="t"/>
          <a:lstStyle/>
          <a:p>
            <a:pPr algn="l"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86%</a:t>
            </a:r>
            <a:pPr algn="l" indent="0" marL="0">
              <a:lnSpc>
                <a:spcPts val="1013"/>
              </a:lnSpc>
              <a:buNone/>
            </a:pPr>
            <a:r>
              <a:rPr lang="en-US" sz="800" dirty="0">
                <a:solidFill>
                  <a:srgbClr val="6B7280"/>
                </a:solidFill>
                <a:latin typeface="Carlito" pitchFamily="34" charset="0"/>
                <a:ea typeface="Carlito" pitchFamily="34" charset="-122"/>
                <a:cs typeface="Carlito" pitchFamily="34" charset="-120"/>
              </a:rPr>
              <a:t>Golay vs ~</a:t>
            </a:r>
            <a:pPr algn="l" indent="0" marL="0">
              <a:lnSpc>
                <a:spcPts val="101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60%</a:t>
            </a:r>
            <a:pPr algn="l" indent="0" marL="0">
              <a:lnSpc>
                <a:spcPts val="1013"/>
              </a:lnSpc>
              <a:buNone/>
            </a:pPr>
            <a:r>
              <a:rPr lang="en-US" sz="800" dirty="0">
                <a:solidFill>
                  <a:srgbClr val="6B7280"/>
                </a:solidFill>
                <a:latin typeface="Carlito" pitchFamily="34" charset="0"/>
                <a:ea typeface="Carlito" pitchFamily="34" charset="-122"/>
                <a:cs typeface="Carlito" pitchFamily="34" charset="-120"/>
              </a:rPr>
              <a:t> random</a:t>
            </a:r>
            <a:endParaRPr lang="en-US" sz="800" dirty="0"/>
          </a:p>
        </p:txBody>
      </p:sp>
      <p:sp>
        <p:nvSpPr>
          <p:cNvPr id="38" name="Text 35"/>
          <p:cNvSpPr/>
          <p:nvPr/>
        </p:nvSpPr>
        <p:spPr>
          <a:xfrm>
            <a:off x="5469210" y="4629150"/>
            <a:ext cx="1876016" cy="196453"/>
          </a:xfrm>
          <a:prstGeom prst="roundRect">
            <a:avLst>
              <a:gd name="adj" fmla="val 4843639"/>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39" name="Text 36"/>
          <p:cNvSpPr/>
          <p:nvPr/>
        </p:nvSpPr>
        <p:spPr>
          <a:xfrm>
            <a:off x="5465638" y="4625578"/>
            <a:ext cx="1883159" cy="284295"/>
          </a:xfrm>
          <a:prstGeom prst="rect">
            <a:avLst/>
          </a:prstGeom>
          <a:noFill/>
          <a:ln/>
        </p:spPr>
        <p:txBody>
          <a:bodyPr wrap="square" lIns="85725" tIns="35719" rIns="85725" bIns="35719" rtlCol="0" anchor="t"/>
          <a:lstStyle/>
          <a:p>
            <a:pPr algn="l" indent="0" marL="0">
              <a:lnSpc>
                <a:spcPts val="928"/>
              </a:lnSpc>
              <a:buNone/>
            </a:pPr>
            <a:r>
              <a:rPr lang="en-US" sz="800" spc="62" kern="0" dirty="0">
                <a:solidFill>
                  <a:srgbClr val="FFB454"/>
                </a:solidFill>
                <a:latin typeface="Liberation Sans Narrow" pitchFamily="34" charset="0"/>
                <a:ea typeface="Liberation Sans Narrow" pitchFamily="34" charset="-122"/>
                <a:cs typeface="Liberation Sans Narrow" pitchFamily="34" charset="-120"/>
              </a:rPr>
              <a:t>PRIORITY 4 — ANSWERED (YES, CLEANLY)</a:t>
            </a:r>
            <a:endParaRPr lang="en-US" sz="800" dirty="0"/>
          </a:p>
        </p:txBody>
      </p:sp>
      <p:sp>
        <p:nvSpPr>
          <p:cNvPr id="40" name="Text 37"/>
          <p:cNvSpPr/>
          <p:nvPr/>
        </p:nvSpPr>
        <p:spPr>
          <a:xfrm>
            <a:off x="457200" y="4893469"/>
            <a:ext cx="7925209"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Thread D / p.11</a:t>
            </a:r>
            <a:endParaRPr lang="en-US" sz="800" dirty="0"/>
          </a:p>
        </p:txBody>
      </p:sp>
      <p:sp>
        <p:nvSpPr>
          <p:cNvPr id="41" name="Text 38"/>
          <p:cNvSpPr/>
          <p:nvPr/>
        </p:nvSpPr>
        <p:spPr>
          <a:xfrm>
            <a:off x="8396697" y="4893469"/>
            <a:ext cx="410859"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11 / 14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240860"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D / DISTANCE HISTOGRAM / 12 OF 14</a:t>
            </a:r>
            <a:endParaRPr lang="en-US" sz="800" dirty="0"/>
          </a:p>
        </p:txBody>
      </p:sp>
      <p:sp>
        <p:nvSpPr>
          <p:cNvPr id="4" name="Text 2"/>
          <p:cNvSpPr/>
          <p:nvPr/>
        </p:nvSpPr>
        <p:spPr>
          <a:xfrm>
            <a:off x="7712348" y="342900"/>
            <a:ext cx="9744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8636000" cy="245370"/>
          </a:xfrm>
          <a:prstGeom prst="rect">
            <a:avLst/>
          </a:prstGeom>
          <a:noFill/>
          <a:ln/>
        </p:spPr>
        <p:txBody>
          <a:bodyPr wrap="square" lIns="0" tIns="0" rIns="0" bIns="0" rtlCol="0" anchor="t">
            <a:normAutofit/>
          </a:bodyPr>
          <a:lstStyle/>
          <a:p>
            <a:pPr algn="l" indent="0" marL="0">
              <a:lnSpc>
                <a:spcPts val="1811"/>
              </a:lnSpc>
              <a:buNone/>
            </a:pPr>
            <a:r>
              <a:rPr lang="en-US" sz="1575" dirty="0">
                <a:solidFill>
                  <a:srgbClr val="E6E6E6"/>
                </a:solidFill>
                <a:latin typeface="Carlito" pitchFamily="34" charset="0"/>
                <a:ea typeface="Carlito" pitchFamily="34" charset="-122"/>
                <a:cs typeface="Carlito" pitchFamily="34" charset="-120"/>
              </a:rPr>
              <a:t>Golay concentrates mass at </a:t>
            </a:r>
            <a:pPr algn="l" indent="0" marL="0">
              <a:lnSpc>
                <a:spcPts val="1811"/>
              </a:lnSpc>
              <a:buNone/>
            </a:pPr>
            <a:r>
              <a:rPr lang="en-US" sz="1575" dirty="0">
                <a:solidFill>
                  <a:srgbClr val="FFB454"/>
                </a:solidFill>
                <a:latin typeface="Liberation Sans Narrow" pitchFamily="34" charset="0"/>
                <a:ea typeface="Liberation Sans Narrow" pitchFamily="34" charset="-122"/>
                <a:cs typeface="Liberation Sans Narrow" pitchFamily="34" charset="-120"/>
              </a:rPr>
              <a:t>dist ≤ 3</a:t>
            </a:r>
            <a:endParaRPr lang="en-US" sz="1575" dirty="0"/>
          </a:p>
        </p:txBody>
      </p:sp>
      <p:sp>
        <p:nvSpPr>
          <p:cNvPr id="7" name="Text 5"/>
          <p:cNvSpPr/>
          <p:nvPr/>
        </p:nvSpPr>
        <p:spPr>
          <a:xfrm>
            <a:off x="457200" y="1094333"/>
            <a:ext cx="6286500" cy="159081"/>
          </a:xfrm>
          <a:prstGeom prst="rect">
            <a:avLst/>
          </a:prstGeom>
          <a:noFill/>
          <a:ln/>
        </p:spPr>
        <p:txBody>
          <a:bodyPr wrap="square" lIns="0" tIns="0" rIns="0" bIns="0" rtlCol="0" anchor="t"/>
          <a:lstStyle/>
          <a:p>
            <a:pPr algn="l" indent="0" marL="0">
              <a:lnSpc>
                <a:spcPts val="1142"/>
              </a:lnSpc>
              <a:buNone/>
            </a:pPr>
            <a:r>
              <a:rPr lang="en-US" sz="800" dirty="0">
                <a:solidFill>
                  <a:srgbClr val="B5BAC4"/>
                </a:solidFill>
                <a:latin typeface="Carlito" pitchFamily="34" charset="0"/>
                <a:ea typeface="Carlito" pitchFamily="34" charset="-122"/>
                <a:cs typeface="Carlito" pitchFamily="34" charset="-120"/>
              </a:rPr>
              <a:t>Perfect-code structure makes the distance distribution uniform on [0, 3] — the convexity reward is maximal.</a:t>
            </a:r>
            <a:endParaRPr lang="en-US" sz="800" dirty="0"/>
          </a:p>
        </p:txBody>
      </p:sp>
      <p:sp>
        <p:nvSpPr>
          <p:cNvPr id="8" name="Text 6"/>
          <p:cNvSpPr/>
          <p:nvPr/>
        </p:nvSpPr>
        <p:spPr>
          <a:xfrm>
            <a:off x="460772" y="1342913"/>
            <a:ext cx="5654836" cy="3421856"/>
          </a:xfrm>
          <a:prstGeom prst="roundRect">
            <a:avLst>
              <a:gd name="adj" fmla="val 1670"/>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9" name="Text 7"/>
          <p:cNvSpPr/>
          <p:nvPr/>
        </p:nvSpPr>
        <p:spPr>
          <a:xfrm>
            <a:off x="578644" y="1482217"/>
            <a:ext cx="4330005" cy="164592"/>
          </a:xfrm>
          <a:prstGeom prst="rect">
            <a:avLst/>
          </a:prstGeom>
          <a:noFill/>
          <a:ln/>
        </p:spPr>
        <p:txBody>
          <a:bodyPr wrap="square" lIns="0" tIns="0" rIns="0" bIns="0" rtlCol="0" anchor="t"/>
          <a:lstStyle/>
          <a:p>
            <a:pPr algn="l" indent="0" marL="0">
              <a:lnSpc>
                <a:spcPts val="844"/>
              </a:lnSpc>
              <a:buNone/>
            </a:pPr>
            <a:r>
              <a:rPr lang="en-US" sz="800" spc="79" kern="0" dirty="0">
                <a:solidFill>
                  <a:srgbClr val="6B7280"/>
                </a:solidFill>
                <a:latin typeface="Courier New" pitchFamily="34" charset="0"/>
                <a:ea typeface="Courier New" pitchFamily="34" charset="-122"/>
                <a:cs typeface="Courier New" pitchFamily="34" charset="-120"/>
              </a:rPr>
              <a:t>FIG 4 — DISTANCE HISTOGRAM, GOLAY VS RANDOM [23,12]</a:t>
            </a:r>
            <a:endParaRPr lang="en-US" sz="800" dirty="0"/>
          </a:p>
        </p:txBody>
      </p:sp>
      <p:sp>
        <p:nvSpPr>
          <p:cNvPr id="10" name="Text 8"/>
          <p:cNvSpPr/>
          <p:nvPr/>
        </p:nvSpPr>
        <p:spPr>
          <a:xfrm>
            <a:off x="4908078" y="1450927"/>
            <a:ext cx="401193"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1" name="Text 9"/>
          <p:cNvSpPr/>
          <p:nvPr/>
        </p:nvSpPr>
        <p:spPr>
          <a:xfrm>
            <a:off x="4922937" y="1460785"/>
            <a:ext cx="371475"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GOLAY</a:t>
            </a:r>
            <a:endParaRPr lang="en-US" sz="800" dirty="0"/>
          </a:p>
        </p:txBody>
      </p:sp>
      <p:sp>
        <p:nvSpPr>
          <p:cNvPr id="12" name="Text 10"/>
          <p:cNvSpPr/>
          <p:nvPr/>
        </p:nvSpPr>
        <p:spPr>
          <a:xfrm>
            <a:off x="5346226" y="1450927"/>
            <a:ext cx="631508"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3" name="Text 11"/>
          <p:cNvSpPr/>
          <p:nvPr/>
        </p:nvSpPr>
        <p:spPr>
          <a:xfrm>
            <a:off x="5369086" y="1460785"/>
            <a:ext cx="585788"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RANDOM (5)</a:t>
            </a:r>
            <a:endParaRPr lang="en-US" sz="800" dirty="0"/>
          </a:p>
        </p:txBody>
      </p:sp>
      <p:sp>
        <p:nvSpPr>
          <p:cNvPr id="14" name="Text 12"/>
          <p:cNvSpPr/>
          <p:nvPr/>
        </p:nvSpPr>
        <p:spPr>
          <a:xfrm>
            <a:off x="578644" y="1696529"/>
            <a:ext cx="5419092" cy="2964656"/>
          </a:xfrm>
          <a:prstGeom prst="roundRect">
            <a:avLst>
              <a:gd name="adj" fmla="val 1285"/>
            </a:avLst>
          </a:prstGeom>
          <a:solidFill>
            <a:srgbClr val="0B0E12"/>
          </a:solidFill>
          <a:ln/>
        </p:spPr>
        <p:txBody>
          <a:bodyPr wrap="square" rtlCol="0" anchor="ctr"/>
          <a:lstStyle/>
          <a:p>
            <a:pPr indent="0" marL="0">
              <a:buNone/>
            </a:pPr>
            <a:endParaRPr lang="en-US" dirty="0"/>
          </a:p>
        </p:txBody>
      </p:sp>
      <p:pic>
        <p:nvPicPr>
          <p:cNvPr id="15" name="Image 0" descr="/tmp/h2p-fit-1782285555133-21hf83.png">    </p:cNvPr>
          <p:cNvPicPr>
            <a:picLocks noChangeAspect="1"/>
          </p:cNvPicPr>
          <p:nvPr/>
        </p:nvPicPr>
        <p:blipFill>
          <a:blip r:embed="rId1"/>
          <a:stretch>
            <a:fillRect/>
          </a:stretch>
        </p:blipFill>
        <p:spPr>
          <a:xfrm>
            <a:off x="635794" y="1930710"/>
            <a:ext cx="5304792" cy="2496294"/>
          </a:xfrm>
          <a:prstGeom prst="rect">
            <a:avLst/>
          </a:prstGeom>
        </p:spPr>
      </p:pic>
      <p:sp>
        <p:nvSpPr>
          <p:cNvPr id="16" name="Text 13"/>
          <p:cNvSpPr/>
          <p:nvPr/>
        </p:nvSpPr>
        <p:spPr>
          <a:xfrm>
            <a:off x="6265627" y="1342913"/>
            <a:ext cx="2417601" cy="647849"/>
          </a:xfrm>
          <a:prstGeom prst="roundRect">
            <a:avLst>
              <a:gd name="adj" fmla="val 8822"/>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7" name="Text 14"/>
          <p:cNvSpPr/>
          <p:nvPr/>
        </p:nvSpPr>
        <p:spPr>
          <a:xfrm>
            <a:off x="6369211" y="1455427"/>
            <a:ext cx="71438" cy="71438"/>
          </a:xfrm>
          <a:prstGeom prst="roundRect">
            <a:avLst>
              <a:gd name="adj" fmla="val 26666"/>
            </a:avLst>
          </a:prstGeom>
          <a:solidFill>
            <a:srgbClr val="FFB454"/>
          </a:solidFill>
          <a:ln/>
        </p:spPr>
        <p:txBody>
          <a:bodyPr wrap="square" rtlCol="0" anchor="ctr"/>
          <a:lstStyle/>
          <a:p>
            <a:pPr indent="0" marL="0">
              <a:buNone/>
            </a:pPr>
            <a:endParaRPr lang="en-US" dirty="0"/>
          </a:p>
        </p:txBody>
      </p:sp>
      <p:sp>
        <p:nvSpPr>
          <p:cNvPr id="18" name="Text 15"/>
          <p:cNvSpPr/>
          <p:nvPr/>
        </p:nvSpPr>
        <p:spPr>
          <a:xfrm>
            <a:off x="6497799" y="1432210"/>
            <a:ext cx="2081845" cy="164592"/>
          </a:xfrm>
          <a:prstGeom prst="rect">
            <a:avLst/>
          </a:prstGeom>
          <a:noFill/>
          <a:ln/>
        </p:spPr>
        <p:txBody>
          <a:bodyPr wrap="square" lIns="0" tIns="0" rIns="0" bIns="0" rtlCol="0" anchor="t"/>
          <a:lstStyle/>
          <a:p>
            <a:pPr algn="l" indent="0" marL="0">
              <a:lnSpc>
                <a:spcPts val="928"/>
              </a:lnSpc>
              <a:buNone/>
            </a:pPr>
            <a:r>
              <a:rPr lang="en-US" sz="800" spc="62" kern="0" dirty="0">
                <a:solidFill>
                  <a:srgbClr val="FFB454"/>
                </a:solidFill>
                <a:latin typeface="Liberation Sans Narrow" pitchFamily="34" charset="0"/>
                <a:ea typeface="Liberation Sans Narrow" pitchFamily="34" charset="-122"/>
                <a:cs typeface="Liberation Sans Narrow" pitchFamily="34" charset="-120"/>
              </a:rPr>
              <a:t>GOLAY [23,12,7]</a:t>
            </a:r>
            <a:endParaRPr lang="en-US" sz="800" dirty="0"/>
          </a:p>
        </p:txBody>
      </p:sp>
      <p:sp>
        <p:nvSpPr>
          <p:cNvPr id="19" name="Text 16"/>
          <p:cNvSpPr/>
          <p:nvPr/>
        </p:nvSpPr>
        <p:spPr>
          <a:xfrm>
            <a:off x="6369211" y="1607232"/>
            <a:ext cx="2320161" cy="133972"/>
          </a:xfrm>
          <a:prstGeom prst="rect">
            <a:avLst/>
          </a:prstGeom>
          <a:noFill/>
          <a:ln/>
        </p:spPr>
        <p:txBody>
          <a:bodyPr wrap="square" lIns="0" tIns="0" rIns="0" bIns="0" rtlCol="0" anchor="t">
            <a:normAutofit/>
          </a:bodyPr>
          <a:lstStyle/>
          <a:p>
            <a:pPr algn="l" indent="0" marL="0">
              <a:lnSpc>
                <a:spcPts val="1046"/>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86%</a:t>
            </a:r>
            <a:pPr algn="l" indent="0" marL="0">
              <a:lnSpc>
                <a:spcPts val="1046"/>
              </a:lnSpc>
              <a:buNone/>
            </a:pPr>
            <a:r>
              <a:rPr lang="en-US" sz="800" dirty="0">
                <a:solidFill>
                  <a:srgbClr val="B5BAC4"/>
                </a:solidFill>
                <a:latin typeface="Carlito" pitchFamily="34" charset="0"/>
                <a:ea typeface="Carlito" pitchFamily="34" charset="-122"/>
                <a:cs typeface="Carlito" pitchFamily="34" charset="-120"/>
              </a:rPr>
              <a:t> of states at </a:t>
            </a:r>
            <a:pPr algn="l" indent="0" marL="0">
              <a:lnSpc>
                <a:spcPts val="1046"/>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dist ≤ 3</a:t>
            </a:r>
            <a:pPr algn="l" indent="0" marL="0">
              <a:lnSpc>
                <a:spcPts val="1046"/>
              </a:lnSpc>
              <a:buNone/>
            </a:pPr>
            <a:r>
              <a:rPr lang="en-US" sz="800" dirty="0">
                <a:solidFill>
                  <a:srgbClr val="B5BAC4"/>
                </a:solidFill>
                <a:latin typeface="Carlito" pitchFamily="34" charset="0"/>
                <a:ea typeface="Carlito" pitchFamily="34" charset="-122"/>
                <a:cs typeface="Carlito" pitchFamily="34" charset="-120"/>
              </a:rPr>
              <a:t> (perfect bound).</a:t>
            </a:r>
            <a:endParaRPr lang="en-US" sz="800" dirty="0"/>
          </a:p>
        </p:txBody>
      </p:sp>
      <p:sp>
        <p:nvSpPr>
          <p:cNvPr id="20" name="Text 17"/>
          <p:cNvSpPr/>
          <p:nvPr/>
        </p:nvSpPr>
        <p:spPr>
          <a:xfrm>
            <a:off x="6369211" y="1768636"/>
            <a:ext cx="2210433" cy="132829"/>
          </a:xfrm>
          <a:prstGeom prst="rect">
            <a:avLst/>
          </a:prstGeom>
          <a:noFill/>
          <a:ln/>
        </p:spPr>
        <p:txBody>
          <a:bodyPr wrap="none" lIns="0" tIns="0" rIns="0" bIns="0" rtlCol="0" anchor="t"/>
          <a:lstStyle/>
          <a:p>
            <a:pPr algn="l" indent="0" marL="0">
              <a:lnSpc>
                <a:spcPts val="1046"/>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0%</a:t>
            </a:r>
            <a:pPr algn="l" indent="0" marL="0">
              <a:lnSpc>
                <a:spcPts val="1046"/>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at dist ≥ 4.</a:t>
            </a:r>
            <a:endParaRPr lang="en-US" sz="800" dirty="0"/>
          </a:p>
        </p:txBody>
      </p:sp>
      <p:sp>
        <p:nvSpPr>
          <p:cNvPr id="21" name="Text 18"/>
          <p:cNvSpPr/>
          <p:nvPr/>
        </p:nvSpPr>
        <p:spPr>
          <a:xfrm>
            <a:off x="6265627" y="2069343"/>
            <a:ext cx="2417601" cy="809253"/>
          </a:xfrm>
          <a:prstGeom prst="roundRect">
            <a:avLst>
              <a:gd name="adj" fmla="val 7062"/>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22" name="Text 19"/>
          <p:cNvSpPr/>
          <p:nvPr/>
        </p:nvSpPr>
        <p:spPr>
          <a:xfrm>
            <a:off x="6369211" y="2181858"/>
            <a:ext cx="71438" cy="71438"/>
          </a:xfrm>
          <a:prstGeom prst="roundRect">
            <a:avLst>
              <a:gd name="adj" fmla="val 26666"/>
            </a:avLst>
          </a:prstGeom>
          <a:solidFill>
            <a:srgbClr val="6FE3D2"/>
          </a:solidFill>
          <a:ln/>
        </p:spPr>
        <p:txBody>
          <a:bodyPr wrap="square" rtlCol="0" anchor="ctr"/>
          <a:lstStyle/>
          <a:p>
            <a:pPr indent="0" marL="0">
              <a:buNone/>
            </a:pPr>
            <a:endParaRPr lang="en-US" dirty="0"/>
          </a:p>
        </p:txBody>
      </p:sp>
      <p:sp>
        <p:nvSpPr>
          <p:cNvPr id="23" name="Text 20"/>
          <p:cNvSpPr/>
          <p:nvPr/>
        </p:nvSpPr>
        <p:spPr>
          <a:xfrm>
            <a:off x="6497799" y="2158640"/>
            <a:ext cx="2081845" cy="164592"/>
          </a:xfrm>
          <a:prstGeom prst="rect">
            <a:avLst/>
          </a:prstGeom>
          <a:noFill/>
          <a:ln/>
        </p:spPr>
        <p:txBody>
          <a:bodyPr wrap="square" lIns="0" tIns="0" rIns="0" bIns="0" rtlCol="0" anchor="t"/>
          <a:lstStyle/>
          <a:p>
            <a:pPr algn="l" indent="0" marL="0">
              <a:lnSpc>
                <a:spcPts val="928"/>
              </a:lnSpc>
              <a:buNone/>
            </a:pPr>
            <a:r>
              <a:rPr lang="en-US" sz="800" spc="62" kern="0" dirty="0">
                <a:solidFill>
                  <a:srgbClr val="6FE3D2"/>
                </a:solidFill>
                <a:latin typeface="Liberation Sans Narrow" pitchFamily="34" charset="0"/>
                <a:ea typeface="Liberation Sans Narrow" pitchFamily="34" charset="-122"/>
                <a:cs typeface="Liberation Sans Narrow" pitchFamily="34" charset="-120"/>
              </a:rPr>
              <a:t>RANDOM [23,12]</a:t>
            </a:r>
            <a:endParaRPr lang="en-US" sz="800" dirty="0"/>
          </a:p>
        </p:txBody>
      </p:sp>
      <p:sp>
        <p:nvSpPr>
          <p:cNvPr id="24" name="Text 21"/>
          <p:cNvSpPr/>
          <p:nvPr/>
        </p:nvSpPr>
        <p:spPr>
          <a:xfrm>
            <a:off x="6369211" y="2333662"/>
            <a:ext cx="2210433" cy="133972"/>
          </a:xfrm>
          <a:prstGeom prst="rect">
            <a:avLst/>
          </a:prstGeom>
          <a:noFill/>
          <a:ln/>
        </p:spPr>
        <p:txBody>
          <a:bodyPr wrap="none" lIns="0" tIns="0" rIns="0" bIns="0" rtlCol="0" anchor="t">
            <a:normAutofit/>
          </a:bodyPr>
          <a:lstStyle/>
          <a:p>
            <a:pPr algn="l" indent="0" marL="0">
              <a:lnSpc>
                <a:spcPts val="1046"/>
              </a:lnSpc>
              <a:buNone/>
            </a:pPr>
            <a:r>
              <a:rPr lang="en-US" sz="800" dirty="0">
                <a:solidFill>
                  <a:srgbClr val="B5BAC4"/>
                </a:solidFill>
                <a:latin typeface="Carlito" pitchFamily="34" charset="0"/>
                <a:ea typeface="Carlito" pitchFamily="34" charset="-122"/>
                <a:cs typeface="Carlito" pitchFamily="34" charset="-120"/>
              </a:rPr>
              <a:t>~</a:t>
            </a:r>
            <a:pPr algn="l" indent="0" marL="0">
              <a:lnSpc>
                <a:spcPts val="1046"/>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60%</a:t>
            </a:r>
            <a:pPr algn="l" indent="0" marL="0">
              <a:lnSpc>
                <a:spcPts val="1046"/>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at dist ≤ 3.</a:t>
            </a:r>
            <a:endParaRPr lang="en-US" sz="800" dirty="0"/>
          </a:p>
        </p:txBody>
      </p:sp>
      <p:sp>
        <p:nvSpPr>
          <p:cNvPr id="25" name="Text 22"/>
          <p:cNvSpPr/>
          <p:nvPr/>
        </p:nvSpPr>
        <p:spPr>
          <a:xfrm>
            <a:off x="6369211" y="2495066"/>
            <a:ext cx="2210433" cy="133972"/>
          </a:xfrm>
          <a:prstGeom prst="rect">
            <a:avLst/>
          </a:prstGeom>
          <a:noFill/>
          <a:ln/>
        </p:spPr>
        <p:txBody>
          <a:bodyPr wrap="none" lIns="0" tIns="0" rIns="0" bIns="0" rtlCol="0" anchor="t">
            <a:normAutofit/>
          </a:bodyPr>
          <a:lstStyle/>
          <a:p>
            <a:pPr algn="l" indent="0" marL="0">
              <a:lnSpc>
                <a:spcPts val="1046"/>
              </a:lnSpc>
              <a:buNone/>
            </a:pPr>
            <a:r>
              <a:rPr lang="en-US" sz="800" dirty="0">
                <a:solidFill>
                  <a:srgbClr val="B5BAC4"/>
                </a:solidFill>
                <a:latin typeface="Carlito" pitchFamily="34" charset="0"/>
                <a:ea typeface="Carlito" pitchFamily="34" charset="-122"/>
                <a:cs typeface="Carlito" pitchFamily="34" charset="-120"/>
              </a:rPr>
              <a:t>~</a:t>
            </a:r>
            <a:pPr algn="l" indent="0" marL="0">
              <a:lnSpc>
                <a:spcPts val="1046"/>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40%</a:t>
            </a:r>
            <a:pPr algn="l" indent="0" marL="0">
              <a:lnSpc>
                <a:spcPts val="1046"/>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at dist = 4.</a:t>
            </a:r>
            <a:endParaRPr lang="en-US" sz="800" dirty="0"/>
          </a:p>
        </p:txBody>
      </p:sp>
      <p:sp>
        <p:nvSpPr>
          <p:cNvPr id="26" name="Text 23"/>
          <p:cNvSpPr/>
          <p:nvPr/>
        </p:nvSpPr>
        <p:spPr>
          <a:xfrm>
            <a:off x="6369211" y="2656470"/>
            <a:ext cx="2210433" cy="132829"/>
          </a:xfrm>
          <a:prstGeom prst="rect">
            <a:avLst/>
          </a:prstGeom>
          <a:noFill/>
          <a:ln/>
        </p:spPr>
        <p:txBody>
          <a:bodyPr wrap="none" lIns="0" tIns="0" rIns="0" bIns="0" rtlCol="0" anchor="t"/>
          <a:lstStyle/>
          <a:p>
            <a:pPr algn="l" indent="0" marL="0">
              <a:lnSpc>
                <a:spcPts val="1046"/>
              </a:lnSpc>
              <a:buNone/>
            </a:pPr>
            <a:r>
              <a:rPr lang="en-US" sz="800" dirty="0">
                <a:solidFill>
                  <a:srgbClr val="B5BAC4"/>
                </a:solidFill>
                <a:latin typeface="Carlito" pitchFamily="34" charset="0"/>
                <a:ea typeface="Carlito" pitchFamily="34" charset="-122"/>
                <a:cs typeface="Carlito" pitchFamily="34" charset="-120"/>
              </a:rPr>
              <a:t>Tail to dist = </a:t>
            </a:r>
            <a:pPr algn="l" indent="0" marL="0">
              <a:lnSpc>
                <a:spcPts val="1046"/>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5</a:t>
            </a:r>
            <a:pPr algn="l" indent="0" marL="0">
              <a:lnSpc>
                <a:spcPts val="1046"/>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27" name="Text 24"/>
          <p:cNvSpPr/>
          <p:nvPr/>
        </p:nvSpPr>
        <p:spPr>
          <a:xfrm>
            <a:off x="6262055" y="2953606"/>
            <a:ext cx="2424745" cy="584225"/>
          </a:xfrm>
          <a:prstGeom prst="roundRect">
            <a:avLst>
              <a:gd name="adj" fmla="val 9782"/>
            </a:avLst>
          </a:prstGeom>
          <a:solidFill>
            <a:srgbClr val="1F2630"/>
          </a:solidFill>
          <a:ln/>
        </p:spPr>
        <p:txBody>
          <a:bodyPr wrap="square" rtlCol="0" anchor="ctr"/>
          <a:lstStyle/>
          <a:p>
            <a:pPr indent="0" marL="0">
              <a:buNone/>
            </a:pPr>
            <a:endParaRPr lang="en-US" dirty="0"/>
          </a:p>
        </p:txBody>
      </p:sp>
      <p:sp>
        <p:nvSpPr>
          <p:cNvPr id="28" name="Shape 25"/>
          <p:cNvSpPr/>
          <p:nvPr/>
        </p:nvSpPr>
        <p:spPr>
          <a:xfrm>
            <a:off x="6262055" y="2957178"/>
            <a:ext cx="2424745" cy="0"/>
          </a:xfrm>
          <a:prstGeom prst="line">
            <a:avLst/>
          </a:prstGeom>
          <a:noFill/>
          <a:ln w="7144">
            <a:solidFill>
              <a:srgbClr val="2A3038"/>
            </a:solidFill>
            <a:prstDash val="solid"/>
          </a:ln>
        </p:spPr>
      </p:sp>
      <p:sp>
        <p:nvSpPr>
          <p:cNvPr id="29" name="Shape 26"/>
          <p:cNvSpPr/>
          <p:nvPr/>
        </p:nvSpPr>
        <p:spPr>
          <a:xfrm>
            <a:off x="8683228" y="2953606"/>
            <a:ext cx="0" cy="584225"/>
          </a:xfrm>
          <a:prstGeom prst="line">
            <a:avLst/>
          </a:prstGeom>
          <a:noFill/>
          <a:ln w="7144">
            <a:solidFill>
              <a:srgbClr val="2A3038"/>
            </a:solidFill>
            <a:prstDash val="solid"/>
          </a:ln>
        </p:spPr>
      </p:sp>
      <p:sp>
        <p:nvSpPr>
          <p:cNvPr id="30" name="Shape 27"/>
          <p:cNvSpPr/>
          <p:nvPr/>
        </p:nvSpPr>
        <p:spPr>
          <a:xfrm>
            <a:off x="6262055" y="3534259"/>
            <a:ext cx="2424745" cy="0"/>
          </a:xfrm>
          <a:prstGeom prst="line">
            <a:avLst/>
          </a:prstGeom>
          <a:noFill/>
          <a:ln w="7144">
            <a:solidFill>
              <a:srgbClr val="2A3038"/>
            </a:solidFill>
            <a:prstDash val="solid"/>
          </a:ln>
        </p:spPr>
      </p:sp>
      <p:sp>
        <p:nvSpPr>
          <p:cNvPr id="31" name="Shape 28"/>
          <p:cNvSpPr/>
          <p:nvPr/>
        </p:nvSpPr>
        <p:spPr>
          <a:xfrm>
            <a:off x="6272771" y="2953606"/>
            <a:ext cx="0" cy="584225"/>
          </a:xfrm>
          <a:prstGeom prst="line">
            <a:avLst/>
          </a:prstGeom>
          <a:noFill/>
          <a:ln w="21431">
            <a:solidFill>
              <a:srgbClr val="6FE3D2"/>
            </a:solidFill>
            <a:prstDash val="solid"/>
          </a:ln>
        </p:spPr>
      </p:sp>
      <p:sp>
        <p:nvSpPr>
          <p:cNvPr id="32" name="Text 29"/>
          <p:cNvSpPr/>
          <p:nvPr/>
        </p:nvSpPr>
        <p:spPr>
          <a:xfrm>
            <a:off x="6383499" y="3046475"/>
            <a:ext cx="2196145" cy="398487"/>
          </a:xfrm>
          <a:prstGeom prst="rect">
            <a:avLst/>
          </a:prstGeom>
          <a:noFill/>
          <a:ln/>
        </p:spPr>
        <p:txBody>
          <a:bodyPr wrap="square" lIns="0" tIns="0" rIns="0" bIns="0" rtlCol="0" anchor="t"/>
          <a:lstStyle/>
          <a:p>
            <a:pPr algn="l" indent="0" marL="0">
              <a:lnSpc>
                <a:spcPts val="1046"/>
              </a:lnSpc>
              <a:buNone/>
            </a:pPr>
            <a:r>
              <a:rPr lang="en-US" sz="800" spc="27" kern="0" dirty="0">
                <a:solidFill>
                  <a:srgbClr val="6FE3D2"/>
                </a:solidFill>
                <a:latin typeface="Carlito" pitchFamily="34" charset="0"/>
                <a:ea typeface="Carlito" pitchFamily="34" charset="-122"/>
                <a:cs typeface="Carlito" pitchFamily="34" charset="-120"/>
              </a:rPr>
              <a:t>MECHANISM.</a:t>
            </a:r>
            <a:pPr algn="l" indent="0" marL="0">
              <a:lnSpc>
                <a:spcPts val="1046"/>
              </a:lnSpc>
              <a:buNone/>
            </a:pPr>
            <a:r>
              <a:rPr lang="en-US" sz="800" dirty="0">
                <a:solidFill>
                  <a:srgbClr val="E6E6E6"/>
                </a:solidFill>
                <a:latin typeface="Carlito" pitchFamily="34" charset="0"/>
                <a:ea typeface="Carlito" pitchFamily="34" charset="-122"/>
                <a:cs typeface="Carlito" pitchFamily="34" charset="-120"/>
              </a:rPr>
              <a:t> Jensen rewards codes with concentrated low-distance mass. Golay's perfect-code structure provides this for free.</a:t>
            </a:r>
            <a:endParaRPr lang="en-US" sz="800" dirty="0"/>
          </a:p>
        </p:txBody>
      </p:sp>
      <p:sp>
        <p:nvSpPr>
          <p:cNvPr id="33" name="Text 30"/>
          <p:cNvSpPr/>
          <p:nvPr/>
        </p:nvSpPr>
        <p:spPr>
          <a:xfrm>
            <a:off x="6265627" y="4593320"/>
            <a:ext cx="1445940" cy="171450"/>
          </a:xfrm>
          <a:prstGeom prst="roundRect">
            <a:avLst>
              <a:gd name="adj" fmla="val 5550000"/>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34" name="Text 31"/>
          <p:cNvSpPr/>
          <p:nvPr/>
        </p:nvSpPr>
        <p:spPr>
          <a:xfrm>
            <a:off x="6262055" y="4589748"/>
            <a:ext cx="1453083" cy="274320"/>
          </a:xfrm>
          <a:prstGeom prst="rect">
            <a:avLst/>
          </a:prstGeom>
          <a:noFill/>
          <a:ln/>
        </p:spPr>
        <p:txBody>
          <a:bodyPr wrap="square" lIns="71438" tIns="28575" rIns="71438" bIns="28575" rtlCol="0" anchor="t"/>
          <a:lstStyle/>
          <a:p>
            <a:pPr algn="l"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MECHANISM — JENSEN ON 1/(1+ΒX)</a:t>
            </a:r>
            <a:endParaRPr lang="en-US" sz="800" dirty="0"/>
          </a:p>
        </p:txBody>
      </p:sp>
      <p:sp>
        <p:nvSpPr>
          <p:cNvPr id="35" name="Text 32"/>
          <p:cNvSpPr/>
          <p:nvPr/>
        </p:nvSpPr>
        <p:spPr>
          <a:xfrm>
            <a:off x="457200" y="4893469"/>
            <a:ext cx="7925209"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Thread D / p.12</a:t>
            </a:r>
            <a:endParaRPr lang="en-US" sz="800" dirty="0"/>
          </a:p>
        </p:txBody>
      </p:sp>
      <p:sp>
        <p:nvSpPr>
          <p:cNvPr id="36" name="Text 33"/>
          <p:cNvSpPr/>
          <p:nvPr/>
        </p:nvSpPr>
        <p:spPr>
          <a:xfrm>
            <a:off x="8396697" y="4893469"/>
            <a:ext cx="410859"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12 / 14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240860"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SYNTHESIS / STATUS BY THREAD / 13 OF 14</a:t>
            </a:r>
            <a:endParaRPr lang="en-US" sz="800" dirty="0"/>
          </a:p>
        </p:txBody>
      </p:sp>
      <p:sp>
        <p:nvSpPr>
          <p:cNvPr id="4" name="Text 2"/>
          <p:cNvSpPr/>
          <p:nvPr/>
        </p:nvSpPr>
        <p:spPr>
          <a:xfrm>
            <a:off x="7712348" y="342900"/>
            <a:ext cx="9744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8636000" cy="248335"/>
          </a:xfrm>
          <a:prstGeom prst="rect">
            <a:avLst/>
          </a:prstGeom>
          <a:noFill/>
          <a:ln/>
        </p:spPr>
        <p:txBody>
          <a:bodyPr wrap="square" lIns="0" tIns="0" rIns="0" bIns="0" rtlCol="0" anchor="t"/>
          <a:lstStyle/>
          <a:p>
            <a:pPr algn="l" indent="0" marL="0">
              <a:lnSpc>
                <a:spcPts val="1811"/>
              </a:lnSpc>
              <a:buNone/>
            </a:pPr>
            <a:r>
              <a:rPr lang="en-US" sz="1575" dirty="0">
                <a:solidFill>
                  <a:srgbClr val="E6E6E6"/>
                </a:solidFill>
                <a:latin typeface="Carlito" pitchFamily="34" charset="0"/>
                <a:ea typeface="Carlito" pitchFamily="34" charset="-122"/>
                <a:cs typeface="Carlito" pitchFamily="34" charset="-120"/>
              </a:rPr>
              <a:t>What this continuation changes</a:t>
            </a:r>
            <a:endParaRPr lang="en-US" sz="1575" dirty="0"/>
          </a:p>
        </p:txBody>
      </p:sp>
      <p:sp>
        <p:nvSpPr>
          <p:cNvPr id="7" name="Text 5"/>
          <p:cNvSpPr/>
          <p:nvPr/>
        </p:nvSpPr>
        <p:spPr>
          <a:xfrm>
            <a:off x="460772" y="1169343"/>
            <a:ext cx="4050506" cy="1649648"/>
          </a:xfrm>
          <a:prstGeom prst="roundRect">
            <a:avLst>
              <a:gd name="adj" fmla="val 3464"/>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8" name="Text 6"/>
          <p:cNvSpPr/>
          <p:nvPr/>
        </p:nvSpPr>
        <p:spPr>
          <a:xfrm>
            <a:off x="584359" y="1291644"/>
            <a:ext cx="1017270"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9" name="Text 7"/>
          <p:cNvSpPr/>
          <p:nvPr/>
        </p:nvSpPr>
        <p:spPr>
          <a:xfrm>
            <a:off x="607219" y="1301502"/>
            <a:ext cx="971550"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6FE3D2"/>
                </a:solidFill>
                <a:latin typeface="Courier New" pitchFamily="34" charset="0"/>
                <a:ea typeface="Courier New" pitchFamily="34" charset="-122"/>
                <a:cs typeface="Courier New" pitchFamily="34" charset="-120"/>
              </a:rPr>
              <a:t>THREAD A — BASELINE</a:t>
            </a:r>
            <a:endParaRPr lang="en-US" sz="800" dirty="0"/>
          </a:p>
        </p:txBody>
      </p:sp>
      <p:sp>
        <p:nvSpPr>
          <p:cNvPr id="10" name="Text 8"/>
          <p:cNvSpPr/>
          <p:nvPr/>
        </p:nvSpPr>
        <p:spPr>
          <a:xfrm>
            <a:off x="4010434" y="1330077"/>
            <a:ext cx="354397" cy="164592"/>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SLIDE 04</a:t>
            </a:r>
            <a:endParaRPr lang="en-US" sz="800" dirty="0"/>
          </a:p>
        </p:txBody>
      </p:sp>
      <p:sp>
        <p:nvSpPr>
          <p:cNvPr id="11" name="Text 9"/>
          <p:cNvSpPr/>
          <p:nvPr/>
        </p:nvSpPr>
        <p:spPr>
          <a:xfrm>
            <a:off x="607219" y="1551533"/>
            <a:ext cx="3757613" cy="163949"/>
          </a:xfrm>
          <a:prstGeom prst="rect">
            <a:avLst/>
          </a:prstGeom>
          <a:noFill/>
          <a:ln/>
        </p:spPr>
        <p:txBody>
          <a:bodyPr wrap="none" lIns="0" tIns="0" rIns="0" bIns="0" rtlCol="0" anchor="t"/>
          <a:lstStyle/>
          <a:p>
            <a:pPr algn="l" indent="0" marL="0">
              <a:lnSpc>
                <a:spcPts val="1195"/>
              </a:lnSpc>
              <a:buNone/>
            </a:pPr>
            <a:r>
              <a:rPr lang="en-US" sz="956" spc="19" kern="0" dirty="0">
                <a:solidFill>
                  <a:srgbClr val="6FE3D2"/>
                </a:solidFill>
                <a:latin typeface="Carlito" pitchFamily="34" charset="0"/>
                <a:ea typeface="Carlito" pitchFamily="34" charset="-122"/>
                <a:cs typeface="Carlito" pitchFamily="34" charset="-120"/>
              </a:rPr>
              <a:t>REPRODUCED + TIGHTENED.</a:t>
            </a:r>
            <a:endParaRPr lang="en-US" sz="956" dirty="0"/>
          </a:p>
        </p:txBody>
      </p:sp>
      <p:sp>
        <p:nvSpPr>
          <p:cNvPr id="12" name="Text 10"/>
          <p:cNvSpPr/>
          <p:nvPr/>
        </p:nvSpPr>
        <p:spPr>
          <a:xfrm>
            <a:off x="735806" y="1789063"/>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Constant Peak re-verified exactly across </a:t>
            </a:r>
            <a:pPr algn="l" indent="0" marL="0">
              <a:lnSpc>
                <a:spcPts val="113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4,095</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codewords.</a:t>
            </a:r>
            <a:endParaRPr lang="en-US" sz="800" dirty="0"/>
          </a:p>
        </p:txBody>
      </p:sp>
      <p:sp>
        <p:nvSpPr>
          <p:cNvPr id="13" name="Text 11"/>
          <p:cNvSpPr/>
          <p:nvPr/>
        </p:nvSpPr>
        <p:spPr>
          <a:xfrm>
            <a:off x="735806" y="1990092"/>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Ascent rate </a:t>
            </a:r>
            <a:pPr algn="l" indent="0" marL="0">
              <a:lnSpc>
                <a:spcPts val="1133"/>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99.990%</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(vs prior </a:t>
            </a:r>
            <a:pPr algn="l" indent="0" marL="0">
              <a:lnSpc>
                <a:spcPts val="113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99.966%</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 seed-independent.</a:t>
            </a:r>
            <a:endParaRPr lang="en-US" sz="800" dirty="0"/>
          </a:p>
        </p:txBody>
      </p:sp>
      <p:sp>
        <p:nvSpPr>
          <p:cNvPr id="14" name="Text 12"/>
          <p:cNvSpPr/>
          <p:nvPr/>
        </p:nvSpPr>
        <p:spPr>
          <a:xfrm>
            <a:off x="735806" y="2191122"/>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All </a:t>
            </a:r>
            <a:pPr algn="l" indent="0" marL="0">
              <a:lnSpc>
                <a:spcPts val="113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10</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descent events vacuum collapses. Decoder-Flow Conjecture holds.</a:t>
            </a:r>
            <a:endParaRPr lang="en-US" sz="800" dirty="0"/>
          </a:p>
        </p:txBody>
      </p:sp>
      <p:sp>
        <p:nvSpPr>
          <p:cNvPr id="15" name="Text 13"/>
          <p:cNvSpPr/>
          <p:nvPr/>
        </p:nvSpPr>
        <p:spPr>
          <a:xfrm>
            <a:off x="4632722" y="1169343"/>
            <a:ext cx="4050506" cy="1649648"/>
          </a:xfrm>
          <a:prstGeom prst="roundRect">
            <a:avLst>
              <a:gd name="adj" fmla="val 3464"/>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6" name="Text 14"/>
          <p:cNvSpPr/>
          <p:nvPr/>
        </p:nvSpPr>
        <p:spPr>
          <a:xfrm>
            <a:off x="4756309" y="1291644"/>
            <a:ext cx="1060133" cy="184023"/>
          </a:xfrm>
          <a:prstGeom prst="roundRect">
            <a:avLst>
              <a:gd name="adj" fmla="val 5170807"/>
            </a:avLst>
          </a:prstGeom>
          <a:solidFill>
            <a:srgbClr val="1F2630"/>
          </a:solidFill>
          <a:ln w="7144">
            <a:solidFill>
              <a:srgbClr val="FF6B6B"/>
            </a:solidFill>
            <a:prstDash val="solid"/>
          </a:ln>
        </p:spPr>
        <p:txBody>
          <a:bodyPr wrap="square" rtlCol="0" anchor="ctr"/>
          <a:lstStyle/>
          <a:p>
            <a:pPr indent="0" marL="0">
              <a:buNone/>
            </a:pPr>
            <a:endParaRPr lang="en-US" dirty="0"/>
          </a:p>
        </p:txBody>
      </p:sp>
      <p:sp>
        <p:nvSpPr>
          <p:cNvPr id="17" name="Text 15"/>
          <p:cNvSpPr/>
          <p:nvPr/>
        </p:nvSpPr>
        <p:spPr>
          <a:xfrm>
            <a:off x="4779169" y="1301502"/>
            <a:ext cx="1014413"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FF6B6B"/>
                </a:solidFill>
                <a:latin typeface="Courier New" pitchFamily="34" charset="0"/>
                <a:ea typeface="Courier New" pitchFamily="34" charset="-122"/>
                <a:cs typeface="Courier New" pitchFamily="34" charset="-120"/>
              </a:rPr>
              <a:t>THREAD B — SELF-DUAL</a:t>
            </a:r>
            <a:endParaRPr lang="en-US" sz="800" dirty="0"/>
          </a:p>
        </p:txBody>
      </p:sp>
      <p:sp>
        <p:nvSpPr>
          <p:cNvPr id="18" name="Text 16"/>
          <p:cNvSpPr/>
          <p:nvPr/>
        </p:nvSpPr>
        <p:spPr>
          <a:xfrm>
            <a:off x="8182384" y="1330077"/>
            <a:ext cx="354397" cy="164592"/>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SLIDE 06</a:t>
            </a:r>
            <a:endParaRPr lang="en-US" sz="800" dirty="0"/>
          </a:p>
        </p:txBody>
      </p:sp>
      <p:sp>
        <p:nvSpPr>
          <p:cNvPr id="19" name="Text 17"/>
          <p:cNvSpPr/>
          <p:nvPr/>
        </p:nvSpPr>
        <p:spPr>
          <a:xfrm>
            <a:off x="4779169" y="1551533"/>
            <a:ext cx="3867341" cy="163949"/>
          </a:xfrm>
          <a:prstGeom prst="rect">
            <a:avLst/>
          </a:prstGeom>
          <a:noFill/>
          <a:ln/>
        </p:spPr>
        <p:txBody>
          <a:bodyPr wrap="square" lIns="0" tIns="0" rIns="0" bIns="0" rtlCol="0" anchor="t"/>
          <a:lstStyle/>
          <a:p>
            <a:pPr algn="l" indent="0" marL="0">
              <a:lnSpc>
                <a:spcPts val="1195"/>
              </a:lnSpc>
              <a:buNone/>
            </a:pPr>
            <a:r>
              <a:rPr lang="en-US" sz="956" spc="19" kern="0" dirty="0">
                <a:solidFill>
                  <a:srgbClr val="FF6B6B"/>
                </a:solidFill>
                <a:latin typeface="Carlito" pitchFamily="34" charset="0"/>
                <a:ea typeface="Carlito" pitchFamily="34" charset="-122"/>
                <a:cs typeface="Carlito" pitchFamily="34" charset="-120"/>
              </a:rPr>
              <a:t>CONJECTURE FALSIFIED (unqualified form).</a:t>
            </a:r>
            <a:endParaRPr lang="en-US" sz="956" dirty="0"/>
          </a:p>
        </p:txBody>
      </p:sp>
      <p:sp>
        <p:nvSpPr>
          <p:cNvPr id="20" name="Text 18"/>
          <p:cNvSpPr/>
          <p:nvPr/>
        </p:nvSpPr>
        <p:spPr>
          <a:xfrm>
            <a:off x="4907756" y="1789063"/>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Self-dual codes do </a:t>
            </a:r>
            <a:pPr algn="l" indent="0" marL="0">
              <a:lnSpc>
                <a:spcPts val="1133"/>
              </a:lnSpc>
              <a:buNone/>
            </a:pPr>
            <a:r>
              <a:rPr lang="en-US" sz="800" b="1" dirty="0">
                <a:solidFill>
                  <a:srgbClr val="FF6B6B"/>
                </a:solidFill>
                <a:latin typeface="Carlito" pitchFamily="34" charset="0"/>
                <a:ea typeface="Carlito" pitchFamily="34" charset="-122"/>
                <a:cs typeface="Carlito" pitchFamily="34" charset="-120"/>
              </a:rPr>
              <a:t>NOT</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maximise avg</a:t>
            </a:r>
            <a:pPr algn="l" indent="0" marL="0">
              <a:lnSpc>
                <a:spcPts val="1133"/>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at </a:t>
            </a:r>
            <a:pPr algn="l" indent="0" marL="0">
              <a:lnSpc>
                <a:spcPts val="113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n ∈ {4,6,8,10}</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21" name="Text 19"/>
          <p:cNvSpPr/>
          <p:nvPr/>
        </p:nvSpPr>
        <p:spPr>
          <a:xfrm>
            <a:off x="4907756" y="1990092"/>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Self-duality alone is insufficient.</a:t>
            </a:r>
            <a:endParaRPr lang="en-US" sz="800" dirty="0"/>
          </a:p>
        </p:txBody>
      </p:sp>
      <p:sp>
        <p:nvSpPr>
          <p:cNvPr id="22" name="Text 20"/>
          <p:cNvSpPr/>
          <p:nvPr/>
        </p:nvSpPr>
        <p:spPr>
          <a:xfrm>
            <a:off x="4907756" y="2191122"/>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Qualified form (self-dual + high </a:t>
            </a:r>
            <a:pPr algn="l" indent="0" marL="0">
              <a:lnSpc>
                <a:spcPts val="1133"/>
              </a:lnSpc>
              <a:buNone/>
            </a:pPr>
            <a:r>
              <a:rPr lang="en-US" sz="800" i="1" dirty="0">
                <a:solidFill>
                  <a:srgbClr val="B5BAC4"/>
                </a:solidFill>
                <a:latin typeface="Tinos" pitchFamily="34" charset="0"/>
                <a:ea typeface="Tinos" pitchFamily="34" charset="-122"/>
                <a:cs typeface="Tinos" pitchFamily="34" charset="-120"/>
              </a:rPr>
              <a:t>d</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survives as a hypothesis worth testing.</a:t>
            </a:r>
            <a:endParaRPr lang="en-US" sz="800" dirty="0"/>
          </a:p>
        </p:txBody>
      </p:sp>
      <p:sp>
        <p:nvSpPr>
          <p:cNvPr id="23" name="Text 21"/>
          <p:cNvSpPr/>
          <p:nvPr/>
        </p:nvSpPr>
        <p:spPr>
          <a:xfrm>
            <a:off x="460772" y="2940434"/>
            <a:ext cx="4050506" cy="1793639"/>
          </a:xfrm>
          <a:prstGeom prst="roundRect">
            <a:avLst>
              <a:gd name="adj" fmla="val 3186"/>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24" name="Text 22"/>
          <p:cNvSpPr/>
          <p:nvPr/>
        </p:nvSpPr>
        <p:spPr>
          <a:xfrm>
            <a:off x="584359" y="3062735"/>
            <a:ext cx="1017270"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25" name="Text 23"/>
          <p:cNvSpPr/>
          <p:nvPr/>
        </p:nvSpPr>
        <p:spPr>
          <a:xfrm>
            <a:off x="607219" y="3072594"/>
            <a:ext cx="971550"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THREAD C — COVERING</a:t>
            </a:r>
            <a:endParaRPr lang="en-US" sz="800" dirty="0"/>
          </a:p>
        </p:txBody>
      </p:sp>
      <p:sp>
        <p:nvSpPr>
          <p:cNvPr id="26" name="Text 24"/>
          <p:cNvSpPr/>
          <p:nvPr/>
        </p:nvSpPr>
        <p:spPr>
          <a:xfrm>
            <a:off x="3833292" y="3101169"/>
            <a:ext cx="531540" cy="164592"/>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SLIDES 08–09</a:t>
            </a:r>
            <a:endParaRPr lang="en-US" sz="800" dirty="0"/>
          </a:p>
        </p:txBody>
      </p:sp>
      <p:sp>
        <p:nvSpPr>
          <p:cNvPr id="27" name="Text 25"/>
          <p:cNvSpPr/>
          <p:nvPr/>
        </p:nvSpPr>
        <p:spPr>
          <a:xfrm>
            <a:off x="607219" y="3322625"/>
            <a:ext cx="3867341" cy="163949"/>
          </a:xfrm>
          <a:prstGeom prst="rect">
            <a:avLst/>
          </a:prstGeom>
          <a:noFill/>
          <a:ln/>
        </p:spPr>
        <p:txBody>
          <a:bodyPr wrap="square" lIns="0" tIns="0" rIns="0" bIns="0" rtlCol="0" anchor="t"/>
          <a:lstStyle/>
          <a:p>
            <a:pPr algn="l" indent="0" marL="0">
              <a:lnSpc>
                <a:spcPts val="1195"/>
              </a:lnSpc>
              <a:buNone/>
            </a:pPr>
            <a:r>
              <a:rPr lang="en-US" sz="956" spc="19" kern="0" dirty="0">
                <a:solidFill>
                  <a:srgbClr val="FFB454"/>
                </a:solidFill>
                <a:latin typeface="Carlito" pitchFamily="34" charset="0"/>
                <a:ea typeface="Carlito" pitchFamily="34" charset="-122"/>
                <a:cs typeface="Carlito" pitchFamily="34" charset="-120"/>
              </a:rPr>
              <a:t>THEOREM STATED (strong form).</a:t>
            </a:r>
            <a:endParaRPr lang="en-US" sz="956" dirty="0"/>
          </a:p>
        </p:txBody>
      </p:sp>
      <p:sp>
        <p:nvSpPr>
          <p:cNvPr id="28" name="Text 26"/>
          <p:cNvSpPr/>
          <p:nvPr/>
        </p:nvSpPr>
        <p:spPr>
          <a:xfrm>
            <a:off x="735806" y="3560155"/>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avg</a:t>
            </a:r>
            <a:pPr algn="l" indent="0" marL="0">
              <a:lnSpc>
                <a:spcPts val="1133"/>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strictly decreasing in </a:t>
            </a:r>
            <a:pPr algn="l" indent="0" marL="0">
              <a:lnSpc>
                <a:spcPts val="1133"/>
              </a:lnSpc>
              <a:buNone/>
            </a:pPr>
            <a:r>
              <a:rPr lang="en-US" sz="800" i="1" dirty="0">
                <a:solidFill>
                  <a:srgbClr val="B5BAC4"/>
                </a:solidFill>
                <a:latin typeface="Tinos" pitchFamily="34" charset="0"/>
                <a:ea typeface="Tinos" pitchFamily="34" charset="-122"/>
                <a:cs typeface="Tinos" pitchFamily="34" charset="-120"/>
              </a:rPr>
              <a:t>ρ</a:t>
            </a:r>
            <a:pPr algn="l" indent="0" marL="0">
              <a:lnSpc>
                <a:spcPts val="1133"/>
              </a:lnSpc>
              <a:buNone/>
            </a:pPr>
            <a:r>
              <a:rPr lang="en-US" sz="800" i="1" baseline="-40000" dirty="0">
                <a:solidFill>
                  <a:srgbClr val="B5BAC4"/>
                </a:solidFill>
                <a:latin typeface="Tinos" pitchFamily="34" charset="0"/>
                <a:ea typeface="Tinos" pitchFamily="34" charset="-122"/>
                <a:cs typeface="Tinos" pitchFamily="34" charset="-120"/>
              </a:rPr>
              <a:t>Φ</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(C) = E</a:t>
            </a:r>
            <a:pPr algn="l" indent="0" marL="0">
              <a:lnSpc>
                <a:spcPts val="1133"/>
              </a:lnSpc>
              <a:buNone/>
            </a:pPr>
            <a:r>
              <a:rPr lang="en-US" sz="800" baseline="-40000" dirty="0">
                <a:solidFill>
                  <a:srgbClr val="B5BAC4"/>
                </a:solidFill>
                <a:latin typeface="Carlito" pitchFamily="34" charset="0"/>
                <a:ea typeface="Carlito" pitchFamily="34" charset="-122"/>
                <a:cs typeface="Carlito" pitchFamily="34" charset="-120"/>
              </a:rPr>
              <a:t>v</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[dist(v,C)/HW(v)] via Jensen.</a:t>
            </a:r>
            <a:endParaRPr lang="en-US" sz="800" dirty="0"/>
          </a:p>
        </p:txBody>
      </p:sp>
      <p:sp>
        <p:nvSpPr>
          <p:cNvPr id="29" name="Text 27"/>
          <p:cNvSpPr/>
          <p:nvPr/>
        </p:nvSpPr>
        <p:spPr>
          <a:xfrm>
            <a:off x="735806" y="3761184"/>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Spearman </a:t>
            </a:r>
            <a:pPr algn="l" indent="0" marL="0">
              <a:lnSpc>
                <a:spcPts val="113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−0.888</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across </a:t>
            </a:r>
            <a:pPr algn="l" indent="0" marL="0">
              <a:lnSpc>
                <a:spcPts val="113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16</a:t>
            </a:r>
            <a:pPr algn="l" indent="0" marL="0">
              <a:lnSpc>
                <a:spcPts val="113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[7,4] codes.</a:t>
            </a:r>
            <a:endParaRPr lang="en-US" sz="800" dirty="0"/>
          </a:p>
        </p:txBody>
      </p:sp>
      <p:sp>
        <p:nvSpPr>
          <p:cNvPr id="30" name="Text 28"/>
          <p:cNvSpPr/>
          <p:nvPr/>
        </p:nvSpPr>
        <p:spPr>
          <a:xfrm>
            <a:off x="735806" y="3962214"/>
            <a:ext cx="3629025" cy="33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First-order approximation (avg distance) is what CONVERSE_001 reported; the strong form is new.</a:t>
            </a:r>
            <a:endParaRPr lang="en-US" sz="800" dirty="0"/>
          </a:p>
        </p:txBody>
      </p:sp>
      <p:sp>
        <p:nvSpPr>
          <p:cNvPr id="31" name="Text 29"/>
          <p:cNvSpPr/>
          <p:nvPr/>
        </p:nvSpPr>
        <p:spPr>
          <a:xfrm>
            <a:off x="4632722" y="2940434"/>
            <a:ext cx="4050506" cy="1793639"/>
          </a:xfrm>
          <a:prstGeom prst="roundRect">
            <a:avLst>
              <a:gd name="adj" fmla="val 3186"/>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32" name="Text 30"/>
          <p:cNvSpPr/>
          <p:nvPr/>
        </p:nvSpPr>
        <p:spPr>
          <a:xfrm>
            <a:off x="4756309" y="3062735"/>
            <a:ext cx="974408"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33" name="Text 31"/>
          <p:cNvSpPr/>
          <p:nvPr/>
        </p:nvSpPr>
        <p:spPr>
          <a:xfrm>
            <a:off x="4779169" y="3072594"/>
            <a:ext cx="928688" cy="164306"/>
          </a:xfrm>
          <a:prstGeom prst="rect">
            <a:avLst/>
          </a:prstGeom>
          <a:noFill/>
          <a:ln/>
        </p:spPr>
        <p:txBody>
          <a:bodyPr wrap="none" lIns="71438" tIns="21431" rIns="71438" bIns="21431" rtlCol="0" anchor="ctr"/>
          <a:lstStyle/>
          <a:p>
            <a:pPr algn="ctr" indent="0" marL="0">
              <a:lnSpc>
                <a:spcPts val="844"/>
              </a:lnSpc>
              <a:buNone/>
            </a:pPr>
            <a:r>
              <a:rPr lang="en-US" sz="800" spc="56" kern="0" dirty="0">
                <a:solidFill>
                  <a:srgbClr val="FFB454"/>
                </a:solidFill>
                <a:latin typeface="Liberation Sans Narrow" pitchFamily="34" charset="0"/>
                <a:ea typeface="Liberation Sans Narrow" pitchFamily="34" charset="-122"/>
                <a:cs typeface="Liberation Sans Narrow" pitchFamily="34" charset="-120"/>
              </a:rPr>
              <a:t>THREAD D — [23,12]</a:t>
            </a:r>
            <a:endParaRPr lang="en-US" sz="800" dirty="0"/>
          </a:p>
        </p:txBody>
      </p:sp>
      <p:sp>
        <p:nvSpPr>
          <p:cNvPr id="34" name="Text 32"/>
          <p:cNvSpPr/>
          <p:nvPr/>
        </p:nvSpPr>
        <p:spPr>
          <a:xfrm>
            <a:off x="8005242" y="3101169"/>
            <a:ext cx="531540" cy="164592"/>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SLIDES 11–12</a:t>
            </a:r>
            <a:endParaRPr lang="en-US" sz="800" dirty="0"/>
          </a:p>
        </p:txBody>
      </p:sp>
      <p:sp>
        <p:nvSpPr>
          <p:cNvPr id="35" name="Text 33"/>
          <p:cNvSpPr/>
          <p:nvPr/>
        </p:nvSpPr>
        <p:spPr>
          <a:xfrm>
            <a:off x="4779169" y="3322625"/>
            <a:ext cx="3757613" cy="163949"/>
          </a:xfrm>
          <a:prstGeom prst="rect">
            <a:avLst/>
          </a:prstGeom>
          <a:noFill/>
          <a:ln/>
        </p:spPr>
        <p:txBody>
          <a:bodyPr wrap="none" lIns="0" tIns="0" rIns="0" bIns="0" rtlCol="0" anchor="t"/>
          <a:lstStyle/>
          <a:p>
            <a:pPr algn="l" indent="0" marL="0">
              <a:lnSpc>
                <a:spcPts val="1195"/>
              </a:lnSpc>
              <a:buNone/>
            </a:pPr>
            <a:r>
              <a:rPr lang="en-US" sz="956" spc="19" kern="0" dirty="0">
                <a:solidFill>
                  <a:srgbClr val="FFB454"/>
                </a:solidFill>
                <a:latin typeface="Carlito" pitchFamily="34" charset="0"/>
                <a:ea typeface="Carlito" pitchFamily="34" charset="-122"/>
                <a:cs typeface="Carlito" pitchFamily="34" charset="-120"/>
              </a:rPr>
              <a:t>GOLAY STRICTLY HIGHEST.</a:t>
            </a:r>
            <a:endParaRPr lang="en-US" sz="956" dirty="0"/>
          </a:p>
        </p:txBody>
      </p:sp>
      <p:sp>
        <p:nvSpPr>
          <p:cNvPr id="36" name="Text 34"/>
          <p:cNvSpPr/>
          <p:nvPr/>
        </p:nvSpPr>
        <p:spPr>
          <a:xfrm>
            <a:off x="4907756" y="3560155"/>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avg</a:t>
            </a:r>
            <a:pPr algn="l" indent="0" marL="0">
              <a:lnSpc>
                <a:spcPts val="1133"/>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 </a:t>
            </a:r>
            <a:pPr algn="l" indent="0" marL="0">
              <a:lnSpc>
                <a:spcPts val="113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2.1851</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for Golay vs </a:t>
            </a:r>
            <a:pPr algn="l" indent="0" marL="0">
              <a:lnSpc>
                <a:spcPts val="113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[2.139, 2.149] for 5 random [23,12] codes.</a:t>
            </a:r>
            <a:endParaRPr lang="en-US" sz="800" dirty="0"/>
          </a:p>
        </p:txBody>
      </p:sp>
      <p:sp>
        <p:nvSpPr>
          <p:cNvPr id="37" name="Text 35"/>
          <p:cNvSpPr/>
          <p:nvPr/>
        </p:nvSpPr>
        <p:spPr>
          <a:xfrm>
            <a:off x="4907756" y="3761184"/>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Margin </a:t>
            </a:r>
            <a:pPr algn="l" indent="0" marL="0">
              <a:lnSpc>
                <a:spcPts val="113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+0.036</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 </a:t>
            </a:r>
            <a:pPr algn="l" indent="0" marL="0">
              <a:lnSpc>
                <a:spcPts val="113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12×</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Monte Carlo SE.</a:t>
            </a:r>
            <a:endParaRPr lang="en-US" sz="800" dirty="0"/>
          </a:p>
        </p:txBody>
      </p:sp>
      <p:sp>
        <p:nvSpPr>
          <p:cNvPr id="38" name="Text 36"/>
          <p:cNvSpPr/>
          <p:nvPr/>
        </p:nvSpPr>
        <p:spPr>
          <a:xfrm>
            <a:off x="4907756" y="3962214"/>
            <a:ext cx="3629025" cy="169999"/>
          </a:xfrm>
          <a:prstGeom prst="rect">
            <a:avLst/>
          </a:prstGeom>
          <a:noFill/>
          <a:ln/>
        </p:spPr>
        <p:txBody>
          <a:bodyPr wrap="square" lIns="0" tIns="0" rIns="0" bIns="0" rtlCol="0" anchor="t"/>
          <a:lstStyle/>
          <a:p>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Consistent with — but does not prove — uniqueness.</a:t>
            </a:r>
            <a:endParaRPr lang="en-US" sz="800" dirty="0"/>
          </a:p>
        </p:txBody>
      </p:sp>
      <p:sp>
        <p:nvSpPr>
          <p:cNvPr id="39" name="Text 37"/>
          <p:cNvSpPr/>
          <p:nvPr/>
        </p:nvSpPr>
        <p:spPr>
          <a:xfrm>
            <a:off x="457200" y="4893469"/>
            <a:ext cx="7925209"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UBP_STUDY_EXTREMAL_003 / Synthesis / p.13</a:t>
            </a:r>
            <a:endParaRPr lang="en-US" sz="800" dirty="0"/>
          </a:p>
        </p:txBody>
      </p:sp>
      <p:sp>
        <p:nvSpPr>
          <p:cNvPr id="40" name="Text 38"/>
          <p:cNvSpPr/>
          <p:nvPr/>
        </p:nvSpPr>
        <p:spPr>
          <a:xfrm>
            <a:off x="8396697" y="4893469"/>
            <a:ext cx="410859"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13 / 14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240860"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VERDICT / HONEST STATUS + NEXT STEPS / 14 OF 14</a:t>
            </a:r>
            <a:endParaRPr lang="en-US" sz="800" dirty="0"/>
          </a:p>
        </p:txBody>
      </p:sp>
      <p:sp>
        <p:nvSpPr>
          <p:cNvPr id="4" name="Text 2"/>
          <p:cNvSpPr/>
          <p:nvPr/>
        </p:nvSpPr>
        <p:spPr>
          <a:xfrm>
            <a:off x="7712348" y="342900"/>
            <a:ext cx="9744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UBP_STUDY_EXTREMAL_003</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8636000" cy="283897"/>
          </a:xfrm>
          <a:prstGeom prst="rect">
            <a:avLst/>
          </a:prstGeom>
          <a:noFill/>
          <a:ln/>
        </p:spPr>
        <p:txBody>
          <a:bodyPr wrap="none" lIns="0" tIns="0" rIns="0" bIns="0" rtlCol="0" anchor="t"/>
          <a:lstStyle/>
          <a:p>
            <a:pPr algn="l" indent="0" marL="0">
              <a:lnSpc>
                <a:spcPts val="2070"/>
              </a:lnSpc>
              <a:buNone/>
            </a:pPr>
            <a:r>
              <a:rPr lang="en-US" sz="1800" dirty="0">
                <a:solidFill>
                  <a:srgbClr val="E6E6E6"/>
                </a:solidFill>
                <a:latin typeface="Carlito" pitchFamily="34" charset="0"/>
                <a:ea typeface="Carlito" pitchFamily="34" charset="-122"/>
                <a:cs typeface="Carlito" pitchFamily="34" charset="-120"/>
              </a:rPr>
              <a:t>Verdict and next steps</a:t>
            </a:r>
            <a:endParaRPr lang="en-US" sz="1800" dirty="0"/>
          </a:p>
        </p:txBody>
      </p:sp>
      <p:sp>
        <p:nvSpPr>
          <p:cNvPr id="7" name="Text 5"/>
          <p:cNvSpPr/>
          <p:nvPr/>
        </p:nvSpPr>
        <p:spPr>
          <a:xfrm>
            <a:off x="457200" y="1184411"/>
            <a:ext cx="8229600" cy="781459"/>
          </a:xfrm>
          <a:prstGeom prst="roundRect">
            <a:avLst>
              <a:gd name="adj" fmla="val 7313"/>
            </a:avLst>
          </a:prstGeom>
          <a:solidFill>
            <a:srgbClr val="1F2630"/>
          </a:solidFill>
          <a:ln/>
        </p:spPr>
        <p:txBody>
          <a:bodyPr wrap="square" rtlCol="0" anchor="ctr"/>
          <a:lstStyle/>
          <a:p>
            <a:pPr indent="0" marL="0">
              <a:buNone/>
            </a:pPr>
            <a:endParaRPr lang="en-US" dirty="0"/>
          </a:p>
        </p:txBody>
      </p:sp>
      <p:sp>
        <p:nvSpPr>
          <p:cNvPr id="8" name="Shape 6"/>
          <p:cNvSpPr/>
          <p:nvPr/>
        </p:nvSpPr>
        <p:spPr>
          <a:xfrm>
            <a:off x="457200" y="1187983"/>
            <a:ext cx="8229600" cy="0"/>
          </a:xfrm>
          <a:prstGeom prst="line">
            <a:avLst/>
          </a:prstGeom>
          <a:noFill/>
          <a:ln w="7144">
            <a:solidFill>
              <a:srgbClr val="2A3038"/>
            </a:solidFill>
            <a:prstDash val="solid"/>
          </a:ln>
        </p:spPr>
      </p:sp>
      <p:sp>
        <p:nvSpPr>
          <p:cNvPr id="9" name="Shape 7"/>
          <p:cNvSpPr/>
          <p:nvPr/>
        </p:nvSpPr>
        <p:spPr>
          <a:xfrm>
            <a:off x="8683228" y="1184411"/>
            <a:ext cx="0" cy="781459"/>
          </a:xfrm>
          <a:prstGeom prst="line">
            <a:avLst/>
          </a:prstGeom>
          <a:noFill/>
          <a:ln w="7144">
            <a:solidFill>
              <a:srgbClr val="2A3038"/>
            </a:solidFill>
            <a:prstDash val="solid"/>
          </a:ln>
        </p:spPr>
      </p:sp>
      <p:sp>
        <p:nvSpPr>
          <p:cNvPr id="10" name="Shape 8"/>
          <p:cNvSpPr/>
          <p:nvPr/>
        </p:nvSpPr>
        <p:spPr>
          <a:xfrm>
            <a:off x="457200" y="1962299"/>
            <a:ext cx="8229600" cy="0"/>
          </a:xfrm>
          <a:prstGeom prst="line">
            <a:avLst/>
          </a:prstGeom>
          <a:noFill/>
          <a:ln w="7144">
            <a:solidFill>
              <a:srgbClr val="2A3038"/>
            </a:solidFill>
            <a:prstDash val="solid"/>
          </a:ln>
        </p:spPr>
      </p:sp>
      <p:sp>
        <p:nvSpPr>
          <p:cNvPr id="11" name="Shape 9"/>
          <p:cNvSpPr/>
          <p:nvPr/>
        </p:nvSpPr>
        <p:spPr>
          <a:xfrm>
            <a:off x="467916" y="1184411"/>
            <a:ext cx="0" cy="781459"/>
          </a:xfrm>
          <a:prstGeom prst="line">
            <a:avLst/>
          </a:prstGeom>
          <a:noFill/>
          <a:ln w="21431">
            <a:solidFill>
              <a:srgbClr val="FFB454"/>
            </a:solidFill>
            <a:prstDash val="solid"/>
          </a:ln>
        </p:spPr>
      </p:sp>
      <p:sp>
        <p:nvSpPr>
          <p:cNvPr id="12" name="Text 10"/>
          <p:cNvSpPr/>
          <p:nvPr/>
        </p:nvSpPr>
        <p:spPr>
          <a:xfrm>
            <a:off x="650081" y="1320143"/>
            <a:ext cx="7858125" cy="509997"/>
          </a:xfrm>
          <a:prstGeom prst="rect">
            <a:avLst/>
          </a:prstGeom>
          <a:noFill/>
          <a:ln/>
        </p:spPr>
        <p:txBody>
          <a:bodyPr wrap="square" lIns="0" tIns="0" rIns="0" bIns="0" rtlCol="0" anchor="t"/>
          <a:lstStyle/>
          <a:p>
            <a:pPr algn="l" indent="0" marL="0">
              <a:lnSpc>
                <a:spcPts val="1339"/>
              </a:lnSpc>
              <a:buNone/>
            </a:pPr>
            <a:r>
              <a:rPr lang="en-US" sz="800" dirty="0">
                <a:solidFill>
                  <a:srgbClr val="E6E6E6"/>
                </a:solidFill>
                <a:latin typeface="Carlito" pitchFamily="34" charset="0"/>
                <a:ea typeface="Carlito" pitchFamily="34" charset="-122"/>
                <a:cs typeface="Carlito" pitchFamily="34" charset="-120"/>
              </a:rPr>
              <a:t>The UBP variational program, as developed across </a:t>
            </a:r>
            <a:pPr algn="l" indent="0" marL="0">
              <a:lnSpc>
                <a:spcPts val="1339"/>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EXTREMAL_001</a:t>
            </a:r>
            <a:pPr algn="l" indent="0" marL="0">
              <a:lnSpc>
                <a:spcPts val="1339"/>
              </a:lnSpc>
              <a:buNone/>
            </a:pPr>
            <a:r>
              <a:rPr lang="en-US" sz="800" dirty="0">
                <a:solidFill>
                  <a:srgbClr val="E6E6E6"/>
                </a:solidFill>
                <a:latin typeface="Carlito" pitchFamily="34" charset="0"/>
                <a:ea typeface="Carlito" pitchFamily="34" charset="-122"/>
                <a:cs typeface="Carlito" pitchFamily="34" charset="-120"/>
              </a:rPr>
              <a:t> through </a:t>
            </a:r>
            <a:pPr algn="l" indent="0" marL="0">
              <a:lnSpc>
                <a:spcPts val="1339"/>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EXTREMAL_003</a:t>
            </a:r>
            <a:pPr algn="l" indent="0" marL="0">
              <a:lnSpc>
                <a:spcPts val="1339"/>
              </a:lnSpc>
              <a:buNone/>
            </a:pPr>
            <a:r>
              <a:rPr lang="en-US" sz="800" dirty="0">
                <a:solidFill>
                  <a:srgbClr val="E6E6E6"/>
                </a:solidFill>
                <a:latin typeface="Carlito" pitchFamily="34" charset="0"/>
                <a:ea typeface="Carlito" pitchFamily="34" charset="-122"/>
                <a:cs typeface="Carlito" pitchFamily="34" charset="-120"/>
              </a:rPr>
              <a:t>, can correctly identify which code is avg</a:t>
            </a:r>
            <a:pPr algn="l" indent="0" marL="0">
              <a:lnSpc>
                <a:spcPts val="1339"/>
              </a:lnSpc>
              <a:buNone/>
            </a:pPr>
            <a:r>
              <a:rPr lang="en-US" sz="800" baseline="-40000" dirty="0">
                <a:solidFill>
                  <a:srgbClr val="E6E6E6"/>
                </a:solidFill>
                <a:latin typeface="Carlito" pitchFamily="34" charset="0"/>
                <a:ea typeface="Carlito" pitchFamily="34" charset="-122"/>
                <a:cs typeface="Carlito" pitchFamily="34" charset="-120"/>
              </a:rPr>
              <a:t>Φ</a:t>
            </a:r>
            <a:pPr algn="l" indent="0" marL="0">
              <a:lnSpc>
                <a:spcPts val="1339"/>
              </a:lnSpc>
              <a:buNone/>
            </a:pPr>
            <a:r>
              <a:rPr lang="en-US" sz="800" dirty="0">
                <a:solidFill>
                  <a:srgbClr val="E6E6E6"/>
                </a:solidFill>
                <a:latin typeface="Carlito" pitchFamily="34" charset="0"/>
                <a:ea typeface="Carlito" pitchFamily="34" charset="-122"/>
                <a:cs typeface="Carlito" pitchFamily="34" charset="-120"/>
              </a:rPr>
              <a:t>-optimal for fixed </a:t>
            </a:r>
            <a:pPr algn="l" indent="0" marL="0">
              <a:lnSpc>
                <a:spcPts val="1339"/>
              </a:lnSpc>
              <a:buNone/>
            </a:pPr>
            <a:r>
              <a:rPr lang="en-US" sz="800" i="1" dirty="0">
                <a:solidFill>
                  <a:srgbClr val="E6E6E6"/>
                </a:solidFill>
                <a:latin typeface="Tinos" pitchFamily="34" charset="0"/>
                <a:ea typeface="Tinos" pitchFamily="34" charset="-122"/>
                <a:cs typeface="Tinos" pitchFamily="34" charset="-120"/>
              </a:rPr>
              <a:t>[n,k]</a:t>
            </a:r>
            <a:pPr algn="l" indent="0" marL="0">
              <a:lnSpc>
                <a:spcPts val="1339"/>
              </a:lnSpc>
              <a:buNone/>
            </a:pPr>
            <a:r>
              <a:rPr lang="en-US" sz="800" dirty="0">
                <a:solidFill>
                  <a:srgbClr val="E6E6E6"/>
                </a:solidFill>
                <a:latin typeface="Carlito" pitchFamily="34" charset="0"/>
                <a:ea typeface="Carlito" pitchFamily="34" charset="-122"/>
                <a:cs typeface="Carlito" pitchFamily="34" charset="-120"/>
              </a:rPr>
              <a:t> parameters, via a theorem (Thread C) backed by strong computational evidence (Threads A, D). It cannot derive the ambient dimension </a:t>
            </a:r>
            <a:pPr algn="l" indent="0" marL="0">
              <a:lnSpc>
                <a:spcPts val="1339"/>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n=24</a:t>
            </a:r>
            <a:pPr algn="l" indent="0" marL="0">
              <a:lnSpc>
                <a:spcPts val="1339"/>
              </a:lnSpc>
              <a:buNone/>
            </a:pPr>
            <a:r>
              <a:rPr lang="en-US" sz="800" dirty="0">
                <a:solidFill>
                  <a:srgbClr val="E6E6E6"/>
                </a:solidFill>
                <a:latin typeface="Carlito" pitchFamily="34" charset="0"/>
                <a:ea typeface="Carlito" pitchFamily="34" charset="-122"/>
                <a:cs typeface="Carlito" pitchFamily="34" charset="-120"/>
              </a:rPr>
              <a:t>, and the self-dual extension does not go through in its unqualified form (Thread B). </a:t>
            </a:r>
            <a:pPr algn="l" indent="0" marL="0">
              <a:lnSpc>
                <a:spcPts val="1339"/>
              </a:lnSpc>
              <a:buNone/>
            </a:pPr>
            <a:r>
              <a:rPr lang="en-US" sz="800" dirty="0">
                <a:solidFill>
                  <a:srgbClr val="FFB454"/>
                </a:solidFill>
                <a:latin typeface="Carlito" pitchFamily="34" charset="0"/>
                <a:ea typeface="Carlito" pitchFamily="34" charset="-122"/>
                <a:cs typeface="Carlito" pitchFamily="34" charset="-120"/>
              </a:rPr>
              <a:t>The deepest obstruction — why 24 — remains.</a:t>
            </a:r>
            <a:endParaRPr lang="en-US" sz="800" dirty="0"/>
          </a:p>
        </p:txBody>
      </p:sp>
      <p:sp>
        <p:nvSpPr>
          <p:cNvPr id="13" name="Text 11"/>
          <p:cNvSpPr/>
          <p:nvPr/>
        </p:nvSpPr>
        <p:spPr>
          <a:xfrm>
            <a:off x="460772" y="2069455"/>
            <a:ext cx="4036219" cy="2278856"/>
          </a:xfrm>
          <a:prstGeom prst="roundRect">
            <a:avLst>
              <a:gd name="adj" fmla="val 2508"/>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4" name="Text 12"/>
          <p:cNvSpPr/>
          <p:nvPr/>
        </p:nvSpPr>
        <p:spPr>
          <a:xfrm>
            <a:off x="607219" y="2187327"/>
            <a:ext cx="707566" cy="192881"/>
          </a:xfrm>
          <a:prstGeom prst="rect">
            <a:avLst/>
          </a:prstGeom>
          <a:noFill/>
          <a:ln/>
        </p:spPr>
        <p:txBody>
          <a:bodyPr wrap="none" lIns="0" tIns="0" rIns="0" bIns="0" rtlCol="0" anchor="ctr"/>
          <a:lstStyle/>
          <a:p>
            <a:pPr algn="ctr" indent="0" marL="0">
              <a:buNone/>
            </a:pPr>
            <a:r>
              <a:rPr lang="en-US" sz="1266" dirty="0">
                <a:solidFill>
                  <a:srgbClr val="6FE3D2"/>
                </a:solidFill>
                <a:latin typeface="Segoe UI Symbol" pitchFamily="34" charset="0"/>
                <a:ea typeface="Segoe UI Symbol" pitchFamily="34" charset="-122"/>
                <a:cs typeface="Segoe UI Symbol" pitchFamily="34" charset="-120"/>
              </a:rPr>
              <a:t>✓</a:t>
            </a:r>
            <a:endParaRPr lang="en-US" sz="1266" dirty="0"/>
          </a:p>
        </p:txBody>
      </p:sp>
      <p:sp>
        <p:nvSpPr>
          <p:cNvPr id="15" name="Text 13"/>
          <p:cNvSpPr/>
          <p:nvPr/>
        </p:nvSpPr>
        <p:spPr>
          <a:xfrm>
            <a:off x="1371935" y="2198043"/>
            <a:ext cx="2978609" cy="185166"/>
          </a:xfrm>
          <a:prstGeom prst="rect">
            <a:avLst/>
          </a:prstGeom>
          <a:noFill/>
          <a:ln/>
        </p:spPr>
        <p:txBody>
          <a:bodyPr wrap="none" lIns="0" tIns="0" rIns="0" bIns="0" rtlCol="0" anchor="t"/>
          <a:lstStyle/>
          <a:p>
            <a:pPr algn="l" indent="0" marL="0">
              <a:lnSpc>
                <a:spcPts val="1350"/>
              </a:lnSpc>
              <a:buNone/>
            </a:pPr>
            <a:r>
              <a:rPr lang="en-US" sz="900" spc="36" kern="0" dirty="0">
                <a:solidFill>
                  <a:srgbClr val="6FE3D2"/>
                </a:solidFill>
                <a:latin typeface="Carlito" pitchFamily="34" charset="0"/>
                <a:ea typeface="Carlito" pitchFamily="34" charset="-122"/>
                <a:cs typeface="Carlito" pitchFamily="34" charset="-120"/>
              </a:rPr>
              <a:t>WHAT IS NOW ESTABLISHED</a:t>
            </a:r>
            <a:endParaRPr lang="en-US" sz="900" dirty="0"/>
          </a:p>
        </p:txBody>
      </p:sp>
      <p:sp>
        <p:nvSpPr>
          <p:cNvPr id="16" name="Text 14"/>
          <p:cNvSpPr/>
          <p:nvPr/>
        </p:nvSpPr>
        <p:spPr>
          <a:xfrm>
            <a:off x="735806" y="2465933"/>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Carlito" pitchFamily="34" charset="0"/>
                <a:ea typeface="Carlito" pitchFamily="34" charset="-122"/>
                <a:cs typeface="Carlito" pitchFamily="34" charset="-120"/>
              </a:rPr>
              <a:t>Constant Peak:</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algebraic identity, exact.</a:t>
            </a:r>
            <a:endParaRPr lang="en-US" sz="800" dirty="0"/>
          </a:p>
        </p:txBody>
      </p:sp>
      <p:sp>
        <p:nvSpPr>
          <p:cNvPr id="17" name="Text 15"/>
          <p:cNvSpPr/>
          <p:nvPr/>
        </p:nvSpPr>
        <p:spPr>
          <a:xfrm>
            <a:off x="735806" y="2680915"/>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Carlito" pitchFamily="34" charset="0"/>
                <a:ea typeface="Carlito" pitchFamily="34" charset="-122"/>
                <a:cs typeface="Carlito" pitchFamily="34" charset="-120"/>
              </a:rPr>
              <a:t>Analytic Dominance:</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universal across linear codes.</a:t>
            </a:r>
            <a:endParaRPr lang="en-US" sz="800" dirty="0"/>
          </a:p>
        </p:txBody>
      </p:sp>
      <p:sp>
        <p:nvSpPr>
          <p:cNvPr id="18" name="Text 16"/>
          <p:cNvSpPr/>
          <p:nvPr/>
        </p:nvSpPr>
        <p:spPr>
          <a:xfrm>
            <a:off x="735806" y="2895898"/>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Carlito" pitchFamily="34" charset="0"/>
                <a:ea typeface="Carlito" pitchFamily="34" charset="-122"/>
                <a:cs typeface="Carlito" pitchFamily="34" charset="-120"/>
              </a:rPr>
              <a:t>Decoder-Flow Monotonicity:</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holds up to vacuum collapse.</a:t>
            </a:r>
            <a:endParaRPr lang="en-US" sz="800" dirty="0"/>
          </a:p>
        </p:txBody>
      </p:sp>
      <p:sp>
        <p:nvSpPr>
          <p:cNvPr id="19" name="Text 17"/>
          <p:cNvSpPr/>
          <p:nvPr/>
        </p:nvSpPr>
        <p:spPr>
          <a:xfrm>
            <a:off x="735806" y="3110880"/>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Carlito" pitchFamily="34" charset="0"/>
                <a:ea typeface="Carlito" pitchFamily="34" charset="-122"/>
                <a:cs typeface="Carlito" pitchFamily="34" charset="-120"/>
              </a:rPr>
              <a:t>avg</a:t>
            </a:r>
            <a:pPr algn="l" indent="0" marL="0">
              <a:lnSpc>
                <a:spcPts val="1243"/>
              </a:lnSpc>
              <a:buNone/>
            </a:pPr>
            <a:r>
              <a:rPr lang="en-US" sz="800" baseline="-40000" dirty="0">
                <a:solidFill>
                  <a:srgbClr val="E6E6E6"/>
                </a:solidFill>
                <a:latin typeface="Carlito" pitchFamily="34" charset="0"/>
                <a:ea typeface="Carlito" pitchFamily="34" charset="-122"/>
                <a:cs typeface="Carlito" pitchFamily="34" charset="-120"/>
              </a:rPr>
              <a:t>Φ</a:t>
            </a:r>
            <a:pPr algn="l" indent="0" marL="0">
              <a:lnSpc>
                <a:spcPts val="1243"/>
              </a:lnSpc>
              <a:buNone/>
            </a:pPr>
            <a:r>
              <a:rPr lang="en-US" sz="800" dirty="0">
                <a:solidFill>
                  <a:srgbClr val="E6E6E6"/>
                </a:solidFill>
                <a:latin typeface="Carlito" pitchFamily="34" charset="0"/>
                <a:ea typeface="Carlito" pitchFamily="34" charset="-122"/>
                <a:cs typeface="Carlito" pitchFamily="34" charset="-120"/>
              </a:rPr>
              <a:t>-Covering equivalence:</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theorem + Spearman </a:t>
            </a:r>
            <a:pPr algn="l" indent="0" marL="0">
              <a:lnSpc>
                <a:spcPts val="124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−0.888</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20" name="Text 18"/>
          <p:cNvSpPr/>
          <p:nvPr/>
        </p:nvSpPr>
        <p:spPr>
          <a:xfrm>
            <a:off x="735806" y="3325862"/>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Golay[23,12,7]</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strictly maximises avg</a:t>
            </a:r>
            <a:pPr algn="l" indent="0" marL="0">
              <a:lnSpc>
                <a:spcPts val="1243"/>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24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in 5-code Monte Carlo.</a:t>
            </a:r>
            <a:endParaRPr lang="en-US" sz="800" dirty="0"/>
          </a:p>
        </p:txBody>
      </p:sp>
      <p:sp>
        <p:nvSpPr>
          <p:cNvPr id="21" name="Text 19"/>
          <p:cNvSpPr/>
          <p:nvPr/>
        </p:nvSpPr>
        <p:spPr>
          <a:xfrm>
            <a:off x="4647009" y="2069455"/>
            <a:ext cx="4036219" cy="2278856"/>
          </a:xfrm>
          <a:prstGeom prst="roundRect">
            <a:avLst>
              <a:gd name="adj" fmla="val 2508"/>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22" name="Text 20"/>
          <p:cNvSpPr/>
          <p:nvPr/>
        </p:nvSpPr>
        <p:spPr>
          <a:xfrm>
            <a:off x="4793456" y="2187327"/>
            <a:ext cx="693613" cy="192881"/>
          </a:xfrm>
          <a:prstGeom prst="rect">
            <a:avLst/>
          </a:prstGeom>
          <a:noFill/>
          <a:ln/>
        </p:spPr>
        <p:txBody>
          <a:bodyPr wrap="none" lIns="0" tIns="0" rIns="0" bIns="0" rtlCol="0" anchor="ctr"/>
          <a:lstStyle/>
          <a:p>
            <a:pPr algn="ctr" indent="0" marL="0">
              <a:buNone/>
            </a:pPr>
            <a:r>
              <a:rPr lang="en-US" sz="1266" dirty="0">
                <a:solidFill>
                  <a:srgbClr val="FFB454"/>
                </a:solidFill>
                <a:latin typeface="Segoe UI Symbol" pitchFamily="34" charset="0"/>
                <a:ea typeface="Segoe UI Symbol" pitchFamily="34" charset="-122"/>
                <a:cs typeface="Segoe UI Symbol" pitchFamily="34" charset="-120"/>
              </a:rPr>
              <a:t>?</a:t>
            </a:r>
            <a:endParaRPr lang="en-US" sz="1266" dirty="0"/>
          </a:p>
        </p:txBody>
      </p:sp>
      <p:sp>
        <p:nvSpPr>
          <p:cNvPr id="23" name="Text 21"/>
          <p:cNvSpPr/>
          <p:nvPr/>
        </p:nvSpPr>
        <p:spPr>
          <a:xfrm>
            <a:off x="5544220" y="2198043"/>
            <a:ext cx="2992562" cy="185166"/>
          </a:xfrm>
          <a:prstGeom prst="rect">
            <a:avLst/>
          </a:prstGeom>
          <a:noFill/>
          <a:ln/>
        </p:spPr>
        <p:txBody>
          <a:bodyPr wrap="none" lIns="0" tIns="0" rIns="0" bIns="0" rtlCol="0" anchor="t"/>
          <a:lstStyle/>
          <a:p>
            <a:pPr algn="l" indent="0" marL="0">
              <a:lnSpc>
                <a:spcPts val="1350"/>
              </a:lnSpc>
              <a:buNone/>
            </a:pPr>
            <a:r>
              <a:rPr lang="en-US" sz="900" spc="36" kern="0" dirty="0">
                <a:solidFill>
                  <a:srgbClr val="FFB454"/>
                </a:solidFill>
                <a:latin typeface="Carlito" pitchFamily="34" charset="0"/>
                <a:ea typeface="Carlito" pitchFamily="34" charset="-122"/>
                <a:cs typeface="Carlito" pitchFamily="34" charset="-120"/>
              </a:rPr>
              <a:t>WHAT IS STILL OPEN</a:t>
            </a:r>
            <a:endParaRPr lang="en-US" sz="900" dirty="0"/>
          </a:p>
        </p:txBody>
      </p:sp>
      <p:sp>
        <p:nvSpPr>
          <p:cNvPr id="24" name="Text 22"/>
          <p:cNvSpPr/>
          <p:nvPr/>
        </p:nvSpPr>
        <p:spPr>
          <a:xfrm>
            <a:off x="4922044" y="2465933"/>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Carlito" pitchFamily="34" charset="0"/>
                <a:ea typeface="Carlito" pitchFamily="34" charset="-122"/>
                <a:cs typeface="Carlito" pitchFamily="34" charset="-120"/>
              </a:rPr>
              <a:t>Uniqueness</a:t>
            </a:r>
            <a:pPr algn="l" indent="0" marL="0">
              <a:lnSpc>
                <a:spcPts val="124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of Golay as [23,12] avg</a:t>
            </a:r>
            <a:pPr algn="l" indent="0" marL="0">
              <a:lnSpc>
                <a:spcPts val="1243"/>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maximiser (exhaustive search infeasible).</a:t>
            </a:r>
            <a:endParaRPr lang="en-US" sz="800" dirty="0"/>
          </a:p>
        </p:txBody>
      </p:sp>
      <p:sp>
        <p:nvSpPr>
          <p:cNvPr id="25" name="Text 23"/>
          <p:cNvSpPr/>
          <p:nvPr/>
        </p:nvSpPr>
        <p:spPr>
          <a:xfrm>
            <a:off x="4922044" y="2680915"/>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Carlito" pitchFamily="34" charset="0"/>
                <a:ea typeface="Carlito" pitchFamily="34" charset="-122"/>
                <a:cs typeface="Carlito" pitchFamily="34" charset="-120"/>
              </a:rPr>
              <a:t>Self-dual + high-d</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form of the conjecture (Thread B qualified version).</a:t>
            </a:r>
            <a:endParaRPr lang="en-US" sz="800" dirty="0"/>
          </a:p>
        </p:txBody>
      </p:sp>
      <p:sp>
        <p:nvSpPr>
          <p:cNvPr id="26" name="Text 24"/>
          <p:cNvSpPr/>
          <p:nvPr/>
        </p:nvSpPr>
        <p:spPr>
          <a:xfrm>
            <a:off x="4922044" y="2895898"/>
            <a:ext cx="3614738" cy="372970"/>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Derivation of </a:t>
            </a:r>
            <a:pPr algn="l" indent="0" marL="0">
              <a:lnSpc>
                <a:spcPts val="124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n=24</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from Φ-adjacent principles (Leech/Monster connection sits outside Φ).</a:t>
            </a:r>
            <a:endParaRPr lang="en-US" sz="800" dirty="0"/>
          </a:p>
        </p:txBody>
      </p:sp>
      <p:sp>
        <p:nvSpPr>
          <p:cNvPr id="27" name="Text 25"/>
          <p:cNvSpPr/>
          <p:nvPr/>
        </p:nvSpPr>
        <p:spPr>
          <a:xfrm>
            <a:off x="4922044" y="3268712"/>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Carlito" pitchFamily="34" charset="0"/>
                <a:ea typeface="Carlito" pitchFamily="34" charset="-122"/>
                <a:cs typeface="Carlito" pitchFamily="34" charset="-120"/>
              </a:rPr>
              <a:t>Vacuum-collapse basin</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characterisation (left open by EXTREMAL_002 Sec 5.4).</a:t>
            </a:r>
            <a:endParaRPr lang="en-US" sz="800" dirty="0"/>
          </a:p>
        </p:txBody>
      </p:sp>
      <p:sp>
        <p:nvSpPr>
          <p:cNvPr id="28" name="Text 26"/>
          <p:cNvSpPr/>
          <p:nvPr/>
        </p:nvSpPr>
        <p:spPr>
          <a:xfrm>
            <a:off x="4922044" y="3483694"/>
            <a:ext cx="3614738" cy="186485"/>
          </a:xfrm>
          <a:prstGeom prst="rect">
            <a:avLst/>
          </a:prstGeom>
          <a:noFill/>
          <a:ln/>
        </p:spPr>
        <p:txBody>
          <a:bodyPr wrap="square" lIns="0" tIns="0" rIns="0" bIns="0" rtlCol="0" anchor="t"/>
          <a:lstStyle/>
          <a:p>
            <a:pPr algn="l" indent="0" marL="0">
              <a:lnSpc>
                <a:spcPts val="124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avg</a:t>
            </a:r>
            <a:pPr algn="l" indent="0" marL="0">
              <a:lnSpc>
                <a:spcPts val="1243"/>
              </a:lnSpc>
              <a:buNone/>
            </a:pPr>
            <a:r>
              <a:rPr lang="en-US" sz="800" baseline="-40000" dirty="0">
                <a:solidFill>
                  <a:srgbClr val="E6E6E6"/>
                </a:solidFill>
                <a:latin typeface="Carlito" pitchFamily="34" charset="0"/>
                <a:ea typeface="Carlito" pitchFamily="34" charset="-122"/>
                <a:cs typeface="Carlito" pitchFamily="34" charset="-120"/>
              </a:rPr>
              <a:t>Φ</a:t>
            </a:r>
            <a:pPr algn="l" indent="0" marL="0">
              <a:lnSpc>
                <a:spcPts val="1243"/>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 test on [24,12,8]</a:t>
            </a:r>
            <a:pPr algn="l" indent="0" marL="0">
              <a:lnSpc>
                <a:spcPts val="1243"/>
              </a:lnSpc>
              <a:buNone/>
            </a:pPr>
            <a:r>
              <a:rPr lang="en-US" sz="800" dirty="0">
                <a:solidFill>
                  <a:srgbClr val="B5BAC4"/>
                </a:solidFill>
                <a:latin typeface="Carlito" pitchFamily="34" charset="0"/>
                <a:ea typeface="Carlito" pitchFamily="34" charset="-122"/>
                <a:cs typeface="Carlito" pitchFamily="34" charset="-120"/>
              </a:rPr>
              <a:t> codes vs Golay (sampled, not exhaustive).</a:t>
            </a:r>
            <a:endParaRPr lang="en-US" sz="800" dirty="0"/>
          </a:p>
        </p:txBody>
      </p:sp>
      <p:sp>
        <p:nvSpPr>
          <p:cNvPr id="29" name="Text 27"/>
          <p:cNvSpPr/>
          <p:nvPr/>
        </p:nvSpPr>
        <p:spPr>
          <a:xfrm>
            <a:off x="7075215" y="4586288"/>
            <a:ext cx="1565151" cy="196453"/>
          </a:xfrm>
          <a:prstGeom prst="roundRect">
            <a:avLst>
              <a:gd name="adj" fmla="val 4843639"/>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30" name="Text 28"/>
          <p:cNvSpPr/>
          <p:nvPr/>
        </p:nvSpPr>
        <p:spPr>
          <a:xfrm>
            <a:off x="7071643" y="4582716"/>
            <a:ext cx="1572295" cy="284295"/>
          </a:xfrm>
          <a:prstGeom prst="rect">
            <a:avLst/>
          </a:prstGeom>
          <a:noFill/>
          <a:ln/>
        </p:spPr>
        <p:txBody>
          <a:bodyPr wrap="square" lIns="100013" tIns="35719" rIns="100013" bIns="35719" rtlCol="0" anchor="t"/>
          <a:lstStyle/>
          <a:p>
            <a:pPr algn="l" indent="0" marL="0">
              <a:lnSpc>
                <a:spcPts val="928"/>
              </a:lnSpc>
              <a:buNone/>
            </a:pPr>
            <a:r>
              <a:rPr lang="en-US" sz="800" spc="87" kern="0" dirty="0">
                <a:solidFill>
                  <a:srgbClr val="FFB454"/>
                </a:solidFill>
                <a:latin typeface="Courier New" pitchFamily="34" charset="0"/>
                <a:ea typeface="Courier New" pitchFamily="34" charset="-122"/>
                <a:cs typeface="Courier New" pitchFamily="34" charset="-120"/>
              </a:rPr>
              <a:t>CONTINUATION STATUS: ACTIVE</a:t>
            </a:r>
            <a:endParaRPr lang="en-US" sz="800" dirty="0"/>
          </a:p>
        </p:txBody>
      </p:sp>
      <p:sp>
        <p:nvSpPr>
          <p:cNvPr id="31" name="Text 29"/>
          <p:cNvSpPr/>
          <p:nvPr/>
        </p:nvSpPr>
        <p:spPr>
          <a:xfrm>
            <a:off x="457200" y="4893469"/>
            <a:ext cx="7925209"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UBP_STUDY_EXTREMAL_003 / End / p.14</a:t>
            </a:r>
            <a:endParaRPr lang="en-US" sz="800" dirty="0"/>
          </a:p>
        </p:txBody>
      </p:sp>
      <p:sp>
        <p:nvSpPr>
          <p:cNvPr id="32" name="Text 30"/>
          <p:cNvSpPr/>
          <p:nvPr/>
        </p:nvSpPr>
        <p:spPr>
          <a:xfrm>
            <a:off x="8396697" y="4893469"/>
            <a:ext cx="410859"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14 / 14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2026-06-24T07:19:18Z</dcterms:created>
  <dcterms:modified xsi:type="dcterms:W3CDTF">2026-06-24T07:19:18Z</dcterms:modified>
</cp:coreProperties>
</file>