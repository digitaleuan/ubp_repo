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second continuation document in the UBP Extremal Law program. EXTREMAL_003 left five open questions on its slide fourteen, and this document pushes hard on all five in parallel. Thread E exactly characterises the vacuum basin around the zero codeword of the Golay twenty-four twelve eight code, which closes Q4. Thread F samples [24,12,8] codes versus Golay via Monte Carlo, partially closing Q5. Thread G states a uniqueness theorem for the Golay [23,12,7] code, addressing Q1. Thread H tests the qualified self-dual conjecture on [16,8] and falsifies Q2, our second negative result. Thread I articulates a speculative lattice-theoretic direction for the derivation of n equals twenty-four, leaving Q3 open. Net result: five open questions, three closed (one fully, one partially, one falsified), one theorem stated, one genuinely still open. We promise honest reporting throughout, including the negative result on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walk through the five open questions left by EXTREMAL_003 and what each new thread attempts. Q1 was the uniqueness of Golay as a [23,12] average Phi maximiser; Thread G states a theorem but the proof is incomplete. Q2 was the qualified self-dual plus high-d form of the conjecture; Thread H tests it on [16,8] with eighty random codes plus the canonical E8 plus E8 self-dual code, and falsifies it. Q3, the derivation of n equals twenty-four from Phi-adjacent principles, remains open; Thread I only articulates a speculative lattice-theoretic direction. Q4, the vacuum-collapse basin characterisation, is cleanly closed by Thread E with a closed-form enumeration. Q5, the average Phi test on [24,12,8] codes versus Golay, is partially closed by Thread F via Monte Carlo. This is a research honesty exercise: we report falsifications and partial results as such, not as successes. Thread I is a research direction, not a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section header for Thread E. The vacuum basin is the set of vectors v in F two to the twenty-four whose nearest Golay codeword is the zero codeword. EXTREMAL_002 conjectured in section five point four that this basin was the perfect Hamming ball of radius three, but did not prove it. In Thread E we enumerate all eleven thousand eight hundred fifty-one vectors with Hamming weight up to four and check each one against the live Golay decoder. The result is a closed-form, exact characterisation. We close open question Q4.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vacuum basin is exactly the perfect Hamming ball of radius t equals three around the zero codeword. This is not a coincidence, it follows from the [24,12,8] extended Golay code’s distance structure: d equals eight means t equals three, so any vector within Hamming weight three of zero is closer to zero than to any non-zero codeword, which sits at distance at least eight minus three equals five. Vectors at Hamming weight four are at distance four from zero, but might be at distance four from an octad too, these are tie cases. The standard Golay decoder refuses to correct when the syndrome weight exceeds three, so all ten thousand six hundred twenty-six HW four vectors are returned as-is. They are uncorrectable, not in the basin. This gives a crisp closed-form answer: the cardinality of the ball around zero is the sum from i equals zero to three of C twenty-four choose i, which equals two thousand three hundred twenty-five.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section header for Thread F. We attempt to also sample random self-dual [24,12] codes via G equals identity concatenated with B with B orthogonal over GF two, but the acceptance rate is too low for twelve by twelve matrices, around zero percent in five hundred attempts. Better sampling methods exist, for example composition of reflections, but were not implemented here. The four random [24,12] codes we did test happened to have d equals three or d equals four, better than typical random, so the margin is smaller than the [23,12] case but still significant.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[24,12,8] result is positive but weaker than the [23,12,7] result. Two reasons. First, the random codes here happened to have d equals three or d equals four, much better than typical random [24,12] codes which usually have d equals one. Second, the [24,12,8] Golay code is not a perfect code, it does not achieve the Hamming bound for n equals twenty-four, so its distance distribution is slightly less concentrated than the [23,12,7] perfect code. Still, the margin of plus zero point zero one five is three times the Monte Carlo standard error, so it is statistically significant. A cleaner test would require either much larger sample sizes, one hundred thousand or more trials per code, or a smarter sampling method that produces self-dual [24,12] codes with d ranging from two to eight. The latter is left as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now move into the third section of the deck, Thread G, which states our uniqueness theorem for the [23,12] binary codes. The theorem combines two ingredients: first, Thread C's strict monotonicity of avg Phi in the Phi-average radius rho Phi from the previous document, and second, the classical result that the [23,12,7] Golay code is the unique perfect code for those parameters, due to van Lint in 1971. The missing step is a proof that perfect codes minimise rho Phi. We give a strong argument but not a complete proof. The next slide will lay out the theorem statement and a four-step proof sketch, and we will be explicit about exactly which step remains open and why the computational evidence from Thread D gives us confidence the gap is closeable.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through the four steps of the proof. Step 1 is the theorem from EXTREMAL_003 Thread C — established. It says avg Phi is strictly decreasing in rho Phi by Jensen on the convex function one over one plus beta x. Step 2 is a definition: rho Phi is bounded below by a function of the covering radius and is exactly determined by the full distance distribution of the code. Step 3 is the new claim: perfect codes minimise rho Phi. The intuition is that perfect codes achieve the Hamming bound, meaning every vector is within distance t of exactly one codeword — the distance distribution is uniquely uniform. Any non-perfect code has some vectors at distance greater than t, increasing the average. But this argument is for the unweighted average distance, not rho Phi which weights by one over HW. The weighting complicates things: low-HW vectors are weighted more heavily, and for HW equals one vectors, every code gives distance one. Step 4 is classical: van Lint 1971 proved the uniqueness of the binary Golay code. So the only gap is Step 3. Computational evidence from Thread D strongly supports it: Golay's margin of plus zero point zero three six over five random twenty-three twelve codes is twelve times the Monte Carlo standard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opens Thread H, which tests the qualified form of the self-dual conjecture. The qualified conjecture was the natural fallback after Thread B's negative result. Test setup: sample 80 random 16,8 codes, computing Monte Carlo avg Phi with 10k samples each, plus the canonical self-dual 16,8,4 code E8 plus E8, the direct sum of two E8 lattices. Among the 6 random codes that happened to have d equals 4, we compare each to E8 plus E8. The result: E8 plus E8 loses to all 6. The qualified conjecture is also false. A further-refined conjecture remains: maybe doubly-even self-dual codes, like Golay 24,12,8 and Extended Hamming 8,4,4, are the special class, not all self-dual codes. The next slide shows the numbers in detail and articulates the refined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second negative result of the continuation. Even the qualified form of the self-dual conjecture — that among high-distance codes, self-dual codes maximise avg Phi — is false. The E8 plus E8 16,8,4 code, the canonical structured self-dual code at these parameters, is beaten by every single one of the 6 random non-self-dual d equals 4 codes we sampled. As you can see in the chart on the left, E8 plus E8 sits at the very bottom of the d equals 4 subset, with avg Phi of 2.0650, while the best random code, number 21, reaches 2.1069 — a gap of roughly 0.04. The mechanism is that E8 plus E8 is a direct-sum construction: its codewords are clumped into two 8-dimensional blocks, giving it a poor covering radius relative to a more uniformly-distributed random d equals 4 code. The refined conjecture — that doubly-even self-dual codes, which have all codeword weights divisible by 4, are the special class — is suggested by the contrast: Extended Hamming 8,4,4 doubly-even wins at n equals 8, Golay 24,12,8 doubly-even wins at n equals 24, but E8 plus E8 16,8,4 singly-even loses at n equals 16. Testing this refined conjecture is the natural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hardest open question and the one most likely to remain open. We now move into the final and most speculative thread, Thread I, which asks why the substrate dimension is 24. The dimension 24 is exceptional because of a coincidence of three deep mathematical properties: doubly-even self-dual codes, which require n congruent to 0 mod 8; even unimodular lattices, which also require n congruent to 0 mod 8; and rootless even unimodular lattices, which exist only for n equals 24, uniquely the Leech lattice. The 24-bit substrate appears at the intersection of these three. Phi alone cannot derive this intersection; it requires importing lattice theory. The next slide will lay out the lattice argument and articulate the Phi-adjacent principle that points at 24, while being honest that the answer likely sits permanently outside Phi.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properties form a narrowing funnel. Property 1 allows n in the set 8, 16, 24, 32, and so on. Property 2 allows the same set, because the two conditions are equivalent via Construction A. Property 3 picks out n equals 24 uniquely. The Leech lattice is the unique rootless even unimodular lattice, and it exists only in 24 dimensions. This is a deep theorem of Conway and Sloane, 1988. The Phi-adjacent principle, that the substrate dimension must support both a doubly-even self-dual code and a rootless even unimodular lattice, does point at 24, but it does so by importing lattice theory. Phi alone, as currently formulated, has no property that distinguishes 24 from 8 or 16. To derive n equals 24 from Phi would require extending Phi to incorporate sphere-packing or lattice-theoretic structure, which is a research program rather than a single result. The honest verdict: this question likely sits permanently outside the Phi framework, and the most productive path forward is to accept n equals 24 as a given and derive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integration slide. Be explicit about which questions are truly closed versus which are partially closed or merely addressed. Q4 is closed in the strongest sense, an exact closed-form enumeration. Q5 is partially closed because the random sample is small and self-dual sampling failed. Q1 has a theorem stated but the proof is incomplete. Step 3, perfect codes minimise rho sub Phi, is the gap. Q2 is falsified even in its qualified form. Q3 remains genuinely open and likely permanent. The program has advanced, but the deepest question, why 24, is unchanged in status. The next push should focus on three things: completing Step 3 of the uniqueness theorem, testing the doubly-even self-dual refined conjecture, and implementing better self-dual 24,12 sampling. Acknowledge that this dashboard reflects honest bookkeeping: a falsification counts as progress because it removes a false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refined conjecture is the natural next step after Thread H's negative result. The pattern is striking. At n equals 8 and n equals 24, where the unique doubly-even self-dual code is also extremal, d equals 4 and d equals 8 respectively, it wins. At n equals 16, where the self-dual code we tested, E8 plus E8, is singly-even, it loses. This suggests the right structural property is not self-duality per se but doubly-even self-duality, which is a stronger condition. Testing this requires generating random doubly-even self-dual 16,8 codes. They exist. The type II code at n equals 16 is RM 1,4 extended, also known as the Barnes-Wall code. But these were not generated in this study. The test is concrete and tractable: generate 10 to 20 random doubly-even self-dual 16,8 codes, compute avg Phi for each, and compare to the E8 plus E8 baseline. If they all beat E8 plus E8, the refined conjecture survives. If even one fails, the conjecture must be further refined.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cumulative status slide. Walk through the trajectory. EXTREMAL_001 proposed the framework. EXTREMAL_002 proved the easy parts: the Constant Peak Theorem and the Analytic Dominance Theorem. CONVERSE_001 broke the naive converse, with two genuine breaks that surfaced the circular dependency and the regime inversion. EXTREMAL_003 deepened the program with new theorems, including the avg Phi-covering theorem, and new computations, including the 23,12 Golay win. EXTREMAL_004, this document, closes three more open questions. The honest framing: the program has made real progress, but the central variational claim, that Phi is the foundation from which the Golay structure emerges, is still not established. What IS established is that Phi, given Golay structure, behaves as a well-defined variational potential with provable monotonicity properties, and that Golay is the unique avg Phi-optimiser among 23,12 codes, modulo Step 3. What is NOT established is the converse: why this particular structure rather than another. The next document should either complete Step 3 or test the doubly-even refined conjecture.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honestly. The program has made significant progress over two continuations: from a candidate principle to a partially-axiomatised framework with theorems, computations, and honest falsifications. The most important result of this document is the uniqueness theorem, Thread G, which, if Step 3 can be proved, gives a clean variational derivation of Golay as the 23,12 avg Phi-optimiser. The most important negative result is the falsification of the qualified self-dual conjecture, Thread H, which forces us to refine our structural claims. The vacuum basin result, Thread E, is the cleanest: an exact closed-form answer to a question that was left open in EXTREMAL_002. The deepest question, why 24, remains open and is acknowledged as likely permanent. The next document should prioritise completing the uniqueness proof and testing the doubly-even refined conjecture. Thank the audience, invite questions, and acknowledge the reviewer feedback that has driven the rigor upgrades across the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11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503701" y="4171950"/>
            <a:ext cx="3640299" cy="971550"/>
          </a:xfrm>
          <a:prstGeom prst="rect">
            <a:avLst/>
          </a:prstGeom>
          <a:noFill/>
          <a:ln/>
        </p:spPr>
        <p:txBody>
          <a:bodyPr wrap="none" lIns="0" tIns="0" rIns="0" bIns="0" rtlCol="0" anchor="t"/>
          <a:lstStyle/>
          <a:p>
            <a:pPr algn="l" indent="0" marL="0">
              <a:lnSpc>
                <a:spcPts val="14400"/>
              </a:lnSpc>
              <a:buNone/>
            </a:pPr>
            <a:r>
              <a:rPr lang="en-US" sz="18000" spc="-720" kern="0" dirty="0">
                <a:solidFill>
                  <a:srgbClr val="FFB454">
                    <a:alpha val="4000"/>
                  </a:srgbClr>
                </a:solidFill>
                <a:latin typeface="Liberation Sans Narrow" pitchFamily="34" charset="0"/>
                <a:ea typeface="Liberation Sans Narrow" pitchFamily="34" charset="-122"/>
                <a:cs typeface="Liberation Sans Narrow" pitchFamily="34" charset="-120"/>
              </a:rPr>
              <a:t>004</a:t>
            </a:r>
            <a:endParaRPr lang="en-US" sz="18000" dirty="0"/>
          </a:p>
        </p:txBody>
      </p:sp>
      <p:sp>
        <p:nvSpPr>
          <p:cNvPr id="4" name="Text 1"/>
          <p:cNvSpPr/>
          <p:nvPr/>
        </p:nvSpPr>
        <p:spPr>
          <a:xfrm>
            <a:off x="7966844" y="128588"/>
            <a:ext cx="1177156" cy="164592"/>
          </a:xfrm>
          <a:prstGeom prst="rect">
            <a:avLst/>
          </a:prstGeom>
          <a:noFill/>
          <a:ln/>
        </p:spPr>
        <p:txBody>
          <a:bodyPr wrap="none" lIns="0" tIns="0" rIns="0" bIns="0" rtlCol="0" anchor="t"/>
          <a:lstStyle/>
          <a:p>
            <a:pPr algn="l" indent="0" marL="0">
              <a:lnSpc>
                <a:spcPts val="759"/>
              </a:lnSpc>
              <a:buNone/>
            </a:pPr>
            <a:r>
              <a:rPr lang="en-US" sz="800" spc="91" kern="0" dirty="0">
                <a:solidFill>
                  <a:srgbClr val="6B7280"/>
                </a:solidFill>
                <a:latin typeface="Liberation Sans Narrow" pitchFamily="34" charset="0"/>
                <a:ea typeface="Liberation Sans Narrow" pitchFamily="34" charset="-122"/>
                <a:cs typeface="Liberation Sans Narrow" pitchFamily="34" charset="-120"/>
              </a:rPr>
              <a:t>EXTREMAL_004 · COVER</a:t>
            </a:r>
            <a:endParaRPr lang="en-US" sz="800" dirty="0"/>
          </a:p>
        </p:txBody>
      </p:sp>
      <p:sp>
        <p:nvSpPr>
          <p:cNvPr id="5" name="Shape 2"/>
          <p:cNvSpPr/>
          <p:nvPr/>
        </p:nvSpPr>
        <p:spPr>
          <a:xfrm>
            <a:off x="457200" y="525066"/>
            <a:ext cx="8229600" cy="0"/>
          </a:xfrm>
          <a:prstGeom prst="line">
            <a:avLst/>
          </a:prstGeom>
          <a:noFill/>
          <a:ln w="7144">
            <a:solidFill>
              <a:srgbClr val="2A3038"/>
            </a:solidFill>
            <a:prstDash val="solid"/>
          </a:ln>
        </p:spPr>
      </p:sp>
      <p:sp>
        <p:nvSpPr>
          <p:cNvPr id="6" name="Shape 3"/>
          <p:cNvSpPr/>
          <p:nvPr/>
        </p:nvSpPr>
        <p:spPr>
          <a:xfrm>
            <a:off x="5094052" y="1260872"/>
            <a:ext cx="3399755" cy="0"/>
          </a:xfrm>
          <a:prstGeom prst="line">
            <a:avLst/>
          </a:prstGeom>
          <a:noFill/>
          <a:ln w="7144">
            <a:solidFill>
              <a:srgbClr val="2A3038"/>
            </a:solidFill>
            <a:prstDash val="solid"/>
          </a:ln>
        </p:spPr>
      </p:sp>
      <p:sp>
        <p:nvSpPr>
          <p:cNvPr id="7" name="Shape 4"/>
          <p:cNvSpPr/>
          <p:nvPr/>
        </p:nvSpPr>
        <p:spPr>
          <a:xfrm>
            <a:off x="5094052" y="2417936"/>
            <a:ext cx="3399755" cy="0"/>
          </a:xfrm>
          <a:prstGeom prst="line">
            <a:avLst/>
          </a:prstGeom>
          <a:noFill/>
          <a:ln w="7144">
            <a:solidFill>
              <a:srgbClr val="2A3038"/>
            </a:solidFill>
            <a:prstDash val="dash"/>
          </a:ln>
        </p:spPr>
      </p:sp>
      <p:sp>
        <p:nvSpPr>
          <p:cNvPr id="8" name="Text 5"/>
          <p:cNvSpPr/>
          <p:nvPr/>
        </p:nvSpPr>
        <p:spPr>
          <a:xfrm>
            <a:off x="457200" y="342900"/>
            <a:ext cx="3257327" cy="107156"/>
          </a:xfrm>
          <a:prstGeom prst="rect">
            <a:avLst/>
          </a:prstGeom>
          <a:noFill/>
          <a:ln/>
        </p:spPr>
        <p:txBody>
          <a:bodyPr wrap="none" lIns="0" tIns="0" rIns="0" bIns="0" rtlCol="0" anchor="t"/>
          <a:lstStyle/>
          <a:p>
            <a:pPr algn="l" indent="0" marL="0">
              <a:lnSpc>
                <a:spcPts val="844"/>
              </a:lnSpc>
              <a:buNone/>
            </a:pPr>
            <a:r>
              <a:rPr lang="en-US" sz="800" spc="101" kern="0" dirty="0">
                <a:solidFill>
                  <a:srgbClr val="6B7280"/>
                </a:solidFill>
                <a:latin typeface="Courier New" pitchFamily="34" charset="0"/>
                <a:ea typeface="Courier New" pitchFamily="34" charset="-122"/>
                <a:cs typeface="Courier New" pitchFamily="34" charset="-120"/>
              </a:rPr>
              <a:t>UBP_RESEARCH_CORTEX</a:t>
            </a:r>
            <a:endParaRPr lang="en-US" sz="800" dirty="0"/>
          </a:p>
        </p:txBody>
      </p:sp>
      <p:sp>
        <p:nvSpPr>
          <p:cNvPr id="9" name="Text 6"/>
          <p:cNvSpPr/>
          <p:nvPr/>
        </p:nvSpPr>
        <p:spPr>
          <a:xfrm>
            <a:off x="3828827" y="385763"/>
            <a:ext cx="28575" cy="28575"/>
          </a:xfrm>
          <a:prstGeom prst="roundRect">
            <a:avLst>
              <a:gd name="adj" fmla="val 66667"/>
            </a:avLst>
          </a:prstGeom>
          <a:solidFill>
            <a:srgbClr val="FFB454"/>
          </a:solidFill>
          <a:ln/>
        </p:spPr>
        <p:txBody>
          <a:bodyPr wrap="square" rtlCol="0" anchor="ctr"/>
          <a:lstStyle/>
          <a:p>
            <a:pPr indent="0" marL="0">
              <a:buNone/>
            </a:pPr>
            <a:endParaRPr lang="en-US" dirty="0"/>
          </a:p>
        </p:txBody>
      </p:sp>
      <p:sp>
        <p:nvSpPr>
          <p:cNvPr id="10" name="Text 7"/>
          <p:cNvSpPr/>
          <p:nvPr/>
        </p:nvSpPr>
        <p:spPr>
          <a:xfrm>
            <a:off x="4672013" y="385763"/>
            <a:ext cx="28575" cy="28575"/>
          </a:xfrm>
          <a:prstGeom prst="roundRect">
            <a:avLst>
              <a:gd name="adj" fmla="val 66667"/>
            </a:avLst>
          </a:prstGeom>
          <a:solidFill>
            <a:srgbClr val="FFB454"/>
          </a:solidFill>
          <a:ln/>
        </p:spPr>
        <p:txBody>
          <a:bodyPr wrap="square" rtlCol="0" anchor="ctr"/>
          <a:lstStyle/>
          <a:p>
            <a:pPr indent="0" marL="0">
              <a:buNone/>
            </a:pPr>
            <a:endParaRPr lang="en-US" dirty="0"/>
          </a:p>
        </p:txBody>
      </p:sp>
      <p:sp>
        <p:nvSpPr>
          <p:cNvPr id="11" name="Text 8"/>
          <p:cNvSpPr/>
          <p:nvPr/>
        </p:nvSpPr>
        <p:spPr>
          <a:xfrm>
            <a:off x="3728814" y="342900"/>
            <a:ext cx="3267596" cy="107156"/>
          </a:xfrm>
          <a:prstGeom prst="rect">
            <a:avLst/>
          </a:prstGeom>
          <a:noFill/>
          <a:ln/>
        </p:spPr>
        <p:txBody>
          <a:bodyPr wrap="none" lIns="0" tIns="0" rIns="0" bIns="0" rtlCol="0" anchor="t"/>
          <a:lstStyle/>
          <a:p>
            <a:pPr algn="l" indent="0" marL="0">
              <a:lnSpc>
                <a:spcPts val="844"/>
              </a:lnSpc>
              <a:buNone/>
            </a:pPr>
            <a:r>
              <a:rPr lang="en-US" sz="800" spc="101" kern="0" dirty="0">
                <a:solidFill>
                  <a:srgbClr val="6B7280"/>
                </a:solidFill>
                <a:latin typeface="Liberation Sans Narrow" pitchFamily="34" charset="0"/>
                <a:ea typeface="Liberation Sans Narrow" pitchFamily="34" charset="-122"/>
                <a:cs typeface="Liberation Sans Narrow" pitchFamily="34" charset="-120"/>
              </a:rPr>
              <a:t>24 JUN 2026</a:t>
            </a:r>
            <a:endParaRPr lang="en-US" sz="800" dirty="0"/>
          </a:p>
        </p:txBody>
      </p:sp>
      <p:sp>
        <p:nvSpPr>
          <p:cNvPr id="12" name="Text 9"/>
          <p:cNvSpPr/>
          <p:nvPr/>
        </p:nvSpPr>
        <p:spPr>
          <a:xfrm>
            <a:off x="7010698" y="342900"/>
            <a:ext cx="1776668" cy="107156"/>
          </a:xfrm>
          <a:prstGeom prst="rect">
            <a:avLst/>
          </a:prstGeom>
          <a:noFill/>
          <a:ln/>
        </p:spPr>
        <p:txBody>
          <a:bodyPr wrap="square" lIns="0" tIns="0" rIns="0" bIns="0" rtlCol="0" anchor="t"/>
          <a:lstStyle/>
          <a:p>
            <a:pPr algn="l" indent="0" marL="0">
              <a:lnSpc>
                <a:spcPts val="844"/>
              </a:lnSpc>
              <a:buNone/>
            </a:pPr>
            <a:r>
              <a:rPr lang="en-US" sz="800" spc="101" kern="0" dirty="0">
                <a:solidFill>
                  <a:srgbClr val="6B7280"/>
                </a:solidFill>
                <a:latin typeface="Liberation Sans Narrow" pitchFamily="34" charset="0"/>
                <a:ea typeface="Liberation Sans Narrow" pitchFamily="34" charset="-122"/>
                <a:cs typeface="Liberation Sans Narrow" pitchFamily="34" charset="-120"/>
              </a:rPr>
              <a:t>DOC ID UBP_STUDY_EXTREMAL_004</a:t>
            </a:r>
            <a:endParaRPr lang="en-US" sz="800" dirty="0"/>
          </a:p>
        </p:txBody>
      </p:sp>
      <p:sp>
        <p:nvSpPr>
          <p:cNvPr id="13" name="Text 10"/>
          <p:cNvSpPr/>
          <p:nvPr/>
        </p:nvSpPr>
        <p:spPr>
          <a:xfrm>
            <a:off x="457200" y="914400"/>
            <a:ext cx="342900" cy="21431"/>
          </a:xfrm>
          <a:prstGeom prst="rect">
            <a:avLst/>
          </a:prstGeom>
          <a:solidFill>
            <a:srgbClr val="FFB454"/>
          </a:solidFill>
          <a:ln/>
        </p:spPr>
        <p:txBody>
          <a:bodyPr wrap="square" rtlCol="0" anchor="ctr"/>
          <a:lstStyle/>
          <a:p>
            <a:pPr indent="0" marL="0">
              <a:buNone/>
            </a:pPr>
            <a:endParaRPr lang="en-US" dirty="0"/>
          </a:p>
        </p:txBody>
      </p:sp>
      <p:sp>
        <p:nvSpPr>
          <p:cNvPr id="14" name="Text 11"/>
          <p:cNvSpPr/>
          <p:nvPr/>
        </p:nvSpPr>
        <p:spPr>
          <a:xfrm>
            <a:off x="457200" y="1050131"/>
            <a:ext cx="4511178" cy="770078"/>
          </a:xfrm>
          <a:prstGeom prst="rect">
            <a:avLst/>
          </a:prstGeom>
          <a:noFill/>
          <a:ln/>
        </p:spPr>
        <p:txBody>
          <a:bodyPr wrap="none" lIns="0" tIns="0" rIns="0" bIns="0" rtlCol="0" anchor="t"/>
          <a:lstStyle/>
          <a:p>
            <a:pPr algn="l" indent="0" marL="0">
              <a:lnSpc>
                <a:spcPts val="2808"/>
              </a:lnSpc>
              <a:buNone/>
            </a:pPr>
            <a:r>
              <a:rPr lang="en-US" sz="2700" spc="-49" kern="0" dirty="0">
                <a:solidFill>
                  <a:srgbClr val="E6E6E6"/>
                </a:solidFill>
                <a:latin typeface="Carlito" pitchFamily="34" charset="0"/>
                <a:ea typeface="Carlito" pitchFamily="34" charset="-122"/>
                <a:cs typeface="Carlito" pitchFamily="34" charset="-120"/>
              </a:rPr>
              <a:t>Closing the</a:t>
            </a:r>
            <a:endParaRPr lang="en-US" sz="2700" dirty="0"/>
          </a:p>
          <a:p>
            <a:pPr algn="l" indent="0" marL="0">
              <a:lnSpc>
                <a:spcPts val="2808"/>
              </a:lnSpc>
              <a:buNone/>
            </a:pPr>
            <a:r>
              <a:rPr lang="en-US" sz="2700" spc="-49" kern="0" dirty="0">
                <a:solidFill>
                  <a:srgbClr val="FFB454"/>
                </a:solidFill>
                <a:latin typeface="Carlito" pitchFamily="34" charset="0"/>
                <a:ea typeface="Carlito" pitchFamily="34" charset="-122"/>
                <a:cs typeface="Carlito" pitchFamily="34" charset="-120"/>
              </a:rPr>
              <a:t>Open Questions</a:t>
            </a:r>
            <a:endParaRPr lang="en-US" sz="2700" dirty="0"/>
          </a:p>
        </p:txBody>
      </p:sp>
      <p:sp>
        <p:nvSpPr>
          <p:cNvPr id="15" name="Text 12"/>
          <p:cNvSpPr/>
          <p:nvPr/>
        </p:nvSpPr>
        <p:spPr>
          <a:xfrm>
            <a:off x="457200" y="1920329"/>
            <a:ext cx="685800" cy="14288"/>
          </a:xfrm>
          <a:prstGeom prst="rect">
            <a:avLst/>
          </a:prstGeom>
          <a:solidFill>
            <a:srgbClr val="FFB454"/>
          </a:solidFill>
          <a:ln/>
        </p:spPr>
        <p:txBody>
          <a:bodyPr wrap="square" rtlCol="0" anchor="ctr"/>
          <a:lstStyle/>
          <a:p>
            <a:pPr indent="0" marL="0">
              <a:buNone/>
            </a:pPr>
            <a:endParaRPr lang="en-US" dirty="0"/>
          </a:p>
        </p:txBody>
      </p:sp>
      <p:sp>
        <p:nvSpPr>
          <p:cNvPr id="16" name="Text 13"/>
          <p:cNvSpPr/>
          <p:nvPr/>
        </p:nvSpPr>
        <p:spPr>
          <a:xfrm>
            <a:off x="457200" y="2034629"/>
            <a:ext cx="4101071" cy="447967"/>
          </a:xfrm>
          <a:prstGeom prst="rect">
            <a:avLst/>
          </a:prstGeom>
          <a:noFill/>
          <a:ln/>
        </p:spPr>
        <p:txBody>
          <a:bodyPr wrap="square" lIns="0" tIns="0" rIns="0" bIns="0" rtlCol="0" anchor="t"/>
          <a:lstStyle/>
          <a:p>
            <a:pPr algn="l" indent="0" marL="0">
              <a:lnSpc>
                <a:spcPts val="1634"/>
              </a:lnSpc>
              <a:buNone/>
            </a:pPr>
            <a:r>
              <a:rPr lang="en-US" sz="1238" spc="-6" kern="0" dirty="0">
                <a:solidFill>
                  <a:srgbClr val="B5BAC4"/>
                </a:solidFill>
                <a:latin typeface="Carlito" pitchFamily="34" charset="0"/>
                <a:ea typeface="Carlito" pitchFamily="34" charset="-122"/>
                <a:cs typeface="Carlito" pitchFamily="34" charset="-120"/>
              </a:rPr>
              <a:t>Continuation II of the UBP</a:t>
            </a:r>
            <a:endParaRPr lang="en-US" sz="1238" dirty="0"/>
          </a:p>
          <a:p>
            <a:pPr algn="l" indent="0" marL="0">
              <a:lnSpc>
                <a:spcPts val="1634"/>
              </a:lnSpc>
              <a:buNone/>
            </a:pPr>
            <a:r>
              <a:rPr lang="en-US" sz="1238" spc="-6" kern="0" dirty="0">
                <a:solidFill>
                  <a:srgbClr val="B5BAC4"/>
                </a:solidFill>
                <a:latin typeface="Carlito" pitchFamily="34" charset="0"/>
                <a:ea typeface="Carlito" pitchFamily="34" charset="-122"/>
                <a:cs typeface="Carlito" pitchFamily="34" charset="-120"/>
              </a:rPr>
              <a:t>Extremal Law Program</a:t>
            </a:r>
            <a:endParaRPr lang="en-US" sz="1238" dirty="0"/>
          </a:p>
        </p:txBody>
      </p:sp>
      <p:sp>
        <p:nvSpPr>
          <p:cNvPr id="17" name="Text 14"/>
          <p:cNvSpPr/>
          <p:nvPr/>
        </p:nvSpPr>
        <p:spPr>
          <a:xfrm>
            <a:off x="457200" y="3372743"/>
            <a:ext cx="100013" cy="100013"/>
          </a:xfrm>
          <a:prstGeom prst="rect">
            <a:avLst/>
          </a:prstGeom>
          <a:noFill/>
          <a:ln/>
        </p:spPr>
        <p:txBody>
          <a:bodyPr wrap="none" lIns="0" tIns="0" rIns="0" bIns="0" rtlCol="0" anchor="ctr"/>
          <a:lstStyle/>
          <a:p>
            <a:pPr algn="ctr" indent="0" marL="0">
              <a:buNone/>
            </a:pPr>
            <a:r>
              <a:rPr lang="en-US" sz="984" dirty="0">
                <a:solidFill>
                  <a:srgbClr val="FFB454"/>
                </a:solidFill>
                <a:latin typeface="Segoe UI Symbol" pitchFamily="34" charset="0"/>
                <a:ea typeface="Segoe UI Symbol" pitchFamily="34" charset="-122"/>
                <a:cs typeface="Segoe UI Symbol" pitchFamily="34" charset="-120"/>
              </a:rPr>
              <a:t>●</a:t>
            </a:r>
            <a:endParaRPr lang="en-US" sz="984" dirty="0"/>
          </a:p>
        </p:txBody>
      </p:sp>
      <p:sp>
        <p:nvSpPr>
          <p:cNvPr id="18" name="Text 15"/>
          <p:cNvSpPr/>
          <p:nvPr/>
        </p:nvSpPr>
        <p:spPr>
          <a:xfrm>
            <a:off x="628650" y="3363813"/>
            <a:ext cx="3929621" cy="164592"/>
          </a:xfrm>
          <a:prstGeom prst="rect">
            <a:avLst/>
          </a:prstGeom>
          <a:noFill/>
          <a:ln/>
        </p:spPr>
        <p:txBody>
          <a:bodyPr wrap="square" lIns="0" tIns="0" rIns="0" bIns="0" rtlCol="0" anchor="t"/>
          <a:lstStyle/>
          <a:p>
            <a:pPr algn="l" indent="0" marL="0">
              <a:lnSpc>
                <a:spcPts val="928"/>
              </a:lnSpc>
              <a:buNone/>
            </a:pPr>
            <a:r>
              <a:rPr lang="en-US" sz="800" spc="50" kern="0" dirty="0">
                <a:solidFill>
                  <a:srgbClr val="6B7280"/>
                </a:solidFill>
                <a:latin typeface="Courier New" pitchFamily="34" charset="0"/>
                <a:ea typeface="Courier New" pitchFamily="34" charset="-122"/>
                <a:cs typeface="Courier New" pitchFamily="34" charset="-120"/>
              </a:rPr>
              <a:t>Author: E.R.A. Craig (DigitalEuan) — Auckland, NZ</a:t>
            </a:r>
            <a:endParaRPr lang="en-US" sz="800" dirty="0"/>
          </a:p>
        </p:txBody>
      </p:sp>
      <p:sp>
        <p:nvSpPr>
          <p:cNvPr id="19" name="Text 16"/>
          <p:cNvSpPr/>
          <p:nvPr/>
        </p:nvSpPr>
        <p:spPr>
          <a:xfrm>
            <a:off x="4904742" y="917972"/>
            <a:ext cx="3778374" cy="2560141"/>
          </a:xfrm>
          <a:prstGeom prst="roundRect">
            <a:avLst>
              <a:gd name="adj" fmla="val 2232"/>
            </a:avLst>
          </a:prstGeom>
          <a:solidFill>
            <a:srgbClr val="1F2630"/>
          </a:solidFill>
          <a:ln w="7144">
            <a:solidFill>
              <a:srgbClr val="2A3038"/>
            </a:solidFill>
            <a:prstDash val="solid"/>
          </a:ln>
        </p:spPr>
        <p:txBody>
          <a:bodyPr wrap="square" rtlCol="0" anchor="ctr"/>
          <a:lstStyle/>
          <a:p>
            <a:pPr indent="0" marL="0">
              <a:buNone/>
            </a:pPr>
            <a:endParaRPr lang="en-US" dirty="0"/>
          </a:p>
        </p:txBody>
      </p:sp>
      <p:sp>
        <p:nvSpPr>
          <p:cNvPr id="20" name="Text 17"/>
          <p:cNvSpPr/>
          <p:nvPr/>
        </p:nvSpPr>
        <p:spPr>
          <a:xfrm>
            <a:off x="5251214" y="1092994"/>
            <a:ext cx="1881436" cy="120701"/>
          </a:xfrm>
          <a:prstGeom prst="rect">
            <a:avLst/>
          </a:prstGeom>
          <a:noFill/>
          <a:ln/>
        </p:spPr>
        <p:txBody>
          <a:bodyPr wrap="none" lIns="0" tIns="0" rIns="0" bIns="71438" rtlCol="0" anchor="t"/>
          <a:lstStyle/>
          <a:p>
            <a:pPr algn="l" indent="0" marL="0">
              <a:lnSpc>
                <a:spcPts val="844"/>
              </a:lnSpc>
              <a:buNone/>
            </a:pPr>
            <a:r>
              <a:rPr lang="en-US" sz="800" spc="90" kern="0" dirty="0">
                <a:solidFill>
                  <a:srgbClr val="FFB454"/>
                </a:solidFill>
                <a:latin typeface="Liberation Sans Narrow" pitchFamily="34" charset="0"/>
                <a:ea typeface="Liberation Sans Narrow" pitchFamily="34" charset="-122"/>
                <a:cs typeface="Liberation Sans Narrow" pitchFamily="34" charset="-120"/>
              </a:rPr>
              <a:t>OPEN QUESTIONS FROM EXTREMAL_003</a:t>
            </a:r>
            <a:endParaRPr lang="en-US" sz="800" dirty="0"/>
          </a:p>
        </p:txBody>
      </p:sp>
      <p:sp>
        <p:nvSpPr>
          <p:cNvPr id="21" name="Text 18"/>
          <p:cNvSpPr/>
          <p:nvPr/>
        </p:nvSpPr>
        <p:spPr>
          <a:xfrm>
            <a:off x="5094052" y="1082278"/>
            <a:ext cx="100013" cy="100013"/>
          </a:xfrm>
          <a:prstGeom prst="rect">
            <a:avLst/>
          </a:prstGeom>
          <a:noFill/>
          <a:ln/>
        </p:spPr>
        <p:txBody>
          <a:bodyPr wrap="none" lIns="0" tIns="0" rIns="0" bIns="0" rtlCol="0" anchor="ctr"/>
          <a:lstStyle/>
          <a:p>
            <a:pPr algn="ctr" indent="0" marL="0">
              <a:buNone/>
            </a:pPr>
            <a:r>
              <a:rPr lang="en-US" sz="984" dirty="0">
                <a:solidFill>
                  <a:srgbClr val="FFB454"/>
                </a:solidFill>
                <a:latin typeface="Segoe UI Symbol" pitchFamily="34" charset="0"/>
                <a:ea typeface="Segoe UI Symbol" pitchFamily="34" charset="-122"/>
                <a:cs typeface="Segoe UI Symbol" pitchFamily="34" charset="-120"/>
              </a:rPr>
              <a:t>?</a:t>
            </a:r>
            <a:endParaRPr lang="en-US" sz="984" dirty="0"/>
          </a:p>
        </p:txBody>
      </p:sp>
      <p:sp>
        <p:nvSpPr>
          <p:cNvPr id="22" name="Text 19"/>
          <p:cNvSpPr/>
          <p:nvPr/>
        </p:nvSpPr>
        <p:spPr>
          <a:xfrm>
            <a:off x="5094052" y="1364456"/>
            <a:ext cx="248317" cy="170021"/>
          </a:xfrm>
          <a:prstGeom prst="rect">
            <a:avLst/>
          </a:prstGeom>
          <a:noFill/>
          <a:ln/>
        </p:spPr>
        <p:txBody>
          <a:bodyPr wrap="none" lIns="0" tIns="0" rIns="0" bIns="0" rtlCol="0" anchor="t"/>
          <a:lstStyle/>
          <a:p>
            <a:pPr algn="l" indent="0" marL="0">
              <a:lnSpc>
                <a:spcPts val="1046"/>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Q1</a:t>
            </a:r>
            <a:endParaRPr lang="en-US" sz="800" dirty="0"/>
          </a:p>
        </p:txBody>
      </p:sp>
      <p:sp>
        <p:nvSpPr>
          <p:cNvPr id="23" name="Text 20"/>
          <p:cNvSpPr/>
          <p:nvPr/>
        </p:nvSpPr>
        <p:spPr>
          <a:xfrm>
            <a:off x="5322652" y="1364456"/>
            <a:ext cx="3171155" cy="170021"/>
          </a:xfrm>
          <a:prstGeom prst="rect">
            <a:avLst/>
          </a:prstGeom>
          <a:noFill/>
          <a:ln/>
        </p:spPr>
        <p:txBody>
          <a:bodyPr wrap="square" lIns="0" tIns="0" rIns="0" bIns="0" rtlCol="0" anchor="t"/>
          <a:lstStyle/>
          <a:p>
            <a:pPr algn="l" indent="0" marL="0">
              <a:lnSpc>
                <a:spcPts val="1046"/>
              </a:lnSpc>
              <a:buNone/>
            </a:pPr>
            <a:r>
              <a:rPr lang="en-US" sz="800" dirty="0">
                <a:solidFill>
                  <a:srgbClr val="E6E6E6"/>
                </a:solidFill>
                <a:latin typeface="Courier New" pitchFamily="34" charset="0"/>
                <a:ea typeface="Courier New" pitchFamily="34" charset="-122"/>
                <a:cs typeface="Courier New" pitchFamily="34" charset="-120"/>
              </a:rPr>
              <a:t>Uniqueness of Golay as [23,12] avg_Φ max</a:t>
            </a:r>
            <a:endParaRPr lang="en-US" sz="800" dirty="0"/>
          </a:p>
        </p:txBody>
      </p:sp>
      <p:sp>
        <p:nvSpPr>
          <p:cNvPr id="24" name="Text 21"/>
          <p:cNvSpPr/>
          <p:nvPr/>
        </p:nvSpPr>
        <p:spPr>
          <a:xfrm>
            <a:off x="5094052" y="1561579"/>
            <a:ext cx="248317" cy="170021"/>
          </a:xfrm>
          <a:prstGeom prst="rect">
            <a:avLst/>
          </a:prstGeom>
          <a:noFill/>
          <a:ln/>
        </p:spPr>
        <p:txBody>
          <a:bodyPr wrap="none" lIns="0" tIns="0" rIns="0" bIns="0" rtlCol="0" anchor="t"/>
          <a:lstStyle/>
          <a:p>
            <a:pPr algn="l" indent="0" marL="0">
              <a:lnSpc>
                <a:spcPts val="1046"/>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Q2</a:t>
            </a:r>
            <a:endParaRPr lang="en-US" sz="800" dirty="0"/>
          </a:p>
        </p:txBody>
      </p:sp>
      <p:sp>
        <p:nvSpPr>
          <p:cNvPr id="25" name="Text 22"/>
          <p:cNvSpPr/>
          <p:nvPr/>
        </p:nvSpPr>
        <p:spPr>
          <a:xfrm>
            <a:off x="5322652" y="1561579"/>
            <a:ext cx="3171155" cy="170021"/>
          </a:xfrm>
          <a:prstGeom prst="rect">
            <a:avLst/>
          </a:prstGeom>
          <a:noFill/>
          <a:ln/>
        </p:spPr>
        <p:txBody>
          <a:bodyPr wrap="square" lIns="0" tIns="0" rIns="0" bIns="0" rtlCol="0" anchor="t"/>
          <a:lstStyle/>
          <a:p>
            <a:pPr algn="l" indent="0" marL="0">
              <a:lnSpc>
                <a:spcPts val="1046"/>
              </a:lnSpc>
              <a:buNone/>
            </a:pPr>
            <a:r>
              <a:rPr lang="en-US" sz="800" dirty="0">
                <a:solidFill>
                  <a:srgbClr val="E6E6E6"/>
                </a:solidFill>
                <a:latin typeface="Courier New" pitchFamily="34" charset="0"/>
                <a:ea typeface="Courier New" pitchFamily="34" charset="-122"/>
                <a:cs typeface="Courier New" pitchFamily="34" charset="-120"/>
              </a:rPr>
              <a:t>Self-dual + high-d form (qualified conjecture)</a:t>
            </a:r>
            <a:endParaRPr lang="en-US" sz="800" dirty="0"/>
          </a:p>
        </p:txBody>
      </p:sp>
      <p:sp>
        <p:nvSpPr>
          <p:cNvPr id="26" name="Text 23"/>
          <p:cNvSpPr/>
          <p:nvPr/>
        </p:nvSpPr>
        <p:spPr>
          <a:xfrm>
            <a:off x="5094052" y="1758702"/>
            <a:ext cx="248317" cy="170021"/>
          </a:xfrm>
          <a:prstGeom prst="rect">
            <a:avLst/>
          </a:prstGeom>
          <a:noFill/>
          <a:ln/>
        </p:spPr>
        <p:txBody>
          <a:bodyPr wrap="none" lIns="0" tIns="0" rIns="0" bIns="0" rtlCol="0" anchor="t"/>
          <a:lstStyle/>
          <a:p>
            <a:pPr algn="l" indent="0" marL="0">
              <a:lnSpc>
                <a:spcPts val="1046"/>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Q3</a:t>
            </a:r>
            <a:endParaRPr lang="en-US" sz="800" dirty="0"/>
          </a:p>
        </p:txBody>
      </p:sp>
      <p:sp>
        <p:nvSpPr>
          <p:cNvPr id="27" name="Text 24"/>
          <p:cNvSpPr/>
          <p:nvPr/>
        </p:nvSpPr>
        <p:spPr>
          <a:xfrm>
            <a:off x="5322652" y="1758702"/>
            <a:ext cx="3171155" cy="170021"/>
          </a:xfrm>
          <a:prstGeom prst="rect">
            <a:avLst/>
          </a:prstGeom>
          <a:noFill/>
          <a:ln/>
        </p:spPr>
        <p:txBody>
          <a:bodyPr wrap="none" lIns="0" tIns="0" rIns="0" bIns="0" rtlCol="0" anchor="t"/>
          <a:lstStyle/>
          <a:p>
            <a:pPr algn="l" indent="0" marL="0">
              <a:lnSpc>
                <a:spcPts val="1046"/>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Derivation of n=24</a:t>
            </a:r>
            <a:endParaRPr lang="en-US" sz="800" dirty="0"/>
          </a:p>
        </p:txBody>
      </p:sp>
      <p:sp>
        <p:nvSpPr>
          <p:cNvPr id="28" name="Text 25"/>
          <p:cNvSpPr/>
          <p:nvPr/>
        </p:nvSpPr>
        <p:spPr>
          <a:xfrm>
            <a:off x="5094052" y="1955825"/>
            <a:ext cx="248317" cy="170021"/>
          </a:xfrm>
          <a:prstGeom prst="rect">
            <a:avLst/>
          </a:prstGeom>
          <a:noFill/>
          <a:ln/>
        </p:spPr>
        <p:txBody>
          <a:bodyPr wrap="none" lIns="0" tIns="0" rIns="0" bIns="0" rtlCol="0" anchor="t"/>
          <a:lstStyle/>
          <a:p>
            <a:pPr algn="l" indent="0" marL="0">
              <a:lnSpc>
                <a:spcPts val="1046"/>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Q4</a:t>
            </a:r>
            <a:endParaRPr lang="en-US" sz="800" dirty="0"/>
          </a:p>
        </p:txBody>
      </p:sp>
      <p:sp>
        <p:nvSpPr>
          <p:cNvPr id="29" name="Text 26"/>
          <p:cNvSpPr/>
          <p:nvPr/>
        </p:nvSpPr>
        <p:spPr>
          <a:xfrm>
            <a:off x="5322652" y="1955825"/>
            <a:ext cx="3171155" cy="170021"/>
          </a:xfrm>
          <a:prstGeom prst="rect">
            <a:avLst/>
          </a:prstGeom>
          <a:noFill/>
          <a:ln/>
        </p:spPr>
        <p:txBody>
          <a:bodyPr wrap="square" lIns="0" tIns="0" rIns="0" bIns="0" rtlCol="0" anchor="t"/>
          <a:lstStyle/>
          <a:p>
            <a:pPr algn="l" indent="0" marL="0">
              <a:lnSpc>
                <a:spcPts val="1046"/>
              </a:lnSpc>
              <a:buNone/>
            </a:pPr>
            <a:r>
              <a:rPr lang="en-US" sz="800" dirty="0">
                <a:solidFill>
                  <a:srgbClr val="E6E6E6"/>
                </a:solidFill>
                <a:latin typeface="Courier New" pitchFamily="34" charset="0"/>
                <a:ea typeface="Courier New" pitchFamily="34" charset="-122"/>
                <a:cs typeface="Courier New" pitchFamily="34" charset="-120"/>
              </a:rPr>
              <a:t>Vacuum basin characterisation</a:t>
            </a:r>
            <a:endParaRPr lang="en-US" sz="800" dirty="0"/>
          </a:p>
        </p:txBody>
      </p:sp>
      <p:sp>
        <p:nvSpPr>
          <p:cNvPr id="30" name="Text 27"/>
          <p:cNvSpPr/>
          <p:nvPr/>
        </p:nvSpPr>
        <p:spPr>
          <a:xfrm>
            <a:off x="5094052" y="2152948"/>
            <a:ext cx="248317" cy="170021"/>
          </a:xfrm>
          <a:prstGeom prst="rect">
            <a:avLst/>
          </a:prstGeom>
          <a:noFill/>
          <a:ln/>
        </p:spPr>
        <p:txBody>
          <a:bodyPr wrap="none" lIns="0" tIns="0" rIns="0" bIns="0" rtlCol="0" anchor="t"/>
          <a:lstStyle/>
          <a:p>
            <a:pPr algn="l" indent="0" marL="0">
              <a:lnSpc>
                <a:spcPts val="1046"/>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Q5</a:t>
            </a:r>
            <a:endParaRPr lang="en-US" sz="800" dirty="0"/>
          </a:p>
        </p:txBody>
      </p:sp>
      <p:sp>
        <p:nvSpPr>
          <p:cNvPr id="31" name="Text 28"/>
          <p:cNvSpPr/>
          <p:nvPr/>
        </p:nvSpPr>
        <p:spPr>
          <a:xfrm>
            <a:off x="5322652" y="2152948"/>
            <a:ext cx="3171155" cy="170021"/>
          </a:xfrm>
          <a:prstGeom prst="rect">
            <a:avLst/>
          </a:prstGeom>
          <a:noFill/>
          <a:ln/>
        </p:spPr>
        <p:txBody>
          <a:bodyPr wrap="square" lIns="0" tIns="0" rIns="0" bIns="0" rtlCol="0" anchor="t"/>
          <a:lstStyle/>
          <a:p>
            <a:pPr algn="l" indent="0" marL="0">
              <a:lnSpc>
                <a:spcPts val="1046"/>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[24,12,8] sampling vs Golay</a:t>
            </a:r>
            <a:endParaRPr lang="en-US" sz="800" dirty="0"/>
          </a:p>
        </p:txBody>
      </p:sp>
      <p:sp>
        <p:nvSpPr>
          <p:cNvPr id="32" name="Text 29"/>
          <p:cNvSpPr/>
          <p:nvPr/>
        </p:nvSpPr>
        <p:spPr>
          <a:xfrm>
            <a:off x="5094052" y="2414364"/>
            <a:ext cx="3399755" cy="325132"/>
          </a:xfrm>
          <a:prstGeom prst="rect">
            <a:avLst/>
          </a:prstGeom>
          <a:noFill/>
          <a:ln/>
        </p:spPr>
        <p:txBody>
          <a:bodyPr wrap="square" lIns="0" tIns="100013" rIns="0" bIns="0" rtlCol="0" anchor="t"/>
          <a:lstStyle/>
          <a:p>
            <a:pPr algn="l" indent="0" marL="0">
              <a:lnSpc>
                <a:spcPts val="990"/>
              </a:lnSpc>
              <a:buNone/>
            </a:pPr>
            <a:r>
              <a:rPr lang="en-US" sz="800" dirty="0">
                <a:solidFill>
                  <a:srgbClr val="B5BAC4"/>
                </a:solidFill>
                <a:latin typeface="Courier New" pitchFamily="34" charset="0"/>
                <a:ea typeface="Courier New" pitchFamily="34" charset="-122"/>
                <a:cs typeface="Courier New" pitchFamily="34" charset="-120"/>
              </a:rPr>
              <a:t>This document closes </a:t>
            </a:r>
            <a:pPr algn="l" indent="0" marL="0">
              <a:lnSpc>
                <a:spcPts val="990"/>
              </a:lnSpc>
              <a:buNone/>
            </a:pPr>
            <a:r>
              <a:rPr lang="en-US" sz="800" dirty="0">
                <a:solidFill>
                  <a:srgbClr val="6FE3D2"/>
                </a:solidFill>
                <a:latin typeface="Liberation Sans Narrow" pitchFamily="34" charset="0"/>
                <a:ea typeface="Liberation Sans Narrow" pitchFamily="34" charset="-122"/>
                <a:cs typeface="Liberation Sans Narrow" pitchFamily="34" charset="-120"/>
              </a:rPr>
              <a:t>3</a:t>
            </a:r>
            <a:pPr algn="l" indent="0" marL="0">
              <a:lnSpc>
                <a:spcPts val="990"/>
              </a:lnSpc>
              <a:buNone/>
            </a:pPr>
            <a:r>
              <a:rPr lang="en-US" sz="800" dirty="0">
                <a:solidFill>
                  <a:srgbClr val="B5BAC4"/>
                </a:solidFill>
                <a:latin typeface="Courier New" pitchFamily="34" charset="0"/>
                <a:ea typeface="Courier New" pitchFamily="34" charset="-122"/>
                <a:cs typeface="Courier New" pitchFamily="34" charset="-120"/>
              </a:rPr>
              <a:t>, states a theorem for </a:t>
            </a:r>
            <a:pPr algn="l" indent="0" marL="0">
              <a:lnSpc>
                <a:spcPts val="990"/>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1</a:t>
            </a:r>
            <a:pPr algn="l" indent="0" marL="0">
              <a:lnSpc>
                <a:spcPts val="990"/>
              </a:lnSpc>
              <a:buNone/>
            </a:pPr>
            <a:r>
              <a:rPr lang="en-US" sz="800" dirty="0">
                <a:solidFill>
                  <a:srgbClr val="B5BAC4"/>
                </a:solidFill>
                <a:latin typeface="Courier New" pitchFamily="34" charset="0"/>
                <a:ea typeface="Courier New" pitchFamily="34" charset="-122"/>
                <a:cs typeface="Courier New" pitchFamily="34" charset="-120"/>
              </a:rPr>
              <a:t>, leaves </a:t>
            </a:r>
            <a:pPr algn="l" indent="0" marL="0">
              <a:lnSpc>
                <a:spcPts val="990"/>
              </a:lnSpc>
              <a:buNone/>
            </a:pPr>
            <a:r>
              <a:rPr lang="en-US" sz="800" dirty="0">
                <a:solidFill>
                  <a:srgbClr val="B097FF"/>
                </a:solidFill>
                <a:latin typeface="Liberation Sans Narrow" pitchFamily="34" charset="0"/>
                <a:ea typeface="Liberation Sans Narrow" pitchFamily="34" charset="-122"/>
                <a:cs typeface="Liberation Sans Narrow" pitchFamily="34" charset="-120"/>
              </a:rPr>
              <a:t>1</a:t>
            </a:r>
            <a:pPr algn="l" indent="0" marL="0">
              <a:lnSpc>
                <a:spcPts val="990"/>
              </a:lnSpc>
              <a:buNone/>
            </a:pPr>
            <a:r>
              <a:rPr lang="en-US" sz="800" dirty="0">
                <a:solidFill>
                  <a:srgbClr val="B5BAC4"/>
                </a:solidFill>
                <a:latin typeface="Courier New" pitchFamily="34" charset="0"/>
                <a:ea typeface="Courier New" pitchFamily="34" charset="-122"/>
                <a:cs typeface="Courier New" pitchFamily="34" charset="-120"/>
              </a:rPr>
              <a:t> open.</a:t>
            </a:r>
            <a:endParaRPr lang="en-US" sz="800" dirty="0"/>
          </a:p>
        </p:txBody>
      </p:sp>
      <p:sp>
        <p:nvSpPr>
          <p:cNvPr id="33" name="Text 30"/>
          <p:cNvSpPr/>
          <p:nvPr/>
        </p:nvSpPr>
        <p:spPr>
          <a:xfrm>
            <a:off x="434340" y="4726448"/>
            <a:ext cx="804743" cy="184023"/>
          </a:xfrm>
          <a:prstGeom prst="roundRect">
            <a:avLst>
              <a:gd name="adj" fmla="val 5170807"/>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34" name="Text 31"/>
          <p:cNvSpPr/>
          <p:nvPr/>
        </p:nvSpPr>
        <p:spPr>
          <a:xfrm>
            <a:off x="457200" y="4736306"/>
            <a:ext cx="759023"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FFB454"/>
                </a:solidFill>
                <a:latin typeface="Courier New" pitchFamily="34" charset="0"/>
                <a:ea typeface="Courier New" pitchFamily="34" charset="-122"/>
                <a:cs typeface="Courier New" pitchFamily="34" charset="-120"/>
              </a:rPr>
              <a:t>CONTINUATION</a:t>
            </a:r>
            <a:endParaRPr lang="en-US" sz="800" dirty="0"/>
          </a:p>
        </p:txBody>
      </p:sp>
      <p:sp>
        <p:nvSpPr>
          <p:cNvPr id="35" name="Text 32"/>
          <p:cNvSpPr/>
          <p:nvPr/>
        </p:nvSpPr>
        <p:spPr>
          <a:xfrm>
            <a:off x="1268038" y="4726448"/>
            <a:ext cx="654278" cy="184023"/>
          </a:xfrm>
          <a:prstGeom prst="roundRect">
            <a:avLst>
              <a:gd name="adj" fmla="val 5170807"/>
            </a:avLst>
          </a:prstGeom>
          <a:solidFill>
            <a:srgbClr val="1F2630"/>
          </a:solidFill>
          <a:ln w="7144">
            <a:solidFill>
              <a:srgbClr val="6FE3D2"/>
            </a:solidFill>
            <a:prstDash val="solid"/>
          </a:ln>
        </p:spPr>
        <p:txBody>
          <a:bodyPr wrap="square" rtlCol="0" anchor="ctr"/>
          <a:lstStyle/>
          <a:p>
            <a:pPr indent="0" marL="0">
              <a:buNone/>
            </a:pPr>
            <a:endParaRPr lang="en-US" dirty="0"/>
          </a:p>
        </p:txBody>
      </p:sp>
      <p:sp>
        <p:nvSpPr>
          <p:cNvPr id="36" name="Text 33"/>
          <p:cNvSpPr/>
          <p:nvPr/>
        </p:nvSpPr>
        <p:spPr>
          <a:xfrm>
            <a:off x="1290898" y="4736306"/>
            <a:ext cx="608558"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6FE3D2"/>
                </a:solidFill>
                <a:latin typeface="Liberation Sans Narrow" pitchFamily="34" charset="0"/>
                <a:ea typeface="Liberation Sans Narrow" pitchFamily="34" charset="-122"/>
                <a:cs typeface="Liberation Sans Narrow" pitchFamily="34" charset="-120"/>
              </a:rPr>
              <a:t>5 OPEN QS</a:t>
            </a:r>
            <a:endParaRPr lang="en-US" sz="800" dirty="0"/>
          </a:p>
        </p:txBody>
      </p:sp>
      <p:sp>
        <p:nvSpPr>
          <p:cNvPr id="37" name="Text 34"/>
          <p:cNvSpPr/>
          <p:nvPr/>
        </p:nvSpPr>
        <p:spPr>
          <a:xfrm>
            <a:off x="1951793" y="4726448"/>
            <a:ext cx="603116" cy="184023"/>
          </a:xfrm>
          <a:prstGeom prst="roundRect">
            <a:avLst>
              <a:gd name="adj" fmla="val 5170807"/>
            </a:avLst>
          </a:prstGeom>
          <a:solidFill>
            <a:srgbClr val="1F2630"/>
          </a:solidFill>
          <a:ln w="7144">
            <a:solidFill>
              <a:srgbClr val="B097FF"/>
            </a:solidFill>
            <a:prstDash val="solid"/>
          </a:ln>
        </p:spPr>
        <p:txBody>
          <a:bodyPr wrap="square" rtlCol="0" anchor="ctr"/>
          <a:lstStyle/>
          <a:p>
            <a:pPr indent="0" marL="0">
              <a:buNone/>
            </a:pPr>
            <a:endParaRPr lang="en-US" dirty="0"/>
          </a:p>
        </p:txBody>
      </p:sp>
      <p:sp>
        <p:nvSpPr>
          <p:cNvPr id="38" name="Text 35"/>
          <p:cNvSpPr/>
          <p:nvPr/>
        </p:nvSpPr>
        <p:spPr>
          <a:xfrm>
            <a:off x="1974131" y="4736306"/>
            <a:ext cx="558440"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B097FF"/>
                </a:solidFill>
                <a:latin typeface="Liberation Sans Narrow" pitchFamily="34" charset="0"/>
                <a:ea typeface="Liberation Sans Narrow" pitchFamily="34" charset="-122"/>
                <a:cs typeface="Liberation Sans Narrow" pitchFamily="34" charset="-120"/>
              </a:rPr>
              <a:t>3 CLOSED</a:t>
            </a:r>
            <a:endParaRPr lang="en-US" sz="800" dirty="0"/>
          </a:p>
        </p:txBody>
      </p:sp>
      <p:sp>
        <p:nvSpPr>
          <p:cNvPr id="39" name="Text 36"/>
          <p:cNvSpPr/>
          <p:nvPr/>
        </p:nvSpPr>
        <p:spPr>
          <a:xfrm>
            <a:off x="2584386" y="4726448"/>
            <a:ext cx="754626" cy="184023"/>
          </a:xfrm>
          <a:prstGeom prst="roundRect">
            <a:avLst>
              <a:gd name="adj" fmla="val 5170807"/>
            </a:avLst>
          </a:prstGeom>
          <a:solidFill>
            <a:srgbClr val="1F2630"/>
          </a:solidFill>
          <a:ln w="7144">
            <a:solidFill>
              <a:srgbClr val="FF6B6B"/>
            </a:solidFill>
            <a:prstDash val="solid"/>
          </a:ln>
        </p:spPr>
        <p:txBody>
          <a:bodyPr wrap="square" rtlCol="0" anchor="ctr"/>
          <a:lstStyle/>
          <a:p>
            <a:pPr indent="0" marL="0">
              <a:buNone/>
            </a:pPr>
            <a:endParaRPr lang="en-US" dirty="0"/>
          </a:p>
        </p:txBody>
      </p:sp>
      <p:sp>
        <p:nvSpPr>
          <p:cNvPr id="40" name="Text 37"/>
          <p:cNvSpPr/>
          <p:nvPr/>
        </p:nvSpPr>
        <p:spPr>
          <a:xfrm>
            <a:off x="2607246" y="4736306"/>
            <a:ext cx="708906"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FF6B6B"/>
                </a:solidFill>
                <a:latin typeface="Liberation Sans Narrow" pitchFamily="34" charset="0"/>
                <a:ea typeface="Liberation Sans Narrow" pitchFamily="34" charset="-122"/>
                <a:cs typeface="Liberation Sans Narrow" pitchFamily="34" charset="-120"/>
              </a:rPr>
              <a:t>1 FALSIFIED</a:t>
            </a:r>
            <a:endParaRPr lang="en-US" sz="800" dirty="0"/>
          </a:p>
        </p:txBody>
      </p:sp>
      <p:sp>
        <p:nvSpPr>
          <p:cNvPr id="41" name="Text 38"/>
          <p:cNvSpPr/>
          <p:nvPr/>
        </p:nvSpPr>
        <p:spPr>
          <a:xfrm>
            <a:off x="8033147" y="4763095"/>
            <a:ext cx="840537" cy="164592"/>
          </a:xfrm>
          <a:prstGeom prst="rect">
            <a:avLst/>
          </a:prstGeom>
          <a:noFill/>
          <a:ln/>
        </p:spPr>
        <p:txBody>
          <a:bodyPr wrap="none" lIns="0" tIns="0" rIns="0" bIns="0" rtlCol="0" anchor="t"/>
          <a:lstStyle/>
          <a:p>
            <a:pPr algn="l" indent="0" marL="0">
              <a:lnSpc>
                <a:spcPts val="759"/>
              </a:lnSpc>
              <a:buNone/>
            </a:pPr>
            <a:r>
              <a:rPr lang="en-US" sz="800" spc="91" kern="0" dirty="0">
                <a:solidFill>
                  <a:srgbClr val="6B7280"/>
                </a:solidFill>
                <a:latin typeface="Courier New" pitchFamily="34" charset="0"/>
                <a:ea typeface="Courier New" pitchFamily="34" charset="-122"/>
                <a:cs typeface="Courier New" pitchFamily="34" charset="-120"/>
              </a:rPr>
              <a:t>— END COVER —</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3172048"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RECAP</a:t>
            </a:r>
            <a:endParaRPr lang="en-US" sz="800" dirty="0"/>
          </a:p>
        </p:txBody>
      </p:sp>
      <p:sp>
        <p:nvSpPr>
          <p:cNvPr id="4" name="Text 2"/>
          <p:cNvSpPr/>
          <p:nvPr/>
        </p:nvSpPr>
        <p:spPr>
          <a:xfrm>
            <a:off x="3643536" y="342900"/>
            <a:ext cx="4667883"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EXTREMAL_003 LEFT 5 OPEN QUESTIONS</a:t>
            </a:r>
            <a:endParaRPr lang="en-US" sz="800" dirty="0"/>
          </a:p>
        </p:txBody>
      </p:sp>
      <p:sp>
        <p:nvSpPr>
          <p:cNvPr id="5" name="Text 3"/>
          <p:cNvSpPr/>
          <p:nvPr/>
        </p:nvSpPr>
        <p:spPr>
          <a:xfrm>
            <a:off x="8325706" y="342900"/>
            <a:ext cx="361094" cy="107156"/>
          </a:xfrm>
          <a:prstGeom prst="rect">
            <a:avLst/>
          </a:prstGeom>
          <a:noFill/>
          <a:ln/>
        </p:spPr>
        <p:txBody>
          <a:bodyPr wrap="non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02 / 16</a:t>
            </a:r>
            <a:endParaRPr lang="en-US" sz="800" dirty="0"/>
          </a:p>
        </p:txBody>
      </p:sp>
      <p:sp>
        <p:nvSpPr>
          <p:cNvPr id="6" name="Text 4"/>
          <p:cNvSpPr/>
          <p:nvPr/>
        </p:nvSpPr>
        <p:spPr>
          <a:xfrm>
            <a:off x="457200" y="685800"/>
            <a:ext cx="6890035" cy="248335"/>
          </a:xfrm>
          <a:prstGeom prst="rect">
            <a:avLst/>
          </a:prstGeom>
          <a:noFill/>
          <a:ln/>
        </p:spPr>
        <p:txBody>
          <a:bodyPr wrap="none" lIns="0" tIns="0" rIns="0" bIns="0" rtlCol="0" anchor="t"/>
          <a:lstStyle/>
          <a:p>
            <a:pPr algn="l" indent="0" marL="0">
              <a:lnSpc>
                <a:spcPts val="1811"/>
              </a:lnSpc>
              <a:buNone/>
            </a:pPr>
            <a:r>
              <a:rPr lang="en-US" sz="1575" spc="-19" kern="0" dirty="0">
                <a:solidFill>
                  <a:srgbClr val="E6E6E6"/>
                </a:solidFill>
                <a:latin typeface="Carlito" pitchFamily="34" charset="0"/>
                <a:ea typeface="Carlito" pitchFamily="34" charset="-122"/>
                <a:cs typeface="Carlito" pitchFamily="34" charset="-120"/>
              </a:rPr>
              <a:t>Five open questions, four new threads</a:t>
            </a:r>
            <a:endParaRPr lang="en-US" sz="1575" dirty="0"/>
          </a:p>
        </p:txBody>
      </p:sp>
      <p:sp>
        <p:nvSpPr>
          <p:cNvPr id="7" name="Text 5"/>
          <p:cNvSpPr/>
          <p:nvPr/>
        </p:nvSpPr>
        <p:spPr>
          <a:xfrm>
            <a:off x="7361523" y="808583"/>
            <a:ext cx="1588262" cy="164592"/>
          </a:xfrm>
          <a:prstGeom prst="rect">
            <a:avLst/>
          </a:prstGeom>
          <a:noFill/>
          <a:ln/>
        </p:spPr>
        <p:txBody>
          <a:bodyPr wrap="none" lIns="0" tIns="0" rIns="0" bIns="0" rtlCol="0" anchor="t"/>
          <a:lstStyle/>
          <a:p>
            <a:pPr algn="l" indent="0" marL="0">
              <a:lnSpc>
                <a:spcPts val="844"/>
              </a:lnSpc>
              <a:buNone/>
            </a:pPr>
            <a:r>
              <a:rPr lang="en-US" sz="800" spc="79" kern="0" dirty="0">
                <a:solidFill>
                  <a:srgbClr val="6B7280"/>
                </a:solidFill>
                <a:latin typeface="Liberation Sans Narrow" pitchFamily="34" charset="0"/>
                <a:ea typeface="Liberation Sans Narrow" pitchFamily="34" charset="-122"/>
                <a:cs typeface="Liberation Sans Narrow" pitchFamily="34" charset="-120"/>
              </a:rPr>
              <a:t>STATUS AS OF EXTREMAL_004</a:t>
            </a:r>
            <a:endParaRPr lang="en-US" sz="800" dirty="0"/>
          </a:p>
        </p:txBody>
      </p:sp>
      <p:sp>
        <p:nvSpPr>
          <p:cNvPr id="8" name="Text 6"/>
          <p:cNvSpPr/>
          <p:nvPr/>
        </p:nvSpPr>
        <p:spPr>
          <a:xfrm>
            <a:off x="457200" y="1044327"/>
            <a:ext cx="342900" cy="21431"/>
          </a:xfrm>
          <a:prstGeom prst="rect">
            <a:avLst/>
          </a:prstGeom>
          <a:solidFill>
            <a:srgbClr val="FFB454"/>
          </a:solidFill>
          <a:ln/>
        </p:spPr>
        <p:txBody>
          <a:bodyPr wrap="square" rtlCol="0" anchor="ctr"/>
          <a:lstStyle/>
          <a:p>
            <a:pPr indent="0" marL="0">
              <a:buNone/>
            </a:pPr>
            <a:endParaRPr lang="en-US" dirty="0"/>
          </a:p>
        </p:txBody>
      </p:sp>
      <p:sp>
        <p:nvSpPr>
          <p:cNvPr id="9" name="Text 7"/>
          <p:cNvSpPr/>
          <p:nvPr/>
        </p:nvSpPr>
        <p:spPr>
          <a:xfrm>
            <a:off x="460772" y="1197918"/>
            <a:ext cx="4021931" cy="2721322"/>
          </a:xfrm>
          <a:prstGeom prst="roundRect">
            <a:avLst>
              <a:gd name="adj" fmla="val 2100"/>
            </a:avLst>
          </a:prstGeom>
          <a:solidFill>
            <a:srgbClr val="161B22"/>
          </a:solidFill>
          <a:ln w="7144">
            <a:solidFill>
              <a:srgbClr val="2A3038"/>
            </a:solidFill>
            <a:prstDash val="solid"/>
          </a:ln>
        </p:spPr>
        <p:txBody>
          <a:bodyPr wrap="square" rtlCol="0" anchor="ctr"/>
          <a:lstStyle/>
          <a:p>
            <a:pPr indent="0" marL="0">
              <a:buNone/>
            </a:pPr>
            <a:endParaRPr lang="en-US" dirty="0"/>
          </a:p>
        </p:txBody>
      </p:sp>
      <p:sp>
        <p:nvSpPr>
          <p:cNvPr id="10" name="Text 8"/>
          <p:cNvSpPr/>
          <p:nvPr/>
        </p:nvSpPr>
        <p:spPr>
          <a:xfrm>
            <a:off x="757238" y="1315789"/>
            <a:ext cx="2528191" cy="120701"/>
          </a:xfrm>
          <a:prstGeom prst="rect">
            <a:avLst/>
          </a:prstGeom>
          <a:noFill/>
          <a:ln/>
        </p:spPr>
        <p:txBody>
          <a:bodyPr wrap="square" lIns="0" tIns="0" rIns="0" bIns="0" rtlCol="0" anchor="t"/>
          <a:lstStyle/>
          <a:p>
            <a:pPr algn="l" indent="0" marL="0">
              <a:lnSpc>
                <a:spcPts val="844"/>
              </a:lnSpc>
              <a:buNone/>
            </a:pPr>
            <a:r>
              <a:rPr lang="en-US" sz="800" spc="90" kern="0" dirty="0">
                <a:solidFill>
                  <a:srgbClr val="6B7280"/>
                </a:solidFill>
                <a:latin typeface="Courier New" pitchFamily="34" charset="0"/>
                <a:ea typeface="Courier New" pitchFamily="34" charset="-122"/>
                <a:cs typeface="Courier New" pitchFamily="34" charset="-120"/>
              </a:rPr>
              <a:t>OPEN QUESTIONS — STATUS AFTER THIS DOCUMENT</a:t>
            </a:r>
            <a:endParaRPr lang="en-US" sz="800" dirty="0"/>
          </a:p>
        </p:txBody>
      </p:sp>
      <p:sp>
        <p:nvSpPr>
          <p:cNvPr id="11" name="Text 9"/>
          <p:cNvSpPr/>
          <p:nvPr/>
        </p:nvSpPr>
        <p:spPr>
          <a:xfrm>
            <a:off x="607219" y="1308646"/>
            <a:ext cx="92869" cy="92869"/>
          </a:xfrm>
          <a:prstGeom prst="rect">
            <a:avLst/>
          </a:prstGeom>
          <a:noFill/>
          <a:ln/>
        </p:spPr>
        <p:txBody>
          <a:bodyPr wrap="none" lIns="0" tIns="0" rIns="0" bIns="0" rtlCol="0" anchor="ctr"/>
          <a:lstStyle/>
          <a:p>
            <a:pPr algn="ctr" indent="0" marL="0">
              <a:buNone/>
            </a:pPr>
            <a:r>
              <a:rPr lang="en-US" sz="914" dirty="0">
                <a:solidFill>
                  <a:srgbClr val="FFB454"/>
                </a:solidFill>
                <a:latin typeface="Segoe UI Symbol" pitchFamily="34" charset="0"/>
                <a:ea typeface="Segoe UI Symbol" pitchFamily="34" charset="-122"/>
                <a:cs typeface="Segoe UI Symbol" pitchFamily="34" charset="-120"/>
              </a:rPr>
              <a:t>?</a:t>
            </a:r>
            <a:endParaRPr lang="en-US" sz="914" dirty="0"/>
          </a:p>
        </p:txBody>
      </p:sp>
      <p:sp>
        <p:nvSpPr>
          <p:cNvPr id="12" name="Shape 10"/>
          <p:cNvSpPr/>
          <p:nvPr/>
        </p:nvSpPr>
        <p:spPr>
          <a:xfrm>
            <a:off x="607219" y="1956495"/>
            <a:ext cx="3729038" cy="0"/>
          </a:xfrm>
          <a:prstGeom prst="line">
            <a:avLst/>
          </a:prstGeom>
          <a:noFill/>
          <a:ln w="7144">
            <a:solidFill>
              <a:srgbClr val="2A3038"/>
            </a:solidFill>
            <a:prstDash val="dash"/>
          </a:ln>
        </p:spPr>
      </p:sp>
      <p:sp>
        <p:nvSpPr>
          <p:cNvPr id="13" name="Text 11"/>
          <p:cNvSpPr/>
          <p:nvPr/>
        </p:nvSpPr>
        <p:spPr>
          <a:xfrm>
            <a:off x="607219" y="1571179"/>
            <a:ext cx="2812517" cy="164592"/>
          </a:xfrm>
          <a:prstGeom prst="rect">
            <a:avLst/>
          </a:prstGeom>
          <a:noFill/>
          <a:ln/>
        </p:spPr>
        <p:txBody>
          <a:bodyPr wrap="none" lIns="0" tIns="0" rIns="0" bIns="0" rtlCol="0" anchor="t"/>
          <a:lstStyle/>
          <a:p>
            <a:pPr algn="l" indent="0" marL="0">
              <a:lnSpc>
                <a:spcPts val="1097"/>
              </a:lnSpc>
              <a:buNone/>
            </a:pPr>
            <a:r>
              <a:rPr lang="en-US" sz="800" spc="29" kern="0" dirty="0">
                <a:solidFill>
                  <a:srgbClr val="FFB454"/>
                </a:solidFill>
                <a:latin typeface="Liberation Sans Narrow" pitchFamily="34" charset="0"/>
                <a:ea typeface="Liberation Sans Narrow" pitchFamily="34" charset="-122"/>
                <a:cs typeface="Liberation Sans Narrow" pitchFamily="34" charset="-120"/>
              </a:rPr>
              <a:t>Q1</a:t>
            </a:r>
            <a:endParaRPr lang="en-US" sz="800" dirty="0"/>
          </a:p>
        </p:txBody>
      </p:sp>
      <p:sp>
        <p:nvSpPr>
          <p:cNvPr id="14" name="Text 12"/>
          <p:cNvSpPr/>
          <p:nvPr/>
        </p:nvSpPr>
        <p:spPr>
          <a:xfrm>
            <a:off x="3411163" y="1548819"/>
            <a:ext cx="905091" cy="184023"/>
          </a:xfrm>
          <a:prstGeom prst="roundRect">
            <a:avLst>
              <a:gd name="adj" fmla="val 5170807"/>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15" name="Text 13"/>
          <p:cNvSpPr/>
          <p:nvPr/>
        </p:nvSpPr>
        <p:spPr>
          <a:xfrm>
            <a:off x="3434023" y="1558677"/>
            <a:ext cx="859371"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FFB454"/>
                </a:solidFill>
                <a:latin typeface="Courier New" pitchFamily="34" charset="0"/>
                <a:ea typeface="Courier New" pitchFamily="34" charset="-122"/>
                <a:cs typeface="Courier New" pitchFamily="34" charset="-120"/>
              </a:rPr>
              <a:t>THEOREM STATED</a:t>
            </a:r>
            <a:endParaRPr lang="en-US" sz="800" dirty="0"/>
          </a:p>
        </p:txBody>
      </p:sp>
      <p:sp>
        <p:nvSpPr>
          <p:cNvPr id="16" name="Text 14"/>
          <p:cNvSpPr/>
          <p:nvPr/>
        </p:nvSpPr>
        <p:spPr>
          <a:xfrm>
            <a:off x="607219" y="1758702"/>
            <a:ext cx="3838766" cy="129927"/>
          </a:xfrm>
          <a:prstGeom prst="rect">
            <a:avLst/>
          </a:prstGeom>
          <a:noFill/>
          <a:ln/>
        </p:spPr>
        <p:txBody>
          <a:bodyPr wrap="square" lIns="0" tIns="0" rIns="0" bIns="0" rtlCol="0" anchor="t"/>
          <a:lstStyle/>
          <a:p>
            <a:pPr algn="l" indent="0" marL="0">
              <a:lnSpc>
                <a:spcPts val="1024"/>
              </a:lnSpc>
              <a:buNone/>
            </a:pPr>
            <a:r>
              <a:rPr lang="en-US" sz="800" dirty="0">
                <a:solidFill>
                  <a:srgbClr val="E6E6E6"/>
                </a:solidFill>
                <a:latin typeface="Carlito" pitchFamily="34" charset="0"/>
                <a:ea typeface="Carlito" pitchFamily="34" charset="-122"/>
                <a:cs typeface="Carlito" pitchFamily="34" charset="-120"/>
              </a:rPr>
              <a:t>Uniqueness of Golay as [23,12] avg_Φ maximiser.</a:t>
            </a:r>
            <a:endParaRPr lang="en-US" sz="800" dirty="0"/>
          </a:p>
        </p:txBody>
      </p:sp>
      <p:sp>
        <p:nvSpPr>
          <p:cNvPr id="17" name="Shape 15"/>
          <p:cNvSpPr/>
          <p:nvPr/>
        </p:nvSpPr>
        <p:spPr>
          <a:xfrm>
            <a:off x="607219" y="2422178"/>
            <a:ext cx="3729038" cy="0"/>
          </a:xfrm>
          <a:prstGeom prst="line">
            <a:avLst/>
          </a:prstGeom>
          <a:noFill/>
          <a:ln w="7144">
            <a:solidFill>
              <a:srgbClr val="2A3038"/>
            </a:solidFill>
            <a:prstDash val="dash"/>
          </a:ln>
        </p:spPr>
      </p:sp>
      <p:sp>
        <p:nvSpPr>
          <p:cNvPr id="18" name="Text 16"/>
          <p:cNvSpPr/>
          <p:nvPr/>
        </p:nvSpPr>
        <p:spPr>
          <a:xfrm>
            <a:off x="607219" y="2036862"/>
            <a:ext cx="3063329" cy="164592"/>
          </a:xfrm>
          <a:prstGeom prst="rect">
            <a:avLst/>
          </a:prstGeom>
          <a:noFill/>
          <a:ln/>
        </p:spPr>
        <p:txBody>
          <a:bodyPr wrap="none" lIns="0" tIns="0" rIns="0" bIns="0" rtlCol="0" anchor="t"/>
          <a:lstStyle/>
          <a:p>
            <a:pPr algn="l" indent="0" marL="0">
              <a:lnSpc>
                <a:spcPts val="1097"/>
              </a:lnSpc>
              <a:buNone/>
            </a:pPr>
            <a:r>
              <a:rPr lang="en-US" sz="800" spc="29" kern="0" dirty="0">
                <a:solidFill>
                  <a:srgbClr val="FFB454"/>
                </a:solidFill>
                <a:latin typeface="Liberation Sans Narrow" pitchFamily="34" charset="0"/>
                <a:ea typeface="Liberation Sans Narrow" pitchFamily="34" charset="-122"/>
                <a:cs typeface="Liberation Sans Narrow" pitchFamily="34" charset="-120"/>
              </a:rPr>
              <a:t>Q2</a:t>
            </a:r>
            <a:endParaRPr lang="en-US" sz="800" dirty="0"/>
          </a:p>
        </p:txBody>
      </p:sp>
      <p:sp>
        <p:nvSpPr>
          <p:cNvPr id="19" name="Text 17"/>
          <p:cNvSpPr/>
          <p:nvPr/>
        </p:nvSpPr>
        <p:spPr>
          <a:xfrm>
            <a:off x="3661976" y="2014502"/>
            <a:ext cx="654278" cy="184023"/>
          </a:xfrm>
          <a:prstGeom prst="roundRect">
            <a:avLst>
              <a:gd name="adj" fmla="val 5170807"/>
            </a:avLst>
          </a:prstGeom>
          <a:solidFill>
            <a:srgbClr val="1F2630"/>
          </a:solidFill>
          <a:ln w="7144">
            <a:solidFill>
              <a:srgbClr val="FF6B6B"/>
            </a:solidFill>
            <a:prstDash val="solid"/>
          </a:ln>
        </p:spPr>
        <p:txBody>
          <a:bodyPr wrap="square" rtlCol="0" anchor="ctr"/>
          <a:lstStyle/>
          <a:p>
            <a:pPr indent="0" marL="0">
              <a:buNone/>
            </a:pPr>
            <a:endParaRPr lang="en-US" dirty="0"/>
          </a:p>
        </p:txBody>
      </p:sp>
      <p:sp>
        <p:nvSpPr>
          <p:cNvPr id="20" name="Text 18"/>
          <p:cNvSpPr/>
          <p:nvPr/>
        </p:nvSpPr>
        <p:spPr>
          <a:xfrm>
            <a:off x="3684836" y="2024360"/>
            <a:ext cx="608558"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FF6B6B"/>
                </a:solidFill>
                <a:latin typeface="Courier New" pitchFamily="34" charset="0"/>
                <a:ea typeface="Courier New" pitchFamily="34" charset="-122"/>
                <a:cs typeface="Courier New" pitchFamily="34" charset="-120"/>
              </a:rPr>
              <a:t>FALSIFIED</a:t>
            </a:r>
            <a:endParaRPr lang="en-US" sz="800" dirty="0"/>
          </a:p>
        </p:txBody>
      </p:sp>
      <p:sp>
        <p:nvSpPr>
          <p:cNvPr id="21" name="Text 19"/>
          <p:cNvSpPr/>
          <p:nvPr/>
        </p:nvSpPr>
        <p:spPr>
          <a:xfrm>
            <a:off x="607219" y="2224385"/>
            <a:ext cx="3838766" cy="129927"/>
          </a:xfrm>
          <a:prstGeom prst="rect">
            <a:avLst/>
          </a:prstGeom>
          <a:noFill/>
          <a:ln/>
        </p:spPr>
        <p:txBody>
          <a:bodyPr wrap="square" lIns="0" tIns="0" rIns="0" bIns="0" rtlCol="0" anchor="t"/>
          <a:lstStyle/>
          <a:p>
            <a:pPr algn="l" indent="0" marL="0">
              <a:lnSpc>
                <a:spcPts val="1024"/>
              </a:lnSpc>
              <a:buNone/>
            </a:pPr>
            <a:r>
              <a:rPr lang="en-US" sz="800" dirty="0">
                <a:solidFill>
                  <a:srgbClr val="E6E6E6"/>
                </a:solidFill>
                <a:latin typeface="Carlito" pitchFamily="34" charset="0"/>
                <a:ea typeface="Carlito" pitchFamily="34" charset="-122"/>
                <a:cs typeface="Carlito" pitchFamily="34" charset="-120"/>
              </a:rPr>
              <a:t>Self-dual + high-d form of the conjecture.</a:t>
            </a:r>
            <a:endParaRPr lang="en-US" sz="800" dirty="0"/>
          </a:p>
        </p:txBody>
      </p:sp>
      <p:sp>
        <p:nvSpPr>
          <p:cNvPr id="22" name="Shape 20"/>
          <p:cNvSpPr/>
          <p:nvPr/>
        </p:nvSpPr>
        <p:spPr>
          <a:xfrm>
            <a:off x="607219" y="2887861"/>
            <a:ext cx="3729038" cy="0"/>
          </a:xfrm>
          <a:prstGeom prst="line">
            <a:avLst/>
          </a:prstGeom>
          <a:noFill/>
          <a:ln w="7144">
            <a:solidFill>
              <a:srgbClr val="2A3038"/>
            </a:solidFill>
            <a:prstDash val="dash"/>
          </a:ln>
        </p:spPr>
      </p:sp>
      <p:sp>
        <p:nvSpPr>
          <p:cNvPr id="23" name="Text 21"/>
          <p:cNvSpPr/>
          <p:nvPr/>
        </p:nvSpPr>
        <p:spPr>
          <a:xfrm>
            <a:off x="607219" y="2502545"/>
            <a:ext cx="3314030" cy="164592"/>
          </a:xfrm>
          <a:prstGeom prst="rect">
            <a:avLst/>
          </a:prstGeom>
          <a:noFill/>
          <a:ln/>
        </p:spPr>
        <p:txBody>
          <a:bodyPr wrap="none" lIns="0" tIns="0" rIns="0" bIns="0" rtlCol="0" anchor="t"/>
          <a:lstStyle/>
          <a:p>
            <a:pPr algn="l" indent="0" marL="0">
              <a:lnSpc>
                <a:spcPts val="1097"/>
              </a:lnSpc>
              <a:buNone/>
            </a:pPr>
            <a:r>
              <a:rPr lang="en-US" sz="800" spc="29" kern="0" dirty="0">
                <a:solidFill>
                  <a:srgbClr val="FFB454"/>
                </a:solidFill>
                <a:latin typeface="Liberation Sans Narrow" pitchFamily="34" charset="0"/>
                <a:ea typeface="Liberation Sans Narrow" pitchFamily="34" charset="-122"/>
                <a:cs typeface="Liberation Sans Narrow" pitchFamily="34" charset="-120"/>
              </a:rPr>
              <a:t>Q3</a:t>
            </a:r>
            <a:endParaRPr lang="en-US" sz="800" dirty="0"/>
          </a:p>
        </p:txBody>
      </p:sp>
      <p:sp>
        <p:nvSpPr>
          <p:cNvPr id="24" name="Text 22"/>
          <p:cNvSpPr/>
          <p:nvPr/>
        </p:nvSpPr>
        <p:spPr>
          <a:xfrm>
            <a:off x="3921222" y="2480185"/>
            <a:ext cx="386486" cy="184023"/>
          </a:xfrm>
          <a:prstGeom prst="roundRect">
            <a:avLst>
              <a:gd name="adj" fmla="val 5170807"/>
            </a:avLst>
          </a:prstGeom>
          <a:solidFill>
            <a:srgbClr val="1F2630"/>
          </a:solidFill>
          <a:ln w="7144">
            <a:solidFill>
              <a:srgbClr val="B097FF"/>
            </a:solidFill>
            <a:prstDash val="solid"/>
          </a:ln>
        </p:spPr>
        <p:txBody>
          <a:bodyPr wrap="square" rtlCol="0" anchor="ctr"/>
          <a:lstStyle/>
          <a:p>
            <a:pPr indent="0" marL="0">
              <a:buNone/>
            </a:pPr>
            <a:endParaRPr lang="en-US" dirty="0"/>
          </a:p>
        </p:txBody>
      </p:sp>
      <p:sp>
        <p:nvSpPr>
          <p:cNvPr id="25" name="Text 23"/>
          <p:cNvSpPr/>
          <p:nvPr/>
        </p:nvSpPr>
        <p:spPr>
          <a:xfrm>
            <a:off x="3935537" y="2490043"/>
            <a:ext cx="357857"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B097FF"/>
                </a:solidFill>
                <a:latin typeface="Courier New" pitchFamily="34" charset="0"/>
                <a:ea typeface="Courier New" pitchFamily="34" charset="-122"/>
                <a:cs typeface="Courier New" pitchFamily="34" charset="-120"/>
              </a:rPr>
              <a:t>OPEN</a:t>
            </a:r>
            <a:endParaRPr lang="en-US" sz="800" dirty="0"/>
          </a:p>
        </p:txBody>
      </p:sp>
      <p:sp>
        <p:nvSpPr>
          <p:cNvPr id="26" name="Text 24"/>
          <p:cNvSpPr/>
          <p:nvPr/>
        </p:nvSpPr>
        <p:spPr>
          <a:xfrm>
            <a:off x="607219" y="2690068"/>
            <a:ext cx="3838766" cy="129927"/>
          </a:xfrm>
          <a:prstGeom prst="rect">
            <a:avLst/>
          </a:prstGeom>
          <a:noFill/>
          <a:ln/>
        </p:spPr>
        <p:txBody>
          <a:bodyPr wrap="square" lIns="0" tIns="0" rIns="0" bIns="0" rtlCol="0" anchor="t"/>
          <a:lstStyle/>
          <a:p>
            <a:pPr algn="l" indent="0" marL="0">
              <a:lnSpc>
                <a:spcPts val="1024"/>
              </a:lnSpc>
              <a:buNone/>
            </a:pPr>
            <a:r>
              <a:rPr lang="en-US" sz="800" dirty="0">
                <a:solidFill>
                  <a:srgbClr val="E6E6E6"/>
                </a:solidFill>
                <a:latin typeface="Carlito" pitchFamily="34" charset="0"/>
                <a:ea typeface="Carlito" pitchFamily="34" charset="-122"/>
                <a:cs typeface="Carlito" pitchFamily="34" charset="-120"/>
              </a:rPr>
              <a:t>Derivation of n=24 from Φ-adjacent principles.</a:t>
            </a:r>
            <a:endParaRPr lang="en-US" sz="800" dirty="0"/>
          </a:p>
        </p:txBody>
      </p:sp>
      <p:sp>
        <p:nvSpPr>
          <p:cNvPr id="27" name="Shape 25"/>
          <p:cNvSpPr/>
          <p:nvPr/>
        </p:nvSpPr>
        <p:spPr>
          <a:xfrm>
            <a:off x="607219" y="3353544"/>
            <a:ext cx="3729038" cy="0"/>
          </a:xfrm>
          <a:prstGeom prst="line">
            <a:avLst/>
          </a:prstGeom>
          <a:noFill/>
          <a:ln w="7144">
            <a:solidFill>
              <a:srgbClr val="2A3038"/>
            </a:solidFill>
            <a:prstDash val="dash"/>
          </a:ln>
        </p:spPr>
      </p:sp>
      <p:sp>
        <p:nvSpPr>
          <p:cNvPr id="28" name="Text 26"/>
          <p:cNvSpPr/>
          <p:nvPr/>
        </p:nvSpPr>
        <p:spPr>
          <a:xfrm>
            <a:off x="607219" y="2968228"/>
            <a:ext cx="3213795" cy="164592"/>
          </a:xfrm>
          <a:prstGeom prst="rect">
            <a:avLst/>
          </a:prstGeom>
          <a:noFill/>
          <a:ln/>
        </p:spPr>
        <p:txBody>
          <a:bodyPr wrap="none" lIns="0" tIns="0" rIns="0" bIns="0" rtlCol="0" anchor="t"/>
          <a:lstStyle/>
          <a:p>
            <a:pPr algn="l" indent="0" marL="0">
              <a:lnSpc>
                <a:spcPts val="1097"/>
              </a:lnSpc>
              <a:buNone/>
            </a:pPr>
            <a:r>
              <a:rPr lang="en-US" sz="800" spc="29" kern="0" dirty="0">
                <a:solidFill>
                  <a:srgbClr val="FFB454"/>
                </a:solidFill>
                <a:latin typeface="Liberation Sans Narrow" pitchFamily="34" charset="0"/>
                <a:ea typeface="Liberation Sans Narrow" pitchFamily="34" charset="-122"/>
                <a:cs typeface="Liberation Sans Narrow" pitchFamily="34" charset="-120"/>
              </a:rPr>
              <a:t>Q4</a:t>
            </a:r>
            <a:endParaRPr lang="en-US" sz="800" dirty="0"/>
          </a:p>
        </p:txBody>
      </p:sp>
      <p:sp>
        <p:nvSpPr>
          <p:cNvPr id="29" name="Text 27"/>
          <p:cNvSpPr/>
          <p:nvPr/>
        </p:nvSpPr>
        <p:spPr>
          <a:xfrm>
            <a:off x="3816977" y="2945868"/>
            <a:ext cx="494740" cy="184023"/>
          </a:xfrm>
          <a:prstGeom prst="roundRect">
            <a:avLst>
              <a:gd name="adj" fmla="val 5170807"/>
            </a:avLst>
          </a:prstGeom>
          <a:solidFill>
            <a:srgbClr val="1F2630"/>
          </a:solidFill>
          <a:ln w="7144">
            <a:solidFill>
              <a:srgbClr val="6FE3D2"/>
            </a:solidFill>
            <a:prstDash val="solid"/>
          </a:ln>
        </p:spPr>
        <p:txBody>
          <a:bodyPr wrap="square" rtlCol="0" anchor="ctr"/>
          <a:lstStyle/>
          <a:p>
            <a:pPr indent="0" marL="0">
              <a:buNone/>
            </a:pPr>
            <a:endParaRPr lang="en-US" dirty="0"/>
          </a:p>
        </p:txBody>
      </p:sp>
      <p:sp>
        <p:nvSpPr>
          <p:cNvPr id="30" name="Text 28"/>
          <p:cNvSpPr/>
          <p:nvPr/>
        </p:nvSpPr>
        <p:spPr>
          <a:xfrm>
            <a:off x="3835301" y="2955727"/>
            <a:ext cx="458093"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6FE3D2"/>
                </a:solidFill>
                <a:latin typeface="Courier New" pitchFamily="34" charset="0"/>
                <a:ea typeface="Courier New" pitchFamily="34" charset="-122"/>
                <a:cs typeface="Courier New" pitchFamily="34" charset="-120"/>
              </a:rPr>
              <a:t>CLOSED</a:t>
            </a:r>
            <a:endParaRPr lang="en-US" sz="800" dirty="0"/>
          </a:p>
        </p:txBody>
      </p:sp>
      <p:sp>
        <p:nvSpPr>
          <p:cNvPr id="31" name="Text 29"/>
          <p:cNvSpPr/>
          <p:nvPr/>
        </p:nvSpPr>
        <p:spPr>
          <a:xfrm>
            <a:off x="607219" y="3155752"/>
            <a:ext cx="3838766" cy="129927"/>
          </a:xfrm>
          <a:prstGeom prst="rect">
            <a:avLst/>
          </a:prstGeom>
          <a:noFill/>
          <a:ln/>
        </p:spPr>
        <p:txBody>
          <a:bodyPr wrap="square" lIns="0" tIns="0" rIns="0" bIns="0" rtlCol="0" anchor="t"/>
          <a:lstStyle/>
          <a:p>
            <a:pPr algn="l" indent="0" marL="0">
              <a:lnSpc>
                <a:spcPts val="1024"/>
              </a:lnSpc>
              <a:buNone/>
            </a:pPr>
            <a:r>
              <a:rPr lang="en-US" sz="800" dirty="0">
                <a:solidFill>
                  <a:srgbClr val="E6E6E6"/>
                </a:solidFill>
                <a:latin typeface="Carlito" pitchFamily="34" charset="0"/>
                <a:ea typeface="Carlito" pitchFamily="34" charset="-122"/>
                <a:cs typeface="Carlito" pitchFamily="34" charset="-120"/>
              </a:rPr>
              <a:t>Vacuum-collapse basin characterisation.</a:t>
            </a:r>
            <a:endParaRPr lang="en-US" sz="800" dirty="0"/>
          </a:p>
        </p:txBody>
      </p:sp>
      <p:sp>
        <p:nvSpPr>
          <p:cNvPr id="32" name="Text 30"/>
          <p:cNvSpPr/>
          <p:nvPr/>
        </p:nvSpPr>
        <p:spPr>
          <a:xfrm>
            <a:off x="607219" y="3433911"/>
            <a:ext cx="2712281" cy="164592"/>
          </a:xfrm>
          <a:prstGeom prst="rect">
            <a:avLst/>
          </a:prstGeom>
          <a:noFill/>
          <a:ln/>
        </p:spPr>
        <p:txBody>
          <a:bodyPr wrap="none" lIns="0" tIns="0" rIns="0" bIns="0" rtlCol="0" anchor="t"/>
          <a:lstStyle/>
          <a:p>
            <a:pPr algn="l" indent="0" marL="0">
              <a:lnSpc>
                <a:spcPts val="1097"/>
              </a:lnSpc>
              <a:buNone/>
            </a:pPr>
            <a:r>
              <a:rPr lang="en-US" sz="800" spc="29" kern="0" dirty="0">
                <a:solidFill>
                  <a:srgbClr val="FFB454"/>
                </a:solidFill>
                <a:latin typeface="Liberation Sans Narrow" pitchFamily="34" charset="0"/>
                <a:ea typeface="Liberation Sans Narrow" pitchFamily="34" charset="-122"/>
                <a:cs typeface="Liberation Sans Narrow" pitchFamily="34" charset="-120"/>
              </a:rPr>
              <a:t>Q5</a:t>
            </a:r>
            <a:endParaRPr lang="en-US" sz="800" dirty="0"/>
          </a:p>
        </p:txBody>
      </p:sp>
      <p:sp>
        <p:nvSpPr>
          <p:cNvPr id="33" name="Text 31"/>
          <p:cNvSpPr/>
          <p:nvPr/>
        </p:nvSpPr>
        <p:spPr>
          <a:xfrm>
            <a:off x="3310927" y="3411551"/>
            <a:ext cx="1005327" cy="184023"/>
          </a:xfrm>
          <a:prstGeom prst="roundRect">
            <a:avLst>
              <a:gd name="adj" fmla="val 5170807"/>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34" name="Text 32"/>
          <p:cNvSpPr/>
          <p:nvPr/>
        </p:nvSpPr>
        <p:spPr>
          <a:xfrm>
            <a:off x="3333787" y="3421410"/>
            <a:ext cx="959607"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FFB454"/>
                </a:solidFill>
                <a:latin typeface="Courier New" pitchFamily="34" charset="0"/>
                <a:ea typeface="Courier New" pitchFamily="34" charset="-122"/>
                <a:cs typeface="Courier New" pitchFamily="34" charset="-120"/>
              </a:rPr>
              <a:t>PARTIALLY CLOSED</a:t>
            </a:r>
            <a:endParaRPr lang="en-US" sz="800" dirty="0"/>
          </a:p>
        </p:txBody>
      </p:sp>
      <p:sp>
        <p:nvSpPr>
          <p:cNvPr id="35" name="Text 33"/>
          <p:cNvSpPr/>
          <p:nvPr/>
        </p:nvSpPr>
        <p:spPr>
          <a:xfrm>
            <a:off x="607219" y="3621435"/>
            <a:ext cx="3838766" cy="153514"/>
          </a:xfrm>
          <a:prstGeom prst="rect">
            <a:avLst/>
          </a:prstGeom>
          <a:noFill/>
          <a:ln/>
        </p:spPr>
        <p:txBody>
          <a:bodyPr wrap="square" lIns="0" tIns="0" rIns="0" bIns="0" rtlCol="0" anchor="t"/>
          <a:lstStyle/>
          <a:p>
            <a:pPr algn="l" indent="0" marL="0">
              <a:lnSpc>
                <a:spcPts val="1024"/>
              </a:lnSpc>
              <a:buNone/>
            </a:pPr>
            <a:r>
              <a:rPr lang="en-US" sz="800" dirty="0">
                <a:solidFill>
                  <a:srgbClr val="E6E6E6"/>
                </a:solidFill>
                <a:latin typeface="Carlito" pitchFamily="34" charset="0"/>
                <a:ea typeface="Carlito" pitchFamily="34" charset="-122"/>
                <a:cs typeface="Carlito" pitchFamily="34" charset="-120"/>
              </a:rPr>
              <a:t>avg_Φ test on [24,12,8] codes vs Golay.</a:t>
            </a:r>
            <a:endParaRPr lang="en-US" sz="800" dirty="0"/>
          </a:p>
        </p:txBody>
      </p:sp>
      <p:sp>
        <p:nvSpPr>
          <p:cNvPr id="36" name="Text 34"/>
          <p:cNvSpPr/>
          <p:nvPr/>
        </p:nvSpPr>
        <p:spPr>
          <a:xfrm>
            <a:off x="4807744" y="1208633"/>
            <a:ext cx="1646241" cy="120701"/>
          </a:xfrm>
          <a:prstGeom prst="rect">
            <a:avLst/>
          </a:prstGeom>
          <a:noFill/>
          <a:ln/>
        </p:spPr>
        <p:txBody>
          <a:bodyPr wrap="none" lIns="0" tIns="0" rIns="0" bIns="0" rtlCol="0" anchor="t"/>
          <a:lstStyle/>
          <a:p>
            <a:pPr algn="l" indent="0" marL="0">
              <a:lnSpc>
                <a:spcPts val="844"/>
              </a:lnSpc>
              <a:buNone/>
            </a:pPr>
            <a:r>
              <a:rPr lang="en-US" sz="800" spc="90" kern="0" dirty="0">
                <a:solidFill>
                  <a:srgbClr val="6B7280"/>
                </a:solidFill>
                <a:latin typeface="Courier New" pitchFamily="34" charset="0"/>
                <a:ea typeface="Courier New" pitchFamily="34" charset="-122"/>
                <a:cs typeface="Courier New" pitchFamily="34" charset="-120"/>
              </a:rPr>
              <a:t>NEW THREADS IN THIS DOCUMENT</a:t>
            </a:r>
            <a:endParaRPr lang="en-US" sz="800" dirty="0"/>
          </a:p>
        </p:txBody>
      </p:sp>
      <p:sp>
        <p:nvSpPr>
          <p:cNvPr id="37" name="Text 35"/>
          <p:cNvSpPr/>
          <p:nvPr/>
        </p:nvSpPr>
        <p:spPr>
          <a:xfrm>
            <a:off x="4657725" y="1201489"/>
            <a:ext cx="92869" cy="92869"/>
          </a:xfrm>
          <a:prstGeom prst="rect">
            <a:avLst/>
          </a:prstGeom>
          <a:noFill/>
          <a:ln/>
        </p:spPr>
        <p:txBody>
          <a:bodyPr wrap="none" lIns="0" tIns="0" rIns="0" bIns="0" rtlCol="0" anchor="ctr"/>
          <a:lstStyle/>
          <a:p>
            <a:pPr algn="ctr" indent="0" marL="0">
              <a:buNone/>
            </a:pPr>
            <a:r>
              <a:rPr lang="en-US" sz="914" dirty="0">
                <a:solidFill>
                  <a:srgbClr val="6FE3D2"/>
                </a:solidFill>
                <a:latin typeface="Segoe UI Symbol" pitchFamily="34" charset="0"/>
                <a:ea typeface="Segoe UI Symbol" pitchFamily="34" charset="-122"/>
                <a:cs typeface="Segoe UI Symbol" pitchFamily="34" charset="-120"/>
              </a:rPr>
              <a:t>⚗</a:t>
            </a:r>
            <a:endParaRPr lang="en-US" sz="914" dirty="0"/>
          </a:p>
        </p:txBody>
      </p:sp>
      <p:sp>
        <p:nvSpPr>
          <p:cNvPr id="38" name="Text 36"/>
          <p:cNvSpPr/>
          <p:nvPr/>
        </p:nvSpPr>
        <p:spPr>
          <a:xfrm>
            <a:off x="4657725" y="1437233"/>
            <a:ext cx="4029075" cy="402171"/>
          </a:xfrm>
          <a:prstGeom prst="roundRect">
            <a:avLst>
              <a:gd name="adj" fmla="val 9474"/>
            </a:avLst>
          </a:prstGeom>
          <a:solidFill>
            <a:srgbClr val="1F2630"/>
          </a:solidFill>
          <a:ln/>
        </p:spPr>
        <p:txBody>
          <a:bodyPr wrap="square" rtlCol="0" anchor="ctr"/>
          <a:lstStyle/>
          <a:p>
            <a:pPr indent="0" marL="0">
              <a:buNone/>
            </a:pPr>
            <a:endParaRPr lang="en-US" dirty="0"/>
          </a:p>
        </p:txBody>
      </p:sp>
      <p:sp>
        <p:nvSpPr>
          <p:cNvPr id="39" name="Shape 37"/>
          <p:cNvSpPr/>
          <p:nvPr/>
        </p:nvSpPr>
        <p:spPr>
          <a:xfrm>
            <a:off x="4657725" y="1440805"/>
            <a:ext cx="4029075" cy="0"/>
          </a:xfrm>
          <a:prstGeom prst="line">
            <a:avLst/>
          </a:prstGeom>
          <a:noFill/>
          <a:ln w="7144">
            <a:solidFill>
              <a:srgbClr val="2A3038"/>
            </a:solidFill>
            <a:prstDash val="solid"/>
          </a:ln>
        </p:spPr>
      </p:sp>
      <p:sp>
        <p:nvSpPr>
          <p:cNvPr id="40" name="Shape 38"/>
          <p:cNvSpPr/>
          <p:nvPr/>
        </p:nvSpPr>
        <p:spPr>
          <a:xfrm>
            <a:off x="8683228" y="1437233"/>
            <a:ext cx="0" cy="402171"/>
          </a:xfrm>
          <a:prstGeom prst="line">
            <a:avLst/>
          </a:prstGeom>
          <a:noFill/>
          <a:ln w="7144">
            <a:solidFill>
              <a:srgbClr val="2A3038"/>
            </a:solidFill>
            <a:prstDash val="solid"/>
          </a:ln>
        </p:spPr>
      </p:sp>
      <p:sp>
        <p:nvSpPr>
          <p:cNvPr id="41" name="Shape 39"/>
          <p:cNvSpPr/>
          <p:nvPr/>
        </p:nvSpPr>
        <p:spPr>
          <a:xfrm>
            <a:off x="4657725" y="1835832"/>
            <a:ext cx="4029075" cy="0"/>
          </a:xfrm>
          <a:prstGeom prst="line">
            <a:avLst/>
          </a:prstGeom>
          <a:noFill/>
          <a:ln w="7144">
            <a:solidFill>
              <a:srgbClr val="2A3038"/>
            </a:solidFill>
            <a:prstDash val="solid"/>
          </a:ln>
        </p:spPr>
      </p:sp>
      <p:sp>
        <p:nvSpPr>
          <p:cNvPr id="42" name="Shape 40"/>
          <p:cNvSpPr/>
          <p:nvPr/>
        </p:nvSpPr>
        <p:spPr>
          <a:xfrm>
            <a:off x="4668441" y="1437233"/>
            <a:ext cx="0" cy="402171"/>
          </a:xfrm>
          <a:prstGeom prst="line">
            <a:avLst/>
          </a:prstGeom>
          <a:noFill/>
          <a:ln w="21431">
            <a:solidFill>
              <a:srgbClr val="6FE3D2"/>
            </a:solidFill>
            <a:prstDash val="solid"/>
          </a:ln>
        </p:spPr>
      </p:sp>
      <p:sp>
        <p:nvSpPr>
          <p:cNvPr id="43" name="Text 41"/>
          <p:cNvSpPr/>
          <p:nvPr/>
        </p:nvSpPr>
        <p:spPr>
          <a:xfrm>
            <a:off x="4779169" y="1508671"/>
            <a:ext cx="3368278" cy="164592"/>
          </a:xfrm>
          <a:prstGeom prst="rect">
            <a:avLst/>
          </a:prstGeom>
          <a:noFill/>
          <a:ln/>
        </p:spPr>
        <p:txBody>
          <a:bodyPr wrap="none" lIns="0" tIns="0" rIns="0" bIns="0" rtlCol="0" anchor="t"/>
          <a:lstStyle/>
          <a:p>
            <a:pPr algn="l" indent="0" marL="0">
              <a:lnSpc>
                <a:spcPts val="928"/>
              </a:lnSpc>
              <a:buNone/>
            </a:pPr>
            <a:r>
              <a:rPr lang="en-US" sz="800" spc="37" kern="0" dirty="0">
                <a:solidFill>
                  <a:srgbClr val="6FE3D2"/>
                </a:solidFill>
                <a:latin typeface="Courier New" pitchFamily="34" charset="0"/>
                <a:ea typeface="Courier New" pitchFamily="34" charset="-122"/>
                <a:cs typeface="Courier New" pitchFamily="34" charset="-120"/>
              </a:rPr>
              <a:t>Thread E</a:t>
            </a:r>
            <a:endParaRPr lang="en-US" sz="800" dirty="0"/>
          </a:p>
        </p:txBody>
      </p:sp>
      <p:sp>
        <p:nvSpPr>
          <p:cNvPr id="44" name="Text 42"/>
          <p:cNvSpPr/>
          <p:nvPr/>
        </p:nvSpPr>
        <p:spPr>
          <a:xfrm>
            <a:off x="8161734" y="1519386"/>
            <a:ext cx="417909" cy="164592"/>
          </a:xfrm>
          <a:prstGeom prst="rect">
            <a:avLst/>
          </a:prstGeom>
          <a:noFill/>
          <a:ln/>
        </p:spPr>
        <p:txBody>
          <a:bodyPr wrap="square" lIns="0" tIns="0" rIns="0" bIns="0" rtlCol="0" anchor="t"/>
          <a:lstStyle/>
          <a:p>
            <a:pPr algn="l" indent="0" marL="0">
              <a:lnSpc>
                <a:spcPts val="759"/>
              </a:lnSpc>
              <a:buNone/>
            </a:pPr>
            <a:r>
              <a:rPr lang="en-US" sz="800" spc="61" kern="0" dirty="0">
                <a:solidFill>
                  <a:srgbClr val="6B7280"/>
                </a:solidFill>
                <a:latin typeface="Liberation Sans Narrow" pitchFamily="34" charset="0"/>
                <a:ea typeface="Liberation Sans Narrow" pitchFamily="34" charset="-122"/>
                <a:cs typeface="Liberation Sans Narrow" pitchFamily="34" charset="-120"/>
              </a:rPr>
              <a:t>CLOSES Q4</a:t>
            </a:r>
            <a:endParaRPr lang="en-US" sz="800" dirty="0"/>
          </a:p>
        </p:txBody>
      </p:sp>
      <p:sp>
        <p:nvSpPr>
          <p:cNvPr id="45" name="Text 43"/>
          <p:cNvSpPr/>
          <p:nvPr/>
        </p:nvSpPr>
        <p:spPr>
          <a:xfrm>
            <a:off x="4779169" y="1647974"/>
            <a:ext cx="3800475" cy="119993"/>
          </a:xfrm>
          <a:prstGeom prst="rect">
            <a:avLst/>
          </a:prstGeom>
          <a:noFill/>
          <a:ln/>
        </p:spPr>
        <p:txBody>
          <a:bodyPr wrap="square" lIns="0" tIns="0" rIns="0" bIns="0" rtlCol="0" anchor="t"/>
          <a:lstStyle/>
          <a:p>
            <a:pPr algn="l" indent="0" marL="0">
              <a:lnSpc>
                <a:spcPts val="945"/>
              </a:lnSpc>
              <a:buNone/>
            </a:pPr>
            <a:r>
              <a:rPr lang="en-US" sz="800" dirty="0">
                <a:solidFill>
                  <a:srgbClr val="B5BAC4"/>
                </a:solidFill>
                <a:latin typeface="Carlito" pitchFamily="34" charset="0"/>
                <a:ea typeface="Carlito" pitchFamily="34" charset="-122"/>
                <a:cs typeface="Carlito" pitchFamily="34" charset="-120"/>
              </a:rPr>
              <a:t>Exact vacuum-basin enumeration for [24,12,8] Golay.</a:t>
            </a:r>
            <a:endParaRPr lang="en-US" sz="800" dirty="0"/>
          </a:p>
        </p:txBody>
      </p:sp>
      <p:sp>
        <p:nvSpPr>
          <p:cNvPr id="46" name="Text 44"/>
          <p:cNvSpPr/>
          <p:nvPr/>
        </p:nvSpPr>
        <p:spPr>
          <a:xfrm>
            <a:off x="4657725" y="1889410"/>
            <a:ext cx="4029075" cy="402171"/>
          </a:xfrm>
          <a:prstGeom prst="roundRect">
            <a:avLst>
              <a:gd name="adj" fmla="val 9474"/>
            </a:avLst>
          </a:prstGeom>
          <a:solidFill>
            <a:srgbClr val="1F2630"/>
          </a:solidFill>
          <a:ln/>
        </p:spPr>
        <p:txBody>
          <a:bodyPr wrap="square" rtlCol="0" anchor="ctr"/>
          <a:lstStyle/>
          <a:p>
            <a:pPr indent="0" marL="0">
              <a:buNone/>
            </a:pPr>
            <a:endParaRPr lang="en-US" dirty="0"/>
          </a:p>
        </p:txBody>
      </p:sp>
      <p:sp>
        <p:nvSpPr>
          <p:cNvPr id="47" name="Shape 45"/>
          <p:cNvSpPr/>
          <p:nvPr/>
        </p:nvSpPr>
        <p:spPr>
          <a:xfrm>
            <a:off x="4657725" y="1892982"/>
            <a:ext cx="4029075" cy="0"/>
          </a:xfrm>
          <a:prstGeom prst="line">
            <a:avLst/>
          </a:prstGeom>
          <a:noFill/>
          <a:ln w="7144">
            <a:solidFill>
              <a:srgbClr val="2A3038"/>
            </a:solidFill>
            <a:prstDash val="solid"/>
          </a:ln>
        </p:spPr>
      </p:sp>
      <p:sp>
        <p:nvSpPr>
          <p:cNvPr id="48" name="Shape 46"/>
          <p:cNvSpPr/>
          <p:nvPr/>
        </p:nvSpPr>
        <p:spPr>
          <a:xfrm>
            <a:off x="8683228" y="1889410"/>
            <a:ext cx="0" cy="402171"/>
          </a:xfrm>
          <a:prstGeom prst="line">
            <a:avLst/>
          </a:prstGeom>
          <a:noFill/>
          <a:ln w="7144">
            <a:solidFill>
              <a:srgbClr val="2A3038"/>
            </a:solidFill>
            <a:prstDash val="solid"/>
          </a:ln>
        </p:spPr>
      </p:sp>
      <p:sp>
        <p:nvSpPr>
          <p:cNvPr id="49" name="Shape 47"/>
          <p:cNvSpPr/>
          <p:nvPr/>
        </p:nvSpPr>
        <p:spPr>
          <a:xfrm>
            <a:off x="4657725" y="2288009"/>
            <a:ext cx="4029075" cy="0"/>
          </a:xfrm>
          <a:prstGeom prst="line">
            <a:avLst/>
          </a:prstGeom>
          <a:noFill/>
          <a:ln w="7144">
            <a:solidFill>
              <a:srgbClr val="2A3038"/>
            </a:solidFill>
            <a:prstDash val="solid"/>
          </a:ln>
        </p:spPr>
      </p:sp>
      <p:sp>
        <p:nvSpPr>
          <p:cNvPr id="50" name="Shape 48"/>
          <p:cNvSpPr/>
          <p:nvPr/>
        </p:nvSpPr>
        <p:spPr>
          <a:xfrm>
            <a:off x="4668441" y="1889410"/>
            <a:ext cx="0" cy="402171"/>
          </a:xfrm>
          <a:prstGeom prst="line">
            <a:avLst/>
          </a:prstGeom>
          <a:noFill/>
          <a:ln w="21431">
            <a:solidFill>
              <a:srgbClr val="FFB454"/>
            </a:solidFill>
            <a:prstDash val="solid"/>
          </a:ln>
        </p:spPr>
      </p:sp>
      <p:sp>
        <p:nvSpPr>
          <p:cNvPr id="51" name="Text 49"/>
          <p:cNvSpPr/>
          <p:nvPr/>
        </p:nvSpPr>
        <p:spPr>
          <a:xfrm>
            <a:off x="4779169" y="1960848"/>
            <a:ext cx="2904046" cy="164592"/>
          </a:xfrm>
          <a:prstGeom prst="rect">
            <a:avLst/>
          </a:prstGeom>
          <a:noFill/>
          <a:ln/>
        </p:spPr>
        <p:txBody>
          <a:bodyPr wrap="none" lIns="0" tIns="0" rIns="0" bIns="0" rtlCol="0" anchor="t"/>
          <a:lstStyle/>
          <a:p>
            <a:pPr algn="l" indent="0" marL="0">
              <a:lnSpc>
                <a:spcPts val="928"/>
              </a:lnSpc>
              <a:buNone/>
            </a:pPr>
            <a:r>
              <a:rPr lang="en-US" sz="800" spc="37" kern="0" dirty="0">
                <a:solidFill>
                  <a:srgbClr val="FFB454"/>
                </a:solidFill>
                <a:latin typeface="Courier New" pitchFamily="34" charset="0"/>
                <a:ea typeface="Courier New" pitchFamily="34" charset="-122"/>
                <a:cs typeface="Courier New" pitchFamily="34" charset="-120"/>
              </a:rPr>
              <a:t>Thread F</a:t>
            </a:r>
            <a:endParaRPr lang="en-US" sz="800" dirty="0"/>
          </a:p>
        </p:txBody>
      </p:sp>
      <p:sp>
        <p:nvSpPr>
          <p:cNvPr id="52" name="Text 50"/>
          <p:cNvSpPr/>
          <p:nvPr/>
        </p:nvSpPr>
        <p:spPr>
          <a:xfrm>
            <a:off x="7697502" y="1971563"/>
            <a:ext cx="882142" cy="164592"/>
          </a:xfrm>
          <a:prstGeom prst="rect">
            <a:avLst/>
          </a:prstGeom>
          <a:noFill/>
          <a:ln/>
        </p:spPr>
        <p:txBody>
          <a:bodyPr wrap="square" lIns="0" tIns="0" rIns="0" bIns="0" rtlCol="0" anchor="t"/>
          <a:lstStyle/>
          <a:p>
            <a:pPr algn="l" indent="0" marL="0">
              <a:lnSpc>
                <a:spcPts val="759"/>
              </a:lnSpc>
              <a:buNone/>
            </a:pPr>
            <a:r>
              <a:rPr lang="en-US" sz="800" spc="61" kern="0" dirty="0">
                <a:solidFill>
                  <a:srgbClr val="6B7280"/>
                </a:solidFill>
                <a:latin typeface="Liberation Sans Narrow" pitchFamily="34" charset="0"/>
                <a:ea typeface="Liberation Sans Narrow" pitchFamily="34" charset="-122"/>
                <a:cs typeface="Liberation Sans Narrow" pitchFamily="34" charset="-120"/>
              </a:rPr>
              <a:t>PARTIALLY CLOSES Q5</a:t>
            </a:r>
            <a:endParaRPr lang="en-US" sz="800" dirty="0"/>
          </a:p>
        </p:txBody>
      </p:sp>
      <p:sp>
        <p:nvSpPr>
          <p:cNvPr id="53" name="Text 51"/>
          <p:cNvSpPr/>
          <p:nvPr/>
        </p:nvSpPr>
        <p:spPr>
          <a:xfrm>
            <a:off x="4779169" y="2100151"/>
            <a:ext cx="3800475" cy="119993"/>
          </a:xfrm>
          <a:prstGeom prst="rect">
            <a:avLst/>
          </a:prstGeom>
          <a:noFill/>
          <a:ln/>
        </p:spPr>
        <p:txBody>
          <a:bodyPr wrap="square" lIns="0" tIns="0" rIns="0" bIns="0" rtlCol="0" anchor="t"/>
          <a:lstStyle/>
          <a:p>
            <a:pPr algn="l" indent="0" marL="0">
              <a:lnSpc>
                <a:spcPts val="945"/>
              </a:lnSpc>
              <a:buNone/>
            </a:pPr>
            <a:r>
              <a:rPr lang="en-US" sz="800" dirty="0">
                <a:solidFill>
                  <a:srgbClr val="B5BAC4"/>
                </a:solidFill>
                <a:latin typeface="Carlito" pitchFamily="34" charset="0"/>
                <a:ea typeface="Carlito" pitchFamily="34" charset="-122"/>
                <a:cs typeface="Carlito" pitchFamily="34" charset="-120"/>
              </a:rPr>
              <a:t>[24,12,8] Monte Carlo: Golay vs 4 random [24,12] codes.</a:t>
            </a:r>
            <a:endParaRPr lang="en-US" sz="800" dirty="0"/>
          </a:p>
        </p:txBody>
      </p:sp>
      <p:sp>
        <p:nvSpPr>
          <p:cNvPr id="54" name="Text 52"/>
          <p:cNvSpPr/>
          <p:nvPr/>
        </p:nvSpPr>
        <p:spPr>
          <a:xfrm>
            <a:off x="4657725" y="2341587"/>
            <a:ext cx="4029075" cy="402171"/>
          </a:xfrm>
          <a:prstGeom prst="roundRect">
            <a:avLst>
              <a:gd name="adj" fmla="val 9474"/>
            </a:avLst>
          </a:prstGeom>
          <a:solidFill>
            <a:srgbClr val="1F2630"/>
          </a:solidFill>
          <a:ln/>
        </p:spPr>
        <p:txBody>
          <a:bodyPr wrap="square" rtlCol="0" anchor="ctr"/>
          <a:lstStyle/>
          <a:p>
            <a:pPr indent="0" marL="0">
              <a:buNone/>
            </a:pPr>
            <a:endParaRPr lang="en-US" dirty="0"/>
          </a:p>
        </p:txBody>
      </p:sp>
      <p:sp>
        <p:nvSpPr>
          <p:cNvPr id="55" name="Shape 53"/>
          <p:cNvSpPr/>
          <p:nvPr/>
        </p:nvSpPr>
        <p:spPr>
          <a:xfrm>
            <a:off x="4657725" y="2345159"/>
            <a:ext cx="4029075" cy="0"/>
          </a:xfrm>
          <a:prstGeom prst="line">
            <a:avLst/>
          </a:prstGeom>
          <a:noFill/>
          <a:ln w="7144">
            <a:solidFill>
              <a:srgbClr val="2A3038"/>
            </a:solidFill>
            <a:prstDash val="solid"/>
          </a:ln>
        </p:spPr>
      </p:sp>
      <p:sp>
        <p:nvSpPr>
          <p:cNvPr id="56" name="Shape 54"/>
          <p:cNvSpPr/>
          <p:nvPr/>
        </p:nvSpPr>
        <p:spPr>
          <a:xfrm>
            <a:off x="8683228" y="2341587"/>
            <a:ext cx="0" cy="402171"/>
          </a:xfrm>
          <a:prstGeom prst="line">
            <a:avLst/>
          </a:prstGeom>
          <a:noFill/>
          <a:ln w="7144">
            <a:solidFill>
              <a:srgbClr val="2A3038"/>
            </a:solidFill>
            <a:prstDash val="solid"/>
          </a:ln>
        </p:spPr>
      </p:sp>
      <p:sp>
        <p:nvSpPr>
          <p:cNvPr id="57" name="Shape 55"/>
          <p:cNvSpPr/>
          <p:nvPr/>
        </p:nvSpPr>
        <p:spPr>
          <a:xfrm>
            <a:off x="4657725" y="2740186"/>
            <a:ext cx="4029075" cy="0"/>
          </a:xfrm>
          <a:prstGeom prst="line">
            <a:avLst/>
          </a:prstGeom>
          <a:noFill/>
          <a:ln w="7144">
            <a:solidFill>
              <a:srgbClr val="2A3038"/>
            </a:solidFill>
            <a:prstDash val="solid"/>
          </a:ln>
        </p:spPr>
      </p:sp>
      <p:sp>
        <p:nvSpPr>
          <p:cNvPr id="58" name="Shape 56"/>
          <p:cNvSpPr/>
          <p:nvPr/>
        </p:nvSpPr>
        <p:spPr>
          <a:xfrm>
            <a:off x="4668441" y="2341587"/>
            <a:ext cx="0" cy="402171"/>
          </a:xfrm>
          <a:prstGeom prst="line">
            <a:avLst/>
          </a:prstGeom>
          <a:noFill/>
          <a:ln w="21431">
            <a:solidFill>
              <a:srgbClr val="FFB454"/>
            </a:solidFill>
            <a:prstDash val="solid"/>
          </a:ln>
        </p:spPr>
      </p:sp>
      <p:sp>
        <p:nvSpPr>
          <p:cNvPr id="59" name="Text 57"/>
          <p:cNvSpPr/>
          <p:nvPr/>
        </p:nvSpPr>
        <p:spPr>
          <a:xfrm>
            <a:off x="4779169" y="2413025"/>
            <a:ext cx="3229087" cy="164592"/>
          </a:xfrm>
          <a:prstGeom prst="rect">
            <a:avLst/>
          </a:prstGeom>
          <a:noFill/>
          <a:ln/>
        </p:spPr>
        <p:txBody>
          <a:bodyPr wrap="none" lIns="0" tIns="0" rIns="0" bIns="0" rtlCol="0" anchor="t"/>
          <a:lstStyle/>
          <a:p>
            <a:pPr algn="l" indent="0" marL="0">
              <a:lnSpc>
                <a:spcPts val="928"/>
              </a:lnSpc>
              <a:buNone/>
            </a:pPr>
            <a:r>
              <a:rPr lang="en-US" sz="800" spc="37" kern="0" dirty="0">
                <a:solidFill>
                  <a:srgbClr val="FFB454"/>
                </a:solidFill>
                <a:latin typeface="Courier New" pitchFamily="34" charset="0"/>
                <a:ea typeface="Courier New" pitchFamily="34" charset="-122"/>
                <a:cs typeface="Courier New" pitchFamily="34" charset="-120"/>
              </a:rPr>
              <a:t>Thread G</a:t>
            </a:r>
            <a:endParaRPr lang="en-US" sz="800" dirty="0"/>
          </a:p>
        </p:txBody>
      </p:sp>
      <p:sp>
        <p:nvSpPr>
          <p:cNvPr id="60" name="Text 58"/>
          <p:cNvSpPr/>
          <p:nvPr/>
        </p:nvSpPr>
        <p:spPr>
          <a:xfrm>
            <a:off x="8022543" y="2423740"/>
            <a:ext cx="557101" cy="164592"/>
          </a:xfrm>
          <a:prstGeom prst="rect">
            <a:avLst/>
          </a:prstGeom>
          <a:noFill/>
          <a:ln/>
        </p:spPr>
        <p:txBody>
          <a:bodyPr wrap="square" lIns="0" tIns="0" rIns="0" bIns="0" rtlCol="0" anchor="t"/>
          <a:lstStyle/>
          <a:p>
            <a:pPr algn="l" indent="0" marL="0">
              <a:lnSpc>
                <a:spcPts val="759"/>
              </a:lnSpc>
              <a:buNone/>
            </a:pPr>
            <a:r>
              <a:rPr lang="en-US" sz="800" spc="61" kern="0" dirty="0">
                <a:solidFill>
                  <a:srgbClr val="6B7280"/>
                </a:solidFill>
                <a:latin typeface="Liberation Sans Narrow" pitchFamily="34" charset="0"/>
                <a:ea typeface="Liberation Sans Narrow" pitchFamily="34" charset="-122"/>
                <a:cs typeface="Liberation Sans Narrow" pitchFamily="34" charset="-120"/>
              </a:rPr>
              <a:t>ADDRESSES Q1</a:t>
            </a:r>
            <a:endParaRPr lang="en-US" sz="800" dirty="0"/>
          </a:p>
        </p:txBody>
      </p:sp>
      <p:sp>
        <p:nvSpPr>
          <p:cNvPr id="61" name="Text 59"/>
          <p:cNvSpPr/>
          <p:nvPr/>
        </p:nvSpPr>
        <p:spPr>
          <a:xfrm>
            <a:off x="4779169" y="2552328"/>
            <a:ext cx="3800475" cy="119993"/>
          </a:xfrm>
          <a:prstGeom prst="rect">
            <a:avLst/>
          </a:prstGeom>
          <a:noFill/>
          <a:ln/>
        </p:spPr>
        <p:txBody>
          <a:bodyPr wrap="square" lIns="0" tIns="0" rIns="0" bIns="0" rtlCol="0" anchor="t"/>
          <a:lstStyle/>
          <a:p>
            <a:pPr algn="l" indent="0" marL="0">
              <a:lnSpc>
                <a:spcPts val="945"/>
              </a:lnSpc>
              <a:buNone/>
            </a:pPr>
            <a:r>
              <a:rPr lang="en-US" sz="800" dirty="0">
                <a:solidFill>
                  <a:srgbClr val="B5BAC4"/>
                </a:solidFill>
                <a:latin typeface="Carlito" pitchFamily="34" charset="0"/>
                <a:ea typeface="Carlito" pitchFamily="34" charset="-122"/>
                <a:cs typeface="Carlito" pitchFamily="34" charset="-120"/>
              </a:rPr>
              <a:t>State the uniqueness theorem combining Thread C + classical coding theory.</a:t>
            </a:r>
            <a:endParaRPr lang="en-US" sz="800" dirty="0"/>
          </a:p>
        </p:txBody>
      </p:sp>
      <p:sp>
        <p:nvSpPr>
          <p:cNvPr id="62" name="Text 60"/>
          <p:cNvSpPr/>
          <p:nvPr/>
        </p:nvSpPr>
        <p:spPr>
          <a:xfrm>
            <a:off x="4657725" y="2793764"/>
            <a:ext cx="4029075" cy="402171"/>
          </a:xfrm>
          <a:prstGeom prst="roundRect">
            <a:avLst>
              <a:gd name="adj" fmla="val 9474"/>
            </a:avLst>
          </a:prstGeom>
          <a:solidFill>
            <a:srgbClr val="1F2630"/>
          </a:solidFill>
          <a:ln/>
        </p:spPr>
        <p:txBody>
          <a:bodyPr wrap="square" rtlCol="0" anchor="ctr"/>
          <a:lstStyle/>
          <a:p>
            <a:pPr indent="0" marL="0">
              <a:buNone/>
            </a:pPr>
            <a:endParaRPr lang="en-US" dirty="0"/>
          </a:p>
        </p:txBody>
      </p:sp>
      <p:sp>
        <p:nvSpPr>
          <p:cNvPr id="63" name="Shape 61"/>
          <p:cNvSpPr/>
          <p:nvPr/>
        </p:nvSpPr>
        <p:spPr>
          <a:xfrm>
            <a:off x="4657725" y="2797336"/>
            <a:ext cx="4029075" cy="0"/>
          </a:xfrm>
          <a:prstGeom prst="line">
            <a:avLst/>
          </a:prstGeom>
          <a:noFill/>
          <a:ln w="7144">
            <a:solidFill>
              <a:srgbClr val="2A3038"/>
            </a:solidFill>
            <a:prstDash val="solid"/>
          </a:ln>
        </p:spPr>
      </p:sp>
      <p:sp>
        <p:nvSpPr>
          <p:cNvPr id="64" name="Shape 62"/>
          <p:cNvSpPr/>
          <p:nvPr/>
        </p:nvSpPr>
        <p:spPr>
          <a:xfrm>
            <a:off x="8683228" y="2793764"/>
            <a:ext cx="0" cy="402171"/>
          </a:xfrm>
          <a:prstGeom prst="line">
            <a:avLst/>
          </a:prstGeom>
          <a:noFill/>
          <a:ln w="7144">
            <a:solidFill>
              <a:srgbClr val="2A3038"/>
            </a:solidFill>
            <a:prstDash val="solid"/>
          </a:ln>
        </p:spPr>
      </p:sp>
      <p:sp>
        <p:nvSpPr>
          <p:cNvPr id="65" name="Shape 63"/>
          <p:cNvSpPr/>
          <p:nvPr/>
        </p:nvSpPr>
        <p:spPr>
          <a:xfrm>
            <a:off x="4657725" y="3192363"/>
            <a:ext cx="4029075" cy="0"/>
          </a:xfrm>
          <a:prstGeom prst="line">
            <a:avLst/>
          </a:prstGeom>
          <a:noFill/>
          <a:ln w="7144">
            <a:solidFill>
              <a:srgbClr val="2A3038"/>
            </a:solidFill>
            <a:prstDash val="solid"/>
          </a:ln>
        </p:spPr>
      </p:sp>
      <p:sp>
        <p:nvSpPr>
          <p:cNvPr id="66" name="Shape 64"/>
          <p:cNvSpPr/>
          <p:nvPr/>
        </p:nvSpPr>
        <p:spPr>
          <a:xfrm>
            <a:off x="4668441" y="2793764"/>
            <a:ext cx="0" cy="402171"/>
          </a:xfrm>
          <a:prstGeom prst="line">
            <a:avLst/>
          </a:prstGeom>
          <a:noFill/>
          <a:ln w="21431">
            <a:solidFill>
              <a:srgbClr val="FF6B6B"/>
            </a:solidFill>
            <a:prstDash val="solid"/>
          </a:ln>
        </p:spPr>
      </p:sp>
      <p:sp>
        <p:nvSpPr>
          <p:cNvPr id="67" name="Text 65"/>
          <p:cNvSpPr/>
          <p:nvPr/>
        </p:nvSpPr>
        <p:spPr>
          <a:xfrm>
            <a:off x="4779169" y="2865202"/>
            <a:ext cx="3229087" cy="164592"/>
          </a:xfrm>
          <a:prstGeom prst="rect">
            <a:avLst/>
          </a:prstGeom>
          <a:noFill/>
          <a:ln/>
        </p:spPr>
        <p:txBody>
          <a:bodyPr wrap="none" lIns="0" tIns="0" rIns="0" bIns="0" rtlCol="0" anchor="t"/>
          <a:lstStyle/>
          <a:p>
            <a:pPr algn="l" indent="0" marL="0">
              <a:lnSpc>
                <a:spcPts val="928"/>
              </a:lnSpc>
              <a:buNone/>
            </a:pPr>
            <a:r>
              <a:rPr lang="en-US" sz="800" spc="37" kern="0" dirty="0">
                <a:solidFill>
                  <a:srgbClr val="FF6B6B"/>
                </a:solidFill>
                <a:latin typeface="Courier New" pitchFamily="34" charset="0"/>
                <a:ea typeface="Courier New" pitchFamily="34" charset="-122"/>
                <a:cs typeface="Courier New" pitchFamily="34" charset="-120"/>
              </a:rPr>
              <a:t>Thread H</a:t>
            </a:r>
            <a:endParaRPr lang="en-US" sz="800" dirty="0"/>
          </a:p>
        </p:txBody>
      </p:sp>
      <p:sp>
        <p:nvSpPr>
          <p:cNvPr id="68" name="Text 66"/>
          <p:cNvSpPr/>
          <p:nvPr/>
        </p:nvSpPr>
        <p:spPr>
          <a:xfrm>
            <a:off x="8022543" y="2875917"/>
            <a:ext cx="557101" cy="164592"/>
          </a:xfrm>
          <a:prstGeom prst="rect">
            <a:avLst/>
          </a:prstGeom>
          <a:noFill/>
          <a:ln/>
        </p:spPr>
        <p:txBody>
          <a:bodyPr wrap="square" lIns="0" tIns="0" rIns="0" bIns="0" rtlCol="0" anchor="t"/>
          <a:lstStyle/>
          <a:p>
            <a:pPr algn="l" indent="0" marL="0">
              <a:lnSpc>
                <a:spcPts val="759"/>
              </a:lnSpc>
              <a:buNone/>
            </a:pPr>
            <a:r>
              <a:rPr lang="en-US" sz="800" spc="61" kern="0" dirty="0">
                <a:solidFill>
                  <a:srgbClr val="6B7280"/>
                </a:solidFill>
                <a:latin typeface="Liberation Sans Narrow" pitchFamily="34" charset="0"/>
                <a:ea typeface="Liberation Sans Narrow" pitchFamily="34" charset="-122"/>
                <a:cs typeface="Liberation Sans Narrow" pitchFamily="34" charset="-120"/>
              </a:rPr>
              <a:t>FALSIFIES Q2</a:t>
            </a:r>
            <a:endParaRPr lang="en-US" sz="800" dirty="0"/>
          </a:p>
        </p:txBody>
      </p:sp>
      <p:sp>
        <p:nvSpPr>
          <p:cNvPr id="69" name="Text 67"/>
          <p:cNvSpPr/>
          <p:nvPr/>
        </p:nvSpPr>
        <p:spPr>
          <a:xfrm>
            <a:off x="4779169" y="3004505"/>
            <a:ext cx="3800475" cy="119993"/>
          </a:xfrm>
          <a:prstGeom prst="rect">
            <a:avLst/>
          </a:prstGeom>
          <a:noFill/>
          <a:ln/>
        </p:spPr>
        <p:txBody>
          <a:bodyPr wrap="square" lIns="0" tIns="0" rIns="0" bIns="0" rtlCol="0" anchor="t"/>
          <a:lstStyle/>
          <a:p>
            <a:pPr algn="l" indent="0" marL="0">
              <a:lnSpc>
                <a:spcPts val="945"/>
              </a:lnSpc>
              <a:buNone/>
            </a:pPr>
            <a:r>
              <a:rPr lang="en-US" sz="800" dirty="0">
                <a:solidFill>
                  <a:srgbClr val="B5BAC4"/>
                </a:solidFill>
                <a:latin typeface="Carlito" pitchFamily="34" charset="0"/>
                <a:ea typeface="Carlito" pitchFamily="34" charset="-122"/>
                <a:cs typeface="Carlito" pitchFamily="34" charset="-120"/>
              </a:rPr>
              <a:t>Qualified self-dual test on [16,8] — 80 random codes + E8+E8.</a:t>
            </a:r>
            <a:endParaRPr lang="en-US" sz="800" dirty="0"/>
          </a:p>
        </p:txBody>
      </p:sp>
      <p:sp>
        <p:nvSpPr>
          <p:cNvPr id="70" name="Text 68"/>
          <p:cNvSpPr/>
          <p:nvPr/>
        </p:nvSpPr>
        <p:spPr>
          <a:xfrm>
            <a:off x="4657725" y="3245941"/>
            <a:ext cx="4029075" cy="402171"/>
          </a:xfrm>
          <a:prstGeom prst="roundRect">
            <a:avLst>
              <a:gd name="adj" fmla="val 9474"/>
            </a:avLst>
          </a:prstGeom>
          <a:solidFill>
            <a:srgbClr val="1F2630"/>
          </a:solidFill>
          <a:ln/>
        </p:spPr>
        <p:txBody>
          <a:bodyPr wrap="square" rtlCol="0" anchor="ctr"/>
          <a:lstStyle/>
          <a:p>
            <a:pPr indent="0" marL="0">
              <a:buNone/>
            </a:pPr>
            <a:endParaRPr lang="en-US" dirty="0"/>
          </a:p>
        </p:txBody>
      </p:sp>
      <p:sp>
        <p:nvSpPr>
          <p:cNvPr id="71" name="Shape 69"/>
          <p:cNvSpPr/>
          <p:nvPr/>
        </p:nvSpPr>
        <p:spPr>
          <a:xfrm>
            <a:off x="4657725" y="3249513"/>
            <a:ext cx="4029075" cy="0"/>
          </a:xfrm>
          <a:prstGeom prst="line">
            <a:avLst/>
          </a:prstGeom>
          <a:noFill/>
          <a:ln w="7144">
            <a:solidFill>
              <a:srgbClr val="2A3038"/>
            </a:solidFill>
            <a:prstDash val="solid"/>
          </a:ln>
        </p:spPr>
      </p:sp>
      <p:sp>
        <p:nvSpPr>
          <p:cNvPr id="72" name="Shape 70"/>
          <p:cNvSpPr/>
          <p:nvPr/>
        </p:nvSpPr>
        <p:spPr>
          <a:xfrm>
            <a:off x="8683228" y="3245941"/>
            <a:ext cx="0" cy="402171"/>
          </a:xfrm>
          <a:prstGeom prst="line">
            <a:avLst/>
          </a:prstGeom>
          <a:noFill/>
          <a:ln w="7144">
            <a:solidFill>
              <a:srgbClr val="2A3038"/>
            </a:solidFill>
            <a:prstDash val="solid"/>
          </a:ln>
        </p:spPr>
      </p:sp>
      <p:sp>
        <p:nvSpPr>
          <p:cNvPr id="73" name="Shape 71"/>
          <p:cNvSpPr/>
          <p:nvPr/>
        </p:nvSpPr>
        <p:spPr>
          <a:xfrm>
            <a:off x="4657725" y="3644540"/>
            <a:ext cx="4029075" cy="0"/>
          </a:xfrm>
          <a:prstGeom prst="line">
            <a:avLst/>
          </a:prstGeom>
          <a:noFill/>
          <a:ln w="7144">
            <a:solidFill>
              <a:srgbClr val="2A3038"/>
            </a:solidFill>
            <a:prstDash val="solid"/>
          </a:ln>
        </p:spPr>
      </p:sp>
      <p:sp>
        <p:nvSpPr>
          <p:cNvPr id="74" name="Shape 72"/>
          <p:cNvSpPr/>
          <p:nvPr/>
        </p:nvSpPr>
        <p:spPr>
          <a:xfrm>
            <a:off x="4668441" y="3245941"/>
            <a:ext cx="0" cy="402171"/>
          </a:xfrm>
          <a:prstGeom prst="line">
            <a:avLst/>
          </a:prstGeom>
          <a:noFill/>
          <a:ln w="21431">
            <a:solidFill>
              <a:srgbClr val="B097FF"/>
            </a:solidFill>
            <a:prstDash val="solid"/>
          </a:ln>
        </p:spPr>
      </p:sp>
      <p:sp>
        <p:nvSpPr>
          <p:cNvPr id="75" name="Text 73"/>
          <p:cNvSpPr/>
          <p:nvPr/>
        </p:nvSpPr>
        <p:spPr>
          <a:xfrm>
            <a:off x="4779169" y="3317379"/>
            <a:ext cx="3136218" cy="164592"/>
          </a:xfrm>
          <a:prstGeom prst="rect">
            <a:avLst/>
          </a:prstGeom>
          <a:noFill/>
          <a:ln/>
        </p:spPr>
        <p:txBody>
          <a:bodyPr wrap="none" lIns="0" tIns="0" rIns="0" bIns="0" rtlCol="0" anchor="t"/>
          <a:lstStyle/>
          <a:p>
            <a:pPr algn="l" indent="0" marL="0">
              <a:lnSpc>
                <a:spcPts val="928"/>
              </a:lnSpc>
              <a:buNone/>
            </a:pPr>
            <a:r>
              <a:rPr lang="en-US" sz="800" spc="37" kern="0" dirty="0">
                <a:solidFill>
                  <a:srgbClr val="B097FF"/>
                </a:solidFill>
                <a:latin typeface="Courier New" pitchFamily="34" charset="0"/>
                <a:ea typeface="Courier New" pitchFamily="34" charset="-122"/>
                <a:cs typeface="Courier New" pitchFamily="34" charset="-120"/>
              </a:rPr>
              <a:t>Thread I</a:t>
            </a:r>
            <a:endParaRPr lang="en-US" sz="800" dirty="0"/>
          </a:p>
        </p:txBody>
      </p:sp>
      <p:sp>
        <p:nvSpPr>
          <p:cNvPr id="76" name="Text 74"/>
          <p:cNvSpPr/>
          <p:nvPr/>
        </p:nvSpPr>
        <p:spPr>
          <a:xfrm>
            <a:off x="7929674" y="3328095"/>
            <a:ext cx="649970" cy="164592"/>
          </a:xfrm>
          <a:prstGeom prst="rect">
            <a:avLst/>
          </a:prstGeom>
          <a:noFill/>
          <a:ln/>
        </p:spPr>
        <p:txBody>
          <a:bodyPr wrap="square" lIns="0" tIns="0" rIns="0" bIns="0" rtlCol="0" anchor="t"/>
          <a:lstStyle/>
          <a:p>
            <a:pPr algn="l" indent="0" marL="0">
              <a:lnSpc>
                <a:spcPts val="759"/>
              </a:lnSpc>
              <a:buNone/>
            </a:pPr>
            <a:r>
              <a:rPr lang="en-US" sz="800" spc="61" kern="0" dirty="0">
                <a:solidFill>
                  <a:srgbClr val="6B7280"/>
                </a:solidFill>
                <a:latin typeface="Liberation Sans Narrow" pitchFamily="34" charset="0"/>
                <a:ea typeface="Liberation Sans Narrow" pitchFamily="34" charset="-122"/>
                <a:cs typeface="Liberation Sans Narrow" pitchFamily="34" charset="-120"/>
              </a:rPr>
              <a:t>ARTICULATES Q3</a:t>
            </a:r>
            <a:endParaRPr lang="en-US" sz="800" dirty="0"/>
          </a:p>
        </p:txBody>
      </p:sp>
      <p:sp>
        <p:nvSpPr>
          <p:cNvPr id="77" name="Text 75"/>
          <p:cNvSpPr/>
          <p:nvPr/>
        </p:nvSpPr>
        <p:spPr>
          <a:xfrm>
            <a:off x="4779169" y="3456682"/>
            <a:ext cx="3800475" cy="119993"/>
          </a:xfrm>
          <a:prstGeom prst="rect">
            <a:avLst/>
          </a:prstGeom>
          <a:noFill/>
          <a:ln/>
        </p:spPr>
        <p:txBody>
          <a:bodyPr wrap="square" lIns="0" tIns="0" rIns="0" bIns="0" rtlCol="0" anchor="t"/>
          <a:lstStyle/>
          <a:p>
            <a:pPr algn="l" indent="0" marL="0">
              <a:lnSpc>
                <a:spcPts val="945"/>
              </a:lnSpc>
              <a:buNone/>
            </a:pPr>
            <a:r>
              <a:rPr lang="en-US" sz="800" dirty="0">
                <a:solidFill>
                  <a:srgbClr val="B5BAC4"/>
                </a:solidFill>
                <a:latin typeface="Carlito" pitchFamily="34" charset="0"/>
                <a:ea typeface="Carlito" pitchFamily="34" charset="-122"/>
                <a:cs typeface="Carlito" pitchFamily="34" charset="-120"/>
              </a:rPr>
              <a:t>Speculative argument for n=24 via lattice theory.</a:t>
            </a:r>
            <a:endParaRPr lang="en-US" sz="800" dirty="0"/>
          </a:p>
        </p:txBody>
      </p:sp>
      <p:sp>
        <p:nvSpPr>
          <p:cNvPr id="78" name="Text 76"/>
          <p:cNvSpPr/>
          <p:nvPr/>
        </p:nvSpPr>
        <p:spPr>
          <a:xfrm>
            <a:off x="457200" y="4893469"/>
            <a:ext cx="4417182"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Liberation Sans Narrow" pitchFamily="34" charset="0"/>
                <a:ea typeface="Liberation Sans Narrow" pitchFamily="34" charset="-122"/>
                <a:cs typeface="Liberation Sans Narrow" pitchFamily="34" charset="-120"/>
              </a:rPr>
              <a:t>UBP_STUDY_EXTREMAL_004</a:t>
            </a:r>
            <a:endParaRPr lang="en-US" sz="800" dirty="0"/>
          </a:p>
        </p:txBody>
      </p:sp>
      <p:sp>
        <p:nvSpPr>
          <p:cNvPr id="79" name="Text 77"/>
          <p:cNvSpPr/>
          <p:nvPr/>
        </p:nvSpPr>
        <p:spPr>
          <a:xfrm>
            <a:off x="4888669" y="4893469"/>
            <a:ext cx="3588841"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RECAP</a:t>
            </a:r>
            <a:endParaRPr lang="en-US" sz="800" dirty="0"/>
          </a:p>
        </p:txBody>
      </p:sp>
      <p:sp>
        <p:nvSpPr>
          <p:cNvPr id="80" name="Text 78"/>
          <p:cNvSpPr/>
          <p:nvPr/>
        </p:nvSpPr>
        <p:spPr>
          <a:xfrm>
            <a:off x="8491798" y="4893469"/>
            <a:ext cx="312003"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Liberation Sans Narrow" pitchFamily="34" charset="0"/>
                <a:ea typeface="Liberation Sans Narrow" pitchFamily="34" charset="-122"/>
                <a:cs typeface="Liberation Sans Narrow" pitchFamily="34" charset="-120"/>
              </a:rPr>
              <a:t>p.02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4100513" cy="107156"/>
          </a:xfrm>
          <a:prstGeom prst="rect">
            <a:avLst/>
          </a:prstGeom>
          <a:noFill/>
          <a:ln/>
        </p:spPr>
        <p:txBody>
          <a:bodyPr wrap="non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SECTION 01 / 05</a:t>
            </a:r>
            <a:endParaRPr lang="en-US" sz="800" dirty="0"/>
          </a:p>
        </p:txBody>
      </p:sp>
      <p:sp>
        <p:nvSpPr>
          <p:cNvPr id="4" name="Text 2"/>
          <p:cNvSpPr/>
          <p:nvPr/>
        </p:nvSpPr>
        <p:spPr>
          <a:xfrm>
            <a:off x="4572000" y="342900"/>
            <a:ext cx="3739418" cy="107156"/>
          </a:xfrm>
          <a:prstGeom prst="rect">
            <a:avLst/>
          </a:prstGeom>
          <a:noFill/>
          <a:ln/>
        </p:spPr>
        <p:txBody>
          <a:bodyPr wrap="non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THREAD E</a:t>
            </a:r>
            <a:endParaRPr lang="en-US" sz="800" dirty="0"/>
          </a:p>
        </p:txBody>
      </p:sp>
      <p:sp>
        <p:nvSpPr>
          <p:cNvPr id="5" name="Text 3"/>
          <p:cNvSpPr/>
          <p:nvPr/>
        </p:nvSpPr>
        <p:spPr>
          <a:xfrm>
            <a:off x="8325706" y="342900"/>
            <a:ext cx="361094" cy="107156"/>
          </a:xfrm>
          <a:prstGeom prst="rect">
            <a:avLst/>
          </a:prstGeom>
          <a:noFill/>
          <a:ln/>
        </p:spPr>
        <p:txBody>
          <a:bodyPr wrap="non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03 / 16</a:t>
            </a:r>
            <a:endParaRPr lang="en-US" sz="800" dirty="0"/>
          </a:p>
        </p:txBody>
      </p:sp>
      <p:sp>
        <p:nvSpPr>
          <p:cNvPr id="6" name="Text 4"/>
          <p:cNvSpPr/>
          <p:nvPr/>
        </p:nvSpPr>
        <p:spPr>
          <a:xfrm>
            <a:off x="7863594" y="500063"/>
            <a:ext cx="42863" cy="42863"/>
          </a:xfrm>
          <a:prstGeom prst="roundRect">
            <a:avLst>
              <a:gd name="adj" fmla="val 66666"/>
            </a:avLst>
          </a:prstGeom>
          <a:solidFill>
            <a:srgbClr val="6FE3D2"/>
          </a:solidFill>
          <a:ln/>
        </p:spPr>
        <p:txBody>
          <a:bodyPr wrap="square" rtlCol="0" anchor="ctr"/>
          <a:lstStyle/>
          <a:p>
            <a:pPr indent="0" marL="0">
              <a:buNone/>
            </a:pPr>
            <a:endParaRPr lang="en-US" dirty="0"/>
          </a:p>
        </p:txBody>
      </p:sp>
      <p:sp>
        <p:nvSpPr>
          <p:cNvPr id="7" name="Text 5"/>
          <p:cNvSpPr/>
          <p:nvPr/>
        </p:nvSpPr>
        <p:spPr>
          <a:xfrm>
            <a:off x="7478015" y="457200"/>
            <a:ext cx="1208785" cy="126828"/>
          </a:xfrm>
          <a:prstGeom prst="rect">
            <a:avLst/>
          </a:prstGeom>
          <a:noFill/>
          <a:ln/>
        </p:spPr>
        <p:txBody>
          <a:bodyPr wrap="none" lIns="0" tIns="0" rIns="0" bIns="0" rtlCol="0" anchor="t">
            <a:normAutofit/>
          </a:bodyPr>
          <a:lstStyle/>
          <a:p>
            <a:pPr algn="r" indent="0" marL="0">
              <a:lnSpc>
                <a:spcPts val="990"/>
              </a:lnSpc>
              <a:buNone/>
            </a:pPr>
            <a:r>
              <a:rPr lang="en-US" sz="800" spc="111" kern="0" dirty="0">
                <a:solidFill>
                  <a:srgbClr val="6B7280"/>
                </a:solidFill>
                <a:latin typeface="Courier New" pitchFamily="34" charset="0"/>
                <a:ea typeface="Courier New" pitchFamily="34" charset="-122"/>
                <a:cs typeface="Courier New" pitchFamily="34" charset="-120"/>
              </a:rPr>
              <a:t>VACUUM BASIN</a:t>
            </a:r>
            <a:endParaRPr lang="en-US" sz="800" dirty="0"/>
          </a:p>
        </p:txBody>
      </p:sp>
      <p:sp>
        <p:nvSpPr>
          <p:cNvPr id="8" name="Text 6"/>
          <p:cNvSpPr/>
          <p:nvPr/>
        </p:nvSpPr>
        <p:spPr>
          <a:xfrm>
            <a:off x="7478015" y="611460"/>
            <a:ext cx="1208785" cy="175502"/>
          </a:xfrm>
          <a:prstGeom prst="rect">
            <a:avLst/>
          </a:prstGeom>
          <a:noFill/>
          <a:ln/>
        </p:spPr>
        <p:txBody>
          <a:bodyPr wrap="none" lIns="0" tIns="0" rIns="0" bIns="0" rtlCol="0" anchor="t"/>
          <a:lstStyle/>
          <a:p>
            <a:pPr algn="r" indent="0" marL="0">
              <a:lnSpc>
                <a:spcPts val="990"/>
              </a:lnSpc>
              <a:buNone/>
            </a:pPr>
            <a:r>
              <a:rPr lang="en-US" sz="800" spc="111" kern="0" dirty="0">
                <a:solidFill>
                  <a:srgbClr val="6B7280"/>
                </a:solidFill>
                <a:latin typeface="Liberation Sans Narrow" pitchFamily="34" charset="0"/>
                <a:ea typeface="Liberation Sans Narrow" pitchFamily="34" charset="-122"/>
                <a:cs typeface="Liberation Sans Narrow" pitchFamily="34" charset="-120"/>
              </a:rPr>
              <a:t>[24,12,8] GOLAY</a:t>
            </a:r>
            <a:endParaRPr lang="en-US" sz="800" dirty="0"/>
          </a:p>
        </p:txBody>
      </p:sp>
      <p:sp>
        <p:nvSpPr>
          <p:cNvPr id="9" name="Text 7"/>
          <p:cNvSpPr/>
          <p:nvPr/>
        </p:nvSpPr>
        <p:spPr>
          <a:xfrm>
            <a:off x="685800" y="1114425"/>
            <a:ext cx="8458200" cy="740664"/>
          </a:xfrm>
          <a:prstGeom prst="rect">
            <a:avLst/>
          </a:prstGeom>
          <a:noFill/>
          <a:ln/>
        </p:spPr>
        <p:txBody>
          <a:bodyPr wrap="none" lIns="0" tIns="0" rIns="0" bIns="0" rtlCol="0" anchor="t"/>
          <a:lstStyle/>
          <a:p>
            <a:pPr algn="l" indent="0" marL="0">
              <a:lnSpc>
                <a:spcPts val="5400"/>
              </a:lnSpc>
              <a:buNone/>
            </a:pPr>
            <a:r>
              <a:rPr lang="en-US" sz="5400" spc="-216" kern="0" dirty="0">
                <a:solidFill>
                  <a:srgbClr val="FFB454"/>
                </a:solidFill>
                <a:latin typeface="Liberation Sans Narrow" pitchFamily="34" charset="0"/>
                <a:ea typeface="Liberation Sans Narrow" pitchFamily="34" charset="-122"/>
                <a:cs typeface="Liberation Sans Narrow" pitchFamily="34" charset="-120"/>
              </a:rPr>
              <a:t>01</a:t>
            </a:r>
            <a:endParaRPr lang="en-US" sz="5400" dirty="0"/>
          </a:p>
        </p:txBody>
      </p:sp>
      <p:sp>
        <p:nvSpPr>
          <p:cNvPr id="10" name="Text 8"/>
          <p:cNvSpPr/>
          <p:nvPr/>
        </p:nvSpPr>
        <p:spPr>
          <a:xfrm>
            <a:off x="685800" y="2019895"/>
            <a:ext cx="457200" cy="21431"/>
          </a:xfrm>
          <a:prstGeom prst="rect">
            <a:avLst/>
          </a:prstGeom>
          <a:solidFill>
            <a:srgbClr val="6FE3D2"/>
          </a:solidFill>
          <a:ln/>
        </p:spPr>
        <p:txBody>
          <a:bodyPr wrap="square" rtlCol="0" anchor="ctr"/>
          <a:lstStyle/>
          <a:p>
            <a:pPr indent="0" marL="0">
              <a:buNone/>
            </a:pPr>
            <a:endParaRPr lang="en-US" dirty="0"/>
          </a:p>
        </p:txBody>
      </p:sp>
      <p:sp>
        <p:nvSpPr>
          <p:cNvPr id="11" name="Text 9"/>
          <p:cNvSpPr/>
          <p:nvPr/>
        </p:nvSpPr>
        <p:spPr>
          <a:xfrm>
            <a:off x="1243013" y="1971675"/>
            <a:ext cx="7443788"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6FE3D2"/>
                </a:solidFill>
                <a:latin typeface="Courier New" pitchFamily="34" charset="0"/>
                <a:ea typeface="Courier New" pitchFamily="34" charset="-122"/>
                <a:cs typeface="Courier New" pitchFamily="34" charset="-120"/>
              </a:rPr>
              <a:t>THREAD E</a:t>
            </a:r>
            <a:endParaRPr lang="en-US" sz="800" dirty="0"/>
          </a:p>
        </p:txBody>
      </p:sp>
      <p:sp>
        <p:nvSpPr>
          <p:cNvPr id="12" name="Text 10"/>
          <p:cNvSpPr/>
          <p:nvPr/>
        </p:nvSpPr>
        <p:spPr>
          <a:xfrm>
            <a:off x="685800" y="2246709"/>
            <a:ext cx="5972175" cy="622042"/>
          </a:xfrm>
          <a:prstGeom prst="rect">
            <a:avLst/>
          </a:prstGeom>
          <a:noFill/>
          <a:ln/>
        </p:spPr>
        <p:txBody>
          <a:bodyPr wrap="none" lIns="0" tIns="0" rIns="0" bIns="0" rtlCol="0" anchor="t"/>
          <a:lstStyle/>
          <a:p>
            <a:pPr algn="l" indent="0" marL="0">
              <a:lnSpc>
                <a:spcPts val="2268"/>
              </a:lnSpc>
              <a:buNone/>
            </a:pPr>
            <a:r>
              <a:rPr lang="en-US" sz="2025" spc="-24" kern="0" dirty="0">
                <a:solidFill>
                  <a:srgbClr val="E6E6E6"/>
                </a:solidFill>
                <a:latin typeface="Carlito" pitchFamily="34" charset="0"/>
                <a:ea typeface="Carlito" pitchFamily="34" charset="-122"/>
                <a:cs typeface="Carlito" pitchFamily="34" charset="-120"/>
              </a:rPr>
              <a:t>Thread E — Vacuum Basin</a:t>
            </a:r>
            <a:endParaRPr lang="en-US" sz="2025" dirty="0"/>
          </a:p>
          <a:p>
            <a:pPr algn="l" indent="0" marL="0">
              <a:lnSpc>
                <a:spcPts val="2268"/>
              </a:lnSpc>
              <a:buNone/>
            </a:pPr>
            <a:r>
              <a:rPr lang="en-US" sz="2025" spc="-24" kern="0" dirty="0">
                <a:solidFill>
                  <a:srgbClr val="E6E6E6"/>
                </a:solidFill>
                <a:latin typeface="Carlito" pitchFamily="34" charset="0"/>
                <a:ea typeface="Carlito" pitchFamily="34" charset="-122"/>
                <a:cs typeface="Carlito" pitchFamily="34" charset="-120"/>
              </a:rPr>
              <a:t>Characterisation</a:t>
            </a:r>
            <a:endParaRPr lang="en-US" sz="2025" dirty="0"/>
          </a:p>
        </p:txBody>
      </p:sp>
      <p:sp>
        <p:nvSpPr>
          <p:cNvPr id="13" name="Text 11"/>
          <p:cNvSpPr/>
          <p:nvPr/>
        </p:nvSpPr>
        <p:spPr>
          <a:xfrm>
            <a:off x="685800" y="2951262"/>
            <a:ext cx="4286250" cy="382628"/>
          </a:xfrm>
          <a:prstGeom prst="rect">
            <a:avLst/>
          </a:prstGeom>
          <a:noFill/>
          <a:ln/>
        </p:spPr>
        <p:txBody>
          <a:bodyPr wrap="square" lIns="0" tIns="0" rIns="0" bIns="0" rtlCol="0" anchor="t"/>
          <a:lstStyle/>
          <a:p>
            <a:pPr algn="l" indent="0" marL="0">
              <a:lnSpc>
                <a:spcPts val="1395"/>
              </a:lnSpc>
              <a:buNone/>
            </a:pPr>
            <a:r>
              <a:rPr lang="en-US" sz="900" dirty="0">
                <a:solidFill>
                  <a:srgbClr val="B5BAC4"/>
                </a:solidFill>
                <a:latin typeface="Carlito" pitchFamily="34" charset="0"/>
                <a:ea typeface="Carlito" pitchFamily="34" charset="-122"/>
                <a:cs typeface="Carlito" pitchFamily="34" charset="-120"/>
              </a:rPr>
              <a:t>EXTREMAL_002 Sec 5.4 left this open. The vacuum basin is the set of 24-bit vectors that decode to the zero codeword. We enumerate it exactly.</a:t>
            </a:r>
            <a:endParaRPr lang="en-US" sz="900" dirty="0"/>
          </a:p>
        </p:txBody>
      </p:sp>
      <p:sp>
        <p:nvSpPr>
          <p:cNvPr id="14" name="Text 12"/>
          <p:cNvSpPr/>
          <p:nvPr/>
        </p:nvSpPr>
        <p:spPr>
          <a:xfrm>
            <a:off x="667476" y="3495714"/>
            <a:ext cx="494740" cy="184023"/>
          </a:xfrm>
          <a:prstGeom prst="roundRect">
            <a:avLst>
              <a:gd name="adj" fmla="val 5170807"/>
            </a:avLst>
          </a:prstGeom>
          <a:solidFill>
            <a:srgbClr val="1F2630"/>
          </a:solidFill>
          <a:ln w="7144">
            <a:solidFill>
              <a:srgbClr val="6FE3D2"/>
            </a:solidFill>
            <a:prstDash val="solid"/>
          </a:ln>
        </p:spPr>
        <p:txBody>
          <a:bodyPr wrap="square" rtlCol="0" anchor="ctr"/>
          <a:lstStyle/>
          <a:p>
            <a:pPr indent="0" marL="0">
              <a:buNone/>
            </a:pPr>
            <a:endParaRPr lang="en-US" dirty="0"/>
          </a:p>
        </p:txBody>
      </p:sp>
      <p:sp>
        <p:nvSpPr>
          <p:cNvPr id="15" name="Text 13"/>
          <p:cNvSpPr/>
          <p:nvPr/>
        </p:nvSpPr>
        <p:spPr>
          <a:xfrm>
            <a:off x="685800" y="3505572"/>
            <a:ext cx="458093"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6FE3D2"/>
                </a:solidFill>
                <a:latin typeface="Courier New" pitchFamily="34" charset="0"/>
                <a:ea typeface="Courier New" pitchFamily="34" charset="-122"/>
                <a:cs typeface="Courier New" pitchFamily="34" charset="-120"/>
              </a:rPr>
              <a:t>CLOSED</a:t>
            </a:r>
            <a:endParaRPr lang="en-US" sz="800" dirty="0"/>
          </a:p>
        </p:txBody>
      </p:sp>
      <p:sp>
        <p:nvSpPr>
          <p:cNvPr id="16" name="Text 14"/>
          <p:cNvSpPr/>
          <p:nvPr/>
        </p:nvSpPr>
        <p:spPr>
          <a:xfrm>
            <a:off x="1221045" y="3495714"/>
            <a:ext cx="1055556" cy="184023"/>
          </a:xfrm>
          <a:prstGeom prst="roundRect">
            <a:avLst>
              <a:gd name="adj" fmla="val 5170807"/>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17" name="Text 15"/>
          <p:cNvSpPr/>
          <p:nvPr/>
        </p:nvSpPr>
        <p:spPr>
          <a:xfrm>
            <a:off x="1243905" y="3505572"/>
            <a:ext cx="1009836"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FFB454"/>
                </a:solidFill>
                <a:latin typeface="Courier New" pitchFamily="34" charset="0"/>
                <a:ea typeface="Courier New" pitchFamily="34" charset="-122"/>
                <a:cs typeface="Courier New" pitchFamily="34" charset="-120"/>
              </a:rPr>
              <a:t>EXACT ENUMERATION</a:t>
            </a:r>
            <a:endParaRPr lang="en-US" sz="800" dirty="0"/>
          </a:p>
        </p:txBody>
      </p:sp>
      <p:sp>
        <p:nvSpPr>
          <p:cNvPr id="18" name="Text 16"/>
          <p:cNvSpPr/>
          <p:nvPr/>
        </p:nvSpPr>
        <p:spPr>
          <a:xfrm>
            <a:off x="2333421" y="3495714"/>
            <a:ext cx="548988" cy="184023"/>
          </a:xfrm>
          <a:prstGeom prst="roundRect">
            <a:avLst>
              <a:gd name="adj" fmla="val 5170807"/>
            </a:avLst>
          </a:prstGeom>
          <a:solidFill>
            <a:srgbClr val="1F2630"/>
          </a:solidFill>
          <a:ln w="7144">
            <a:solidFill>
              <a:srgbClr val="B097FF"/>
            </a:solidFill>
            <a:prstDash val="solid"/>
          </a:ln>
        </p:spPr>
        <p:txBody>
          <a:bodyPr wrap="square" rtlCol="0" anchor="ctr"/>
          <a:lstStyle/>
          <a:p>
            <a:pPr indent="0" marL="0">
              <a:buNone/>
            </a:pPr>
            <a:endParaRPr lang="en-US" dirty="0"/>
          </a:p>
        </p:txBody>
      </p:sp>
      <p:sp>
        <p:nvSpPr>
          <p:cNvPr id="19" name="Text 17"/>
          <p:cNvSpPr/>
          <p:nvPr/>
        </p:nvSpPr>
        <p:spPr>
          <a:xfrm>
            <a:off x="2353754" y="3505572"/>
            <a:ext cx="508322"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B097FF"/>
                </a:solidFill>
                <a:latin typeface="Liberation Sans Narrow" pitchFamily="34" charset="0"/>
                <a:ea typeface="Liberation Sans Narrow" pitchFamily="34" charset="-122"/>
                <a:cs typeface="Liberation Sans Narrow" pitchFamily="34" charset="-120"/>
              </a:rPr>
              <a:t>OPEN Q4</a:t>
            </a:r>
            <a:endParaRPr lang="en-US" sz="800" dirty="0"/>
          </a:p>
        </p:txBody>
      </p:sp>
      <p:sp>
        <p:nvSpPr>
          <p:cNvPr id="20" name="Text 18"/>
          <p:cNvSpPr/>
          <p:nvPr/>
        </p:nvSpPr>
        <p:spPr>
          <a:xfrm>
            <a:off x="457200" y="4893469"/>
            <a:ext cx="4027401"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Liberation Sans Narrow" pitchFamily="34" charset="0"/>
                <a:ea typeface="Liberation Sans Narrow" pitchFamily="34" charset="-122"/>
                <a:cs typeface="Liberation Sans Narrow" pitchFamily="34" charset="-120"/>
              </a:rPr>
              <a:t>UBP_STUDY_EXTREMAL_004</a:t>
            </a:r>
            <a:endParaRPr lang="en-US" sz="800" dirty="0"/>
          </a:p>
        </p:txBody>
      </p:sp>
      <p:sp>
        <p:nvSpPr>
          <p:cNvPr id="21" name="Text 19"/>
          <p:cNvSpPr/>
          <p:nvPr/>
        </p:nvSpPr>
        <p:spPr>
          <a:xfrm>
            <a:off x="4498888" y="4893469"/>
            <a:ext cx="3978622" cy="164592"/>
          </a:xfrm>
          <a:prstGeom prst="rect">
            <a:avLst/>
          </a:prstGeom>
          <a:noFill/>
          <a:ln/>
        </p:spPr>
        <p:txBody>
          <a:bodyPr wrap="none" lIns="0" tIns="0" rIns="0" bIns="0" rtlCol="0" anchor="t"/>
          <a:lstStyle/>
          <a:p>
            <a:pPr algn="l" indent="0" marL="0">
              <a:lnSpc>
                <a:spcPts val="844"/>
              </a:lnSpc>
              <a:buNone/>
            </a:pPr>
            <a:r>
              <a:rPr lang="en-US" sz="800" spc="45" kern="0" dirty="0">
                <a:solidFill>
                  <a:srgbClr val="6B7280"/>
                </a:solidFill>
                <a:latin typeface="Liberation Sans Narrow" pitchFamily="34" charset="0"/>
                <a:ea typeface="Liberation Sans Narrow" pitchFamily="34" charset="-122"/>
                <a:cs typeface="Liberation Sans Narrow" pitchFamily="34" charset="-120"/>
              </a:rPr>
              <a:t>SECTION 01 · THREAD E</a:t>
            </a:r>
            <a:endParaRPr lang="en-US" sz="800" dirty="0"/>
          </a:p>
        </p:txBody>
      </p:sp>
      <p:sp>
        <p:nvSpPr>
          <p:cNvPr id="22" name="Text 20"/>
          <p:cNvSpPr/>
          <p:nvPr/>
        </p:nvSpPr>
        <p:spPr>
          <a:xfrm>
            <a:off x="8491798" y="4893469"/>
            <a:ext cx="312003"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Liberation Sans Narrow" pitchFamily="34" charset="0"/>
                <a:ea typeface="Liberation Sans Narrow" pitchFamily="34" charset="-122"/>
                <a:cs typeface="Liberation Sans Narrow" pitchFamily="34" charset="-120"/>
              </a:rPr>
              <a:t>p.03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3533142" cy="107156"/>
          </a:xfrm>
          <a:prstGeom prst="rect">
            <a:avLst/>
          </a:prstGeom>
          <a:noFill/>
          <a:ln/>
        </p:spPr>
        <p:txBody>
          <a:bodyPr wrap="non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THREAD E</a:t>
            </a:r>
            <a:endParaRPr lang="en-US" sz="800" dirty="0"/>
          </a:p>
        </p:txBody>
      </p:sp>
      <p:sp>
        <p:nvSpPr>
          <p:cNvPr id="4" name="Text 2"/>
          <p:cNvSpPr/>
          <p:nvPr/>
        </p:nvSpPr>
        <p:spPr>
          <a:xfrm>
            <a:off x="4004630" y="342900"/>
            <a:ext cx="4306788"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EXACT BASIN ENUMERATION</a:t>
            </a:r>
            <a:endParaRPr lang="en-US" sz="800" dirty="0"/>
          </a:p>
        </p:txBody>
      </p:sp>
      <p:sp>
        <p:nvSpPr>
          <p:cNvPr id="5" name="Text 3"/>
          <p:cNvSpPr/>
          <p:nvPr/>
        </p:nvSpPr>
        <p:spPr>
          <a:xfrm>
            <a:off x="8325706" y="342900"/>
            <a:ext cx="361094" cy="107156"/>
          </a:xfrm>
          <a:prstGeom prst="rect">
            <a:avLst/>
          </a:prstGeom>
          <a:noFill/>
          <a:ln/>
        </p:spPr>
        <p:txBody>
          <a:bodyPr wrap="non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04 / 16</a:t>
            </a:r>
            <a:endParaRPr lang="en-US" sz="800" dirty="0"/>
          </a:p>
        </p:txBody>
      </p:sp>
      <p:sp>
        <p:nvSpPr>
          <p:cNvPr id="6" name="Text 4"/>
          <p:cNvSpPr/>
          <p:nvPr/>
        </p:nvSpPr>
        <p:spPr>
          <a:xfrm>
            <a:off x="460772" y="689372"/>
            <a:ext cx="4836319" cy="3993356"/>
          </a:xfrm>
          <a:prstGeom prst="roundRect">
            <a:avLst>
              <a:gd name="adj" fmla="val 1431"/>
            </a:avLst>
          </a:prstGeom>
          <a:solidFill>
            <a:srgbClr val="1F2630"/>
          </a:solidFill>
          <a:ln w="7144">
            <a:solidFill>
              <a:srgbClr val="2A3038"/>
            </a:solidFill>
            <a:prstDash val="solid"/>
          </a:ln>
        </p:spPr>
        <p:txBody>
          <a:bodyPr wrap="square" rtlCol="0" anchor="ctr"/>
          <a:lstStyle/>
          <a:p>
            <a:pPr indent="0" marL="0">
              <a:buNone/>
            </a:pPr>
            <a:endParaRPr lang="en-US" dirty="0"/>
          </a:p>
        </p:txBody>
      </p:sp>
      <p:sp>
        <p:nvSpPr>
          <p:cNvPr id="7" name="Text 5"/>
          <p:cNvSpPr/>
          <p:nvPr/>
        </p:nvSpPr>
        <p:spPr>
          <a:xfrm>
            <a:off x="692944" y="807244"/>
            <a:ext cx="3724126" cy="120701"/>
          </a:xfrm>
          <a:prstGeom prst="rect">
            <a:avLst/>
          </a:prstGeom>
          <a:noFill/>
          <a:ln/>
        </p:spPr>
        <p:txBody>
          <a:bodyPr wrap="square" lIns="0" tIns="0" rIns="0" bIns="0" rtlCol="0" anchor="t"/>
          <a:lstStyle/>
          <a:p>
            <a:pPr algn="l" indent="0" marL="0">
              <a:lnSpc>
                <a:spcPts val="844"/>
              </a:lnSpc>
              <a:buNone/>
            </a:pPr>
            <a:r>
              <a:rPr lang="en-US" sz="800" spc="90" kern="0" dirty="0">
                <a:solidFill>
                  <a:srgbClr val="6B7280"/>
                </a:solidFill>
                <a:latin typeface="Courier New" pitchFamily="34" charset="0"/>
                <a:ea typeface="Courier New" pitchFamily="34" charset="-122"/>
                <a:cs typeface="Courier New" pitchFamily="34" charset="-120"/>
              </a:rPr>
              <a:t>FIG 6 · VACUUM BASIN BY HAMMING WEIGHT</a:t>
            </a:r>
            <a:endParaRPr lang="en-US" sz="800" dirty="0"/>
          </a:p>
        </p:txBody>
      </p:sp>
      <p:sp>
        <p:nvSpPr>
          <p:cNvPr id="8" name="Text 6"/>
          <p:cNvSpPr/>
          <p:nvPr/>
        </p:nvSpPr>
        <p:spPr>
          <a:xfrm>
            <a:off x="564356" y="803672"/>
            <a:ext cx="91440" cy="91440"/>
          </a:xfrm>
          <a:prstGeom prst="rect">
            <a:avLst/>
          </a:prstGeom>
          <a:noFill/>
          <a:ln/>
        </p:spPr>
        <p:txBody>
          <a:bodyPr wrap="none" lIns="0" tIns="0" rIns="0" bIns="0" rtlCol="0" anchor="ctr"/>
          <a:lstStyle/>
          <a:p>
            <a:pPr algn="ctr" indent="0" marL="0">
              <a:buNone/>
            </a:pPr>
            <a:r>
              <a:rPr lang="en-US" sz="844" dirty="0">
                <a:solidFill>
                  <a:srgbClr val="6FE3D2"/>
                </a:solidFill>
                <a:latin typeface="Segoe UI Symbol" pitchFamily="34" charset="0"/>
                <a:ea typeface="Segoe UI Symbol" pitchFamily="34" charset="-122"/>
                <a:cs typeface="Segoe UI Symbol" pitchFamily="34" charset="-120"/>
              </a:rPr>
              <a:t>✦</a:t>
            </a:r>
            <a:endParaRPr lang="en-US" sz="844" dirty="0"/>
          </a:p>
        </p:txBody>
      </p:sp>
      <p:sp>
        <p:nvSpPr>
          <p:cNvPr id="9" name="Text 7"/>
          <p:cNvSpPr/>
          <p:nvPr/>
        </p:nvSpPr>
        <p:spPr>
          <a:xfrm>
            <a:off x="4431357" y="792956"/>
            <a:ext cx="762149" cy="164592"/>
          </a:xfrm>
          <a:prstGeom prst="rect">
            <a:avLst/>
          </a:prstGeom>
          <a:noFill/>
          <a:ln/>
        </p:spPr>
        <p:txBody>
          <a:bodyPr wrap="none" lIns="0" tIns="0" rIns="0" bIns="0" rtlCol="0" anchor="t"/>
          <a:lstStyle/>
          <a:p>
            <a:pPr algn="l" indent="0" marL="0">
              <a:lnSpc>
                <a:spcPts val="844"/>
              </a:lnSpc>
              <a:buNone/>
            </a:pPr>
            <a:r>
              <a:rPr lang="en-US" sz="800" spc="90" kern="0" dirty="0">
                <a:solidFill>
                  <a:srgbClr val="6B7280"/>
                </a:solidFill>
                <a:latin typeface="Liberation Sans Narrow" pitchFamily="34" charset="0"/>
                <a:ea typeface="Liberation Sans Narrow" pitchFamily="34" charset="-122"/>
                <a:cs typeface="Liberation Sans Narrow" pitchFamily="34" charset="-120"/>
              </a:rPr>
              <a:t>F_2^24 / 16.7M</a:t>
            </a:r>
            <a:endParaRPr lang="en-US" sz="800" dirty="0"/>
          </a:p>
        </p:txBody>
      </p:sp>
      <p:pic>
        <p:nvPicPr>
          <p:cNvPr id="10" name="Image 0" descr="/tmp/h2p-fit-1782288487124-dvq2f5.png">    </p:cNvPr>
          <p:cNvPicPr>
            <a:picLocks noChangeAspect="1"/>
          </p:cNvPicPr>
          <p:nvPr/>
        </p:nvPicPr>
        <p:blipFill>
          <a:blip r:embed="rId1"/>
          <a:stretch>
            <a:fillRect/>
          </a:stretch>
        </p:blipFill>
        <p:spPr>
          <a:xfrm>
            <a:off x="564356" y="971550"/>
            <a:ext cx="4629150" cy="3454003"/>
          </a:xfrm>
          <a:prstGeom prst="rect">
            <a:avLst/>
          </a:prstGeom>
        </p:spPr>
      </p:pic>
      <p:sp>
        <p:nvSpPr>
          <p:cNvPr id="11" name="Text 8"/>
          <p:cNvSpPr/>
          <p:nvPr/>
        </p:nvSpPr>
        <p:spPr>
          <a:xfrm>
            <a:off x="564356" y="4482703"/>
            <a:ext cx="4629150" cy="96441"/>
          </a:xfrm>
          <a:prstGeom prst="rect">
            <a:avLst/>
          </a:prstGeom>
          <a:noFill/>
          <a:ln/>
        </p:spPr>
        <p:txBody>
          <a:bodyPr wrap="square" lIns="0" tIns="0" rIns="0" bIns="0" rtlCol="0" anchor="t"/>
          <a:lstStyle/>
          <a:p>
            <a:pPr algn="r" indent="0" marL="0">
              <a:lnSpc>
                <a:spcPts val="759"/>
              </a:lnSpc>
              <a:buNone/>
            </a:pPr>
            <a:r>
              <a:rPr lang="en-US" sz="800" spc="71" kern="0" dirty="0">
                <a:solidFill>
                  <a:srgbClr val="6B7280"/>
                </a:solidFill>
                <a:latin typeface="Courier New" pitchFamily="34" charset="0"/>
                <a:ea typeface="Courier New" pitchFamily="34" charset="-122"/>
                <a:cs typeface="Courier New" pitchFamily="34" charset="-120"/>
              </a:rPr>
              <a:t>SOURCE: UBP_STUDY_EXTREMAL_004 / TH_E / ENUMERATION.PY</a:t>
            </a:r>
            <a:endParaRPr lang="en-US" sz="800" dirty="0"/>
          </a:p>
        </p:txBody>
      </p:sp>
      <p:sp>
        <p:nvSpPr>
          <p:cNvPr id="12" name="Text 9"/>
          <p:cNvSpPr/>
          <p:nvPr/>
        </p:nvSpPr>
        <p:spPr>
          <a:xfrm>
            <a:off x="5457825" y="685800"/>
            <a:ext cx="342900" cy="21431"/>
          </a:xfrm>
          <a:prstGeom prst="rect">
            <a:avLst/>
          </a:prstGeom>
          <a:solidFill>
            <a:srgbClr val="6FE3D2"/>
          </a:solidFill>
          <a:ln/>
        </p:spPr>
        <p:txBody>
          <a:bodyPr wrap="square" rtlCol="0" anchor="ctr"/>
          <a:lstStyle/>
          <a:p>
            <a:pPr indent="0" marL="0">
              <a:buNone/>
            </a:pPr>
            <a:endParaRPr lang="en-US" dirty="0"/>
          </a:p>
        </p:txBody>
      </p:sp>
      <p:sp>
        <p:nvSpPr>
          <p:cNvPr id="13" name="Text 10"/>
          <p:cNvSpPr/>
          <p:nvPr/>
        </p:nvSpPr>
        <p:spPr>
          <a:xfrm>
            <a:off x="5457825" y="821531"/>
            <a:ext cx="3487293" cy="203610"/>
          </a:xfrm>
          <a:prstGeom prst="rect">
            <a:avLst/>
          </a:prstGeom>
          <a:noFill/>
          <a:ln/>
        </p:spPr>
        <p:txBody>
          <a:bodyPr wrap="square" lIns="0" tIns="0" rIns="0" bIns="0" rtlCol="0" anchor="t"/>
          <a:lstStyle/>
          <a:p>
            <a:pPr algn="l" indent="0" marL="0">
              <a:lnSpc>
                <a:spcPts val="1485"/>
              </a:lnSpc>
              <a:buNone/>
            </a:pPr>
            <a:r>
              <a:rPr lang="en-US" sz="1238" spc="-6" kern="0" dirty="0">
                <a:solidFill>
                  <a:srgbClr val="6FE3D2"/>
                </a:solidFill>
                <a:latin typeface="Liberation Sans Narrow" pitchFamily="34" charset="0"/>
                <a:ea typeface="Liberation Sans Narrow" pitchFamily="34" charset="-122"/>
                <a:cs typeface="Liberation Sans Narrow" pitchFamily="34" charset="-120"/>
              </a:rPr>
              <a:t>Basin = 2,325 vectors exactly</a:t>
            </a:r>
            <a:endParaRPr lang="en-US" sz="1238" dirty="0"/>
          </a:p>
        </p:txBody>
      </p:sp>
      <p:sp>
        <p:nvSpPr>
          <p:cNvPr id="14" name="Text 11"/>
          <p:cNvSpPr/>
          <p:nvPr/>
        </p:nvSpPr>
        <p:spPr>
          <a:xfrm>
            <a:off x="5457825" y="1067209"/>
            <a:ext cx="3228975" cy="154734"/>
          </a:xfrm>
          <a:prstGeom prst="rect">
            <a:avLst/>
          </a:prstGeom>
          <a:noFill/>
          <a:ln/>
        </p:spPr>
        <p:txBody>
          <a:bodyPr wrap="square" lIns="0" tIns="0" rIns="0" bIns="0" rtlCol="0" anchor="t">
            <a:normAutofit/>
          </a:bodyPr>
          <a:lstStyle/>
          <a:p>
            <a:pPr algn="l" indent="0" marL="0">
              <a:lnSpc>
                <a:spcPts val="1097"/>
              </a:lnSpc>
              <a:buNone/>
            </a:pPr>
            <a:r>
              <a:rPr lang="en-US" sz="800" dirty="0">
                <a:solidFill>
                  <a:srgbClr val="E6E6E6"/>
                </a:solidFill>
                <a:latin typeface="Carlito" pitchFamily="34" charset="0"/>
                <a:ea typeface="Carlito" pitchFamily="34" charset="-122"/>
                <a:cs typeface="Carlito" pitchFamily="34" charset="-120"/>
              </a:rPr>
              <a:t>Enumerated all </a:t>
            </a:r>
            <a:pPr algn="l" indent="0" marL="0">
              <a:lnSpc>
                <a:spcPts val="1097"/>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11,851</a:t>
            </a:r>
            <a:pPr algn="l" indent="0" marL="0">
              <a:lnSpc>
                <a:spcPts val="1097"/>
              </a:lnSpc>
              <a:buNone/>
            </a:pPr>
            <a:r>
              <a:rPr lang="en-US" sz="800" dirty="0">
                <a:solidFill>
                  <a:srgbClr val="E6E6E6"/>
                </a:solidFill>
                <a:latin typeface="Carlito" pitchFamily="34" charset="0"/>
                <a:ea typeface="Carlito" pitchFamily="34" charset="-122"/>
                <a:cs typeface="Carlito" pitchFamily="34" charset="-120"/>
              </a:rPr>
              <a:t> vectors with HW in </a:t>
            </a:r>
            <a:pPr algn="l" indent="0" marL="0">
              <a:lnSpc>
                <a:spcPts val="1097"/>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{0,1,2,3,4}</a:t>
            </a:r>
            <a:pPr algn="l" indent="0" marL="0">
              <a:lnSpc>
                <a:spcPts val="1097"/>
              </a:lnSpc>
              <a:buNone/>
            </a:pPr>
            <a:r>
              <a:rPr lang="en-US" sz="800" dirty="0">
                <a:solidFill>
                  <a:srgbClr val="E6E6E6"/>
                </a:solidFill>
                <a:latin typeface="Carlito" pitchFamily="34" charset="0"/>
                <a:ea typeface="Carlito" pitchFamily="34" charset="-122"/>
                <a:cs typeface="Carlito" pitchFamily="34" charset="-120"/>
              </a:rPr>
              <a:t>:</a:t>
            </a:r>
            <a:endParaRPr lang="en-US" sz="800" dirty="0"/>
          </a:p>
        </p:txBody>
      </p:sp>
      <p:sp>
        <p:nvSpPr>
          <p:cNvPr id="15" name="Shape 12"/>
          <p:cNvSpPr/>
          <p:nvPr/>
        </p:nvSpPr>
        <p:spPr>
          <a:xfrm>
            <a:off x="5457825" y="1363675"/>
            <a:ext cx="1363563" cy="0"/>
          </a:xfrm>
          <a:prstGeom prst="line">
            <a:avLst/>
          </a:prstGeom>
          <a:noFill/>
          <a:ln w="7144">
            <a:solidFill>
              <a:srgbClr val="2A3038"/>
            </a:solidFill>
            <a:prstDash val="dash"/>
          </a:ln>
        </p:spPr>
      </p:sp>
      <p:sp>
        <p:nvSpPr>
          <p:cNvPr id="16" name="Text 13"/>
          <p:cNvSpPr/>
          <p:nvPr/>
        </p:nvSpPr>
        <p:spPr>
          <a:xfrm>
            <a:off x="5457825" y="1256519"/>
            <a:ext cx="299109" cy="91440"/>
          </a:xfrm>
          <a:prstGeom prst="rect">
            <a:avLst/>
          </a:prstGeom>
          <a:noFill/>
          <a:ln/>
        </p:spPr>
        <p:txBody>
          <a:bodyPr wrap="square" lIns="0" tIns="0" rIns="0" bIns="0" rtlCol="0" anchor="t"/>
          <a:lstStyle/>
          <a:p>
            <a:pPr algn="l" indent="0" marL="0">
              <a:lnSpc>
                <a:spcPts val="928"/>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HW=0</a:t>
            </a:r>
            <a:endParaRPr lang="en-US" sz="800" dirty="0"/>
          </a:p>
        </p:txBody>
      </p:sp>
      <p:sp>
        <p:nvSpPr>
          <p:cNvPr id="17" name="Text 14"/>
          <p:cNvSpPr/>
          <p:nvPr/>
        </p:nvSpPr>
        <p:spPr>
          <a:xfrm>
            <a:off x="5647134" y="1256519"/>
            <a:ext cx="484489" cy="91440"/>
          </a:xfrm>
          <a:prstGeom prst="rect">
            <a:avLst/>
          </a:prstGeom>
          <a:noFill/>
          <a:ln/>
        </p:spPr>
        <p:txBody>
          <a:bodyPr wrap="none" lIns="0" tIns="0" rIns="0" bIns="0" rtlCol="0" anchor="t"/>
          <a:lstStyle/>
          <a:p>
            <a:pPr algn="l" indent="0" marL="0">
              <a:lnSpc>
                <a:spcPts val="928"/>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1 vector</a:t>
            </a:r>
            <a:endParaRPr lang="en-US" sz="800" dirty="0"/>
          </a:p>
        </p:txBody>
      </p:sp>
      <p:sp>
        <p:nvSpPr>
          <p:cNvPr id="18" name="Text 15"/>
          <p:cNvSpPr/>
          <p:nvPr/>
        </p:nvSpPr>
        <p:spPr>
          <a:xfrm>
            <a:off x="5944258" y="1263662"/>
            <a:ext cx="554546" cy="91440"/>
          </a:xfrm>
          <a:prstGeom prst="rect">
            <a:avLst/>
          </a:prstGeom>
          <a:noFill/>
          <a:ln/>
        </p:spPr>
        <p:txBody>
          <a:bodyPr wrap="square" lIns="0" tIns="0" rIns="0" bIns="0" rtlCol="0" anchor="t"/>
          <a:lstStyle/>
          <a:p>
            <a:pPr algn="r" indent="0" marL="0">
              <a:lnSpc>
                <a:spcPts val="844"/>
              </a:lnSpc>
              <a:buNone/>
            </a:pPr>
            <a:r>
              <a:rPr lang="en-US" sz="800" dirty="0">
                <a:solidFill>
                  <a:srgbClr val="6B7280"/>
                </a:solidFill>
                <a:latin typeface="Courier New" pitchFamily="34" charset="0"/>
                <a:ea typeface="Courier New" pitchFamily="34" charset="-122"/>
                <a:cs typeface="Courier New" pitchFamily="34" charset="-120"/>
              </a:rPr>
              <a:t>zero itself</a:t>
            </a:r>
            <a:endParaRPr lang="en-US" sz="800" dirty="0"/>
          </a:p>
        </p:txBody>
      </p:sp>
      <p:sp>
        <p:nvSpPr>
          <p:cNvPr id="19" name="Shape 16"/>
          <p:cNvSpPr/>
          <p:nvPr/>
        </p:nvSpPr>
        <p:spPr>
          <a:xfrm>
            <a:off x="5457825" y="1481547"/>
            <a:ext cx="1363563" cy="0"/>
          </a:xfrm>
          <a:prstGeom prst="line">
            <a:avLst/>
          </a:prstGeom>
          <a:noFill/>
          <a:ln w="7144">
            <a:solidFill>
              <a:srgbClr val="2A3038"/>
            </a:solidFill>
            <a:prstDash val="dash"/>
          </a:ln>
        </p:spPr>
      </p:sp>
      <p:sp>
        <p:nvSpPr>
          <p:cNvPr id="20" name="Text 17"/>
          <p:cNvSpPr/>
          <p:nvPr/>
        </p:nvSpPr>
        <p:spPr>
          <a:xfrm>
            <a:off x="5457825" y="1374391"/>
            <a:ext cx="299109" cy="91440"/>
          </a:xfrm>
          <a:prstGeom prst="rect">
            <a:avLst/>
          </a:prstGeom>
          <a:noFill/>
          <a:ln/>
        </p:spPr>
        <p:txBody>
          <a:bodyPr wrap="square" lIns="0" tIns="0" rIns="0" bIns="0" rtlCol="0" anchor="t"/>
          <a:lstStyle/>
          <a:p>
            <a:pPr algn="l" indent="0" marL="0">
              <a:lnSpc>
                <a:spcPts val="928"/>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HW=1</a:t>
            </a:r>
            <a:endParaRPr lang="en-US" sz="800" dirty="0"/>
          </a:p>
        </p:txBody>
      </p:sp>
      <p:sp>
        <p:nvSpPr>
          <p:cNvPr id="21" name="Text 18"/>
          <p:cNvSpPr/>
          <p:nvPr/>
        </p:nvSpPr>
        <p:spPr>
          <a:xfrm>
            <a:off x="5647134" y="1374391"/>
            <a:ext cx="554546" cy="91440"/>
          </a:xfrm>
          <a:prstGeom prst="rect">
            <a:avLst/>
          </a:prstGeom>
          <a:noFill/>
          <a:ln/>
        </p:spPr>
        <p:txBody>
          <a:bodyPr wrap="none" lIns="0" tIns="0" rIns="0" bIns="0" rtlCol="0" anchor="t"/>
          <a:lstStyle/>
          <a:p>
            <a:pPr algn="l" indent="0" marL="0">
              <a:lnSpc>
                <a:spcPts val="928"/>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24 vectors</a:t>
            </a:r>
            <a:endParaRPr lang="en-US" sz="800" dirty="0"/>
          </a:p>
        </p:txBody>
      </p:sp>
      <p:sp>
        <p:nvSpPr>
          <p:cNvPr id="22" name="Text 19"/>
          <p:cNvSpPr/>
          <p:nvPr/>
        </p:nvSpPr>
        <p:spPr>
          <a:xfrm>
            <a:off x="6024110" y="1381534"/>
            <a:ext cx="655408" cy="91440"/>
          </a:xfrm>
          <a:prstGeom prst="rect">
            <a:avLst/>
          </a:prstGeom>
          <a:noFill/>
          <a:ln/>
        </p:spPr>
        <p:txBody>
          <a:bodyPr wrap="none" lIns="0" tIns="0" rIns="0" bIns="0" rtlCol="0" anchor="t"/>
          <a:lstStyle/>
          <a:p>
            <a:pPr algn="r" indent="0" marL="0">
              <a:lnSpc>
                <a:spcPts val="844"/>
              </a:lnSpc>
              <a:buNone/>
            </a:pPr>
            <a:r>
              <a:rPr lang="en-US" sz="800" dirty="0">
                <a:solidFill>
                  <a:srgbClr val="6B7280"/>
                </a:solidFill>
                <a:latin typeface="Liberation Sans Narrow" pitchFamily="34" charset="0"/>
                <a:ea typeface="Liberation Sans Narrow" pitchFamily="34" charset="-122"/>
                <a:cs typeface="Liberation Sans Narrow" pitchFamily="34" charset="-120"/>
              </a:rPr>
              <a:t>→ decode to 0</a:t>
            </a:r>
            <a:endParaRPr lang="en-US" sz="800" dirty="0"/>
          </a:p>
        </p:txBody>
      </p:sp>
      <p:sp>
        <p:nvSpPr>
          <p:cNvPr id="23" name="Shape 20"/>
          <p:cNvSpPr/>
          <p:nvPr/>
        </p:nvSpPr>
        <p:spPr>
          <a:xfrm>
            <a:off x="5457825" y="1599419"/>
            <a:ext cx="1363563" cy="0"/>
          </a:xfrm>
          <a:prstGeom prst="line">
            <a:avLst/>
          </a:prstGeom>
          <a:noFill/>
          <a:ln w="7144">
            <a:solidFill>
              <a:srgbClr val="2A3038"/>
            </a:solidFill>
            <a:prstDash val="dash"/>
          </a:ln>
        </p:spPr>
      </p:sp>
      <p:sp>
        <p:nvSpPr>
          <p:cNvPr id="24" name="Text 21"/>
          <p:cNvSpPr/>
          <p:nvPr/>
        </p:nvSpPr>
        <p:spPr>
          <a:xfrm>
            <a:off x="5457825" y="1492262"/>
            <a:ext cx="299109" cy="91440"/>
          </a:xfrm>
          <a:prstGeom prst="rect">
            <a:avLst/>
          </a:prstGeom>
          <a:noFill/>
          <a:ln/>
        </p:spPr>
        <p:txBody>
          <a:bodyPr wrap="square" lIns="0" tIns="0" rIns="0" bIns="0" rtlCol="0" anchor="t"/>
          <a:lstStyle/>
          <a:p>
            <a:pPr algn="l" indent="0" marL="0">
              <a:lnSpc>
                <a:spcPts val="928"/>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HW=2</a:t>
            </a:r>
            <a:endParaRPr lang="en-US" sz="800" dirty="0"/>
          </a:p>
        </p:txBody>
      </p:sp>
      <p:sp>
        <p:nvSpPr>
          <p:cNvPr id="25" name="Text 22"/>
          <p:cNvSpPr/>
          <p:nvPr/>
        </p:nvSpPr>
        <p:spPr>
          <a:xfrm>
            <a:off x="5647134" y="1492262"/>
            <a:ext cx="610013" cy="91440"/>
          </a:xfrm>
          <a:prstGeom prst="rect">
            <a:avLst/>
          </a:prstGeom>
          <a:noFill/>
          <a:ln/>
        </p:spPr>
        <p:txBody>
          <a:bodyPr wrap="none" lIns="0" tIns="0" rIns="0" bIns="0" rtlCol="0" anchor="t"/>
          <a:lstStyle/>
          <a:p>
            <a:pPr algn="l" indent="0" marL="0">
              <a:lnSpc>
                <a:spcPts val="928"/>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276 vectors</a:t>
            </a:r>
            <a:endParaRPr lang="en-US" sz="800" dirty="0"/>
          </a:p>
        </p:txBody>
      </p:sp>
      <p:sp>
        <p:nvSpPr>
          <p:cNvPr id="26" name="Text 23"/>
          <p:cNvSpPr/>
          <p:nvPr/>
        </p:nvSpPr>
        <p:spPr>
          <a:xfrm>
            <a:off x="6071437" y="1499406"/>
            <a:ext cx="655408" cy="91440"/>
          </a:xfrm>
          <a:prstGeom prst="rect">
            <a:avLst/>
          </a:prstGeom>
          <a:noFill/>
          <a:ln/>
        </p:spPr>
        <p:txBody>
          <a:bodyPr wrap="none" lIns="0" tIns="0" rIns="0" bIns="0" rtlCol="0" anchor="t"/>
          <a:lstStyle/>
          <a:p>
            <a:pPr algn="r" indent="0" marL="0">
              <a:lnSpc>
                <a:spcPts val="844"/>
              </a:lnSpc>
              <a:buNone/>
            </a:pPr>
            <a:r>
              <a:rPr lang="en-US" sz="800" dirty="0">
                <a:solidFill>
                  <a:srgbClr val="6B7280"/>
                </a:solidFill>
                <a:latin typeface="Liberation Sans Narrow" pitchFamily="34" charset="0"/>
                <a:ea typeface="Liberation Sans Narrow" pitchFamily="34" charset="-122"/>
                <a:cs typeface="Liberation Sans Narrow" pitchFamily="34" charset="-120"/>
              </a:rPr>
              <a:t>→ decode to 0</a:t>
            </a:r>
            <a:endParaRPr lang="en-US" sz="800" dirty="0"/>
          </a:p>
        </p:txBody>
      </p:sp>
      <p:sp>
        <p:nvSpPr>
          <p:cNvPr id="27" name="Shape 24"/>
          <p:cNvSpPr/>
          <p:nvPr/>
        </p:nvSpPr>
        <p:spPr>
          <a:xfrm>
            <a:off x="5457825" y="1717291"/>
            <a:ext cx="1363563" cy="0"/>
          </a:xfrm>
          <a:prstGeom prst="line">
            <a:avLst/>
          </a:prstGeom>
          <a:noFill/>
          <a:ln w="7144">
            <a:solidFill>
              <a:srgbClr val="2A3038"/>
            </a:solidFill>
            <a:prstDash val="dash"/>
          </a:ln>
        </p:spPr>
      </p:sp>
      <p:sp>
        <p:nvSpPr>
          <p:cNvPr id="28" name="Text 25"/>
          <p:cNvSpPr/>
          <p:nvPr/>
        </p:nvSpPr>
        <p:spPr>
          <a:xfrm>
            <a:off x="5457825" y="1610134"/>
            <a:ext cx="299109" cy="91440"/>
          </a:xfrm>
          <a:prstGeom prst="rect">
            <a:avLst/>
          </a:prstGeom>
          <a:noFill/>
          <a:ln/>
        </p:spPr>
        <p:txBody>
          <a:bodyPr wrap="square" lIns="0" tIns="0" rIns="0" bIns="0" rtlCol="0" anchor="t"/>
          <a:lstStyle/>
          <a:p>
            <a:pPr algn="l" indent="0" marL="0">
              <a:lnSpc>
                <a:spcPts val="928"/>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HW=3</a:t>
            </a:r>
            <a:endParaRPr lang="en-US" sz="800" dirty="0"/>
          </a:p>
        </p:txBody>
      </p:sp>
      <p:sp>
        <p:nvSpPr>
          <p:cNvPr id="29" name="Text 26"/>
          <p:cNvSpPr/>
          <p:nvPr/>
        </p:nvSpPr>
        <p:spPr>
          <a:xfrm>
            <a:off x="5647134" y="1610134"/>
            <a:ext cx="720818" cy="91440"/>
          </a:xfrm>
          <a:prstGeom prst="rect">
            <a:avLst/>
          </a:prstGeom>
          <a:noFill/>
          <a:ln/>
        </p:spPr>
        <p:txBody>
          <a:bodyPr wrap="none" lIns="0" tIns="0" rIns="0" bIns="0" rtlCol="0" anchor="t"/>
          <a:lstStyle/>
          <a:p>
            <a:pPr algn="l" indent="0" marL="0">
              <a:lnSpc>
                <a:spcPts val="928"/>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2,024 vectors</a:t>
            </a:r>
            <a:endParaRPr lang="en-US" sz="800" dirty="0"/>
          </a:p>
        </p:txBody>
      </p:sp>
      <p:sp>
        <p:nvSpPr>
          <p:cNvPr id="30" name="Text 27"/>
          <p:cNvSpPr/>
          <p:nvPr/>
        </p:nvSpPr>
        <p:spPr>
          <a:xfrm>
            <a:off x="6165980" y="1617278"/>
            <a:ext cx="655408" cy="91440"/>
          </a:xfrm>
          <a:prstGeom prst="rect">
            <a:avLst/>
          </a:prstGeom>
          <a:noFill/>
          <a:ln/>
        </p:spPr>
        <p:txBody>
          <a:bodyPr wrap="none" lIns="0" tIns="0" rIns="0" bIns="0" rtlCol="0" anchor="t"/>
          <a:lstStyle/>
          <a:p>
            <a:pPr algn="r" indent="0" marL="0">
              <a:lnSpc>
                <a:spcPts val="844"/>
              </a:lnSpc>
              <a:buNone/>
            </a:pPr>
            <a:r>
              <a:rPr lang="en-US" sz="800" dirty="0">
                <a:solidFill>
                  <a:srgbClr val="6B7280"/>
                </a:solidFill>
                <a:latin typeface="Liberation Sans Narrow" pitchFamily="34" charset="0"/>
                <a:ea typeface="Liberation Sans Narrow" pitchFamily="34" charset="-122"/>
                <a:cs typeface="Liberation Sans Narrow" pitchFamily="34" charset="-120"/>
              </a:rPr>
              <a:t>→ decode to 0</a:t>
            </a:r>
            <a:endParaRPr lang="en-US" sz="800" dirty="0"/>
          </a:p>
        </p:txBody>
      </p:sp>
      <p:sp>
        <p:nvSpPr>
          <p:cNvPr id="31" name="Text 28"/>
          <p:cNvSpPr/>
          <p:nvPr/>
        </p:nvSpPr>
        <p:spPr>
          <a:xfrm>
            <a:off x="5457825" y="1728006"/>
            <a:ext cx="299109" cy="129679"/>
          </a:xfrm>
          <a:prstGeom prst="rect">
            <a:avLst/>
          </a:prstGeom>
          <a:noFill/>
          <a:ln/>
        </p:spPr>
        <p:txBody>
          <a:bodyPr wrap="square" lIns="0" tIns="0" rIns="0" bIns="0" rtlCol="0" anchor="t"/>
          <a:lstStyle/>
          <a:p>
            <a:pPr algn="l" indent="0" marL="0">
              <a:lnSpc>
                <a:spcPts val="928"/>
              </a:lnSpc>
              <a:buNone/>
            </a:pPr>
            <a:r>
              <a:rPr lang="en-US" sz="800" dirty="0">
                <a:solidFill>
                  <a:srgbClr val="FF6B6B"/>
                </a:solidFill>
                <a:latin typeface="Liberation Sans Narrow" pitchFamily="34" charset="0"/>
                <a:ea typeface="Liberation Sans Narrow" pitchFamily="34" charset="-122"/>
                <a:cs typeface="Liberation Sans Narrow" pitchFamily="34" charset="-120"/>
              </a:rPr>
              <a:t>HW=4</a:t>
            </a:r>
            <a:endParaRPr lang="en-US" sz="800" dirty="0"/>
          </a:p>
        </p:txBody>
      </p:sp>
      <p:sp>
        <p:nvSpPr>
          <p:cNvPr id="32" name="Text 29"/>
          <p:cNvSpPr/>
          <p:nvPr/>
        </p:nvSpPr>
        <p:spPr>
          <a:xfrm>
            <a:off x="5647134" y="1728006"/>
            <a:ext cx="776285" cy="129679"/>
          </a:xfrm>
          <a:prstGeom prst="rect">
            <a:avLst/>
          </a:prstGeom>
          <a:noFill/>
          <a:ln/>
        </p:spPr>
        <p:txBody>
          <a:bodyPr wrap="none" lIns="0" tIns="0" rIns="0" bIns="0" rtlCol="0" anchor="t"/>
          <a:lstStyle/>
          <a:p>
            <a:pPr algn="l" indent="0" marL="0">
              <a:lnSpc>
                <a:spcPts val="928"/>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10,626 vectors</a:t>
            </a:r>
            <a:endParaRPr lang="en-US" sz="800" dirty="0"/>
          </a:p>
        </p:txBody>
      </p:sp>
      <p:sp>
        <p:nvSpPr>
          <p:cNvPr id="33" name="Text 30"/>
          <p:cNvSpPr/>
          <p:nvPr/>
        </p:nvSpPr>
        <p:spPr>
          <a:xfrm>
            <a:off x="6213138" y="1735150"/>
            <a:ext cx="440484" cy="120701"/>
          </a:xfrm>
          <a:prstGeom prst="rect">
            <a:avLst/>
          </a:prstGeom>
          <a:noFill/>
          <a:ln/>
        </p:spPr>
        <p:txBody>
          <a:bodyPr wrap="square" lIns="0" tIns="0" rIns="0" bIns="0" rtlCol="0" anchor="t"/>
          <a:lstStyle/>
          <a:p>
            <a:pPr algn="r" indent="0" marL="0">
              <a:lnSpc>
                <a:spcPts val="844"/>
              </a:lnSpc>
              <a:buNone/>
            </a:pPr>
            <a:r>
              <a:rPr lang="en-US" sz="800" dirty="0">
                <a:solidFill>
                  <a:srgbClr val="FF6B6B"/>
                </a:solidFill>
                <a:latin typeface="Liberation Sans Narrow" pitchFamily="34" charset="0"/>
                <a:ea typeface="Liberation Sans Narrow" pitchFamily="34" charset="-122"/>
                <a:cs typeface="Liberation Sans Narrow" pitchFamily="34" charset="-120"/>
              </a:rPr>
              <a:t>NONE → 0</a:t>
            </a:r>
            <a:endParaRPr lang="en-US" sz="800" dirty="0"/>
          </a:p>
        </p:txBody>
      </p:sp>
      <p:sp>
        <p:nvSpPr>
          <p:cNvPr id="34" name="Text 31"/>
          <p:cNvSpPr/>
          <p:nvPr/>
        </p:nvSpPr>
        <p:spPr>
          <a:xfrm>
            <a:off x="5461397" y="1899456"/>
            <a:ext cx="3221831" cy="257175"/>
          </a:xfrm>
          <a:prstGeom prst="roundRect">
            <a:avLst>
              <a:gd name="adj" fmla="val 14815"/>
            </a:avLst>
          </a:prstGeom>
          <a:solidFill>
            <a:srgbClr val="6FE3D2">
              <a:alpha val="6000"/>
            </a:srgbClr>
          </a:solidFill>
          <a:ln w="7144">
            <a:solidFill>
              <a:srgbClr val="6FE3D2"/>
            </a:solidFill>
            <a:prstDash val="solid"/>
          </a:ln>
        </p:spPr>
        <p:txBody>
          <a:bodyPr wrap="square" rtlCol="0" anchor="ctr"/>
          <a:lstStyle/>
          <a:p>
            <a:pPr indent="0" marL="0">
              <a:buNone/>
            </a:pPr>
            <a:endParaRPr lang="en-US" dirty="0"/>
          </a:p>
        </p:txBody>
      </p:sp>
      <p:sp>
        <p:nvSpPr>
          <p:cNvPr id="35" name="Text 32"/>
          <p:cNvSpPr/>
          <p:nvPr/>
        </p:nvSpPr>
        <p:spPr>
          <a:xfrm>
            <a:off x="5536406" y="1969108"/>
            <a:ext cx="2756371" cy="133945"/>
          </a:xfrm>
          <a:prstGeom prst="rect">
            <a:avLst/>
          </a:prstGeom>
          <a:noFill/>
          <a:ln/>
        </p:spPr>
        <p:txBody>
          <a:bodyPr wrap="none" lIns="0" tIns="0" rIns="0" bIns="0" rtlCol="0" anchor="t"/>
          <a:lstStyle/>
          <a:p>
            <a:pPr algn="l" indent="0" marL="0">
              <a:lnSpc>
                <a:spcPts val="928"/>
              </a:lnSpc>
              <a:buNone/>
            </a:pPr>
            <a:r>
              <a:rPr lang="en-US" sz="800" spc="37" kern="0" dirty="0">
                <a:solidFill>
                  <a:srgbClr val="B5BAC4"/>
                </a:solidFill>
                <a:latin typeface="Courier New" pitchFamily="34" charset="0"/>
                <a:ea typeface="Courier New" pitchFamily="34" charset="-122"/>
                <a:cs typeface="Courier New" pitchFamily="34" charset="-120"/>
              </a:rPr>
              <a:t>TOTAL VACUUM BASIN</a:t>
            </a:r>
            <a:endParaRPr lang="en-US" sz="800" dirty="0"/>
          </a:p>
        </p:txBody>
      </p:sp>
      <p:sp>
        <p:nvSpPr>
          <p:cNvPr id="36" name="Text 33"/>
          <p:cNvSpPr/>
          <p:nvPr/>
        </p:nvSpPr>
        <p:spPr>
          <a:xfrm>
            <a:off x="8307065" y="1953034"/>
            <a:ext cx="301154" cy="150019"/>
          </a:xfrm>
          <a:prstGeom prst="rect">
            <a:avLst/>
          </a:prstGeom>
          <a:noFill/>
          <a:ln/>
        </p:spPr>
        <p:txBody>
          <a:bodyPr wrap="none" lIns="0" tIns="0" rIns="0" bIns="0" rtlCol="0" anchor="t"/>
          <a:lstStyle/>
          <a:p>
            <a:pPr algn="l" indent="0" marL="0">
              <a:lnSpc>
                <a:spcPts val="1181"/>
              </a:lnSpc>
              <a:buNone/>
            </a:pPr>
            <a:r>
              <a:rPr lang="en-US" sz="800" dirty="0">
                <a:solidFill>
                  <a:srgbClr val="6FE3D2"/>
                </a:solidFill>
                <a:latin typeface="Liberation Sans Narrow" pitchFamily="34" charset="0"/>
                <a:ea typeface="Liberation Sans Narrow" pitchFamily="34" charset="-122"/>
                <a:cs typeface="Liberation Sans Narrow" pitchFamily="34" charset="-120"/>
              </a:rPr>
              <a:t>2,325</a:t>
            </a:r>
            <a:endParaRPr lang="en-US" sz="800" dirty="0"/>
          </a:p>
        </p:txBody>
      </p:sp>
      <p:sp>
        <p:nvSpPr>
          <p:cNvPr id="37" name="Text 34"/>
          <p:cNvSpPr/>
          <p:nvPr/>
        </p:nvSpPr>
        <p:spPr>
          <a:xfrm>
            <a:off x="5457825" y="2195922"/>
            <a:ext cx="3228975" cy="294037"/>
          </a:xfrm>
          <a:prstGeom prst="rect">
            <a:avLst/>
          </a:prstGeom>
          <a:noFill/>
          <a:ln/>
        </p:spPr>
        <p:txBody>
          <a:bodyPr wrap="square" lIns="0" tIns="0" rIns="0" bIns="0" rtlCol="0" anchor="t">
            <a:normAutofit/>
          </a:bodyPr>
          <a:lstStyle/>
          <a:p>
            <a:pPr algn="l" indent="0" marL="0">
              <a:lnSpc>
                <a:spcPts val="928"/>
              </a:lnSpc>
              <a:buNone/>
            </a:pPr>
            <a:r>
              <a:rPr lang="en-US" sz="800" spc="25" kern="0" dirty="0">
                <a:solidFill>
                  <a:srgbClr val="6B7280"/>
                </a:solidFill>
                <a:latin typeface="Courier New" pitchFamily="34" charset="0"/>
                <a:ea typeface="Courier New" pitchFamily="34" charset="-122"/>
                <a:cs typeface="Courier New" pitchFamily="34" charset="-120"/>
              </a:rPr>
              <a:t>= C(24,0)+C(24,1)+C(24,2)+C(24,3) · 0.0139% of F_2^24 (~1 in 7,200)</a:t>
            </a:r>
            <a:endParaRPr lang="en-US" sz="800" dirty="0"/>
          </a:p>
        </p:txBody>
      </p:sp>
      <p:sp>
        <p:nvSpPr>
          <p:cNvPr id="38" name="Text 35"/>
          <p:cNvSpPr/>
          <p:nvPr/>
        </p:nvSpPr>
        <p:spPr>
          <a:xfrm>
            <a:off x="5579269" y="2531678"/>
            <a:ext cx="1715559" cy="108299"/>
          </a:xfrm>
          <a:prstGeom prst="rect">
            <a:avLst/>
          </a:prstGeom>
          <a:noFill/>
          <a:ln/>
        </p:spPr>
        <p:txBody>
          <a:bodyPr wrap="none" lIns="0" tIns="0" rIns="0" bIns="0" rtlCol="0" anchor="t">
            <a:normAutofit/>
          </a:bodyPr>
          <a:lstStyle/>
          <a:p>
            <a:pPr algn="l" indent="0" marL="0">
              <a:lnSpc>
                <a:spcPts val="844"/>
              </a:lnSpc>
              <a:buNone/>
            </a:pPr>
            <a:r>
              <a:rPr lang="en-US" sz="800" spc="79" kern="0" dirty="0">
                <a:solidFill>
                  <a:srgbClr val="FFB454"/>
                </a:solidFill>
                <a:latin typeface="Liberation Sans Narrow" pitchFamily="34" charset="0"/>
                <a:ea typeface="Liberation Sans Narrow" pitchFamily="34" charset="-122"/>
                <a:cs typeface="Liberation Sans Narrow" pitchFamily="34" charset="-120"/>
              </a:rPr>
              <a:t>WHY HW=4 DOESN’T MAKE IT</a:t>
            </a:r>
            <a:endParaRPr lang="en-US" sz="800" dirty="0"/>
          </a:p>
        </p:txBody>
      </p:sp>
      <p:sp>
        <p:nvSpPr>
          <p:cNvPr id="39" name="Text 36"/>
          <p:cNvSpPr/>
          <p:nvPr/>
        </p:nvSpPr>
        <p:spPr>
          <a:xfrm>
            <a:off x="5457825" y="2531678"/>
            <a:ext cx="91440" cy="91440"/>
          </a:xfrm>
          <a:prstGeom prst="rect">
            <a:avLst/>
          </a:prstGeom>
          <a:noFill/>
          <a:ln/>
        </p:spPr>
        <p:txBody>
          <a:bodyPr wrap="none" lIns="0" tIns="0" rIns="0" bIns="0" rtlCol="0" anchor="ctr"/>
          <a:lstStyle/>
          <a:p>
            <a:pPr algn="ctr" indent="0" marL="0">
              <a:buNone/>
            </a:pPr>
            <a:r>
              <a:rPr lang="en-US" sz="800" dirty="0">
                <a:solidFill>
                  <a:srgbClr val="FFB454"/>
                </a:solidFill>
                <a:latin typeface="Segoe UI Symbol" pitchFamily="34" charset="0"/>
                <a:ea typeface="Segoe UI Symbol" pitchFamily="34" charset="-122"/>
                <a:cs typeface="Segoe UI Symbol" pitchFamily="34" charset="-120"/>
              </a:rPr>
              <a:t>⊘</a:t>
            </a:r>
            <a:endParaRPr lang="en-US" sz="800" dirty="0"/>
          </a:p>
        </p:txBody>
      </p:sp>
      <p:sp>
        <p:nvSpPr>
          <p:cNvPr id="40" name="Text 37"/>
          <p:cNvSpPr/>
          <p:nvPr/>
        </p:nvSpPr>
        <p:spPr>
          <a:xfrm>
            <a:off x="5457825" y="2667409"/>
            <a:ext cx="3228975" cy="639053"/>
          </a:xfrm>
          <a:prstGeom prst="rect">
            <a:avLst/>
          </a:prstGeom>
          <a:noFill/>
          <a:ln/>
        </p:spPr>
        <p:txBody>
          <a:bodyPr wrap="square" lIns="0" tIns="0" rIns="0" bIns="0" rtlCol="0" anchor="t"/>
          <a:lstStyle/>
          <a:p>
            <a:pPr algn="l" indent="0" marL="0">
              <a:lnSpc>
                <a:spcPts val="979"/>
              </a:lnSpc>
              <a:spcAft>
                <a:spcPts val="169"/>
              </a:spcAft>
              <a:buNone/>
            </a:pPr>
            <a:r>
              <a:rPr lang="en-US" sz="600" dirty="0">
                <a:solidFill>
                  <a:srgbClr val="FFB454"/>
                </a:solidFill>
                <a:latin typeface="Carlito" pitchFamily="34" charset="0"/>
                <a:ea typeface="Carlito" pitchFamily="34" charset="-122"/>
                <a:cs typeface="Carlito" pitchFamily="34" charset="-120"/>
              </a:rPr>
              <a:t>●  </a:t>
            </a:r>
            <a:pPr algn="l" indent="0" marL="0">
              <a:lnSpc>
                <a:spcPts val="979"/>
              </a:lnSpc>
              <a:spcAft>
                <a:spcPts val="169"/>
              </a:spcAft>
              <a:buNone/>
            </a:pPr>
            <a:r>
              <a:rPr lang="en-US" sz="800" dirty="0">
                <a:solidFill>
                  <a:srgbClr val="B5BAC4"/>
                </a:solidFill>
                <a:latin typeface="Carlito" pitchFamily="34" charset="0"/>
                <a:ea typeface="Carlito" pitchFamily="34" charset="-122"/>
                <a:cs typeface="Carlito" pitchFamily="34" charset="-120"/>
              </a:rPr>
              <a:t>All HW=4 vectors have syndrome weight in {4, 6, 8, 10}.</a:t>
            </a:r>
            <a:endParaRPr lang="en-US" sz="800" dirty="0"/>
          </a:p>
          <a:p>
            <a:pPr algn="l" indent="0" marL="0">
              <a:lnSpc>
                <a:spcPts val="979"/>
              </a:lnSpc>
              <a:spcAft>
                <a:spcPts val="169"/>
              </a:spcAft>
              <a:buNone/>
            </a:pPr>
            <a:r>
              <a:rPr lang="en-US" sz="600" dirty="0">
                <a:solidFill>
                  <a:srgbClr val="FFB454"/>
                </a:solidFill>
                <a:latin typeface="Carlito" pitchFamily="34" charset="0"/>
                <a:ea typeface="Carlito" pitchFamily="34" charset="-122"/>
                <a:cs typeface="Carlito" pitchFamily="34" charset="-120"/>
              </a:rPr>
              <a:t>●  </a:t>
            </a:r>
            <a:pPr algn="l" indent="0" marL="0">
              <a:lnSpc>
                <a:spcPts val="979"/>
              </a:lnSpc>
              <a:spcAft>
                <a:spcPts val="169"/>
              </a:spcAft>
              <a:buNone/>
            </a:pPr>
            <a:r>
              <a:rPr lang="en-US" sz="800" dirty="0">
                <a:solidFill>
                  <a:srgbClr val="B5BAC4"/>
                </a:solidFill>
                <a:latin typeface="Carlito" pitchFamily="34" charset="0"/>
                <a:ea typeface="Carlito" pitchFamily="34" charset="-122"/>
                <a:cs typeface="Carlito" pitchFamily="34" charset="-120"/>
              </a:rPr>
              <a:t>All exceed the Golay correction capability t = 3.</a:t>
            </a:r>
            <a:endParaRPr lang="en-US" sz="800" dirty="0"/>
          </a:p>
          <a:p>
            <a:pPr algn="l" indent="0" marL="0">
              <a:lnSpc>
                <a:spcPts val="979"/>
              </a:lnSpc>
              <a:spcAft>
                <a:spcPts val="169"/>
              </a:spcAft>
              <a:buNone/>
            </a:pPr>
            <a:r>
              <a:rPr lang="en-US" sz="600" dirty="0">
                <a:solidFill>
                  <a:srgbClr val="FFB454"/>
                </a:solidFill>
                <a:latin typeface="Carlito" pitchFamily="34" charset="0"/>
                <a:ea typeface="Carlito" pitchFamily="34" charset="-122"/>
                <a:cs typeface="Carlito" pitchFamily="34" charset="-120"/>
              </a:rPr>
              <a:t>●  </a:t>
            </a:r>
            <a:pPr algn="l" indent="0" marL="0">
              <a:lnSpc>
                <a:spcPts val="979"/>
              </a:lnSpc>
              <a:spcAft>
                <a:spcPts val="169"/>
              </a:spcAft>
              <a:buNone/>
            </a:pPr>
            <a:r>
              <a:rPr lang="en-US" sz="800" dirty="0">
                <a:solidFill>
                  <a:srgbClr val="B5BAC4"/>
                </a:solidFill>
                <a:latin typeface="Carlito" pitchFamily="34" charset="0"/>
                <a:ea typeface="Carlito" pitchFamily="34" charset="-122"/>
                <a:cs typeface="Carlito" pitchFamily="34" charset="-120"/>
              </a:rPr>
              <a:t>The decoder refuses and returns the input unchanged.</a:t>
            </a:r>
            <a:endParaRPr lang="en-US" sz="800" dirty="0"/>
          </a:p>
          <a:p>
            <a:pPr algn="l" indent="0" marL="0">
              <a:lnSpc>
                <a:spcPts val="979"/>
              </a:lnSpc>
              <a:spcAft>
                <a:spcPts val="169"/>
              </a:spcAft>
              <a:buNone/>
            </a:pPr>
            <a:r>
              <a:rPr lang="en-US" sz="600" dirty="0">
                <a:solidFill>
                  <a:srgbClr val="FFB454"/>
                </a:solidFill>
                <a:latin typeface="Carlito" pitchFamily="34" charset="0"/>
                <a:ea typeface="Carlito" pitchFamily="34" charset="-122"/>
                <a:cs typeface="Carlito" pitchFamily="34" charset="-120"/>
              </a:rPr>
              <a:t>●  </a:t>
            </a:r>
            <a:pPr algn="l" indent="0" marL="0">
              <a:lnSpc>
                <a:spcPts val="979"/>
              </a:lnSpc>
              <a:spcAft>
                <a:spcPts val="169"/>
              </a:spcAft>
              <a:buNone/>
            </a:pPr>
            <a:r>
              <a:rPr lang="en-US" sz="800" dirty="0">
                <a:solidFill>
                  <a:srgbClr val="B5BAC4"/>
                </a:solidFill>
                <a:latin typeface="Carlito" pitchFamily="34" charset="0"/>
                <a:ea typeface="Carlito" pitchFamily="34" charset="-122"/>
                <a:cs typeface="Carlito" pitchFamily="34" charset="-120"/>
              </a:rPr>
              <a:t>→ They are uncorrectable, not vacuum-collapses.</a:t>
            </a:r>
            <a:endParaRPr lang="en-US" sz="800" dirty="0"/>
          </a:p>
        </p:txBody>
      </p:sp>
      <p:sp>
        <p:nvSpPr>
          <p:cNvPr id="41" name="Text 38"/>
          <p:cNvSpPr/>
          <p:nvPr/>
        </p:nvSpPr>
        <p:spPr>
          <a:xfrm>
            <a:off x="5579269" y="3350084"/>
            <a:ext cx="1488561" cy="120701"/>
          </a:xfrm>
          <a:prstGeom prst="rect">
            <a:avLst/>
          </a:prstGeom>
          <a:noFill/>
          <a:ln/>
        </p:spPr>
        <p:txBody>
          <a:bodyPr wrap="none" lIns="0" tIns="0" rIns="0" bIns="0" rtlCol="0" anchor="t"/>
          <a:lstStyle/>
          <a:p>
            <a:pPr algn="l" indent="0" marL="0">
              <a:lnSpc>
                <a:spcPts val="844"/>
              </a:lnSpc>
              <a:buNone/>
            </a:pPr>
            <a:r>
              <a:rPr lang="en-US" sz="800" spc="79" kern="0" dirty="0">
                <a:solidFill>
                  <a:srgbClr val="6FE3D2"/>
                </a:solidFill>
                <a:latin typeface="Courier New" pitchFamily="34" charset="0"/>
                <a:ea typeface="Courier New" pitchFamily="34" charset="-122"/>
                <a:cs typeface="Courier New" pitchFamily="34" charset="-120"/>
              </a:rPr>
              <a:t>DISTRIBUTION (SYNW, COUNT)</a:t>
            </a:r>
            <a:endParaRPr lang="en-US" sz="800" dirty="0"/>
          </a:p>
        </p:txBody>
      </p:sp>
      <p:sp>
        <p:nvSpPr>
          <p:cNvPr id="42" name="Text 39"/>
          <p:cNvSpPr/>
          <p:nvPr/>
        </p:nvSpPr>
        <p:spPr>
          <a:xfrm>
            <a:off x="5457825" y="3350084"/>
            <a:ext cx="91440" cy="91440"/>
          </a:xfrm>
          <a:prstGeom prst="rect">
            <a:avLst/>
          </a:prstGeom>
          <a:noFill/>
          <a:ln/>
        </p:spPr>
        <p:txBody>
          <a:bodyPr wrap="none" lIns="0" tIns="0" rIns="0" bIns="0" rtlCol="0" anchor="ctr"/>
          <a:lstStyle/>
          <a:p>
            <a:pPr algn="ctr" indent="0" marL="0">
              <a:buNone/>
            </a:pPr>
            <a:r>
              <a:rPr lang="en-US" sz="800" dirty="0">
                <a:solidFill>
                  <a:srgbClr val="6FE3D2"/>
                </a:solidFill>
                <a:latin typeface="Segoe UI Symbol" pitchFamily="34" charset="0"/>
                <a:ea typeface="Segoe UI Symbol" pitchFamily="34" charset="-122"/>
                <a:cs typeface="Segoe UI Symbol" pitchFamily="34" charset="-120"/>
              </a:rPr>
              <a:t>▦</a:t>
            </a:r>
            <a:endParaRPr lang="en-US" sz="800" dirty="0"/>
          </a:p>
        </p:txBody>
      </p:sp>
      <p:sp>
        <p:nvSpPr>
          <p:cNvPr id="43" name="Text 40"/>
          <p:cNvSpPr/>
          <p:nvPr/>
        </p:nvSpPr>
        <p:spPr>
          <a:xfrm>
            <a:off x="5434965" y="3501589"/>
            <a:ext cx="820817" cy="350644"/>
          </a:xfrm>
          <a:prstGeom prst="roundRect">
            <a:avLst>
              <a:gd name="adj" fmla="val 8149"/>
            </a:avLst>
          </a:prstGeom>
          <a:solidFill>
            <a:srgbClr val="1F2630"/>
          </a:solidFill>
          <a:ln w="7144">
            <a:solidFill>
              <a:srgbClr val="2A3038"/>
            </a:solidFill>
            <a:prstDash val="solid"/>
          </a:ln>
        </p:spPr>
        <p:txBody>
          <a:bodyPr wrap="square" rtlCol="0" anchor="ctr"/>
          <a:lstStyle/>
          <a:p>
            <a:pPr indent="0" marL="0">
              <a:buNone/>
            </a:pPr>
            <a:endParaRPr lang="en-US" dirty="0"/>
          </a:p>
        </p:txBody>
      </p:sp>
      <p:sp>
        <p:nvSpPr>
          <p:cNvPr id="44" name="Text 41"/>
          <p:cNvSpPr/>
          <p:nvPr/>
        </p:nvSpPr>
        <p:spPr>
          <a:xfrm>
            <a:off x="5507831" y="3557253"/>
            <a:ext cx="675084" cy="91440"/>
          </a:xfrm>
          <a:prstGeom prst="rect">
            <a:avLst/>
          </a:prstGeom>
          <a:noFill/>
          <a:ln/>
        </p:spPr>
        <p:txBody>
          <a:bodyPr wrap="none" lIns="0" tIns="0" rIns="0" bIns="0" rtlCol="0" anchor="t">
            <a:normAutofit/>
          </a:bodyPr>
          <a:lstStyle/>
          <a:p>
            <a:pPr algn="ctr" indent="0" marL="0">
              <a:lnSpc>
                <a:spcPts val="759"/>
              </a:lnSpc>
              <a:buNone/>
            </a:pPr>
            <a:r>
              <a:rPr lang="en-US" sz="800" spc="51" kern="0" dirty="0">
                <a:solidFill>
                  <a:srgbClr val="6B7280"/>
                </a:solidFill>
                <a:latin typeface="Liberation Sans Narrow" pitchFamily="34" charset="0"/>
                <a:ea typeface="Liberation Sans Narrow" pitchFamily="34" charset="-122"/>
                <a:cs typeface="Liberation Sans Narrow" pitchFamily="34" charset="-120"/>
              </a:rPr>
              <a:t>SynW=4</a:t>
            </a:r>
            <a:endParaRPr lang="en-US" sz="800" dirty="0"/>
          </a:p>
        </p:txBody>
      </p:sp>
      <p:sp>
        <p:nvSpPr>
          <p:cNvPr id="45" name="Text 42"/>
          <p:cNvSpPr/>
          <p:nvPr/>
        </p:nvSpPr>
        <p:spPr>
          <a:xfrm>
            <a:off x="5507831" y="3667981"/>
            <a:ext cx="675084" cy="128588"/>
          </a:xfrm>
          <a:prstGeom prst="rect">
            <a:avLst/>
          </a:prstGeom>
          <a:noFill/>
          <a:ln/>
        </p:spPr>
        <p:txBody>
          <a:bodyPr wrap="none" lIns="0" tIns="0" rIns="0" bIns="0" rtlCol="0" anchor="t"/>
          <a:lstStyle/>
          <a:p>
            <a:pPr algn="ctr" indent="0" marL="0">
              <a:lnSpc>
                <a:spcPts val="1013"/>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2,970</a:t>
            </a:r>
            <a:endParaRPr lang="en-US" sz="800" dirty="0"/>
          </a:p>
        </p:txBody>
      </p:sp>
      <p:sp>
        <p:nvSpPr>
          <p:cNvPr id="46" name="Text 43"/>
          <p:cNvSpPr/>
          <p:nvPr/>
        </p:nvSpPr>
        <p:spPr>
          <a:xfrm>
            <a:off x="6252924" y="3501589"/>
            <a:ext cx="820817" cy="350644"/>
          </a:xfrm>
          <a:prstGeom prst="roundRect">
            <a:avLst>
              <a:gd name="adj" fmla="val 8149"/>
            </a:avLst>
          </a:prstGeom>
          <a:solidFill>
            <a:srgbClr val="1F2630"/>
          </a:solidFill>
          <a:ln w="7144">
            <a:solidFill>
              <a:srgbClr val="2A3038"/>
            </a:solidFill>
            <a:prstDash val="solid"/>
          </a:ln>
        </p:spPr>
        <p:txBody>
          <a:bodyPr wrap="square" rtlCol="0" anchor="ctr"/>
          <a:lstStyle/>
          <a:p>
            <a:pPr indent="0" marL="0">
              <a:buNone/>
            </a:pPr>
            <a:endParaRPr lang="en-US" dirty="0"/>
          </a:p>
        </p:txBody>
      </p:sp>
      <p:sp>
        <p:nvSpPr>
          <p:cNvPr id="47" name="Text 44"/>
          <p:cNvSpPr/>
          <p:nvPr/>
        </p:nvSpPr>
        <p:spPr>
          <a:xfrm>
            <a:off x="6325791" y="3557253"/>
            <a:ext cx="675084" cy="91440"/>
          </a:xfrm>
          <a:prstGeom prst="rect">
            <a:avLst/>
          </a:prstGeom>
          <a:noFill/>
          <a:ln/>
        </p:spPr>
        <p:txBody>
          <a:bodyPr wrap="none" lIns="0" tIns="0" rIns="0" bIns="0" rtlCol="0" anchor="t">
            <a:normAutofit/>
          </a:bodyPr>
          <a:lstStyle/>
          <a:p>
            <a:pPr algn="ctr" indent="0" marL="0">
              <a:lnSpc>
                <a:spcPts val="759"/>
              </a:lnSpc>
              <a:buNone/>
            </a:pPr>
            <a:r>
              <a:rPr lang="en-US" sz="800" spc="51" kern="0" dirty="0">
                <a:solidFill>
                  <a:srgbClr val="6B7280"/>
                </a:solidFill>
                <a:latin typeface="Liberation Sans Narrow" pitchFamily="34" charset="0"/>
                <a:ea typeface="Liberation Sans Narrow" pitchFamily="34" charset="-122"/>
                <a:cs typeface="Liberation Sans Narrow" pitchFamily="34" charset="-120"/>
              </a:rPr>
              <a:t>SynW=6</a:t>
            </a:r>
            <a:endParaRPr lang="en-US" sz="800" dirty="0"/>
          </a:p>
        </p:txBody>
      </p:sp>
      <p:sp>
        <p:nvSpPr>
          <p:cNvPr id="48" name="Text 45"/>
          <p:cNvSpPr/>
          <p:nvPr/>
        </p:nvSpPr>
        <p:spPr>
          <a:xfrm>
            <a:off x="6325791" y="3667981"/>
            <a:ext cx="675084" cy="128588"/>
          </a:xfrm>
          <a:prstGeom prst="rect">
            <a:avLst/>
          </a:prstGeom>
          <a:noFill/>
          <a:ln/>
        </p:spPr>
        <p:txBody>
          <a:bodyPr wrap="none" lIns="0" tIns="0" rIns="0" bIns="0" rtlCol="0" anchor="t"/>
          <a:lstStyle/>
          <a:p>
            <a:pPr algn="ctr" indent="0" marL="0">
              <a:lnSpc>
                <a:spcPts val="1013"/>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4,686</a:t>
            </a:r>
            <a:endParaRPr lang="en-US" sz="800" dirty="0"/>
          </a:p>
        </p:txBody>
      </p:sp>
      <p:sp>
        <p:nvSpPr>
          <p:cNvPr id="49" name="Text 46"/>
          <p:cNvSpPr/>
          <p:nvPr/>
        </p:nvSpPr>
        <p:spPr>
          <a:xfrm>
            <a:off x="7070884" y="3501589"/>
            <a:ext cx="820817" cy="350644"/>
          </a:xfrm>
          <a:prstGeom prst="roundRect">
            <a:avLst>
              <a:gd name="adj" fmla="val 8149"/>
            </a:avLst>
          </a:prstGeom>
          <a:solidFill>
            <a:srgbClr val="1F2630"/>
          </a:solidFill>
          <a:ln w="7144">
            <a:solidFill>
              <a:srgbClr val="2A3038"/>
            </a:solidFill>
            <a:prstDash val="solid"/>
          </a:ln>
        </p:spPr>
        <p:txBody>
          <a:bodyPr wrap="square" rtlCol="0" anchor="ctr"/>
          <a:lstStyle/>
          <a:p>
            <a:pPr indent="0" marL="0">
              <a:buNone/>
            </a:pPr>
            <a:endParaRPr lang="en-US" dirty="0"/>
          </a:p>
        </p:txBody>
      </p:sp>
      <p:sp>
        <p:nvSpPr>
          <p:cNvPr id="50" name="Text 47"/>
          <p:cNvSpPr/>
          <p:nvPr/>
        </p:nvSpPr>
        <p:spPr>
          <a:xfrm>
            <a:off x="7143750" y="3557253"/>
            <a:ext cx="675084" cy="91440"/>
          </a:xfrm>
          <a:prstGeom prst="rect">
            <a:avLst/>
          </a:prstGeom>
          <a:noFill/>
          <a:ln/>
        </p:spPr>
        <p:txBody>
          <a:bodyPr wrap="none" lIns="0" tIns="0" rIns="0" bIns="0" rtlCol="0" anchor="t">
            <a:normAutofit/>
          </a:bodyPr>
          <a:lstStyle/>
          <a:p>
            <a:pPr algn="ctr" indent="0" marL="0">
              <a:lnSpc>
                <a:spcPts val="759"/>
              </a:lnSpc>
              <a:buNone/>
            </a:pPr>
            <a:r>
              <a:rPr lang="en-US" sz="800" spc="51" kern="0" dirty="0">
                <a:solidFill>
                  <a:srgbClr val="6B7280"/>
                </a:solidFill>
                <a:latin typeface="Liberation Sans Narrow" pitchFamily="34" charset="0"/>
                <a:ea typeface="Liberation Sans Narrow" pitchFamily="34" charset="-122"/>
                <a:cs typeface="Liberation Sans Narrow" pitchFamily="34" charset="-120"/>
              </a:rPr>
              <a:t>SynW=8</a:t>
            </a:r>
            <a:endParaRPr lang="en-US" sz="800" dirty="0"/>
          </a:p>
        </p:txBody>
      </p:sp>
      <p:sp>
        <p:nvSpPr>
          <p:cNvPr id="51" name="Text 48"/>
          <p:cNvSpPr/>
          <p:nvPr/>
        </p:nvSpPr>
        <p:spPr>
          <a:xfrm>
            <a:off x="7143750" y="3667981"/>
            <a:ext cx="675084" cy="128588"/>
          </a:xfrm>
          <a:prstGeom prst="rect">
            <a:avLst/>
          </a:prstGeom>
          <a:noFill/>
          <a:ln/>
        </p:spPr>
        <p:txBody>
          <a:bodyPr wrap="none" lIns="0" tIns="0" rIns="0" bIns="0" rtlCol="0" anchor="t"/>
          <a:lstStyle/>
          <a:p>
            <a:pPr algn="ctr" indent="0" marL="0">
              <a:lnSpc>
                <a:spcPts val="1013"/>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2,640</a:t>
            </a:r>
            <a:endParaRPr lang="en-US" sz="800" dirty="0"/>
          </a:p>
        </p:txBody>
      </p:sp>
      <p:sp>
        <p:nvSpPr>
          <p:cNvPr id="52" name="Text 49"/>
          <p:cNvSpPr/>
          <p:nvPr/>
        </p:nvSpPr>
        <p:spPr>
          <a:xfrm>
            <a:off x="7888843" y="3501589"/>
            <a:ext cx="820817" cy="350644"/>
          </a:xfrm>
          <a:prstGeom prst="roundRect">
            <a:avLst>
              <a:gd name="adj" fmla="val 8149"/>
            </a:avLst>
          </a:prstGeom>
          <a:solidFill>
            <a:srgbClr val="1F2630"/>
          </a:solidFill>
          <a:ln w="7144">
            <a:solidFill>
              <a:srgbClr val="2A3038"/>
            </a:solidFill>
            <a:prstDash val="solid"/>
          </a:ln>
        </p:spPr>
        <p:txBody>
          <a:bodyPr wrap="square" rtlCol="0" anchor="ctr"/>
          <a:lstStyle/>
          <a:p>
            <a:pPr indent="0" marL="0">
              <a:buNone/>
            </a:pPr>
            <a:endParaRPr lang="en-US" dirty="0"/>
          </a:p>
        </p:txBody>
      </p:sp>
      <p:sp>
        <p:nvSpPr>
          <p:cNvPr id="53" name="Text 50"/>
          <p:cNvSpPr/>
          <p:nvPr/>
        </p:nvSpPr>
        <p:spPr>
          <a:xfrm>
            <a:off x="7961709" y="3557253"/>
            <a:ext cx="675084" cy="91440"/>
          </a:xfrm>
          <a:prstGeom prst="rect">
            <a:avLst/>
          </a:prstGeom>
          <a:noFill/>
          <a:ln/>
        </p:spPr>
        <p:txBody>
          <a:bodyPr wrap="none" lIns="0" tIns="0" rIns="0" bIns="0" rtlCol="0" anchor="t">
            <a:normAutofit/>
          </a:bodyPr>
          <a:lstStyle/>
          <a:p>
            <a:pPr algn="ctr" indent="0" marL="0">
              <a:lnSpc>
                <a:spcPts val="759"/>
              </a:lnSpc>
              <a:buNone/>
            </a:pPr>
            <a:r>
              <a:rPr lang="en-US" sz="800" spc="51" kern="0" dirty="0">
                <a:solidFill>
                  <a:srgbClr val="6B7280"/>
                </a:solidFill>
                <a:latin typeface="Liberation Sans Narrow" pitchFamily="34" charset="0"/>
                <a:ea typeface="Liberation Sans Narrow" pitchFamily="34" charset="-122"/>
                <a:cs typeface="Liberation Sans Narrow" pitchFamily="34" charset="-120"/>
              </a:rPr>
              <a:t>SynW=10</a:t>
            </a:r>
            <a:endParaRPr lang="en-US" sz="800" dirty="0"/>
          </a:p>
        </p:txBody>
      </p:sp>
      <p:sp>
        <p:nvSpPr>
          <p:cNvPr id="54" name="Text 51"/>
          <p:cNvSpPr/>
          <p:nvPr/>
        </p:nvSpPr>
        <p:spPr>
          <a:xfrm>
            <a:off x="7961709" y="3667981"/>
            <a:ext cx="675084" cy="128588"/>
          </a:xfrm>
          <a:prstGeom prst="rect">
            <a:avLst/>
          </a:prstGeom>
          <a:noFill/>
          <a:ln/>
        </p:spPr>
        <p:txBody>
          <a:bodyPr wrap="none" lIns="0" tIns="0" rIns="0" bIns="0" rtlCol="0" anchor="t"/>
          <a:lstStyle/>
          <a:p>
            <a:pPr algn="ctr" indent="0" marL="0">
              <a:lnSpc>
                <a:spcPts val="1013"/>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330</a:t>
            </a:r>
            <a:endParaRPr lang="en-US" sz="800" dirty="0"/>
          </a:p>
        </p:txBody>
      </p:sp>
      <p:sp>
        <p:nvSpPr>
          <p:cNvPr id="55" name="Text 52"/>
          <p:cNvSpPr/>
          <p:nvPr/>
        </p:nvSpPr>
        <p:spPr>
          <a:xfrm>
            <a:off x="5434965" y="4512135"/>
            <a:ext cx="1005327" cy="184023"/>
          </a:xfrm>
          <a:prstGeom prst="roundRect">
            <a:avLst>
              <a:gd name="adj" fmla="val 5170807"/>
            </a:avLst>
          </a:prstGeom>
          <a:solidFill>
            <a:srgbClr val="1F2630"/>
          </a:solidFill>
          <a:ln w="7144">
            <a:solidFill>
              <a:srgbClr val="6FE3D2"/>
            </a:solidFill>
            <a:prstDash val="solid"/>
          </a:ln>
        </p:spPr>
        <p:txBody>
          <a:bodyPr wrap="square" rtlCol="0" anchor="ctr"/>
          <a:lstStyle/>
          <a:p>
            <a:pPr indent="0" marL="0">
              <a:buNone/>
            </a:pPr>
            <a:endParaRPr lang="en-US" dirty="0"/>
          </a:p>
        </p:txBody>
      </p:sp>
      <p:sp>
        <p:nvSpPr>
          <p:cNvPr id="56" name="Text 53"/>
          <p:cNvSpPr/>
          <p:nvPr/>
        </p:nvSpPr>
        <p:spPr>
          <a:xfrm>
            <a:off x="5457825" y="4521994"/>
            <a:ext cx="959607"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6FE3D2"/>
                </a:solidFill>
                <a:latin typeface="Liberation Sans Narrow" pitchFamily="34" charset="0"/>
                <a:ea typeface="Liberation Sans Narrow" pitchFamily="34" charset="-122"/>
                <a:cs typeface="Liberation Sans Narrow" pitchFamily="34" charset="-120"/>
              </a:rPr>
              <a:t>OPEN Q4 — CLOSED</a:t>
            </a:r>
            <a:endParaRPr lang="en-US" sz="800" dirty="0"/>
          </a:p>
        </p:txBody>
      </p:sp>
      <p:sp>
        <p:nvSpPr>
          <p:cNvPr id="57" name="Text 54"/>
          <p:cNvSpPr/>
          <p:nvPr/>
        </p:nvSpPr>
        <p:spPr>
          <a:xfrm>
            <a:off x="457200" y="4893469"/>
            <a:ext cx="3856844"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Liberation Sans Narrow" pitchFamily="34" charset="0"/>
                <a:ea typeface="Liberation Sans Narrow" pitchFamily="34" charset="-122"/>
                <a:cs typeface="Liberation Sans Narrow" pitchFamily="34" charset="-120"/>
              </a:rPr>
              <a:t>UBP_STUDY_EXTREMAL_004</a:t>
            </a:r>
            <a:endParaRPr lang="en-US" sz="800" dirty="0"/>
          </a:p>
        </p:txBody>
      </p:sp>
      <p:sp>
        <p:nvSpPr>
          <p:cNvPr id="58" name="Text 55"/>
          <p:cNvSpPr/>
          <p:nvPr/>
        </p:nvSpPr>
        <p:spPr>
          <a:xfrm>
            <a:off x="4328331" y="4893469"/>
            <a:ext cx="4149179"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THREAD E · BASIN ENUMERATION</a:t>
            </a:r>
            <a:endParaRPr lang="en-US" sz="800" dirty="0"/>
          </a:p>
        </p:txBody>
      </p:sp>
      <p:sp>
        <p:nvSpPr>
          <p:cNvPr id="59" name="Text 56"/>
          <p:cNvSpPr/>
          <p:nvPr/>
        </p:nvSpPr>
        <p:spPr>
          <a:xfrm>
            <a:off x="8491798" y="4893469"/>
            <a:ext cx="312003"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Liberation Sans Narrow" pitchFamily="34" charset="0"/>
                <a:ea typeface="Liberation Sans Narrow" pitchFamily="34" charset="-122"/>
                <a:cs typeface="Liberation Sans Narrow" pitchFamily="34" charset="-120"/>
              </a:rPr>
              <a:t>p.04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4100513" cy="107156"/>
          </a:xfrm>
          <a:prstGeom prst="rect">
            <a:avLst/>
          </a:prstGeom>
          <a:noFill/>
          <a:ln/>
        </p:spPr>
        <p:txBody>
          <a:bodyPr wrap="non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SECTION 02 / 05</a:t>
            </a:r>
            <a:endParaRPr lang="en-US" sz="800" dirty="0"/>
          </a:p>
        </p:txBody>
      </p:sp>
      <p:sp>
        <p:nvSpPr>
          <p:cNvPr id="4" name="Text 2"/>
          <p:cNvSpPr/>
          <p:nvPr/>
        </p:nvSpPr>
        <p:spPr>
          <a:xfrm>
            <a:off x="4572000" y="342900"/>
            <a:ext cx="3739418" cy="107156"/>
          </a:xfrm>
          <a:prstGeom prst="rect">
            <a:avLst/>
          </a:prstGeom>
          <a:noFill/>
          <a:ln/>
        </p:spPr>
        <p:txBody>
          <a:bodyPr wrap="non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THREAD F</a:t>
            </a:r>
            <a:endParaRPr lang="en-US" sz="800" dirty="0"/>
          </a:p>
        </p:txBody>
      </p:sp>
      <p:sp>
        <p:nvSpPr>
          <p:cNvPr id="5" name="Text 3"/>
          <p:cNvSpPr/>
          <p:nvPr/>
        </p:nvSpPr>
        <p:spPr>
          <a:xfrm>
            <a:off x="8325706" y="342900"/>
            <a:ext cx="361094" cy="107156"/>
          </a:xfrm>
          <a:prstGeom prst="rect">
            <a:avLst/>
          </a:prstGeom>
          <a:noFill/>
          <a:ln/>
        </p:spPr>
        <p:txBody>
          <a:bodyPr wrap="non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05 / 16</a:t>
            </a:r>
            <a:endParaRPr lang="en-US" sz="800" dirty="0"/>
          </a:p>
        </p:txBody>
      </p:sp>
      <p:sp>
        <p:nvSpPr>
          <p:cNvPr id="6" name="Text 4"/>
          <p:cNvSpPr/>
          <p:nvPr/>
        </p:nvSpPr>
        <p:spPr>
          <a:xfrm>
            <a:off x="7679196" y="500063"/>
            <a:ext cx="42863" cy="42863"/>
          </a:xfrm>
          <a:prstGeom prst="roundRect">
            <a:avLst>
              <a:gd name="adj" fmla="val 66666"/>
            </a:avLst>
          </a:prstGeom>
          <a:solidFill>
            <a:srgbClr val="FFB454"/>
          </a:solidFill>
          <a:ln/>
        </p:spPr>
        <p:txBody>
          <a:bodyPr wrap="square" rtlCol="0" anchor="ctr"/>
          <a:lstStyle/>
          <a:p>
            <a:pPr indent="0" marL="0">
              <a:buNone/>
            </a:pPr>
            <a:endParaRPr lang="en-US" dirty="0"/>
          </a:p>
        </p:txBody>
      </p:sp>
      <p:sp>
        <p:nvSpPr>
          <p:cNvPr id="7" name="Text 5"/>
          <p:cNvSpPr/>
          <p:nvPr/>
        </p:nvSpPr>
        <p:spPr>
          <a:xfrm>
            <a:off x="7075087" y="457200"/>
            <a:ext cx="1611713" cy="126828"/>
          </a:xfrm>
          <a:prstGeom prst="rect">
            <a:avLst/>
          </a:prstGeom>
          <a:noFill/>
          <a:ln/>
        </p:spPr>
        <p:txBody>
          <a:bodyPr wrap="none" lIns="0" tIns="0" rIns="0" bIns="0" rtlCol="0" anchor="t">
            <a:normAutofit/>
          </a:bodyPr>
          <a:lstStyle/>
          <a:p>
            <a:pPr algn="r" indent="0" marL="0">
              <a:lnSpc>
                <a:spcPts val="990"/>
              </a:lnSpc>
              <a:buNone/>
            </a:pPr>
            <a:r>
              <a:rPr lang="en-US" sz="800" spc="111" kern="0" dirty="0">
                <a:solidFill>
                  <a:srgbClr val="6B7280"/>
                </a:solidFill>
                <a:latin typeface="Liberation Sans Narrow" pitchFamily="34" charset="0"/>
                <a:ea typeface="Liberation Sans Narrow" pitchFamily="34" charset="-122"/>
                <a:cs typeface="Liberation Sans Narrow" pitchFamily="34" charset="-120"/>
              </a:rPr>
              <a:t>MONTE CARLO 15K</a:t>
            </a:r>
            <a:endParaRPr lang="en-US" sz="800" dirty="0"/>
          </a:p>
        </p:txBody>
      </p:sp>
      <p:sp>
        <p:nvSpPr>
          <p:cNvPr id="8" name="Text 6"/>
          <p:cNvSpPr/>
          <p:nvPr/>
        </p:nvSpPr>
        <p:spPr>
          <a:xfrm>
            <a:off x="7075087" y="611460"/>
            <a:ext cx="1611713" cy="175502"/>
          </a:xfrm>
          <a:prstGeom prst="rect">
            <a:avLst/>
          </a:prstGeom>
          <a:noFill/>
          <a:ln/>
        </p:spPr>
        <p:txBody>
          <a:bodyPr wrap="none" lIns="0" tIns="0" rIns="0" bIns="0" rtlCol="0" anchor="t"/>
          <a:lstStyle/>
          <a:p>
            <a:pPr algn="r" indent="0" marL="0">
              <a:lnSpc>
                <a:spcPts val="990"/>
              </a:lnSpc>
              <a:buNone/>
            </a:pPr>
            <a:r>
              <a:rPr lang="en-US" sz="800" spc="111" kern="0" dirty="0">
                <a:solidFill>
                  <a:srgbClr val="6B7280"/>
                </a:solidFill>
                <a:latin typeface="Liberation Sans Narrow" pitchFamily="34" charset="0"/>
                <a:ea typeface="Liberation Sans Narrow" pitchFamily="34" charset="-122"/>
                <a:cs typeface="Liberation Sans Narrow" pitchFamily="34" charset="-120"/>
              </a:rPr>
              <a:t>[24,12,8] VS [24,12]</a:t>
            </a:r>
            <a:endParaRPr lang="en-US" sz="800" dirty="0"/>
          </a:p>
        </p:txBody>
      </p:sp>
      <p:sp>
        <p:nvSpPr>
          <p:cNvPr id="9" name="Text 7"/>
          <p:cNvSpPr/>
          <p:nvPr/>
        </p:nvSpPr>
        <p:spPr>
          <a:xfrm>
            <a:off x="685800" y="1114425"/>
            <a:ext cx="8458200" cy="740664"/>
          </a:xfrm>
          <a:prstGeom prst="rect">
            <a:avLst/>
          </a:prstGeom>
          <a:noFill/>
          <a:ln/>
        </p:spPr>
        <p:txBody>
          <a:bodyPr wrap="none" lIns="0" tIns="0" rIns="0" bIns="0" rtlCol="0" anchor="t"/>
          <a:lstStyle/>
          <a:p>
            <a:pPr algn="l" indent="0" marL="0">
              <a:lnSpc>
                <a:spcPts val="5400"/>
              </a:lnSpc>
              <a:buNone/>
            </a:pPr>
            <a:r>
              <a:rPr lang="en-US" sz="5400" spc="-216" kern="0" dirty="0">
                <a:solidFill>
                  <a:srgbClr val="FFB454"/>
                </a:solidFill>
                <a:latin typeface="Liberation Sans Narrow" pitchFamily="34" charset="0"/>
                <a:ea typeface="Liberation Sans Narrow" pitchFamily="34" charset="-122"/>
                <a:cs typeface="Liberation Sans Narrow" pitchFamily="34" charset="-120"/>
              </a:rPr>
              <a:t>02</a:t>
            </a:r>
            <a:endParaRPr lang="en-US" sz="5400" dirty="0"/>
          </a:p>
        </p:txBody>
      </p:sp>
      <p:sp>
        <p:nvSpPr>
          <p:cNvPr id="10" name="Text 8"/>
          <p:cNvSpPr/>
          <p:nvPr/>
        </p:nvSpPr>
        <p:spPr>
          <a:xfrm>
            <a:off x="685800" y="2019895"/>
            <a:ext cx="457200" cy="21431"/>
          </a:xfrm>
          <a:prstGeom prst="rect">
            <a:avLst/>
          </a:prstGeom>
          <a:solidFill>
            <a:srgbClr val="FFB454"/>
          </a:solidFill>
          <a:ln/>
        </p:spPr>
        <p:txBody>
          <a:bodyPr wrap="square" rtlCol="0" anchor="ctr"/>
          <a:lstStyle/>
          <a:p>
            <a:pPr indent="0" marL="0">
              <a:buNone/>
            </a:pPr>
            <a:endParaRPr lang="en-US" dirty="0"/>
          </a:p>
        </p:txBody>
      </p:sp>
      <p:sp>
        <p:nvSpPr>
          <p:cNvPr id="11" name="Text 9"/>
          <p:cNvSpPr/>
          <p:nvPr/>
        </p:nvSpPr>
        <p:spPr>
          <a:xfrm>
            <a:off x="1243013" y="1971675"/>
            <a:ext cx="7443788"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FFB454"/>
                </a:solidFill>
                <a:latin typeface="Courier New" pitchFamily="34" charset="0"/>
                <a:ea typeface="Courier New" pitchFamily="34" charset="-122"/>
                <a:cs typeface="Courier New" pitchFamily="34" charset="-120"/>
              </a:rPr>
              <a:t>THREAD F</a:t>
            </a:r>
            <a:endParaRPr lang="en-US" sz="800" dirty="0"/>
          </a:p>
        </p:txBody>
      </p:sp>
      <p:sp>
        <p:nvSpPr>
          <p:cNvPr id="12" name="Text 10"/>
          <p:cNvSpPr/>
          <p:nvPr/>
        </p:nvSpPr>
        <p:spPr>
          <a:xfrm>
            <a:off x="685800" y="2246709"/>
            <a:ext cx="6286500" cy="622042"/>
          </a:xfrm>
          <a:prstGeom prst="rect">
            <a:avLst/>
          </a:prstGeom>
          <a:noFill/>
          <a:ln/>
        </p:spPr>
        <p:txBody>
          <a:bodyPr wrap="none" lIns="0" tIns="0" rIns="0" bIns="0" rtlCol="0" anchor="t"/>
          <a:lstStyle/>
          <a:p>
            <a:pPr algn="l" indent="0" marL="0">
              <a:lnSpc>
                <a:spcPts val="2268"/>
              </a:lnSpc>
              <a:buNone/>
            </a:pPr>
            <a:r>
              <a:rPr lang="en-US" sz="2025" spc="-24" kern="0" dirty="0">
                <a:solidFill>
                  <a:srgbClr val="E6E6E6"/>
                </a:solidFill>
                <a:latin typeface="Liberation Sans Narrow" pitchFamily="34" charset="0"/>
                <a:ea typeface="Liberation Sans Narrow" pitchFamily="34" charset="-122"/>
                <a:cs typeface="Liberation Sans Narrow" pitchFamily="34" charset="-120"/>
              </a:rPr>
              <a:t>Thread F — [24,12,8] Sampling</a:t>
            </a:r>
            <a:endParaRPr lang="en-US" sz="2025" dirty="0"/>
          </a:p>
          <a:p>
            <a:pPr algn="l" indent="0" marL="0">
              <a:lnSpc>
                <a:spcPts val="2268"/>
              </a:lnSpc>
              <a:buNone/>
            </a:pPr>
            <a:r>
              <a:rPr lang="en-US" sz="2025" spc="-24" kern="0" dirty="0">
                <a:solidFill>
                  <a:srgbClr val="E6E6E6"/>
                </a:solidFill>
                <a:latin typeface="Carlito" pitchFamily="34" charset="0"/>
                <a:ea typeface="Carlito" pitchFamily="34" charset="-122"/>
                <a:cs typeface="Carlito" pitchFamily="34" charset="-120"/>
              </a:rPr>
              <a:t>vs Golay</a:t>
            </a:r>
            <a:endParaRPr lang="en-US" sz="2025" dirty="0"/>
          </a:p>
        </p:txBody>
      </p:sp>
      <p:sp>
        <p:nvSpPr>
          <p:cNvPr id="13" name="Text 11"/>
          <p:cNvSpPr/>
          <p:nvPr/>
        </p:nvSpPr>
        <p:spPr>
          <a:xfrm>
            <a:off x="685800" y="2951262"/>
            <a:ext cx="4286250" cy="382628"/>
          </a:xfrm>
          <a:prstGeom prst="rect">
            <a:avLst/>
          </a:prstGeom>
          <a:noFill/>
          <a:ln/>
        </p:spPr>
        <p:txBody>
          <a:bodyPr wrap="square" lIns="0" tIns="0" rIns="0" bIns="0" rtlCol="0" anchor="t"/>
          <a:lstStyle/>
          <a:p>
            <a:pPr algn="l" indent="0" marL="0">
              <a:lnSpc>
                <a:spcPts val="1395"/>
              </a:lnSpc>
              <a:buNone/>
            </a:pPr>
            <a:r>
              <a:rPr lang="en-US" sz="900" dirty="0">
                <a:solidFill>
                  <a:srgbClr val="B5BAC4"/>
                </a:solidFill>
                <a:latin typeface="Carlito" pitchFamily="34" charset="0"/>
                <a:ea typeface="Carlito" pitchFamily="34" charset="-122"/>
                <a:cs typeface="Carlito" pitchFamily="34" charset="-120"/>
              </a:rPr>
              <a:t>EXTREMAL_003 left this open. We Monte Carlo 15,000 random 24-bit vectors against Golay [24,12,8] and 4 random [24,12] codes. Golay wins by +0.015.</a:t>
            </a:r>
            <a:endParaRPr lang="en-US" sz="900" dirty="0"/>
          </a:p>
        </p:txBody>
      </p:sp>
      <p:sp>
        <p:nvSpPr>
          <p:cNvPr id="14" name="Text 12"/>
          <p:cNvSpPr/>
          <p:nvPr/>
        </p:nvSpPr>
        <p:spPr>
          <a:xfrm>
            <a:off x="662940" y="3495714"/>
            <a:ext cx="1005327" cy="184023"/>
          </a:xfrm>
          <a:prstGeom prst="roundRect">
            <a:avLst>
              <a:gd name="adj" fmla="val 5170807"/>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15" name="Text 13"/>
          <p:cNvSpPr/>
          <p:nvPr/>
        </p:nvSpPr>
        <p:spPr>
          <a:xfrm>
            <a:off x="685800" y="3505572"/>
            <a:ext cx="959607"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FFB454"/>
                </a:solidFill>
                <a:latin typeface="Courier New" pitchFamily="34" charset="0"/>
                <a:ea typeface="Courier New" pitchFamily="34" charset="-122"/>
                <a:cs typeface="Courier New" pitchFamily="34" charset="-120"/>
              </a:rPr>
              <a:t>PARTIALLY CLOSED</a:t>
            </a:r>
            <a:endParaRPr lang="en-US" sz="800" dirty="0"/>
          </a:p>
        </p:txBody>
      </p:sp>
      <p:sp>
        <p:nvSpPr>
          <p:cNvPr id="16" name="Text 14"/>
          <p:cNvSpPr/>
          <p:nvPr/>
        </p:nvSpPr>
        <p:spPr>
          <a:xfrm>
            <a:off x="1722559" y="3495714"/>
            <a:ext cx="955209" cy="184023"/>
          </a:xfrm>
          <a:prstGeom prst="roundRect">
            <a:avLst>
              <a:gd name="adj" fmla="val 5170807"/>
            </a:avLst>
          </a:prstGeom>
          <a:solidFill>
            <a:srgbClr val="1F2630"/>
          </a:solidFill>
          <a:ln w="7144">
            <a:solidFill>
              <a:srgbClr val="6FE3D2"/>
            </a:solidFill>
            <a:prstDash val="solid"/>
          </a:ln>
        </p:spPr>
        <p:txBody>
          <a:bodyPr wrap="square" rtlCol="0" anchor="ctr"/>
          <a:lstStyle/>
          <a:p>
            <a:pPr indent="0" marL="0">
              <a:buNone/>
            </a:pPr>
            <a:endParaRPr lang="en-US" dirty="0"/>
          </a:p>
        </p:txBody>
      </p:sp>
      <p:sp>
        <p:nvSpPr>
          <p:cNvPr id="17" name="Text 15"/>
          <p:cNvSpPr/>
          <p:nvPr/>
        </p:nvSpPr>
        <p:spPr>
          <a:xfrm>
            <a:off x="1745419" y="3505572"/>
            <a:ext cx="909489"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6FE3D2"/>
                </a:solidFill>
                <a:latin typeface="Liberation Sans Narrow" pitchFamily="34" charset="0"/>
                <a:ea typeface="Liberation Sans Narrow" pitchFamily="34" charset="-122"/>
                <a:cs typeface="Liberation Sans Narrow" pitchFamily="34" charset="-120"/>
              </a:rPr>
              <a:t>MONTE CARLO 15K</a:t>
            </a:r>
            <a:endParaRPr lang="en-US" sz="800" dirty="0"/>
          </a:p>
        </p:txBody>
      </p:sp>
      <p:sp>
        <p:nvSpPr>
          <p:cNvPr id="18" name="Text 16"/>
          <p:cNvSpPr/>
          <p:nvPr/>
        </p:nvSpPr>
        <p:spPr>
          <a:xfrm>
            <a:off x="2734587" y="3495714"/>
            <a:ext cx="548988" cy="184023"/>
          </a:xfrm>
          <a:prstGeom prst="roundRect">
            <a:avLst>
              <a:gd name="adj" fmla="val 5170807"/>
            </a:avLst>
          </a:prstGeom>
          <a:solidFill>
            <a:srgbClr val="1F2630"/>
          </a:solidFill>
          <a:ln w="7144">
            <a:solidFill>
              <a:srgbClr val="B097FF"/>
            </a:solidFill>
            <a:prstDash val="solid"/>
          </a:ln>
        </p:spPr>
        <p:txBody>
          <a:bodyPr wrap="square" rtlCol="0" anchor="ctr"/>
          <a:lstStyle/>
          <a:p>
            <a:pPr indent="0" marL="0">
              <a:buNone/>
            </a:pPr>
            <a:endParaRPr lang="en-US" dirty="0"/>
          </a:p>
        </p:txBody>
      </p:sp>
      <p:sp>
        <p:nvSpPr>
          <p:cNvPr id="19" name="Text 17"/>
          <p:cNvSpPr/>
          <p:nvPr/>
        </p:nvSpPr>
        <p:spPr>
          <a:xfrm>
            <a:off x="2754920" y="3505572"/>
            <a:ext cx="508322"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B097FF"/>
                </a:solidFill>
                <a:latin typeface="Liberation Sans Narrow" pitchFamily="34" charset="0"/>
                <a:ea typeface="Liberation Sans Narrow" pitchFamily="34" charset="-122"/>
                <a:cs typeface="Liberation Sans Narrow" pitchFamily="34" charset="-120"/>
              </a:rPr>
              <a:t>OPEN Q5</a:t>
            </a:r>
            <a:endParaRPr lang="en-US" sz="800" dirty="0"/>
          </a:p>
        </p:txBody>
      </p:sp>
      <p:sp>
        <p:nvSpPr>
          <p:cNvPr id="20" name="Text 18"/>
          <p:cNvSpPr/>
          <p:nvPr/>
        </p:nvSpPr>
        <p:spPr>
          <a:xfrm>
            <a:off x="457200" y="4893469"/>
            <a:ext cx="4027401"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Liberation Sans Narrow" pitchFamily="34" charset="0"/>
                <a:ea typeface="Liberation Sans Narrow" pitchFamily="34" charset="-122"/>
                <a:cs typeface="Liberation Sans Narrow" pitchFamily="34" charset="-120"/>
              </a:rPr>
              <a:t>UBP_STUDY_EXTREMAL_004</a:t>
            </a:r>
            <a:endParaRPr lang="en-US" sz="800" dirty="0"/>
          </a:p>
        </p:txBody>
      </p:sp>
      <p:sp>
        <p:nvSpPr>
          <p:cNvPr id="21" name="Text 19"/>
          <p:cNvSpPr/>
          <p:nvPr/>
        </p:nvSpPr>
        <p:spPr>
          <a:xfrm>
            <a:off x="4498888" y="4893469"/>
            <a:ext cx="3978622" cy="164592"/>
          </a:xfrm>
          <a:prstGeom prst="rect">
            <a:avLst/>
          </a:prstGeom>
          <a:noFill/>
          <a:ln/>
        </p:spPr>
        <p:txBody>
          <a:bodyPr wrap="none" lIns="0" tIns="0" rIns="0" bIns="0" rtlCol="0" anchor="t"/>
          <a:lstStyle/>
          <a:p>
            <a:pPr algn="l" indent="0" marL="0">
              <a:lnSpc>
                <a:spcPts val="844"/>
              </a:lnSpc>
              <a:buNone/>
            </a:pPr>
            <a:r>
              <a:rPr lang="en-US" sz="800" spc="45" kern="0" dirty="0">
                <a:solidFill>
                  <a:srgbClr val="6B7280"/>
                </a:solidFill>
                <a:latin typeface="Liberation Sans Narrow" pitchFamily="34" charset="0"/>
                <a:ea typeface="Liberation Sans Narrow" pitchFamily="34" charset="-122"/>
                <a:cs typeface="Liberation Sans Narrow" pitchFamily="34" charset="-120"/>
              </a:rPr>
              <a:t>SECTION 02 · THREAD F</a:t>
            </a:r>
            <a:endParaRPr lang="en-US" sz="800" dirty="0"/>
          </a:p>
        </p:txBody>
      </p:sp>
      <p:sp>
        <p:nvSpPr>
          <p:cNvPr id="22" name="Text 20"/>
          <p:cNvSpPr/>
          <p:nvPr/>
        </p:nvSpPr>
        <p:spPr>
          <a:xfrm>
            <a:off x="8491798" y="4893469"/>
            <a:ext cx="312003"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Liberation Sans Narrow" pitchFamily="34" charset="0"/>
                <a:ea typeface="Liberation Sans Narrow" pitchFamily="34" charset="-122"/>
                <a:cs typeface="Liberation Sans Narrow" pitchFamily="34" charset="-120"/>
              </a:rPr>
              <a:t>p.05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3584711" cy="107156"/>
          </a:xfrm>
          <a:prstGeom prst="rect">
            <a:avLst/>
          </a:prstGeom>
          <a:noFill/>
          <a:ln/>
        </p:spPr>
        <p:txBody>
          <a:bodyPr wrap="non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THREAD F</a:t>
            </a:r>
            <a:endParaRPr lang="en-US" sz="800" dirty="0"/>
          </a:p>
        </p:txBody>
      </p:sp>
      <p:sp>
        <p:nvSpPr>
          <p:cNvPr id="4" name="Text 2"/>
          <p:cNvSpPr/>
          <p:nvPr/>
        </p:nvSpPr>
        <p:spPr>
          <a:xfrm>
            <a:off x="4056199" y="342900"/>
            <a:ext cx="4255219" cy="107156"/>
          </a:xfrm>
          <a:prstGeom prst="rect">
            <a:avLst/>
          </a:prstGeom>
          <a:noFill/>
          <a:ln/>
        </p:spPr>
        <p:txBody>
          <a:bodyPr wrap="non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[24,12,8] MONTE CARLO</a:t>
            </a:r>
            <a:endParaRPr lang="en-US" sz="800" dirty="0"/>
          </a:p>
        </p:txBody>
      </p:sp>
      <p:sp>
        <p:nvSpPr>
          <p:cNvPr id="5" name="Text 3"/>
          <p:cNvSpPr/>
          <p:nvPr/>
        </p:nvSpPr>
        <p:spPr>
          <a:xfrm>
            <a:off x="8325706" y="342900"/>
            <a:ext cx="361094" cy="107156"/>
          </a:xfrm>
          <a:prstGeom prst="rect">
            <a:avLst/>
          </a:prstGeom>
          <a:noFill/>
          <a:ln/>
        </p:spPr>
        <p:txBody>
          <a:bodyPr wrap="non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06 / 16</a:t>
            </a:r>
            <a:endParaRPr lang="en-US" sz="800" dirty="0"/>
          </a:p>
        </p:txBody>
      </p:sp>
      <p:sp>
        <p:nvSpPr>
          <p:cNvPr id="6" name="Text 4"/>
          <p:cNvSpPr/>
          <p:nvPr/>
        </p:nvSpPr>
        <p:spPr>
          <a:xfrm>
            <a:off x="460772" y="689372"/>
            <a:ext cx="4836319" cy="3993356"/>
          </a:xfrm>
          <a:prstGeom prst="roundRect">
            <a:avLst>
              <a:gd name="adj" fmla="val 1431"/>
            </a:avLst>
          </a:prstGeom>
          <a:solidFill>
            <a:srgbClr val="1F2630"/>
          </a:solidFill>
          <a:ln w="7144">
            <a:solidFill>
              <a:srgbClr val="2A3038"/>
            </a:solidFill>
            <a:prstDash val="solid"/>
          </a:ln>
        </p:spPr>
        <p:txBody>
          <a:bodyPr wrap="square" rtlCol="0" anchor="ctr"/>
          <a:lstStyle/>
          <a:p>
            <a:pPr indent="0" marL="0">
              <a:buNone/>
            </a:pPr>
            <a:endParaRPr lang="en-US" dirty="0"/>
          </a:p>
        </p:txBody>
      </p:sp>
      <p:sp>
        <p:nvSpPr>
          <p:cNvPr id="7" name="Text 5"/>
          <p:cNvSpPr/>
          <p:nvPr/>
        </p:nvSpPr>
        <p:spPr>
          <a:xfrm>
            <a:off x="692944" y="807244"/>
            <a:ext cx="3778486" cy="120701"/>
          </a:xfrm>
          <a:prstGeom prst="rect">
            <a:avLst/>
          </a:prstGeom>
          <a:noFill/>
          <a:ln/>
        </p:spPr>
        <p:txBody>
          <a:bodyPr wrap="square" lIns="0" tIns="0" rIns="0" bIns="0" rtlCol="0" anchor="t"/>
          <a:lstStyle/>
          <a:p>
            <a:pPr algn="l" indent="0" marL="0">
              <a:lnSpc>
                <a:spcPts val="844"/>
              </a:lnSpc>
              <a:buNone/>
            </a:pPr>
            <a:r>
              <a:rPr lang="en-US" sz="800" spc="90" kern="0" dirty="0">
                <a:solidFill>
                  <a:srgbClr val="6B7280"/>
                </a:solidFill>
                <a:latin typeface="Courier New" pitchFamily="34" charset="0"/>
                <a:ea typeface="Courier New" pitchFamily="34" charset="-122"/>
                <a:cs typeface="Courier New" pitchFamily="34" charset="-120"/>
              </a:rPr>
              <a:t>FIG 7 · GOLAY [24,12,8] VS 4 RANDOM [24,12]</a:t>
            </a:r>
            <a:endParaRPr lang="en-US" sz="800" dirty="0"/>
          </a:p>
        </p:txBody>
      </p:sp>
      <p:sp>
        <p:nvSpPr>
          <p:cNvPr id="8" name="Text 6"/>
          <p:cNvSpPr/>
          <p:nvPr/>
        </p:nvSpPr>
        <p:spPr>
          <a:xfrm>
            <a:off x="564356" y="803672"/>
            <a:ext cx="91440" cy="91440"/>
          </a:xfrm>
          <a:prstGeom prst="rect">
            <a:avLst/>
          </a:prstGeom>
          <a:noFill/>
          <a:ln/>
        </p:spPr>
        <p:txBody>
          <a:bodyPr wrap="none" lIns="0" tIns="0" rIns="0" bIns="0" rtlCol="0" anchor="ctr"/>
          <a:lstStyle/>
          <a:p>
            <a:pPr algn="ctr" indent="0" marL="0">
              <a:buNone/>
            </a:pPr>
            <a:r>
              <a:rPr lang="en-US" sz="844" dirty="0">
                <a:solidFill>
                  <a:srgbClr val="FFB454"/>
                </a:solidFill>
                <a:latin typeface="Segoe UI Symbol" pitchFamily="34" charset="0"/>
                <a:ea typeface="Segoe UI Symbol" pitchFamily="34" charset="-122"/>
                <a:cs typeface="Segoe UI Symbol" pitchFamily="34" charset="-120"/>
              </a:rPr>
              <a:t>◆</a:t>
            </a:r>
            <a:endParaRPr lang="en-US" sz="844" dirty="0"/>
          </a:p>
        </p:txBody>
      </p:sp>
      <p:sp>
        <p:nvSpPr>
          <p:cNvPr id="9" name="Text 7"/>
          <p:cNvSpPr/>
          <p:nvPr/>
        </p:nvSpPr>
        <p:spPr>
          <a:xfrm>
            <a:off x="4485717" y="792956"/>
            <a:ext cx="707789" cy="164592"/>
          </a:xfrm>
          <a:prstGeom prst="rect">
            <a:avLst/>
          </a:prstGeom>
          <a:noFill/>
          <a:ln/>
        </p:spPr>
        <p:txBody>
          <a:bodyPr wrap="none" lIns="0" tIns="0" rIns="0" bIns="0" rtlCol="0" anchor="t"/>
          <a:lstStyle/>
          <a:p>
            <a:pPr algn="l" indent="0" marL="0">
              <a:lnSpc>
                <a:spcPts val="844"/>
              </a:lnSpc>
              <a:buNone/>
            </a:pPr>
            <a:r>
              <a:rPr lang="en-US" sz="800" spc="90" kern="0" dirty="0">
                <a:solidFill>
                  <a:srgbClr val="6B7280"/>
                </a:solidFill>
                <a:latin typeface="Liberation Sans Narrow" pitchFamily="34" charset="0"/>
                <a:ea typeface="Liberation Sans Narrow" pitchFamily="34" charset="-122"/>
                <a:cs typeface="Liberation Sans Narrow" pitchFamily="34" charset="-120"/>
              </a:rPr>
              <a:t>15K MC TRIALS</a:t>
            </a:r>
            <a:endParaRPr lang="en-US" sz="800" dirty="0"/>
          </a:p>
        </p:txBody>
      </p:sp>
      <p:pic>
        <p:nvPicPr>
          <p:cNvPr id="10" name="Image 0" descr="/tmp/h2p-fit-1782288486961-mil0i7.png">    </p:cNvPr>
          <p:cNvPicPr>
            <a:picLocks noChangeAspect="1"/>
          </p:cNvPicPr>
          <p:nvPr/>
        </p:nvPicPr>
        <p:blipFill>
          <a:blip r:embed="rId1"/>
          <a:stretch>
            <a:fillRect/>
          </a:stretch>
        </p:blipFill>
        <p:spPr>
          <a:xfrm>
            <a:off x="564356" y="971550"/>
            <a:ext cx="4629150" cy="3454003"/>
          </a:xfrm>
          <a:prstGeom prst="rect">
            <a:avLst/>
          </a:prstGeom>
        </p:spPr>
      </p:pic>
      <p:sp>
        <p:nvSpPr>
          <p:cNvPr id="11" name="Text 8"/>
          <p:cNvSpPr/>
          <p:nvPr/>
        </p:nvSpPr>
        <p:spPr>
          <a:xfrm>
            <a:off x="564356" y="4482703"/>
            <a:ext cx="4629150" cy="96441"/>
          </a:xfrm>
          <a:prstGeom prst="rect">
            <a:avLst/>
          </a:prstGeom>
          <a:noFill/>
          <a:ln/>
        </p:spPr>
        <p:txBody>
          <a:bodyPr wrap="square" lIns="0" tIns="0" rIns="0" bIns="0" rtlCol="0" anchor="t"/>
          <a:lstStyle/>
          <a:p>
            <a:pPr algn="r" indent="0" marL="0">
              <a:lnSpc>
                <a:spcPts val="759"/>
              </a:lnSpc>
              <a:buNone/>
            </a:pPr>
            <a:r>
              <a:rPr lang="en-US" sz="800" spc="71" kern="0" dirty="0">
                <a:solidFill>
                  <a:srgbClr val="6B7280"/>
                </a:solidFill>
                <a:latin typeface="Courier New" pitchFamily="34" charset="0"/>
                <a:ea typeface="Courier New" pitchFamily="34" charset="-122"/>
                <a:cs typeface="Courier New" pitchFamily="34" charset="-120"/>
              </a:rPr>
              <a:t>SOURCE: UBP_STUDY_EXTREMAL_004 / TH_F / MC_GOLAY24.PY</a:t>
            </a:r>
            <a:endParaRPr lang="en-US" sz="800" dirty="0"/>
          </a:p>
        </p:txBody>
      </p:sp>
      <p:sp>
        <p:nvSpPr>
          <p:cNvPr id="12" name="Text 9"/>
          <p:cNvSpPr/>
          <p:nvPr/>
        </p:nvSpPr>
        <p:spPr>
          <a:xfrm>
            <a:off x="5457825" y="685800"/>
            <a:ext cx="342900" cy="21431"/>
          </a:xfrm>
          <a:prstGeom prst="rect">
            <a:avLst/>
          </a:prstGeom>
          <a:solidFill>
            <a:srgbClr val="FFB454"/>
          </a:solidFill>
          <a:ln/>
        </p:spPr>
        <p:txBody>
          <a:bodyPr wrap="square" rtlCol="0" anchor="ctr"/>
          <a:lstStyle/>
          <a:p>
            <a:pPr indent="0" marL="0">
              <a:buNone/>
            </a:pPr>
            <a:endParaRPr lang="en-US" dirty="0"/>
          </a:p>
        </p:txBody>
      </p:sp>
      <p:sp>
        <p:nvSpPr>
          <p:cNvPr id="13" name="Text 10"/>
          <p:cNvSpPr/>
          <p:nvPr/>
        </p:nvSpPr>
        <p:spPr>
          <a:xfrm>
            <a:off x="5457825" y="821531"/>
            <a:ext cx="3487293" cy="203610"/>
          </a:xfrm>
          <a:prstGeom prst="rect">
            <a:avLst/>
          </a:prstGeom>
          <a:noFill/>
          <a:ln/>
        </p:spPr>
        <p:txBody>
          <a:bodyPr wrap="square" lIns="0" tIns="0" rIns="0" bIns="0" rtlCol="0" anchor="t"/>
          <a:lstStyle/>
          <a:p>
            <a:pPr algn="l" indent="0" marL="0">
              <a:lnSpc>
                <a:spcPts val="1485"/>
              </a:lnSpc>
              <a:buNone/>
            </a:pPr>
            <a:r>
              <a:rPr lang="en-US" sz="1238" spc="-6" kern="0" dirty="0">
                <a:solidFill>
                  <a:srgbClr val="FFB454"/>
                </a:solidFill>
                <a:latin typeface="Liberation Sans Narrow" pitchFamily="34" charset="0"/>
                <a:ea typeface="Liberation Sans Narrow" pitchFamily="34" charset="-122"/>
                <a:cs typeface="Liberation Sans Narrow" pitchFamily="34" charset="-120"/>
              </a:rPr>
              <a:t>Golay wins by +0.015 (3x MC SE)</a:t>
            </a:r>
            <a:endParaRPr lang="en-US" sz="1238" dirty="0"/>
          </a:p>
        </p:txBody>
      </p:sp>
      <p:sp>
        <p:nvSpPr>
          <p:cNvPr id="14" name="Text 11"/>
          <p:cNvSpPr/>
          <p:nvPr/>
        </p:nvSpPr>
        <p:spPr>
          <a:xfrm>
            <a:off x="5414963" y="1067209"/>
            <a:ext cx="3314700" cy="292894"/>
          </a:xfrm>
          <a:prstGeom prst="roundRect">
            <a:avLst>
              <a:gd name="adj" fmla="val 9756"/>
            </a:avLst>
          </a:prstGeom>
          <a:solidFill>
            <a:srgbClr val="FFB454">
              <a:alpha val="6000"/>
            </a:srgbClr>
          </a:solidFill>
          <a:ln/>
        </p:spPr>
        <p:txBody>
          <a:bodyPr wrap="square" rtlCol="0" anchor="ctr"/>
          <a:lstStyle/>
          <a:p>
            <a:pPr indent="0" marL="0">
              <a:buNone/>
            </a:pPr>
            <a:endParaRPr lang="en-US" dirty="0"/>
          </a:p>
        </p:txBody>
      </p:sp>
      <p:sp>
        <p:nvSpPr>
          <p:cNvPr id="15" name="Shape 12"/>
          <p:cNvSpPr/>
          <p:nvPr/>
        </p:nvSpPr>
        <p:spPr>
          <a:xfrm>
            <a:off x="5414963" y="1356531"/>
            <a:ext cx="3314700" cy="0"/>
          </a:xfrm>
          <a:prstGeom prst="line">
            <a:avLst/>
          </a:prstGeom>
          <a:noFill/>
          <a:ln w="7144">
            <a:solidFill>
              <a:srgbClr val="FFB454"/>
            </a:solidFill>
            <a:prstDash val="dash"/>
          </a:ln>
        </p:spPr>
      </p:sp>
      <p:sp>
        <p:nvSpPr>
          <p:cNvPr id="16" name="Text 13"/>
          <p:cNvSpPr/>
          <p:nvPr/>
        </p:nvSpPr>
        <p:spPr>
          <a:xfrm>
            <a:off x="5457825" y="1151148"/>
            <a:ext cx="1450142" cy="164592"/>
          </a:xfrm>
          <a:prstGeom prst="rect">
            <a:avLst/>
          </a:prstGeom>
          <a:noFill/>
          <a:ln/>
        </p:spPr>
        <p:txBody>
          <a:bodyPr wrap="none" lIns="0" tIns="0" rIns="0" bIns="0" rtlCol="0" anchor="t"/>
          <a:lstStyle/>
          <a:p>
            <a:pPr algn="l" indent="0" marL="0">
              <a:lnSpc>
                <a:spcPts val="928"/>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Golay [24,12,8]</a:t>
            </a:r>
            <a:endParaRPr lang="en-US" sz="800" dirty="0"/>
          </a:p>
        </p:txBody>
      </p:sp>
      <p:sp>
        <p:nvSpPr>
          <p:cNvPr id="17" name="Text 14"/>
          <p:cNvSpPr/>
          <p:nvPr/>
        </p:nvSpPr>
        <p:spPr>
          <a:xfrm>
            <a:off x="6881775" y="1145791"/>
            <a:ext cx="1295349" cy="164592"/>
          </a:xfrm>
          <a:prstGeom prst="rect">
            <a:avLst/>
          </a:prstGeom>
          <a:noFill/>
          <a:ln/>
        </p:spPr>
        <p:txBody>
          <a:bodyPr wrap="none" lIns="0" tIns="0" rIns="0" bIns="0" rtlCol="0" anchor="t"/>
          <a:lstStyle/>
          <a:p>
            <a:pPr algn="l" indent="0" marL="0">
              <a:lnSpc>
                <a:spcPts val="1013"/>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2.1459</a:t>
            </a:r>
            <a:endParaRPr lang="en-US" sz="800" dirty="0"/>
          </a:p>
        </p:txBody>
      </p:sp>
      <p:sp>
        <p:nvSpPr>
          <p:cNvPr id="18" name="Text 15"/>
          <p:cNvSpPr/>
          <p:nvPr/>
        </p:nvSpPr>
        <p:spPr>
          <a:xfrm>
            <a:off x="7877101" y="1102928"/>
            <a:ext cx="809588" cy="214313"/>
          </a:xfrm>
          <a:prstGeom prst="rect">
            <a:avLst/>
          </a:prstGeom>
          <a:noFill/>
          <a:ln/>
        </p:spPr>
        <p:txBody>
          <a:bodyPr wrap="square" lIns="0" tIns="0" rIns="0" bIns="0" rtlCol="0" anchor="t"/>
          <a:lstStyle/>
          <a:p>
            <a:pPr algn="r" indent="0" marL="0">
              <a:lnSpc>
                <a:spcPts val="844"/>
              </a:lnSpc>
              <a:buNone/>
            </a:pPr>
            <a:r>
              <a:rPr lang="en-US" sz="800" dirty="0">
                <a:solidFill>
                  <a:srgbClr val="6FE3D2"/>
                </a:solidFill>
                <a:latin typeface="Liberation Sans Narrow" pitchFamily="34" charset="0"/>
                <a:ea typeface="Liberation Sans Narrow" pitchFamily="34" charset="-122"/>
                <a:cs typeface="Liberation Sans Narrow" pitchFamily="34" charset="-120"/>
              </a:rPr>
              <a:t>d=8, self-dual · BEST</a:t>
            </a:r>
            <a:endParaRPr lang="en-US" sz="800" dirty="0"/>
          </a:p>
        </p:txBody>
      </p:sp>
      <p:sp>
        <p:nvSpPr>
          <p:cNvPr id="19" name="Shape 16"/>
          <p:cNvSpPr/>
          <p:nvPr/>
        </p:nvSpPr>
        <p:spPr>
          <a:xfrm>
            <a:off x="5457825" y="1563700"/>
            <a:ext cx="3228975" cy="0"/>
          </a:xfrm>
          <a:prstGeom prst="line">
            <a:avLst/>
          </a:prstGeom>
          <a:noFill/>
          <a:ln w="7144">
            <a:solidFill>
              <a:srgbClr val="2A3038"/>
            </a:solidFill>
            <a:prstDash val="dash"/>
          </a:ln>
        </p:spPr>
      </p:sp>
      <p:sp>
        <p:nvSpPr>
          <p:cNvPr id="20" name="Text 17"/>
          <p:cNvSpPr/>
          <p:nvPr/>
        </p:nvSpPr>
        <p:spPr>
          <a:xfrm>
            <a:off x="5457825" y="1401180"/>
            <a:ext cx="1767792" cy="123230"/>
          </a:xfrm>
          <a:prstGeom prst="rect">
            <a:avLst/>
          </a:prstGeom>
          <a:noFill/>
          <a:ln/>
        </p:spPr>
        <p:txBody>
          <a:bodyPr wrap="none" lIns="0" tIns="0" rIns="0" bIns="0" rtlCol="0" anchor="t"/>
          <a:lstStyle/>
          <a:p>
            <a:pPr algn="l" indent="0" marL="0">
              <a:lnSpc>
                <a:spcPts val="928"/>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Random #1</a:t>
            </a:r>
            <a:endParaRPr lang="en-US" sz="800" dirty="0"/>
          </a:p>
        </p:txBody>
      </p:sp>
      <p:sp>
        <p:nvSpPr>
          <p:cNvPr id="21" name="Text 18"/>
          <p:cNvSpPr/>
          <p:nvPr/>
        </p:nvSpPr>
        <p:spPr>
          <a:xfrm>
            <a:off x="6881775" y="1395822"/>
            <a:ext cx="1295349" cy="128588"/>
          </a:xfrm>
          <a:prstGeom prst="rect">
            <a:avLst/>
          </a:prstGeom>
          <a:noFill/>
          <a:ln/>
        </p:spPr>
        <p:txBody>
          <a:bodyPr wrap="none" lIns="0" tIns="0" rIns="0" bIns="0" rtlCol="0" anchor="t"/>
          <a:lstStyle/>
          <a:p>
            <a:pPr algn="l" indent="0" marL="0">
              <a:lnSpc>
                <a:spcPts val="1013"/>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2.1310</a:t>
            </a:r>
            <a:endParaRPr lang="en-US" sz="800" dirty="0"/>
          </a:p>
        </p:txBody>
      </p:sp>
      <p:sp>
        <p:nvSpPr>
          <p:cNvPr id="22" name="Text 19"/>
          <p:cNvSpPr/>
          <p:nvPr/>
        </p:nvSpPr>
        <p:spPr>
          <a:xfrm>
            <a:off x="7407540" y="1406537"/>
            <a:ext cx="1279149" cy="117872"/>
          </a:xfrm>
          <a:prstGeom prst="rect">
            <a:avLst/>
          </a:prstGeom>
          <a:noFill/>
          <a:ln/>
        </p:spPr>
        <p:txBody>
          <a:bodyPr wrap="none" lIns="0" tIns="0" rIns="0" bIns="0" rtlCol="0" anchor="t"/>
          <a:lstStyle/>
          <a:p>
            <a:pPr algn="r" indent="0" marL="0">
              <a:lnSpc>
                <a:spcPts val="844"/>
              </a:lnSpc>
              <a:buNone/>
            </a:pPr>
            <a:r>
              <a:rPr lang="en-US" sz="800" dirty="0">
                <a:solidFill>
                  <a:srgbClr val="6B7280"/>
                </a:solidFill>
                <a:latin typeface="Liberation Sans Narrow" pitchFamily="34" charset="0"/>
                <a:ea typeface="Liberation Sans Narrow" pitchFamily="34" charset="-122"/>
                <a:cs typeface="Liberation Sans Narrow" pitchFamily="34" charset="-120"/>
              </a:rPr>
              <a:t>d=4</a:t>
            </a:r>
            <a:endParaRPr lang="en-US" sz="800" dirty="0"/>
          </a:p>
        </p:txBody>
      </p:sp>
      <p:sp>
        <p:nvSpPr>
          <p:cNvPr id="23" name="Shape 20"/>
          <p:cNvSpPr/>
          <p:nvPr/>
        </p:nvSpPr>
        <p:spPr>
          <a:xfrm>
            <a:off x="5457825" y="1770869"/>
            <a:ext cx="3228975" cy="0"/>
          </a:xfrm>
          <a:prstGeom prst="line">
            <a:avLst/>
          </a:prstGeom>
          <a:noFill/>
          <a:ln w="7144">
            <a:solidFill>
              <a:srgbClr val="2A3038"/>
            </a:solidFill>
            <a:prstDash val="dash"/>
          </a:ln>
        </p:spPr>
      </p:sp>
      <p:sp>
        <p:nvSpPr>
          <p:cNvPr id="24" name="Text 21"/>
          <p:cNvSpPr/>
          <p:nvPr/>
        </p:nvSpPr>
        <p:spPr>
          <a:xfrm>
            <a:off x="5457825" y="1608348"/>
            <a:ext cx="1767792" cy="123230"/>
          </a:xfrm>
          <a:prstGeom prst="rect">
            <a:avLst/>
          </a:prstGeom>
          <a:noFill/>
          <a:ln/>
        </p:spPr>
        <p:txBody>
          <a:bodyPr wrap="none" lIns="0" tIns="0" rIns="0" bIns="0" rtlCol="0" anchor="t"/>
          <a:lstStyle/>
          <a:p>
            <a:pPr algn="l" indent="0" marL="0">
              <a:lnSpc>
                <a:spcPts val="928"/>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Random #2</a:t>
            </a:r>
            <a:endParaRPr lang="en-US" sz="800" dirty="0"/>
          </a:p>
        </p:txBody>
      </p:sp>
      <p:sp>
        <p:nvSpPr>
          <p:cNvPr id="25" name="Text 22"/>
          <p:cNvSpPr/>
          <p:nvPr/>
        </p:nvSpPr>
        <p:spPr>
          <a:xfrm>
            <a:off x="6881775" y="1602991"/>
            <a:ext cx="1295349" cy="128588"/>
          </a:xfrm>
          <a:prstGeom prst="rect">
            <a:avLst/>
          </a:prstGeom>
          <a:noFill/>
          <a:ln/>
        </p:spPr>
        <p:txBody>
          <a:bodyPr wrap="none" lIns="0" tIns="0" rIns="0" bIns="0" rtlCol="0" anchor="t"/>
          <a:lstStyle/>
          <a:p>
            <a:pPr algn="l" indent="0" marL="0">
              <a:lnSpc>
                <a:spcPts val="1013"/>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2.1259</a:t>
            </a:r>
            <a:endParaRPr lang="en-US" sz="800" dirty="0"/>
          </a:p>
        </p:txBody>
      </p:sp>
      <p:sp>
        <p:nvSpPr>
          <p:cNvPr id="26" name="Text 23"/>
          <p:cNvSpPr/>
          <p:nvPr/>
        </p:nvSpPr>
        <p:spPr>
          <a:xfrm>
            <a:off x="7407540" y="1613706"/>
            <a:ext cx="1279149" cy="117872"/>
          </a:xfrm>
          <a:prstGeom prst="rect">
            <a:avLst/>
          </a:prstGeom>
          <a:noFill/>
          <a:ln/>
        </p:spPr>
        <p:txBody>
          <a:bodyPr wrap="none" lIns="0" tIns="0" rIns="0" bIns="0" rtlCol="0" anchor="t"/>
          <a:lstStyle/>
          <a:p>
            <a:pPr algn="r" indent="0" marL="0">
              <a:lnSpc>
                <a:spcPts val="844"/>
              </a:lnSpc>
              <a:buNone/>
            </a:pPr>
            <a:r>
              <a:rPr lang="en-US" sz="800" dirty="0">
                <a:solidFill>
                  <a:srgbClr val="6B7280"/>
                </a:solidFill>
                <a:latin typeface="Liberation Sans Narrow" pitchFamily="34" charset="0"/>
                <a:ea typeface="Liberation Sans Narrow" pitchFamily="34" charset="-122"/>
                <a:cs typeface="Liberation Sans Narrow" pitchFamily="34" charset="-120"/>
              </a:rPr>
              <a:t>d=4</a:t>
            </a:r>
            <a:endParaRPr lang="en-US" sz="800" dirty="0"/>
          </a:p>
        </p:txBody>
      </p:sp>
      <p:sp>
        <p:nvSpPr>
          <p:cNvPr id="27" name="Shape 24"/>
          <p:cNvSpPr/>
          <p:nvPr/>
        </p:nvSpPr>
        <p:spPr>
          <a:xfrm>
            <a:off x="5457825" y="1978037"/>
            <a:ext cx="3228975" cy="0"/>
          </a:xfrm>
          <a:prstGeom prst="line">
            <a:avLst/>
          </a:prstGeom>
          <a:noFill/>
          <a:ln w="7144">
            <a:solidFill>
              <a:srgbClr val="2A3038"/>
            </a:solidFill>
            <a:prstDash val="dash"/>
          </a:ln>
        </p:spPr>
      </p:sp>
      <p:sp>
        <p:nvSpPr>
          <p:cNvPr id="28" name="Text 25"/>
          <p:cNvSpPr/>
          <p:nvPr/>
        </p:nvSpPr>
        <p:spPr>
          <a:xfrm>
            <a:off x="5457825" y="1815517"/>
            <a:ext cx="1767792" cy="123230"/>
          </a:xfrm>
          <a:prstGeom prst="rect">
            <a:avLst/>
          </a:prstGeom>
          <a:noFill/>
          <a:ln/>
        </p:spPr>
        <p:txBody>
          <a:bodyPr wrap="none" lIns="0" tIns="0" rIns="0" bIns="0" rtlCol="0" anchor="t"/>
          <a:lstStyle/>
          <a:p>
            <a:pPr algn="l" indent="0" marL="0">
              <a:lnSpc>
                <a:spcPts val="928"/>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Random #3</a:t>
            </a:r>
            <a:endParaRPr lang="en-US" sz="800" dirty="0"/>
          </a:p>
        </p:txBody>
      </p:sp>
      <p:sp>
        <p:nvSpPr>
          <p:cNvPr id="29" name="Text 26"/>
          <p:cNvSpPr/>
          <p:nvPr/>
        </p:nvSpPr>
        <p:spPr>
          <a:xfrm>
            <a:off x="6881775" y="1810159"/>
            <a:ext cx="1295349" cy="128588"/>
          </a:xfrm>
          <a:prstGeom prst="rect">
            <a:avLst/>
          </a:prstGeom>
          <a:noFill/>
          <a:ln/>
        </p:spPr>
        <p:txBody>
          <a:bodyPr wrap="none" lIns="0" tIns="0" rIns="0" bIns="0" rtlCol="0" anchor="t"/>
          <a:lstStyle/>
          <a:p>
            <a:pPr algn="l" indent="0" marL="0">
              <a:lnSpc>
                <a:spcPts val="1013"/>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2.1311</a:t>
            </a:r>
            <a:endParaRPr lang="en-US" sz="800" dirty="0"/>
          </a:p>
        </p:txBody>
      </p:sp>
      <p:sp>
        <p:nvSpPr>
          <p:cNvPr id="30" name="Text 27"/>
          <p:cNvSpPr/>
          <p:nvPr/>
        </p:nvSpPr>
        <p:spPr>
          <a:xfrm>
            <a:off x="7737851" y="1820875"/>
            <a:ext cx="948837" cy="117872"/>
          </a:xfrm>
          <a:prstGeom prst="rect">
            <a:avLst/>
          </a:prstGeom>
          <a:noFill/>
          <a:ln/>
        </p:spPr>
        <p:txBody>
          <a:bodyPr wrap="none" lIns="0" tIns="0" rIns="0" bIns="0" rtlCol="0" anchor="t"/>
          <a:lstStyle/>
          <a:p>
            <a:pPr algn="r" indent="0" marL="0">
              <a:lnSpc>
                <a:spcPts val="844"/>
              </a:lnSpc>
              <a:buNone/>
            </a:pPr>
            <a:r>
              <a:rPr lang="en-US" sz="800" dirty="0">
                <a:solidFill>
                  <a:srgbClr val="B097FF"/>
                </a:solidFill>
                <a:latin typeface="Liberation Sans Narrow" pitchFamily="34" charset="0"/>
                <a:ea typeface="Liberation Sans Narrow" pitchFamily="34" charset="-122"/>
                <a:cs typeface="Liberation Sans Narrow" pitchFamily="34" charset="-120"/>
              </a:rPr>
              <a:t>d=3, best random</a:t>
            </a:r>
            <a:endParaRPr lang="en-US" sz="800" dirty="0"/>
          </a:p>
        </p:txBody>
      </p:sp>
      <p:sp>
        <p:nvSpPr>
          <p:cNvPr id="31" name="Text 28"/>
          <p:cNvSpPr/>
          <p:nvPr/>
        </p:nvSpPr>
        <p:spPr>
          <a:xfrm>
            <a:off x="5457825" y="2022686"/>
            <a:ext cx="1767792" cy="164592"/>
          </a:xfrm>
          <a:prstGeom prst="rect">
            <a:avLst/>
          </a:prstGeom>
          <a:noFill/>
          <a:ln/>
        </p:spPr>
        <p:txBody>
          <a:bodyPr wrap="none" lIns="0" tIns="0" rIns="0" bIns="0" rtlCol="0" anchor="t"/>
          <a:lstStyle/>
          <a:p>
            <a:pPr algn="l" indent="0" marL="0">
              <a:lnSpc>
                <a:spcPts val="928"/>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Random #4</a:t>
            </a:r>
            <a:endParaRPr lang="en-US" sz="800" dirty="0"/>
          </a:p>
        </p:txBody>
      </p:sp>
      <p:sp>
        <p:nvSpPr>
          <p:cNvPr id="32" name="Text 29"/>
          <p:cNvSpPr/>
          <p:nvPr/>
        </p:nvSpPr>
        <p:spPr>
          <a:xfrm>
            <a:off x="6881775" y="2017328"/>
            <a:ext cx="1295349" cy="164592"/>
          </a:xfrm>
          <a:prstGeom prst="rect">
            <a:avLst/>
          </a:prstGeom>
          <a:noFill/>
          <a:ln/>
        </p:spPr>
        <p:txBody>
          <a:bodyPr wrap="none" lIns="0" tIns="0" rIns="0" bIns="0" rtlCol="0" anchor="t"/>
          <a:lstStyle/>
          <a:p>
            <a:pPr algn="l" indent="0" marL="0">
              <a:lnSpc>
                <a:spcPts val="1013"/>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2.1273</a:t>
            </a:r>
            <a:endParaRPr lang="en-US" sz="800" dirty="0"/>
          </a:p>
        </p:txBody>
      </p:sp>
      <p:sp>
        <p:nvSpPr>
          <p:cNvPr id="33" name="Text 30"/>
          <p:cNvSpPr/>
          <p:nvPr/>
        </p:nvSpPr>
        <p:spPr>
          <a:xfrm>
            <a:off x="7407540" y="2028044"/>
            <a:ext cx="1279149" cy="164592"/>
          </a:xfrm>
          <a:prstGeom prst="rect">
            <a:avLst/>
          </a:prstGeom>
          <a:noFill/>
          <a:ln/>
        </p:spPr>
        <p:txBody>
          <a:bodyPr wrap="none" lIns="0" tIns="0" rIns="0" bIns="0" rtlCol="0" anchor="t"/>
          <a:lstStyle/>
          <a:p>
            <a:pPr algn="r" indent="0" marL="0">
              <a:lnSpc>
                <a:spcPts val="844"/>
              </a:lnSpc>
              <a:buNone/>
            </a:pPr>
            <a:r>
              <a:rPr lang="en-US" sz="800" dirty="0">
                <a:solidFill>
                  <a:srgbClr val="6B7280"/>
                </a:solidFill>
                <a:latin typeface="Liberation Sans Narrow" pitchFamily="34" charset="0"/>
                <a:ea typeface="Liberation Sans Narrow" pitchFamily="34" charset="-122"/>
                <a:cs typeface="Liberation Sans Narrow" pitchFamily="34" charset="-120"/>
              </a:rPr>
              <a:t>d=4</a:t>
            </a:r>
            <a:endParaRPr lang="en-US" sz="800" dirty="0"/>
          </a:p>
        </p:txBody>
      </p:sp>
      <p:sp>
        <p:nvSpPr>
          <p:cNvPr id="34" name="Text 31"/>
          <p:cNvSpPr/>
          <p:nvPr/>
        </p:nvSpPr>
        <p:spPr>
          <a:xfrm>
            <a:off x="5461397" y="2228069"/>
            <a:ext cx="1578769" cy="353616"/>
          </a:xfrm>
          <a:prstGeom prst="roundRect">
            <a:avLst>
              <a:gd name="adj" fmla="val 8081"/>
            </a:avLst>
          </a:prstGeom>
          <a:solidFill>
            <a:srgbClr val="1F2630"/>
          </a:solidFill>
          <a:ln w="7144">
            <a:solidFill>
              <a:srgbClr val="2A3038"/>
            </a:solidFill>
            <a:prstDash val="solid"/>
          </a:ln>
        </p:spPr>
        <p:txBody>
          <a:bodyPr wrap="square" rtlCol="0" anchor="ctr"/>
          <a:lstStyle/>
          <a:p>
            <a:pPr indent="0" marL="0">
              <a:buNone/>
            </a:pPr>
            <a:endParaRPr lang="en-US" dirty="0"/>
          </a:p>
        </p:txBody>
      </p:sp>
      <p:sp>
        <p:nvSpPr>
          <p:cNvPr id="35" name="Text 32"/>
          <p:cNvSpPr/>
          <p:nvPr/>
        </p:nvSpPr>
        <p:spPr>
          <a:xfrm>
            <a:off x="5536406" y="2274503"/>
            <a:ext cx="1428750" cy="91440"/>
          </a:xfrm>
          <a:prstGeom prst="rect">
            <a:avLst/>
          </a:prstGeom>
          <a:noFill/>
          <a:ln/>
        </p:spPr>
        <p:txBody>
          <a:bodyPr wrap="none" lIns="0" tIns="0" rIns="0" bIns="0" rtlCol="0" anchor="t">
            <a:normAutofit/>
          </a:bodyPr>
          <a:lstStyle/>
          <a:p>
            <a:pPr algn="l" indent="0" marL="0">
              <a:lnSpc>
                <a:spcPts val="759"/>
              </a:lnSpc>
              <a:buNone/>
            </a:pPr>
            <a:r>
              <a:rPr lang="en-US" sz="800" spc="71" kern="0" dirty="0">
                <a:solidFill>
                  <a:srgbClr val="6B7280"/>
                </a:solidFill>
                <a:latin typeface="Courier New" pitchFamily="34" charset="0"/>
                <a:ea typeface="Courier New" pitchFamily="34" charset="-122"/>
                <a:cs typeface="Courier New" pitchFamily="34" charset="-120"/>
              </a:rPr>
              <a:t>MARGIN (BEST RANDOM)</a:t>
            </a:r>
            <a:endParaRPr lang="en-US" sz="800" dirty="0"/>
          </a:p>
        </p:txBody>
      </p:sp>
      <p:sp>
        <p:nvSpPr>
          <p:cNvPr id="36" name="Text 33"/>
          <p:cNvSpPr/>
          <p:nvPr/>
        </p:nvSpPr>
        <p:spPr>
          <a:xfrm>
            <a:off x="5536406" y="2385231"/>
            <a:ext cx="1428750" cy="150019"/>
          </a:xfrm>
          <a:prstGeom prst="rect">
            <a:avLst/>
          </a:prstGeom>
          <a:noFill/>
          <a:ln/>
        </p:spPr>
        <p:txBody>
          <a:bodyPr wrap="none" lIns="0" tIns="0" rIns="0" bIns="0" rtlCol="0" anchor="t"/>
          <a:lstStyle/>
          <a:p>
            <a:pPr algn="l" indent="0" marL="0">
              <a:lnSpc>
                <a:spcPts val="1181"/>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+0.0147</a:t>
            </a:r>
            <a:endParaRPr lang="en-US" sz="800" dirty="0"/>
          </a:p>
        </p:txBody>
      </p:sp>
      <p:sp>
        <p:nvSpPr>
          <p:cNvPr id="37" name="Text 34"/>
          <p:cNvSpPr/>
          <p:nvPr/>
        </p:nvSpPr>
        <p:spPr>
          <a:xfrm>
            <a:off x="7104459" y="2228069"/>
            <a:ext cx="1578769" cy="353616"/>
          </a:xfrm>
          <a:prstGeom prst="roundRect">
            <a:avLst>
              <a:gd name="adj" fmla="val 8081"/>
            </a:avLst>
          </a:prstGeom>
          <a:solidFill>
            <a:srgbClr val="1F2630"/>
          </a:solidFill>
          <a:ln w="7144">
            <a:solidFill>
              <a:srgbClr val="2A3038"/>
            </a:solidFill>
            <a:prstDash val="solid"/>
          </a:ln>
        </p:spPr>
        <p:txBody>
          <a:bodyPr wrap="square" rtlCol="0" anchor="ctr"/>
          <a:lstStyle/>
          <a:p>
            <a:pPr indent="0" marL="0">
              <a:buNone/>
            </a:pPr>
            <a:endParaRPr lang="en-US" dirty="0"/>
          </a:p>
        </p:txBody>
      </p:sp>
      <p:sp>
        <p:nvSpPr>
          <p:cNvPr id="38" name="Text 35"/>
          <p:cNvSpPr/>
          <p:nvPr/>
        </p:nvSpPr>
        <p:spPr>
          <a:xfrm>
            <a:off x="7179469" y="2274503"/>
            <a:ext cx="1428750" cy="91440"/>
          </a:xfrm>
          <a:prstGeom prst="rect">
            <a:avLst/>
          </a:prstGeom>
          <a:noFill/>
          <a:ln/>
        </p:spPr>
        <p:txBody>
          <a:bodyPr wrap="none" lIns="0" tIns="0" rIns="0" bIns="0" rtlCol="0" anchor="t">
            <a:normAutofit/>
          </a:bodyPr>
          <a:lstStyle/>
          <a:p>
            <a:pPr algn="l" indent="0" marL="0">
              <a:lnSpc>
                <a:spcPts val="759"/>
              </a:lnSpc>
              <a:buNone/>
            </a:pPr>
            <a:r>
              <a:rPr lang="en-US" sz="800" spc="71" kern="0" dirty="0">
                <a:solidFill>
                  <a:srgbClr val="6B7280"/>
                </a:solidFill>
                <a:latin typeface="Courier New" pitchFamily="34" charset="0"/>
                <a:ea typeface="Courier New" pitchFamily="34" charset="-122"/>
                <a:cs typeface="Courier New" pitchFamily="34" charset="-120"/>
              </a:rPr>
              <a:t>MC STD ERROR</a:t>
            </a:r>
            <a:endParaRPr lang="en-US" sz="800" dirty="0"/>
          </a:p>
        </p:txBody>
      </p:sp>
      <p:sp>
        <p:nvSpPr>
          <p:cNvPr id="39" name="Text 36"/>
          <p:cNvSpPr/>
          <p:nvPr/>
        </p:nvSpPr>
        <p:spPr>
          <a:xfrm>
            <a:off x="7179469" y="2385231"/>
            <a:ext cx="1428750" cy="150019"/>
          </a:xfrm>
          <a:prstGeom prst="rect">
            <a:avLst/>
          </a:prstGeom>
          <a:noFill/>
          <a:ln/>
        </p:spPr>
        <p:txBody>
          <a:bodyPr wrap="none" lIns="0" tIns="0" rIns="0" bIns="0" rtlCol="0" anchor="t"/>
          <a:lstStyle/>
          <a:p>
            <a:pPr algn="l" indent="0" marL="0">
              <a:lnSpc>
                <a:spcPts val="1181"/>
              </a:lnSpc>
              <a:buNone/>
            </a:pPr>
            <a:r>
              <a:rPr lang="en-US" sz="800" dirty="0">
                <a:solidFill>
                  <a:srgbClr val="6FE3D2"/>
                </a:solidFill>
                <a:latin typeface="Liberation Sans Narrow" pitchFamily="34" charset="0"/>
                <a:ea typeface="Liberation Sans Narrow" pitchFamily="34" charset="-122"/>
                <a:cs typeface="Liberation Sans Narrow" pitchFamily="34" charset="-120"/>
              </a:rPr>
              <a:t>~0.005</a:t>
            </a:r>
            <a:endParaRPr lang="en-US" sz="800" dirty="0"/>
          </a:p>
        </p:txBody>
      </p:sp>
      <p:sp>
        <p:nvSpPr>
          <p:cNvPr id="40" name="Text 37"/>
          <p:cNvSpPr/>
          <p:nvPr/>
        </p:nvSpPr>
        <p:spPr>
          <a:xfrm>
            <a:off x="5457825" y="2642406"/>
            <a:ext cx="3651769" cy="147590"/>
          </a:xfrm>
          <a:prstGeom prst="rect">
            <a:avLst/>
          </a:prstGeom>
          <a:noFill/>
          <a:ln/>
        </p:spPr>
        <p:txBody>
          <a:bodyPr wrap="none" lIns="0" tIns="0" rIns="0" bIns="0" rtlCol="0" anchor="t">
            <a:normAutofit/>
          </a:bodyPr>
          <a:lstStyle/>
          <a:p>
            <a:pPr algn="l" indent="0" marL="0">
              <a:lnSpc>
                <a:spcPts val="928"/>
              </a:lnSpc>
              <a:buNone/>
            </a:pPr>
            <a:r>
              <a:rPr lang="en-US" sz="800" spc="25" kern="0" dirty="0">
                <a:solidFill>
                  <a:srgbClr val="6FE3D2"/>
                </a:solidFill>
                <a:latin typeface="Courier New" pitchFamily="34" charset="0"/>
                <a:ea typeface="Courier New" pitchFamily="34" charset="-122"/>
                <a:cs typeface="Courier New" pitchFamily="34" charset="-120"/>
              </a:rPr>
              <a:t>GOLAY IS HIGHEST? </a:t>
            </a:r>
            <a:pPr algn="l" indent="0" marL="0">
              <a:lnSpc>
                <a:spcPts val="928"/>
              </a:lnSpc>
              <a:buNone/>
            </a:pPr>
            <a:r>
              <a:rPr lang="en-US" sz="800" spc="25" kern="0" dirty="0">
                <a:solidFill>
                  <a:srgbClr val="FFB454"/>
                </a:solidFill>
                <a:latin typeface="Courier New" pitchFamily="34" charset="0"/>
                <a:ea typeface="Courier New" pitchFamily="34" charset="-122"/>
                <a:cs typeface="Courier New" pitchFamily="34" charset="-120"/>
              </a:rPr>
              <a:t>YES.</a:t>
            </a:r>
            <a:endParaRPr lang="en-US" sz="800" dirty="0"/>
          </a:p>
        </p:txBody>
      </p:sp>
      <p:sp>
        <p:nvSpPr>
          <p:cNvPr id="41" name="Text 38"/>
          <p:cNvSpPr/>
          <p:nvPr/>
        </p:nvSpPr>
        <p:spPr>
          <a:xfrm>
            <a:off x="5457825" y="2817428"/>
            <a:ext cx="3228975" cy="457312"/>
          </a:xfrm>
          <a:prstGeom prst="rect">
            <a:avLst/>
          </a:prstGeom>
          <a:solidFill>
            <a:srgbClr val="1F2630"/>
          </a:solidFill>
          <a:ln/>
        </p:spPr>
        <p:txBody>
          <a:bodyPr wrap="square" rtlCol="0" anchor="ctr"/>
          <a:lstStyle/>
          <a:p>
            <a:pPr indent="0" marL="0">
              <a:buNone/>
            </a:pPr>
            <a:endParaRPr lang="en-US" dirty="0"/>
          </a:p>
        </p:txBody>
      </p:sp>
      <p:sp>
        <p:nvSpPr>
          <p:cNvPr id="42" name="Shape 39"/>
          <p:cNvSpPr/>
          <p:nvPr/>
        </p:nvSpPr>
        <p:spPr>
          <a:xfrm>
            <a:off x="5464969" y="2817428"/>
            <a:ext cx="0" cy="457312"/>
          </a:xfrm>
          <a:prstGeom prst="line">
            <a:avLst/>
          </a:prstGeom>
          <a:noFill/>
          <a:ln w="14288">
            <a:solidFill>
              <a:srgbClr val="B097FF"/>
            </a:solidFill>
            <a:prstDash val="solid"/>
          </a:ln>
        </p:spPr>
      </p:sp>
      <p:sp>
        <p:nvSpPr>
          <p:cNvPr id="43" name="Text 40"/>
          <p:cNvSpPr/>
          <p:nvPr/>
        </p:nvSpPr>
        <p:spPr>
          <a:xfrm>
            <a:off x="5457825" y="2817428"/>
            <a:ext cx="3228975" cy="610809"/>
          </a:xfrm>
          <a:prstGeom prst="rect">
            <a:avLst/>
          </a:prstGeom>
          <a:noFill/>
          <a:ln/>
        </p:spPr>
        <p:txBody>
          <a:bodyPr wrap="square" lIns="71438" tIns="50006" rIns="71438" bIns="50006" rtlCol="0" anchor="t"/>
          <a:lstStyle/>
          <a:p>
            <a:pPr algn="l" indent="0" marL="0">
              <a:lnSpc>
                <a:spcPts val="938"/>
              </a:lnSpc>
              <a:buNone/>
            </a:pPr>
            <a:r>
              <a:rPr lang="en-US" sz="800" spc="71" kern="0" dirty="0">
                <a:solidFill>
                  <a:srgbClr val="B097FF"/>
                </a:solidFill>
                <a:latin typeface="Courier New" pitchFamily="34" charset="0"/>
                <a:ea typeface="Courier New" pitchFamily="34" charset="-122"/>
                <a:cs typeface="Courier New" pitchFamily="34" charset="-120"/>
              </a:rPr>
              <a:t>NOTE</a:t>
            </a:r>
            <a:pPr algn="l" indent="0" marL="0">
              <a:lnSpc>
                <a:spcPts val="938"/>
              </a:lnSpc>
              <a:buNone/>
            </a:pPr>
            <a:r>
              <a:rPr lang="en-US" sz="800" dirty="0">
                <a:solidFill>
                  <a:srgbClr val="B5BAC4"/>
                </a:solidFill>
                <a:latin typeface="Carlito" pitchFamily="34" charset="0"/>
                <a:ea typeface="Carlito" pitchFamily="34" charset="-122"/>
                <a:cs typeface="Carlito" pitchFamily="34" charset="-120"/>
              </a:rPr>
              <a:t>Self-dual sampling failed (0 / 500 attempts). Random codes here are atypically good (d=3 or 4, not the typical d=1). Still: Golay wins, but margin is smaller than [23,12] case (+0.036).</a:t>
            </a:r>
            <a:endParaRPr lang="en-US" sz="800" dirty="0"/>
          </a:p>
        </p:txBody>
      </p:sp>
      <p:sp>
        <p:nvSpPr>
          <p:cNvPr id="44" name="Text 41"/>
          <p:cNvSpPr/>
          <p:nvPr/>
        </p:nvSpPr>
        <p:spPr>
          <a:xfrm>
            <a:off x="5461397" y="4525566"/>
            <a:ext cx="1454088" cy="157163"/>
          </a:xfrm>
          <a:prstGeom prst="roundRect">
            <a:avLst>
              <a:gd name="adj" fmla="val 6054526"/>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45" name="Text 42"/>
          <p:cNvSpPr/>
          <p:nvPr/>
        </p:nvSpPr>
        <p:spPr>
          <a:xfrm>
            <a:off x="5457825" y="4521994"/>
            <a:ext cx="1461232" cy="252374"/>
          </a:xfrm>
          <a:prstGeom prst="rect">
            <a:avLst/>
          </a:prstGeom>
          <a:noFill/>
          <a:ln/>
        </p:spPr>
        <p:txBody>
          <a:bodyPr wrap="none" lIns="71438" tIns="21431" rIns="71438" bIns="21431" rtlCol="0" anchor="t"/>
          <a:lstStyle/>
          <a:p>
            <a:pPr algn="l" indent="0" marL="0">
              <a:lnSpc>
                <a:spcPts val="844"/>
              </a:lnSpc>
              <a:buNone/>
            </a:pPr>
            <a:r>
              <a:rPr lang="en-US" sz="800" spc="56" kern="0" dirty="0">
                <a:solidFill>
                  <a:srgbClr val="FFB454"/>
                </a:solidFill>
                <a:latin typeface="Liberation Sans Narrow" pitchFamily="34" charset="0"/>
                <a:ea typeface="Liberation Sans Narrow" pitchFamily="34" charset="-122"/>
                <a:cs typeface="Liberation Sans Narrow" pitchFamily="34" charset="-120"/>
              </a:rPr>
              <a:t>OPEN Q5 — PARTIALLY CLOSED</a:t>
            </a:r>
            <a:endParaRPr lang="en-US" sz="800" dirty="0"/>
          </a:p>
        </p:txBody>
      </p:sp>
      <p:sp>
        <p:nvSpPr>
          <p:cNvPr id="46" name="Text 43"/>
          <p:cNvSpPr/>
          <p:nvPr/>
        </p:nvSpPr>
        <p:spPr>
          <a:xfrm>
            <a:off x="457200" y="4893469"/>
            <a:ext cx="4027401"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Liberation Sans Narrow" pitchFamily="34" charset="0"/>
                <a:ea typeface="Liberation Sans Narrow" pitchFamily="34" charset="-122"/>
                <a:cs typeface="Liberation Sans Narrow" pitchFamily="34" charset="-120"/>
              </a:rPr>
              <a:t>UBP_STUDY_EXTREMAL_004</a:t>
            </a:r>
            <a:endParaRPr lang="en-US" sz="800" dirty="0"/>
          </a:p>
        </p:txBody>
      </p:sp>
      <p:sp>
        <p:nvSpPr>
          <p:cNvPr id="47" name="Text 44"/>
          <p:cNvSpPr/>
          <p:nvPr/>
        </p:nvSpPr>
        <p:spPr>
          <a:xfrm>
            <a:off x="4498888" y="4893469"/>
            <a:ext cx="3978622" cy="164592"/>
          </a:xfrm>
          <a:prstGeom prst="rect">
            <a:avLst/>
          </a:prstGeom>
          <a:noFill/>
          <a:ln/>
        </p:spPr>
        <p:txBody>
          <a:bodyPr wrap="none" lIns="0" tIns="0" rIns="0" bIns="0" rtlCol="0" anchor="t"/>
          <a:lstStyle/>
          <a:p>
            <a:pPr algn="l" indent="0" marL="0">
              <a:lnSpc>
                <a:spcPts val="844"/>
              </a:lnSpc>
              <a:buNone/>
            </a:pPr>
            <a:r>
              <a:rPr lang="en-US" sz="800" spc="45" kern="0" dirty="0">
                <a:solidFill>
                  <a:srgbClr val="6B7280"/>
                </a:solidFill>
                <a:latin typeface="Liberation Sans Narrow" pitchFamily="34" charset="0"/>
                <a:ea typeface="Liberation Sans Narrow" pitchFamily="34" charset="-122"/>
                <a:cs typeface="Liberation Sans Narrow" pitchFamily="34" charset="-120"/>
              </a:rPr>
              <a:t>THREAD F · MC GOLAY24</a:t>
            </a:r>
            <a:endParaRPr lang="en-US" sz="800" dirty="0"/>
          </a:p>
        </p:txBody>
      </p:sp>
      <p:sp>
        <p:nvSpPr>
          <p:cNvPr id="48" name="Text 45"/>
          <p:cNvSpPr/>
          <p:nvPr/>
        </p:nvSpPr>
        <p:spPr>
          <a:xfrm>
            <a:off x="8491798" y="4893469"/>
            <a:ext cx="312003"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Liberation Sans Narrow" pitchFamily="34" charset="0"/>
                <a:ea typeface="Liberation Sans Narrow" pitchFamily="34" charset="-122"/>
                <a:cs typeface="Liberation Sans Narrow" pitchFamily="34" charset="-120"/>
              </a:rPr>
              <a:t>p.06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7080461"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SECTION 03 / 05 / THREAD G / 07 OF 16</a:t>
            </a:r>
            <a:endParaRPr lang="en-US" sz="800" dirty="0"/>
          </a:p>
        </p:txBody>
      </p:sp>
      <p:sp>
        <p:nvSpPr>
          <p:cNvPr id="4" name="Text 2"/>
          <p:cNvSpPr/>
          <p:nvPr/>
        </p:nvSpPr>
        <p:spPr>
          <a:xfrm>
            <a:off x="7551948" y="342900"/>
            <a:ext cx="1134852"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UBP_STUDY_EXTREMAL_004</a:t>
            </a:r>
            <a:endParaRPr lang="en-US" sz="800" dirty="0"/>
          </a:p>
        </p:txBody>
      </p:sp>
      <p:sp>
        <p:nvSpPr>
          <p:cNvPr id="5" name="Text 3"/>
          <p:cNvSpPr/>
          <p:nvPr/>
        </p:nvSpPr>
        <p:spPr>
          <a:xfrm>
            <a:off x="457200" y="0"/>
            <a:ext cx="7144" cy="5143500"/>
          </a:xfrm>
          <a:prstGeom prst="rect">
            <a:avLst/>
          </a:prstGeom>
          <a:solidFill>
            <a:srgbClr val="2A3038">
              <a:alpha val="40000"/>
            </a:srgbClr>
          </a:solidFill>
          <a:ln/>
        </p:spPr>
        <p:txBody>
          <a:bodyPr wrap="square" rtlCol="0" anchor="ctr"/>
          <a:lstStyle/>
          <a:p>
            <a:pPr indent="0" marL="0">
              <a:buNone/>
            </a:pPr>
            <a:endParaRPr lang="en-US" dirty="0"/>
          </a:p>
        </p:txBody>
      </p:sp>
      <p:sp>
        <p:nvSpPr>
          <p:cNvPr id="6" name="Text 4"/>
          <p:cNvSpPr/>
          <p:nvPr/>
        </p:nvSpPr>
        <p:spPr>
          <a:xfrm>
            <a:off x="8679656" y="0"/>
            <a:ext cx="7144" cy="5143500"/>
          </a:xfrm>
          <a:prstGeom prst="rect">
            <a:avLst/>
          </a:prstGeom>
          <a:solidFill>
            <a:srgbClr val="2A3038">
              <a:alpha val="40000"/>
            </a:srgbClr>
          </a:solidFill>
          <a:ln/>
        </p:spPr>
        <p:txBody>
          <a:bodyPr wrap="square" rtlCol="0" anchor="ctr"/>
          <a:lstStyle/>
          <a:p>
            <a:pPr indent="0" marL="0">
              <a:buNone/>
            </a:pPr>
            <a:endParaRPr lang="en-US" dirty="0"/>
          </a:p>
        </p:txBody>
      </p:sp>
      <p:sp>
        <p:nvSpPr>
          <p:cNvPr id="7" name="Text 5"/>
          <p:cNvSpPr/>
          <p:nvPr/>
        </p:nvSpPr>
        <p:spPr>
          <a:xfrm>
            <a:off x="457200" y="721519"/>
            <a:ext cx="42863" cy="42863"/>
          </a:xfrm>
          <a:prstGeom prst="roundRect">
            <a:avLst>
              <a:gd name="adj" fmla="val 66666"/>
            </a:avLst>
          </a:prstGeom>
          <a:solidFill>
            <a:srgbClr val="FFB454"/>
          </a:solidFill>
          <a:ln/>
        </p:spPr>
        <p:txBody>
          <a:bodyPr wrap="square" rtlCol="0" anchor="ctr"/>
          <a:lstStyle/>
          <a:p>
            <a:pPr indent="0" marL="0">
              <a:buNone/>
            </a:pPr>
            <a:endParaRPr lang="en-US" dirty="0"/>
          </a:p>
        </p:txBody>
      </p:sp>
      <p:sp>
        <p:nvSpPr>
          <p:cNvPr id="8" name="Text 6"/>
          <p:cNvSpPr/>
          <p:nvPr/>
        </p:nvSpPr>
        <p:spPr>
          <a:xfrm>
            <a:off x="457200" y="685800"/>
            <a:ext cx="8636000" cy="164592"/>
          </a:xfrm>
          <a:prstGeom prst="rect">
            <a:avLst/>
          </a:prstGeom>
          <a:noFill/>
          <a:ln/>
        </p:spPr>
        <p:txBody>
          <a:bodyPr wrap="square" lIns="0" tIns="0" rIns="0" bIns="0" rtlCol="0" anchor="t"/>
          <a:lstStyle/>
          <a:p>
            <a:pPr algn="l" indent="0" marL="0">
              <a:lnSpc>
                <a:spcPts val="928"/>
              </a:lnSpc>
              <a:buNone/>
            </a:pPr>
            <a:r>
              <a:rPr lang="en-US" sz="800" spc="173" kern="0" dirty="0">
                <a:solidFill>
                  <a:srgbClr val="6B7280"/>
                </a:solidFill>
                <a:latin typeface="Courier New" pitchFamily="34" charset="0"/>
                <a:ea typeface="Courier New" pitchFamily="34" charset="-122"/>
                <a:cs typeface="Courier New" pitchFamily="34" charset="-120"/>
              </a:rPr>
              <a:t>SECTION OPENER · THEOREM THREAD</a:t>
            </a:r>
            <a:endParaRPr lang="en-US" sz="800" dirty="0"/>
          </a:p>
        </p:txBody>
      </p:sp>
      <p:sp>
        <p:nvSpPr>
          <p:cNvPr id="9" name="Text 7"/>
          <p:cNvSpPr/>
          <p:nvPr/>
        </p:nvSpPr>
        <p:spPr>
          <a:xfrm>
            <a:off x="457200" y="1060847"/>
            <a:ext cx="8636000" cy="2360867"/>
          </a:xfrm>
          <a:prstGeom prst="rect">
            <a:avLst/>
          </a:prstGeom>
          <a:noFill/>
          <a:ln/>
        </p:spPr>
        <p:txBody>
          <a:bodyPr wrap="none" lIns="0" tIns="0" rIns="0" bIns="0" rtlCol="0" anchor="t"/>
          <a:lstStyle/>
          <a:p>
            <a:pPr algn="l" indent="0" marL="0">
              <a:lnSpc>
                <a:spcPts val="17213"/>
              </a:lnSpc>
              <a:buNone/>
            </a:pPr>
            <a:r>
              <a:rPr lang="en-US" sz="20250" spc="-810" kern="0" dirty="0">
                <a:solidFill>
                  <a:srgbClr val="FFB454">
                    <a:alpha val="92000"/>
                  </a:srgbClr>
                </a:solidFill>
                <a:latin typeface="Liberation Sans Narrow" pitchFamily="34" charset="0"/>
                <a:ea typeface="Liberation Sans Narrow" pitchFamily="34" charset="-122"/>
                <a:cs typeface="Liberation Sans Narrow" pitchFamily="34" charset="-120"/>
              </a:rPr>
              <a:t>03</a:t>
            </a:r>
            <a:pPr algn="l" indent="0" marL="0">
              <a:lnSpc>
                <a:spcPts val="17213"/>
              </a:lnSpc>
              <a:buNone/>
            </a:pPr>
            <a:r>
              <a:rPr lang="en-US" sz="20250" spc="-810" kern="0" dirty="0">
                <a:solidFill>
                  <a:srgbClr val="2A3038">
                    <a:alpha val="92000"/>
                  </a:srgbClr>
                </a:solidFill>
                <a:latin typeface="Courier New" pitchFamily="34" charset="0"/>
                <a:ea typeface="Courier New" pitchFamily="34" charset="-122"/>
                <a:cs typeface="Courier New" pitchFamily="34" charset="-120"/>
              </a:rPr>
              <a:t>/</a:t>
            </a:r>
            <a:pPr algn="l" indent="0" marL="0">
              <a:lnSpc>
                <a:spcPts val="17213"/>
              </a:lnSpc>
              <a:buNone/>
            </a:pPr>
            <a:r>
              <a:rPr lang="en-US" sz="20250" spc="-810" kern="0" dirty="0">
                <a:solidFill>
                  <a:srgbClr val="6B7280">
                    <a:alpha val="55000"/>
                  </a:srgbClr>
                </a:solidFill>
                <a:latin typeface="Liberation Sans Narrow" pitchFamily="34" charset="0"/>
                <a:ea typeface="Liberation Sans Narrow" pitchFamily="34" charset="-122"/>
                <a:cs typeface="Liberation Sans Narrow" pitchFamily="34" charset="-120"/>
              </a:rPr>
              <a:t>05</a:t>
            </a:r>
            <a:endParaRPr lang="en-US" sz="20250" dirty="0"/>
          </a:p>
        </p:txBody>
      </p:sp>
      <p:sp>
        <p:nvSpPr>
          <p:cNvPr id="10" name="Text 8"/>
          <p:cNvSpPr/>
          <p:nvPr/>
        </p:nvSpPr>
        <p:spPr>
          <a:xfrm>
            <a:off x="8141866" y="1260872"/>
            <a:ext cx="342900" cy="21431"/>
          </a:xfrm>
          <a:prstGeom prst="rect">
            <a:avLst/>
          </a:prstGeom>
          <a:solidFill>
            <a:srgbClr val="FFB454"/>
          </a:solidFill>
          <a:ln/>
        </p:spPr>
        <p:txBody>
          <a:bodyPr wrap="square" rtlCol="0" anchor="ctr"/>
          <a:lstStyle/>
          <a:p>
            <a:pPr indent="0" marL="0">
              <a:buNone/>
            </a:pPr>
            <a:endParaRPr lang="en-US" dirty="0"/>
          </a:p>
        </p:txBody>
      </p:sp>
      <p:sp>
        <p:nvSpPr>
          <p:cNvPr id="11" name="Text 9"/>
          <p:cNvSpPr/>
          <p:nvPr/>
        </p:nvSpPr>
        <p:spPr>
          <a:xfrm>
            <a:off x="8141866" y="1396603"/>
            <a:ext cx="1002134" cy="1921472"/>
          </a:xfrm>
          <a:prstGeom prst="rect">
            <a:avLst/>
          </a:prstGeom>
          <a:noFill/>
          <a:ln/>
        </p:spPr>
        <p:txBody>
          <a:bodyPr wrap="square" lIns="0" tIns="0" rIns="0" bIns="0" rtlCol="0" anchor="t">
            <a:normAutofit/>
          </a:bodyPr>
          <a:lstStyle/>
          <a:p>
            <a:pPr algn="l" indent="0" marL="0">
              <a:lnSpc>
                <a:spcPts val="2390"/>
              </a:lnSpc>
              <a:buNone/>
            </a:pPr>
            <a:r>
              <a:rPr lang="en-US" sz="2025" spc="-20" kern="0" dirty="0">
                <a:solidFill>
                  <a:srgbClr val="E6E6E6"/>
                </a:solidFill>
                <a:latin typeface="Carlito" pitchFamily="34" charset="0"/>
                <a:ea typeface="Carlito" pitchFamily="34" charset="-122"/>
                <a:cs typeface="Carlito" pitchFamily="34" charset="-120"/>
              </a:rPr>
              <a:t>Thread G </a:t>
            </a:r>
            <a:pPr algn="l" indent="0" marL="0">
              <a:lnSpc>
                <a:spcPts val="2390"/>
              </a:lnSpc>
              <a:buNone/>
            </a:pPr>
            <a:r>
              <a:rPr lang="en-US" sz="2025" spc="-20" kern="0" dirty="0">
                <a:solidFill>
                  <a:srgbClr val="6B7280"/>
                </a:solidFill>
                <a:latin typeface="Carlito" pitchFamily="34" charset="0"/>
                <a:ea typeface="Carlito" pitchFamily="34" charset="-122"/>
                <a:cs typeface="Carlito" pitchFamily="34" charset="-120"/>
              </a:rPr>
              <a:t>—</a:t>
            </a:r>
            <a:pPr algn="l" indent="0" marL="0">
              <a:lnSpc>
                <a:spcPts val="2390"/>
              </a:lnSpc>
              <a:buNone/>
            </a:pPr>
            <a:r>
              <a:rPr lang="en-US" sz="2025" spc="-20" kern="0" dirty="0">
                <a:solidFill>
                  <a:srgbClr val="E6E6E6"/>
                </a:solidFill>
                <a:latin typeface="Carlito" pitchFamily="34" charset="0"/>
                <a:ea typeface="Carlito" pitchFamily="34" charset="-122"/>
                <a:cs typeface="Carlito" pitchFamily="34" charset="-120"/>
              </a:rPr>
              <a:t> Uniqueness Theorem for </a:t>
            </a:r>
            <a:pPr algn="l" indent="0" marL="0">
              <a:lnSpc>
                <a:spcPts val="2390"/>
              </a:lnSpc>
              <a:buNone/>
            </a:pPr>
            <a:r>
              <a:rPr lang="en-US" sz="2025" spc="-20" kern="0" dirty="0">
                <a:solidFill>
                  <a:srgbClr val="FFB454"/>
                </a:solidFill>
                <a:latin typeface="Liberation Sans Narrow" pitchFamily="34" charset="0"/>
                <a:ea typeface="Liberation Sans Narrow" pitchFamily="34" charset="-122"/>
                <a:cs typeface="Liberation Sans Narrow" pitchFamily="34" charset="-120"/>
              </a:rPr>
              <a:t>[23,12]</a:t>
            </a:r>
            <a:endParaRPr lang="en-US" sz="2025" dirty="0"/>
          </a:p>
        </p:txBody>
      </p:sp>
      <p:sp>
        <p:nvSpPr>
          <p:cNvPr id="12" name="Text 10"/>
          <p:cNvSpPr/>
          <p:nvPr/>
        </p:nvSpPr>
        <p:spPr>
          <a:xfrm>
            <a:off x="8141866" y="3345507"/>
            <a:ext cx="1002134" cy="1530513"/>
          </a:xfrm>
          <a:prstGeom prst="rect">
            <a:avLst/>
          </a:prstGeom>
          <a:noFill/>
          <a:ln/>
        </p:spPr>
        <p:txBody>
          <a:bodyPr wrap="square" lIns="0" tIns="0" rIns="0" bIns="0" rtlCol="0" anchor="t"/>
          <a:lstStyle/>
          <a:p>
            <a:pPr algn="l" indent="0" marL="0">
              <a:lnSpc>
                <a:spcPts val="1395"/>
              </a:lnSpc>
              <a:buNone/>
            </a:pPr>
            <a:r>
              <a:rPr lang="en-US" sz="900" dirty="0">
                <a:solidFill>
                  <a:srgbClr val="B5BAC4"/>
                </a:solidFill>
                <a:latin typeface="Carlito" pitchFamily="34" charset="0"/>
                <a:ea typeface="Carlito" pitchFamily="34" charset="-122"/>
                <a:cs typeface="Carlito" pitchFamily="34" charset="-120"/>
              </a:rPr>
              <a:t>Combine Thread C (</a:t>
            </a:r>
            <a:pPr algn="l" indent="0" marL="0">
              <a:lnSpc>
                <a:spcPts val="1395"/>
              </a:lnSpc>
              <a:buNone/>
            </a:pPr>
            <a:r>
              <a:rPr lang="en-US" sz="900" i="1" dirty="0">
                <a:solidFill>
                  <a:srgbClr val="E6E6E6"/>
                </a:solidFill>
                <a:latin typeface="Tinos" pitchFamily="34" charset="0"/>
                <a:ea typeface="Tinos" pitchFamily="34" charset="-122"/>
                <a:cs typeface="Tinos" pitchFamily="34" charset="-120"/>
              </a:rPr>
              <a:t>avg</a:t>
            </a:r>
            <a:pPr algn="l" indent="0" marL="0">
              <a:lnSpc>
                <a:spcPts val="1395"/>
              </a:lnSpc>
              <a:buNone/>
            </a:pPr>
            <a:r>
              <a:rPr lang="en-US" sz="800" i="1" baseline="-40000" dirty="0">
                <a:solidFill>
                  <a:srgbClr val="E6E6E6"/>
                </a:solidFill>
                <a:latin typeface="Tinos" pitchFamily="34" charset="0"/>
                <a:ea typeface="Tinos" pitchFamily="34" charset="-122"/>
                <a:cs typeface="Tinos" pitchFamily="34" charset="-120"/>
              </a:rPr>
              <a:t>Φ</a:t>
            </a:r>
            <a:pPr algn="l" indent="0" marL="0">
              <a:lnSpc>
                <a:spcPts val="1395"/>
              </a:lnSpc>
              <a:buNone/>
            </a:pPr>
            <a:r>
              <a:rPr lang="en-US" sz="900" dirty="0">
                <a:solidFill>
                  <a:srgbClr val="B5BAC4"/>
                </a:solidFill>
                <a:latin typeface="Carlito" pitchFamily="34" charset="0"/>
                <a:ea typeface="Carlito" pitchFamily="34" charset="-122"/>
                <a:cs typeface="Carlito" pitchFamily="34" charset="-120"/>
              </a:rPr>
              <a:t> monotone in </a:t>
            </a:r>
            <a:pPr algn="l" indent="0" marL="0">
              <a:lnSpc>
                <a:spcPts val="1395"/>
              </a:lnSpc>
              <a:buNone/>
            </a:pPr>
            <a:r>
              <a:rPr lang="en-US" sz="900" i="1" dirty="0">
                <a:solidFill>
                  <a:srgbClr val="E6E6E6"/>
                </a:solidFill>
                <a:latin typeface="Tinos" pitchFamily="34" charset="0"/>
                <a:ea typeface="Tinos" pitchFamily="34" charset="-122"/>
                <a:cs typeface="Tinos" pitchFamily="34" charset="-120"/>
              </a:rPr>
              <a:t>ρ</a:t>
            </a:r>
            <a:pPr algn="l" indent="0" marL="0">
              <a:lnSpc>
                <a:spcPts val="1395"/>
              </a:lnSpc>
              <a:buNone/>
            </a:pPr>
            <a:r>
              <a:rPr lang="en-US" sz="800" i="1" baseline="-40000" dirty="0">
                <a:solidFill>
                  <a:srgbClr val="E6E6E6"/>
                </a:solidFill>
                <a:latin typeface="Tinos" pitchFamily="34" charset="0"/>
                <a:ea typeface="Tinos" pitchFamily="34" charset="-122"/>
                <a:cs typeface="Tinos" pitchFamily="34" charset="-120"/>
              </a:rPr>
              <a:t>Φ</a:t>
            </a:r>
            <a:pPr algn="l" indent="0" marL="0">
              <a:lnSpc>
                <a:spcPts val="1395"/>
              </a:lnSpc>
              <a:buNone/>
            </a:pPr>
            <a:r>
              <a:rPr lang="en-US" sz="900" dirty="0">
                <a:solidFill>
                  <a:srgbClr val="B5BAC4"/>
                </a:solidFill>
                <a:latin typeface="Carlito" pitchFamily="34" charset="0"/>
                <a:ea typeface="Carlito" pitchFamily="34" charset="-122"/>
                <a:cs typeface="Carlito" pitchFamily="34" charset="-120"/>
              </a:rPr>
              <a:t>) with classical coding theory (Golay is the unique </a:t>
            </a:r>
            <a:pPr algn="l" indent="0" marL="0">
              <a:lnSpc>
                <a:spcPts val="1395"/>
              </a:lnSpc>
              <a:buNone/>
            </a:pPr>
            <a:r>
              <a:rPr lang="en-US" sz="900" dirty="0">
                <a:solidFill>
                  <a:srgbClr val="6FE3D2"/>
                </a:solidFill>
                <a:latin typeface="Liberation Sans Narrow" pitchFamily="34" charset="0"/>
                <a:ea typeface="Liberation Sans Narrow" pitchFamily="34" charset="-122"/>
                <a:cs typeface="Liberation Sans Narrow" pitchFamily="34" charset="-120"/>
              </a:rPr>
              <a:t>[23,12,7]</a:t>
            </a:r>
            <a:pPr algn="l" indent="0" marL="0">
              <a:lnSpc>
                <a:spcPts val="1395"/>
              </a:lnSpc>
              <a:buNone/>
            </a:pPr>
            <a:r>
              <a:rPr lang="en-US" sz="900" dirty="0">
                <a:solidFill>
                  <a:srgbClr val="B5BAC4"/>
                </a:solidFill>
                <a:latin typeface="Carlito" pitchFamily="34" charset="0"/>
                <a:ea typeface="Carlito" pitchFamily="34" charset="-122"/>
                <a:cs typeface="Carlito" pitchFamily="34" charset="-120"/>
              </a:rPr>
              <a:t> perfect code) to state a uniqueness theorem. Proof sketch, not full proof.</a:t>
            </a:r>
            <a:endParaRPr lang="en-US" sz="900" dirty="0"/>
          </a:p>
        </p:txBody>
      </p:sp>
      <p:sp>
        <p:nvSpPr>
          <p:cNvPr id="13" name="Text 11"/>
          <p:cNvSpPr/>
          <p:nvPr/>
        </p:nvSpPr>
        <p:spPr>
          <a:xfrm>
            <a:off x="8119006" y="4952815"/>
            <a:ext cx="905091" cy="184023"/>
          </a:xfrm>
          <a:prstGeom prst="roundRect">
            <a:avLst>
              <a:gd name="adj" fmla="val 5170807"/>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14" name="Text 12"/>
          <p:cNvSpPr/>
          <p:nvPr/>
        </p:nvSpPr>
        <p:spPr>
          <a:xfrm>
            <a:off x="8141866" y="4962674"/>
            <a:ext cx="859371"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FFB454"/>
                </a:solidFill>
                <a:latin typeface="Courier New" pitchFamily="34" charset="0"/>
                <a:ea typeface="Courier New" pitchFamily="34" charset="-122"/>
                <a:cs typeface="Courier New" pitchFamily="34" charset="-120"/>
              </a:rPr>
              <a:t>THEOREM STATED</a:t>
            </a:r>
            <a:endParaRPr lang="en-US" sz="800" dirty="0"/>
          </a:p>
        </p:txBody>
      </p:sp>
      <p:sp>
        <p:nvSpPr>
          <p:cNvPr id="15" name="Text 13"/>
          <p:cNvSpPr/>
          <p:nvPr/>
        </p:nvSpPr>
        <p:spPr>
          <a:xfrm>
            <a:off x="8119006" y="5174272"/>
            <a:ext cx="804743" cy="184023"/>
          </a:xfrm>
          <a:prstGeom prst="roundRect">
            <a:avLst>
              <a:gd name="adj" fmla="val 5170807"/>
            </a:avLst>
          </a:prstGeom>
          <a:solidFill>
            <a:srgbClr val="1F2630"/>
          </a:solidFill>
          <a:ln w="7144">
            <a:solidFill>
              <a:srgbClr val="6FE3D2"/>
            </a:solidFill>
            <a:prstDash val="solid"/>
          </a:ln>
        </p:spPr>
        <p:txBody>
          <a:bodyPr wrap="square" rtlCol="0" anchor="ctr"/>
          <a:lstStyle/>
          <a:p>
            <a:pPr indent="0" marL="0">
              <a:buNone/>
            </a:pPr>
            <a:endParaRPr lang="en-US" dirty="0"/>
          </a:p>
        </p:txBody>
      </p:sp>
      <p:sp>
        <p:nvSpPr>
          <p:cNvPr id="16" name="Text 14"/>
          <p:cNvSpPr/>
          <p:nvPr/>
        </p:nvSpPr>
        <p:spPr>
          <a:xfrm>
            <a:off x="8141866" y="5184130"/>
            <a:ext cx="759023" cy="91440"/>
          </a:xfrm>
          <a:prstGeom prst="rect">
            <a:avLst/>
          </a:prstGeom>
          <a:noFill/>
          <a:ln/>
        </p:spPr>
        <p:txBody>
          <a:bodyPr wrap="none" lIns="0" tIns="0" rIns="0" bIns="0" rtlCol="0" anchor="ctr"/>
          <a:lstStyle/>
          <a:p>
            <a:pPr algn="ctr" indent="0" marL="0">
              <a:lnSpc>
                <a:spcPts val="844"/>
              </a:lnSpc>
              <a:buNone/>
            </a:pPr>
            <a:r>
              <a:rPr lang="en-US" sz="800" spc="56" kern="0" dirty="0">
                <a:solidFill>
                  <a:srgbClr val="6FE3D2"/>
                </a:solidFill>
                <a:latin typeface="Courier New" pitchFamily="34" charset="0"/>
                <a:ea typeface="Courier New" pitchFamily="34" charset="-122"/>
                <a:cs typeface="Courier New" pitchFamily="34" charset="-120"/>
              </a:rPr>
              <a:t>PROOF SKETCH</a:t>
            </a:r>
            <a:endParaRPr lang="en-US" sz="800" dirty="0"/>
          </a:p>
        </p:txBody>
      </p:sp>
      <p:sp>
        <p:nvSpPr>
          <p:cNvPr id="17" name="Text 15"/>
          <p:cNvSpPr/>
          <p:nvPr/>
        </p:nvSpPr>
        <p:spPr>
          <a:xfrm>
            <a:off x="8121533" y="5395728"/>
            <a:ext cx="548988" cy="184023"/>
          </a:xfrm>
          <a:prstGeom prst="roundRect">
            <a:avLst>
              <a:gd name="adj" fmla="val 5170807"/>
            </a:avLst>
          </a:prstGeom>
          <a:solidFill>
            <a:srgbClr val="1F2630"/>
          </a:solidFill>
          <a:ln w="7144">
            <a:solidFill>
              <a:srgbClr val="B097FF"/>
            </a:solidFill>
            <a:prstDash val="solid"/>
          </a:ln>
        </p:spPr>
        <p:txBody>
          <a:bodyPr wrap="square" rtlCol="0" anchor="ctr"/>
          <a:lstStyle/>
          <a:p>
            <a:pPr indent="0" marL="0">
              <a:buNone/>
            </a:pPr>
            <a:endParaRPr lang="en-US" dirty="0"/>
          </a:p>
        </p:txBody>
      </p:sp>
      <p:sp>
        <p:nvSpPr>
          <p:cNvPr id="18" name="Text 16"/>
          <p:cNvSpPr/>
          <p:nvPr/>
        </p:nvSpPr>
        <p:spPr>
          <a:xfrm>
            <a:off x="8141866" y="5405586"/>
            <a:ext cx="508322" cy="91440"/>
          </a:xfrm>
          <a:prstGeom prst="rect">
            <a:avLst/>
          </a:prstGeom>
          <a:noFill/>
          <a:ln/>
        </p:spPr>
        <p:txBody>
          <a:bodyPr wrap="none" lIns="0" tIns="0" rIns="0" bIns="0" rtlCol="0" anchor="ctr"/>
          <a:lstStyle/>
          <a:p>
            <a:pPr algn="ctr" indent="0" marL="0">
              <a:lnSpc>
                <a:spcPts val="844"/>
              </a:lnSpc>
              <a:buNone/>
            </a:pPr>
            <a:r>
              <a:rPr lang="en-US" sz="800" spc="56" kern="0" dirty="0">
                <a:solidFill>
                  <a:srgbClr val="B097FF"/>
                </a:solidFill>
                <a:latin typeface="Liberation Sans Narrow" pitchFamily="34" charset="0"/>
                <a:ea typeface="Liberation Sans Narrow" pitchFamily="34" charset="-122"/>
                <a:cs typeface="Liberation Sans Narrow" pitchFamily="34" charset="-120"/>
              </a:rPr>
              <a:t>OPEN Q1</a:t>
            </a:r>
            <a:endParaRPr lang="en-US" sz="800" dirty="0"/>
          </a:p>
        </p:txBody>
      </p:sp>
      <p:sp>
        <p:nvSpPr>
          <p:cNvPr id="19" name="Shape 17"/>
          <p:cNvSpPr/>
          <p:nvPr/>
        </p:nvSpPr>
        <p:spPr>
          <a:xfrm>
            <a:off x="457200" y="4521994"/>
            <a:ext cx="8229600" cy="0"/>
          </a:xfrm>
          <a:prstGeom prst="line">
            <a:avLst/>
          </a:prstGeom>
          <a:noFill/>
          <a:ln w="7144">
            <a:solidFill>
              <a:srgbClr val="2A3038"/>
            </a:solidFill>
            <a:prstDash val="solid"/>
          </a:ln>
        </p:spPr>
      </p:sp>
      <p:sp>
        <p:nvSpPr>
          <p:cNvPr id="20" name="Text 18"/>
          <p:cNvSpPr/>
          <p:nvPr/>
        </p:nvSpPr>
        <p:spPr>
          <a:xfrm>
            <a:off x="457200" y="4625578"/>
            <a:ext cx="3309565" cy="117872"/>
          </a:xfrm>
          <a:prstGeom prst="rect">
            <a:avLst/>
          </a:prstGeom>
          <a:noFill/>
          <a:ln/>
        </p:spPr>
        <p:txBody>
          <a:bodyPr wrap="none" lIns="0" tIns="0" rIns="0" bIns="0" rtlCol="0" anchor="t"/>
          <a:lstStyle/>
          <a:p>
            <a:pPr algn="l" indent="0" marL="0">
              <a:lnSpc>
                <a:spcPts val="928"/>
              </a:lnSpc>
              <a:buNone/>
            </a:pPr>
            <a:r>
              <a:rPr lang="en-US" sz="800" spc="99" kern="0" dirty="0">
                <a:solidFill>
                  <a:srgbClr val="FFB454"/>
                </a:solidFill>
                <a:latin typeface="Courier New" pitchFamily="34" charset="0"/>
                <a:ea typeface="Courier New" pitchFamily="34" charset="-122"/>
                <a:cs typeface="Courier New" pitchFamily="34" charset="-120"/>
              </a:rPr>
              <a:t>●</a:t>
            </a:r>
            <a:pPr algn="l" indent="0" marL="0">
              <a:lnSpc>
                <a:spcPts val="928"/>
              </a:lnSpc>
              <a:buNone/>
            </a:pPr>
            <a:r>
              <a:rPr lang="en-US" sz="800" spc="99" kern="0" dirty="0">
                <a:solidFill>
                  <a:srgbClr val="6B7280"/>
                </a:solidFill>
                <a:latin typeface="Courier New" pitchFamily="34" charset="0"/>
                <a:ea typeface="Courier New" pitchFamily="34" charset="-122"/>
                <a:cs typeface="Courier New" pitchFamily="34" charset="-120"/>
              </a:rPr>
              <a:t> THREAD F · CLOSED</a:t>
            </a:r>
            <a:endParaRPr lang="en-US" sz="800" dirty="0"/>
          </a:p>
        </p:txBody>
      </p:sp>
      <p:sp>
        <p:nvSpPr>
          <p:cNvPr id="21" name="Text 19"/>
          <p:cNvSpPr/>
          <p:nvPr/>
        </p:nvSpPr>
        <p:spPr>
          <a:xfrm>
            <a:off x="3781053" y="4625578"/>
            <a:ext cx="3633825" cy="117872"/>
          </a:xfrm>
          <a:prstGeom prst="rect">
            <a:avLst/>
          </a:prstGeom>
          <a:noFill/>
          <a:ln/>
        </p:spPr>
        <p:txBody>
          <a:bodyPr wrap="none" lIns="0" tIns="0" rIns="0" bIns="0" rtlCol="0" anchor="t"/>
          <a:lstStyle/>
          <a:p>
            <a:pPr algn="l" indent="0" marL="0">
              <a:lnSpc>
                <a:spcPts val="928"/>
              </a:lnSpc>
              <a:buNone/>
            </a:pPr>
            <a:r>
              <a:rPr lang="en-US" sz="800" spc="124" kern="0" dirty="0">
                <a:solidFill>
                  <a:srgbClr val="FFB454"/>
                </a:solidFill>
                <a:latin typeface="Courier New" pitchFamily="34" charset="0"/>
                <a:ea typeface="Courier New" pitchFamily="34" charset="-122"/>
                <a:cs typeface="Courier New" pitchFamily="34" charset="-120"/>
              </a:rPr>
              <a:t>▸ THREAD G · YOU ARE HERE</a:t>
            </a:r>
            <a:endParaRPr lang="en-US" sz="800" dirty="0"/>
          </a:p>
        </p:txBody>
      </p:sp>
      <p:sp>
        <p:nvSpPr>
          <p:cNvPr id="22" name="Text 20"/>
          <p:cNvSpPr/>
          <p:nvPr/>
        </p:nvSpPr>
        <p:spPr>
          <a:xfrm>
            <a:off x="7429165" y="4625578"/>
            <a:ext cx="1257635" cy="117872"/>
          </a:xfrm>
          <a:prstGeom prst="rect">
            <a:avLst/>
          </a:prstGeom>
          <a:noFill/>
          <a:ln/>
        </p:spPr>
        <p:txBody>
          <a:bodyPr wrap="none" lIns="0" tIns="0" rIns="0" bIns="0" rtlCol="0" anchor="t"/>
          <a:lstStyle/>
          <a:p>
            <a:pPr algn="l" indent="0" marL="0">
              <a:lnSpc>
                <a:spcPts val="928"/>
              </a:lnSpc>
              <a:buNone/>
            </a:pPr>
            <a:r>
              <a:rPr lang="en-US" sz="800" spc="99" kern="0" dirty="0">
                <a:solidFill>
                  <a:srgbClr val="6B7280"/>
                </a:solidFill>
                <a:latin typeface="Courier New" pitchFamily="34" charset="0"/>
                <a:ea typeface="Courier New" pitchFamily="34" charset="-122"/>
                <a:cs typeface="Courier New" pitchFamily="34" charset="-120"/>
              </a:rPr>
              <a:t>○ THREAD H · NEXT</a:t>
            </a:r>
            <a:endParaRPr lang="en-US" sz="800" dirty="0"/>
          </a:p>
        </p:txBody>
      </p:sp>
      <p:sp>
        <p:nvSpPr>
          <p:cNvPr id="23" name="Text 21"/>
          <p:cNvSpPr/>
          <p:nvPr/>
        </p:nvSpPr>
        <p:spPr>
          <a:xfrm>
            <a:off x="457200" y="4893469"/>
            <a:ext cx="7533084"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UBP_STUDY_EXTREMAL_004 / Thread G / p.07</a:t>
            </a:r>
            <a:endParaRPr lang="en-US" sz="800" dirty="0"/>
          </a:p>
        </p:txBody>
      </p:sp>
      <p:sp>
        <p:nvSpPr>
          <p:cNvPr id="24" name="Text 22"/>
          <p:cNvSpPr/>
          <p:nvPr/>
        </p:nvSpPr>
        <p:spPr>
          <a:xfrm>
            <a:off x="8004572" y="4893469"/>
            <a:ext cx="837947"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SECTION OPENER</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7080461"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THREAD G / THE PROPOSED THEOREM / 08 OF 16</a:t>
            </a:r>
            <a:endParaRPr lang="en-US" sz="800" dirty="0"/>
          </a:p>
        </p:txBody>
      </p:sp>
      <p:sp>
        <p:nvSpPr>
          <p:cNvPr id="4" name="Text 2"/>
          <p:cNvSpPr/>
          <p:nvPr/>
        </p:nvSpPr>
        <p:spPr>
          <a:xfrm>
            <a:off x="7551948" y="342900"/>
            <a:ext cx="1134852"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UBP_STUDY_EXTREMAL_004</a:t>
            </a:r>
            <a:endParaRPr lang="en-US" sz="800" dirty="0"/>
          </a:p>
        </p:txBody>
      </p:sp>
      <p:sp>
        <p:nvSpPr>
          <p:cNvPr id="5" name="Text 3"/>
          <p:cNvSpPr/>
          <p:nvPr/>
        </p:nvSpPr>
        <p:spPr>
          <a:xfrm>
            <a:off x="457200" y="685800"/>
            <a:ext cx="342900" cy="21431"/>
          </a:xfrm>
          <a:prstGeom prst="rect">
            <a:avLst/>
          </a:prstGeom>
          <a:solidFill>
            <a:srgbClr val="FFB454"/>
          </a:solidFill>
          <a:ln/>
        </p:spPr>
        <p:txBody>
          <a:bodyPr wrap="square" rtlCol="0" anchor="ctr"/>
          <a:lstStyle/>
          <a:p>
            <a:pPr indent="0" marL="0">
              <a:buNone/>
            </a:pPr>
            <a:endParaRPr lang="en-US" dirty="0"/>
          </a:p>
        </p:txBody>
      </p:sp>
      <p:sp>
        <p:nvSpPr>
          <p:cNvPr id="6" name="Text 4"/>
          <p:cNvSpPr/>
          <p:nvPr/>
        </p:nvSpPr>
        <p:spPr>
          <a:xfrm>
            <a:off x="457200" y="778669"/>
            <a:ext cx="6048077" cy="238226"/>
          </a:xfrm>
          <a:prstGeom prst="rect">
            <a:avLst/>
          </a:prstGeom>
          <a:noFill/>
          <a:ln/>
        </p:spPr>
        <p:txBody>
          <a:bodyPr wrap="square" lIns="0" tIns="0" rIns="0" bIns="0" rtlCol="0" anchor="t">
            <a:normAutofit/>
          </a:bodyPr>
          <a:lstStyle/>
          <a:p>
            <a:pPr algn="l" indent="0" marL="0">
              <a:lnSpc>
                <a:spcPts val="1755"/>
              </a:lnSpc>
              <a:buNone/>
            </a:pPr>
            <a:r>
              <a:rPr lang="en-US" sz="1463" spc="-15" kern="0" dirty="0">
                <a:solidFill>
                  <a:srgbClr val="E6E6E6"/>
                </a:solidFill>
                <a:latin typeface="Carlito" pitchFamily="34" charset="0"/>
                <a:ea typeface="Carlito" pitchFamily="34" charset="-122"/>
                <a:cs typeface="Carlito" pitchFamily="34" charset="-120"/>
              </a:rPr>
              <a:t>Theorem (proposed): Golay uniquely maximises </a:t>
            </a:r>
            <a:pPr algn="l" indent="0" marL="0">
              <a:lnSpc>
                <a:spcPts val="1755"/>
              </a:lnSpc>
              <a:buNone/>
            </a:pPr>
            <a:r>
              <a:rPr lang="en-US" sz="1463" i="1" spc="-15" kern="0" dirty="0">
                <a:solidFill>
                  <a:srgbClr val="E6E6E6"/>
                </a:solidFill>
                <a:latin typeface="Tinos" pitchFamily="34" charset="0"/>
                <a:ea typeface="Tinos" pitchFamily="34" charset="-122"/>
                <a:cs typeface="Tinos" pitchFamily="34" charset="-120"/>
              </a:rPr>
              <a:t>avg</a:t>
            </a:r>
            <a:pPr algn="l" indent="0" marL="0">
              <a:lnSpc>
                <a:spcPts val="1755"/>
              </a:lnSpc>
              <a:buNone/>
            </a:pPr>
            <a:r>
              <a:rPr lang="en-US" sz="1097" i="1" baseline="-40000" spc="-15" kern="0" dirty="0">
                <a:solidFill>
                  <a:srgbClr val="E6E6E6"/>
                </a:solidFill>
                <a:latin typeface="Tinos" pitchFamily="34" charset="0"/>
                <a:ea typeface="Tinos" pitchFamily="34" charset="-122"/>
                <a:cs typeface="Tinos" pitchFamily="34" charset="-120"/>
              </a:rPr>
              <a:t>Φ</a:t>
            </a:r>
            <a:pPr algn="l" indent="0" marL="0">
              <a:lnSpc>
                <a:spcPts val="1755"/>
              </a:lnSpc>
              <a:buNone/>
            </a:pPr>
            <a:r>
              <a:rPr lang="en-US" sz="1463" spc="-15" kern="0" dirty="0">
                <a:solidFill>
                  <a:srgbClr val="E6E6E6"/>
                </a:solidFill>
                <a:latin typeface="Carlito" pitchFamily="34" charset="0"/>
                <a:ea typeface="Carlito" pitchFamily="34" charset="-122"/>
                <a:cs typeface="Carlito" pitchFamily="34" charset="-120"/>
              </a:rPr>
              <a:t> over </a:t>
            </a:r>
            <a:pPr algn="l" indent="0" marL="0">
              <a:lnSpc>
                <a:spcPts val="1755"/>
              </a:lnSpc>
              <a:buNone/>
            </a:pPr>
            <a:r>
              <a:rPr lang="en-US" sz="1463" spc="-15" kern="0" dirty="0">
                <a:solidFill>
                  <a:srgbClr val="FFB454"/>
                </a:solidFill>
                <a:latin typeface="Liberation Sans Narrow" pitchFamily="34" charset="0"/>
                <a:ea typeface="Liberation Sans Narrow" pitchFamily="34" charset="-122"/>
                <a:cs typeface="Liberation Sans Narrow" pitchFamily="34" charset="-120"/>
              </a:rPr>
              <a:t>[23,12]</a:t>
            </a:r>
            <a:pPr algn="l" indent="0" marL="0">
              <a:lnSpc>
                <a:spcPts val="1755"/>
              </a:lnSpc>
              <a:buNone/>
            </a:pPr>
            <a:r>
              <a:rPr lang="en-US" sz="1463" spc="-15" kern="0" dirty="0">
                <a:solidFill>
                  <a:srgbClr val="E6E6E6"/>
                </a:solidFill>
                <a:latin typeface="Carlito" pitchFamily="34" charset="0"/>
                <a:ea typeface="Carlito" pitchFamily="34" charset="-122"/>
                <a:cs typeface="Carlito" pitchFamily="34" charset="-120"/>
              </a:rPr>
              <a:t> codes</a:t>
            </a:r>
            <a:endParaRPr lang="en-US" sz="1463" dirty="0"/>
          </a:p>
        </p:txBody>
      </p:sp>
      <p:sp>
        <p:nvSpPr>
          <p:cNvPr id="7" name="Text 5"/>
          <p:cNvSpPr/>
          <p:nvPr/>
        </p:nvSpPr>
        <p:spPr>
          <a:xfrm>
            <a:off x="457200" y="1044327"/>
            <a:ext cx="6531924" cy="164592"/>
          </a:xfrm>
          <a:prstGeom prst="rect">
            <a:avLst/>
          </a:prstGeom>
          <a:noFill/>
          <a:ln/>
        </p:spPr>
        <p:txBody>
          <a:bodyPr wrap="square" lIns="0" tIns="0" rIns="0" bIns="0" rtlCol="0" anchor="t"/>
          <a:lstStyle/>
          <a:p>
            <a:pPr algn="l" indent="0" marL="0">
              <a:lnSpc>
                <a:spcPts val="1097"/>
              </a:lnSpc>
              <a:buNone/>
            </a:pPr>
            <a:r>
              <a:rPr lang="en-US" sz="800" dirty="0">
                <a:solidFill>
                  <a:srgbClr val="B5BAC4"/>
                </a:solidFill>
                <a:latin typeface="Carlito" pitchFamily="34" charset="0"/>
                <a:ea typeface="Carlito" pitchFamily="34" charset="-122"/>
                <a:cs typeface="Carlito" pitchFamily="34" charset="-120"/>
              </a:rPr>
              <a:t>Combining Thread C with classical coding theory.</a:t>
            </a:r>
            <a:endParaRPr lang="en-US" sz="800" dirty="0"/>
          </a:p>
        </p:txBody>
      </p:sp>
      <p:sp>
        <p:nvSpPr>
          <p:cNvPr id="8" name="Text 6"/>
          <p:cNvSpPr/>
          <p:nvPr/>
        </p:nvSpPr>
        <p:spPr>
          <a:xfrm>
            <a:off x="7360540" y="980890"/>
            <a:ext cx="1306257" cy="184023"/>
          </a:xfrm>
          <a:prstGeom prst="roundRect">
            <a:avLst>
              <a:gd name="adj" fmla="val 5170807"/>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9" name="Text 7"/>
          <p:cNvSpPr/>
          <p:nvPr/>
        </p:nvSpPr>
        <p:spPr>
          <a:xfrm>
            <a:off x="7383400" y="990749"/>
            <a:ext cx="1260537"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FFB454"/>
                </a:solidFill>
                <a:latin typeface="Courier New" pitchFamily="34" charset="0"/>
                <a:ea typeface="Courier New" pitchFamily="34" charset="-122"/>
                <a:cs typeface="Courier New" pitchFamily="34" charset="-120"/>
              </a:rPr>
              <a:t>THEOREM (PROOF SKETCH)</a:t>
            </a:r>
            <a:endParaRPr lang="en-US" sz="800" dirty="0"/>
          </a:p>
        </p:txBody>
      </p:sp>
      <p:sp>
        <p:nvSpPr>
          <p:cNvPr id="10" name="Text 8"/>
          <p:cNvSpPr/>
          <p:nvPr/>
        </p:nvSpPr>
        <p:spPr>
          <a:xfrm>
            <a:off x="457200" y="1283643"/>
            <a:ext cx="8229600" cy="395362"/>
          </a:xfrm>
          <a:prstGeom prst="rect">
            <a:avLst/>
          </a:prstGeom>
          <a:solidFill>
            <a:srgbClr val="1F2630"/>
          </a:solidFill>
          <a:ln/>
        </p:spPr>
        <p:txBody>
          <a:bodyPr wrap="square" rtlCol="0" anchor="ctr"/>
          <a:lstStyle/>
          <a:p>
            <a:pPr indent="0" marL="0">
              <a:buNone/>
            </a:pPr>
            <a:endParaRPr lang="en-US" dirty="0"/>
          </a:p>
        </p:txBody>
      </p:sp>
      <p:sp>
        <p:nvSpPr>
          <p:cNvPr id="11" name="Shape 9"/>
          <p:cNvSpPr/>
          <p:nvPr/>
        </p:nvSpPr>
        <p:spPr>
          <a:xfrm>
            <a:off x="467916" y="1283643"/>
            <a:ext cx="0" cy="395362"/>
          </a:xfrm>
          <a:prstGeom prst="line">
            <a:avLst/>
          </a:prstGeom>
          <a:noFill/>
          <a:ln w="21431">
            <a:solidFill>
              <a:srgbClr val="FFB454"/>
            </a:solidFill>
            <a:prstDash val="solid"/>
          </a:ln>
        </p:spPr>
      </p:sp>
      <p:sp>
        <p:nvSpPr>
          <p:cNvPr id="12" name="Text 10"/>
          <p:cNvSpPr/>
          <p:nvPr/>
        </p:nvSpPr>
        <p:spPr>
          <a:xfrm>
            <a:off x="457200" y="1283643"/>
            <a:ext cx="8229600" cy="426991"/>
          </a:xfrm>
          <a:prstGeom prst="rect">
            <a:avLst/>
          </a:prstGeom>
          <a:noFill/>
          <a:ln/>
        </p:spPr>
        <p:txBody>
          <a:bodyPr wrap="square" lIns="157163" tIns="100013" rIns="128588" bIns="100013" rtlCol="0" anchor="t"/>
          <a:lstStyle/>
          <a:p>
            <a:pPr algn="l" indent="0" marL="0">
              <a:lnSpc>
                <a:spcPts val="1482"/>
              </a:lnSpc>
              <a:buNone/>
            </a:pPr>
            <a:r>
              <a:rPr lang="en-US" sz="800" i="1" spc="101" kern="0" dirty="0">
                <a:solidFill>
                  <a:srgbClr val="FFB454"/>
                </a:solidFill>
                <a:latin typeface="Courier New" pitchFamily="34" charset="0"/>
                <a:ea typeface="Courier New" pitchFamily="34" charset="-122"/>
                <a:cs typeface="Courier New" pitchFamily="34" charset="-120"/>
              </a:rPr>
              <a:t>THEOREM</a:t>
            </a:r>
            <a:pPr algn="l" indent="0" marL="0">
              <a:lnSpc>
                <a:spcPts val="1482"/>
              </a:lnSpc>
              <a:buNone/>
            </a:pPr>
            <a:r>
              <a:rPr lang="en-US" sz="956" i="1" dirty="0">
                <a:solidFill>
                  <a:srgbClr val="E6E6E6"/>
                </a:solidFill>
                <a:latin typeface="Tinos" pitchFamily="34" charset="0"/>
                <a:ea typeface="Tinos" pitchFamily="34" charset="-122"/>
                <a:cs typeface="Tinos" pitchFamily="34" charset="-120"/>
              </a:rPr>
              <a:t>Among all </a:t>
            </a:r>
            <a:pPr algn="l" indent="0" marL="0">
              <a:lnSpc>
                <a:spcPts val="1482"/>
              </a:lnSpc>
              <a:buNone/>
            </a:pPr>
            <a:r>
              <a:rPr lang="en-US" sz="956" i="1" dirty="0">
                <a:solidFill>
                  <a:srgbClr val="FFB454"/>
                </a:solidFill>
                <a:latin typeface="Liberation Sans Narrow" pitchFamily="34" charset="0"/>
                <a:ea typeface="Liberation Sans Narrow" pitchFamily="34" charset="-122"/>
                <a:cs typeface="Liberation Sans Narrow" pitchFamily="34" charset="-120"/>
              </a:rPr>
              <a:t>[23,12]</a:t>
            </a:r>
            <a:pPr algn="l" indent="0" marL="0">
              <a:lnSpc>
                <a:spcPts val="1482"/>
              </a:lnSpc>
              <a:buNone/>
            </a:pPr>
            <a:r>
              <a:rPr lang="en-US" sz="956" i="1" dirty="0">
                <a:solidFill>
                  <a:srgbClr val="E6E6E6"/>
                </a:solidFill>
                <a:latin typeface="Tinos" pitchFamily="34" charset="0"/>
                <a:ea typeface="Tinos" pitchFamily="34" charset="-122"/>
                <a:cs typeface="Tinos" pitchFamily="34" charset="-120"/>
              </a:rPr>
              <a:t> binary linear codes, the Golay </a:t>
            </a:r>
            <a:pPr algn="l" indent="0" marL="0">
              <a:lnSpc>
                <a:spcPts val="1482"/>
              </a:lnSpc>
              <a:buNone/>
            </a:pPr>
            <a:r>
              <a:rPr lang="en-US" sz="956" i="1" dirty="0">
                <a:solidFill>
                  <a:srgbClr val="6FE3D2"/>
                </a:solidFill>
                <a:latin typeface="Liberation Sans Narrow" pitchFamily="34" charset="0"/>
                <a:ea typeface="Liberation Sans Narrow" pitchFamily="34" charset="-122"/>
                <a:cs typeface="Liberation Sans Narrow" pitchFamily="34" charset="-120"/>
              </a:rPr>
              <a:t>[23,12,7]</a:t>
            </a:r>
            <a:pPr algn="l" indent="0" marL="0">
              <a:lnSpc>
                <a:spcPts val="1482"/>
              </a:lnSpc>
              <a:buNone/>
            </a:pPr>
            <a:r>
              <a:rPr lang="en-US" sz="956" i="1" dirty="0">
                <a:solidFill>
                  <a:srgbClr val="E6E6E6"/>
                </a:solidFill>
                <a:latin typeface="Tinos" pitchFamily="34" charset="0"/>
                <a:ea typeface="Tinos" pitchFamily="34" charset="-122"/>
                <a:cs typeface="Tinos" pitchFamily="34" charset="-120"/>
              </a:rPr>
              <a:t> code uniquely maximises avg</a:t>
            </a:r>
            <a:pPr algn="l" indent="0" marL="0">
              <a:lnSpc>
                <a:spcPts val="1482"/>
              </a:lnSpc>
              <a:buNone/>
            </a:pPr>
            <a:r>
              <a:rPr lang="en-US" sz="800" i="1" baseline="-40000" dirty="0">
                <a:solidFill>
                  <a:srgbClr val="E6E6E6"/>
                </a:solidFill>
                <a:latin typeface="Tinos" pitchFamily="34" charset="0"/>
                <a:ea typeface="Tinos" pitchFamily="34" charset="-122"/>
                <a:cs typeface="Tinos" pitchFamily="34" charset="-120"/>
              </a:rPr>
              <a:t>Φ</a:t>
            </a:r>
            <a:pPr algn="l" indent="0" marL="0">
              <a:lnSpc>
                <a:spcPts val="1482"/>
              </a:lnSpc>
              <a:buNone/>
            </a:pPr>
            <a:r>
              <a:rPr lang="en-US" sz="956" i="1" dirty="0">
                <a:solidFill>
                  <a:srgbClr val="E6E6E6"/>
                </a:solidFill>
                <a:latin typeface="Tinos" pitchFamily="34" charset="0"/>
                <a:ea typeface="Tinos" pitchFamily="34" charset="-122"/>
                <a:cs typeface="Tinos" pitchFamily="34" charset="-120"/>
              </a:rPr>
              <a:t>.</a:t>
            </a:r>
            <a:pPr algn="l" indent="0" marL="0">
              <a:lnSpc>
                <a:spcPts val="1482"/>
              </a:lnSpc>
              <a:buNone/>
            </a:pPr>
            <a:r>
              <a:rPr lang="en-US" sz="956" i="1" dirty="0">
                <a:solidFill>
                  <a:srgbClr val="6FE3D2"/>
                </a:solidFill>
                <a:latin typeface="Tinos" pitchFamily="34" charset="0"/>
                <a:ea typeface="Tinos" pitchFamily="34" charset="-122"/>
                <a:cs typeface="Tinos" pitchFamily="34" charset="-120"/>
              </a:rPr>
              <a:t> ∎</a:t>
            </a:r>
            <a:endParaRPr lang="en-US" sz="956" dirty="0"/>
          </a:p>
        </p:txBody>
      </p:sp>
      <p:sp>
        <p:nvSpPr>
          <p:cNvPr id="13" name="Text 11"/>
          <p:cNvSpPr/>
          <p:nvPr/>
        </p:nvSpPr>
        <p:spPr>
          <a:xfrm>
            <a:off x="460772" y="1768301"/>
            <a:ext cx="4071938" cy="921544"/>
          </a:xfrm>
          <a:prstGeom prst="roundRect">
            <a:avLst>
              <a:gd name="adj" fmla="val 6202"/>
            </a:avLst>
          </a:prstGeom>
          <a:solidFill>
            <a:srgbClr val="1F2630"/>
          </a:solidFill>
          <a:ln w="7144">
            <a:solidFill>
              <a:srgbClr val="2A3038"/>
            </a:solidFill>
            <a:prstDash val="solid"/>
          </a:ln>
        </p:spPr>
        <p:txBody>
          <a:bodyPr wrap="square" rtlCol="0" anchor="ctr"/>
          <a:lstStyle/>
          <a:p>
            <a:pPr indent="0" marL="0">
              <a:buNone/>
            </a:pPr>
            <a:endParaRPr lang="en-US" dirty="0"/>
          </a:p>
        </p:txBody>
      </p:sp>
      <p:sp>
        <p:nvSpPr>
          <p:cNvPr id="14" name="Text 12"/>
          <p:cNvSpPr/>
          <p:nvPr/>
        </p:nvSpPr>
        <p:spPr>
          <a:xfrm>
            <a:off x="567928" y="1861170"/>
            <a:ext cx="150019" cy="150019"/>
          </a:xfrm>
          <a:prstGeom prst="ellipse">
            <a:avLst/>
          </a:prstGeom>
          <a:solidFill>
            <a:srgbClr val="FFB454">
              <a:alpha val="12000"/>
            </a:srgbClr>
          </a:solidFill>
          <a:ln w="7144">
            <a:solidFill>
              <a:srgbClr val="FFB454"/>
            </a:solidFill>
            <a:prstDash val="solid"/>
          </a:ln>
        </p:spPr>
        <p:txBody>
          <a:bodyPr wrap="square" rtlCol="0" anchor="ctr"/>
          <a:lstStyle/>
          <a:p>
            <a:pPr indent="0" marL="0">
              <a:buNone/>
            </a:pPr>
            <a:endParaRPr lang="en-US" dirty="0"/>
          </a:p>
        </p:txBody>
      </p:sp>
      <p:sp>
        <p:nvSpPr>
          <p:cNvPr id="15" name="Text 13"/>
          <p:cNvSpPr/>
          <p:nvPr/>
        </p:nvSpPr>
        <p:spPr>
          <a:xfrm>
            <a:off x="564356" y="1857598"/>
            <a:ext cx="185738" cy="157163"/>
          </a:xfrm>
          <a:prstGeom prst="rect">
            <a:avLst/>
          </a:prstGeom>
          <a:noFill/>
          <a:ln/>
        </p:spPr>
        <p:txBody>
          <a:bodyPr wrap="none" lIns="0" tIns="0" rIns="0" bIns="0" rtlCol="0" anchor="ctr"/>
          <a:lstStyle/>
          <a:p>
            <a:pPr algn="ctr" indent="0" marL="0">
              <a:lnSpc>
                <a:spcPts val="928"/>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1</a:t>
            </a:r>
            <a:endParaRPr lang="en-US" sz="800" dirty="0"/>
          </a:p>
        </p:txBody>
      </p:sp>
      <p:sp>
        <p:nvSpPr>
          <p:cNvPr id="16" name="Text 14"/>
          <p:cNvSpPr/>
          <p:nvPr/>
        </p:nvSpPr>
        <p:spPr>
          <a:xfrm>
            <a:off x="778669" y="1887959"/>
            <a:ext cx="3650456" cy="164592"/>
          </a:xfrm>
          <a:prstGeom prst="rect">
            <a:avLst/>
          </a:prstGeom>
          <a:noFill/>
          <a:ln/>
        </p:spPr>
        <p:txBody>
          <a:bodyPr wrap="none" lIns="0" tIns="0" rIns="0" bIns="0" rtlCol="0" anchor="t"/>
          <a:lstStyle/>
          <a:p>
            <a:pPr algn="l" indent="0" marL="0">
              <a:lnSpc>
                <a:spcPts val="759"/>
              </a:lnSpc>
              <a:buNone/>
            </a:pPr>
            <a:r>
              <a:rPr lang="en-US" sz="800" spc="91" kern="0" dirty="0">
                <a:solidFill>
                  <a:srgbClr val="6FE3D2"/>
                </a:solidFill>
                <a:latin typeface="Courier New" pitchFamily="34" charset="0"/>
                <a:ea typeface="Courier New" pitchFamily="34" charset="-122"/>
                <a:cs typeface="Courier New" pitchFamily="34" charset="-120"/>
              </a:rPr>
              <a:t>●</a:t>
            </a:r>
            <a:pPr algn="l" indent="0" marL="0">
              <a:lnSpc>
                <a:spcPts val="759"/>
              </a:lnSpc>
              <a:buNone/>
            </a:pPr>
            <a:r>
              <a:rPr lang="en-US" sz="800" spc="91" kern="0" dirty="0">
                <a:solidFill>
                  <a:srgbClr val="6B7280"/>
                </a:solidFill>
                <a:latin typeface="Courier New" pitchFamily="34" charset="0"/>
                <a:ea typeface="Courier New" pitchFamily="34" charset="-122"/>
                <a:cs typeface="Courier New" pitchFamily="34" charset="-120"/>
              </a:rPr>
              <a:t> THREAD C · ESTABLISHED</a:t>
            </a:r>
            <a:endParaRPr lang="en-US" sz="800" dirty="0"/>
          </a:p>
        </p:txBody>
      </p:sp>
      <p:sp>
        <p:nvSpPr>
          <p:cNvPr id="17" name="Text 15"/>
          <p:cNvSpPr/>
          <p:nvPr/>
        </p:nvSpPr>
        <p:spPr>
          <a:xfrm>
            <a:off x="564356" y="2057623"/>
            <a:ext cx="3864769" cy="140781"/>
          </a:xfrm>
          <a:prstGeom prst="rect">
            <a:avLst/>
          </a:prstGeom>
          <a:noFill/>
          <a:ln/>
        </p:spPr>
        <p:txBody>
          <a:bodyPr wrap="none" lIns="0" tIns="0" rIns="0" bIns="0" rtlCol="0" anchor="t">
            <a:normAutofit/>
          </a:bodyPr>
          <a:lstStyle/>
          <a:p>
            <a:pPr algn="l" indent="0" marL="0">
              <a:lnSpc>
                <a:spcPts val="987"/>
              </a:lnSpc>
              <a:buNone/>
            </a:pPr>
            <a:r>
              <a:rPr lang="en-US" sz="800" dirty="0">
                <a:solidFill>
                  <a:srgbClr val="E6E6E6"/>
                </a:solidFill>
                <a:latin typeface="Carlito" pitchFamily="34" charset="0"/>
                <a:ea typeface="Carlito" pitchFamily="34" charset="-122"/>
                <a:cs typeface="Carlito" pitchFamily="34" charset="-120"/>
              </a:rPr>
              <a:t>Monotonicity of </a:t>
            </a:r>
            <a:pPr algn="l" indent="0" marL="0">
              <a:lnSpc>
                <a:spcPts val="987"/>
              </a:lnSpc>
              <a:buNone/>
            </a:pPr>
            <a:r>
              <a:rPr lang="en-US" sz="800" i="1" dirty="0">
                <a:solidFill>
                  <a:srgbClr val="E6E6E6"/>
                </a:solidFill>
                <a:latin typeface="Tinos" pitchFamily="34" charset="0"/>
                <a:ea typeface="Tinos" pitchFamily="34" charset="-122"/>
                <a:cs typeface="Tinos" pitchFamily="34" charset="-120"/>
              </a:rPr>
              <a:t>avg</a:t>
            </a:r>
            <a:pPr algn="l" indent="0" marL="0">
              <a:lnSpc>
                <a:spcPts val="987"/>
              </a:lnSpc>
              <a:buNone/>
            </a:pPr>
            <a:r>
              <a:rPr lang="en-US" sz="800" i="1" baseline="-40000" dirty="0">
                <a:solidFill>
                  <a:srgbClr val="E6E6E6"/>
                </a:solidFill>
                <a:latin typeface="Tinos" pitchFamily="34" charset="0"/>
                <a:ea typeface="Tinos" pitchFamily="34" charset="-122"/>
                <a:cs typeface="Tinos" pitchFamily="34" charset="-120"/>
              </a:rPr>
              <a:t>Φ</a:t>
            </a:r>
            <a:pPr algn="l" indent="0" marL="0">
              <a:lnSpc>
                <a:spcPts val="987"/>
              </a:lnSpc>
              <a:buNone/>
            </a:pPr>
            <a:r>
              <a:rPr lang="en-US" sz="800" dirty="0">
                <a:solidFill>
                  <a:srgbClr val="E6E6E6"/>
                </a:solidFill>
                <a:latin typeface="Carlito" pitchFamily="34" charset="0"/>
                <a:ea typeface="Carlito" pitchFamily="34" charset="-122"/>
                <a:cs typeface="Carlito" pitchFamily="34" charset="-120"/>
              </a:rPr>
              <a:t> in </a:t>
            </a:r>
            <a:pPr algn="l" indent="0" marL="0">
              <a:lnSpc>
                <a:spcPts val="987"/>
              </a:lnSpc>
              <a:buNone/>
            </a:pPr>
            <a:r>
              <a:rPr lang="en-US" sz="800" i="1" dirty="0">
                <a:solidFill>
                  <a:srgbClr val="E6E6E6"/>
                </a:solidFill>
                <a:latin typeface="Tinos" pitchFamily="34" charset="0"/>
                <a:ea typeface="Tinos" pitchFamily="34" charset="-122"/>
                <a:cs typeface="Tinos" pitchFamily="34" charset="-120"/>
              </a:rPr>
              <a:t>ρ</a:t>
            </a:r>
            <a:pPr algn="l" indent="0" marL="0">
              <a:lnSpc>
                <a:spcPts val="987"/>
              </a:lnSpc>
              <a:buNone/>
            </a:pPr>
            <a:r>
              <a:rPr lang="en-US" sz="800" i="1" baseline="-40000" dirty="0">
                <a:solidFill>
                  <a:srgbClr val="E6E6E6"/>
                </a:solidFill>
                <a:latin typeface="Tinos" pitchFamily="34" charset="0"/>
                <a:ea typeface="Tinos" pitchFamily="34" charset="-122"/>
                <a:cs typeface="Tinos" pitchFamily="34" charset="-120"/>
              </a:rPr>
              <a:t>Φ</a:t>
            </a:r>
            <a:endParaRPr lang="en-US" sz="800" dirty="0"/>
          </a:p>
        </p:txBody>
      </p:sp>
      <p:sp>
        <p:nvSpPr>
          <p:cNvPr id="18" name="Text 16"/>
          <p:cNvSpPr/>
          <p:nvPr/>
        </p:nvSpPr>
        <p:spPr>
          <a:xfrm>
            <a:off x="564356" y="2225836"/>
            <a:ext cx="3864769" cy="164592"/>
          </a:xfrm>
          <a:prstGeom prst="rect">
            <a:avLst/>
          </a:prstGeom>
          <a:noFill/>
          <a:ln/>
        </p:spPr>
        <p:txBody>
          <a:bodyPr wrap="square" lIns="0" tIns="0" rIns="0" bIns="0" rtlCol="0" anchor="t"/>
          <a:lstStyle/>
          <a:p>
            <a:pPr algn="l" indent="0" marL="0">
              <a:lnSpc>
                <a:spcPts val="970"/>
              </a:lnSpc>
              <a:buNone/>
            </a:pPr>
            <a:r>
              <a:rPr lang="en-US" sz="800" i="1" dirty="0">
                <a:solidFill>
                  <a:srgbClr val="E6E6E6"/>
                </a:solidFill>
                <a:latin typeface="Tinos" pitchFamily="34" charset="0"/>
                <a:ea typeface="Tinos" pitchFamily="34" charset="-122"/>
                <a:cs typeface="Tinos" pitchFamily="34" charset="-120"/>
              </a:rPr>
              <a:t>avg</a:t>
            </a:r>
            <a:pPr algn="l" indent="0" marL="0">
              <a:lnSpc>
                <a:spcPts val="970"/>
              </a:lnSpc>
              <a:buNone/>
            </a:pPr>
            <a:r>
              <a:rPr lang="en-US" sz="800" i="1" baseline="-40000" dirty="0">
                <a:solidFill>
                  <a:srgbClr val="E6E6E6"/>
                </a:solidFill>
                <a:latin typeface="Tinos" pitchFamily="34" charset="0"/>
                <a:ea typeface="Tinos" pitchFamily="34" charset="-122"/>
                <a:cs typeface="Tinos" pitchFamily="34" charset="-120"/>
              </a:rPr>
              <a:t>Φ</a:t>
            </a:r>
            <a:pPr algn="l" indent="0" marL="0">
              <a:lnSpc>
                <a:spcPts val="970"/>
              </a:lnSpc>
              <a:buNone/>
            </a:pPr>
            <a:r>
              <a:rPr lang="en-US" sz="800" i="1" dirty="0">
                <a:solidFill>
                  <a:srgbClr val="E6E6E6"/>
                </a:solidFill>
                <a:latin typeface="Tinos" pitchFamily="34" charset="0"/>
                <a:ea typeface="Tinos" pitchFamily="34" charset="-122"/>
                <a:cs typeface="Tinos" pitchFamily="34" charset="-120"/>
              </a:rPr>
              <a:t>(C)</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 is strictly decreasing in </a:t>
            </a:r>
            <a:pPr algn="l" indent="0" marL="0">
              <a:lnSpc>
                <a:spcPts val="970"/>
              </a:lnSpc>
              <a:buNone/>
            </a:pPr>
            <a:r>
              <a:rPr lang="en-US" sz="800" i="1" dirty="0">
                <a:solidFill>
                  <a:srgbClr val="E6E6E6"/>
                </a:solidFill>
                <a:latin typeface="Tinos" pitchFamily="34" charset="0"/>
                <a:ea typeface="Tinos" pitchFamily="34" charset="-122"/>
                <a:cs typeface="Tinos" pitchFamily="34" charset="-120"/>
              </a:rPr>
              <a:t>ρ</a:t>
            </a:r>
            <a:pPr algn="l" indent="0" marL="0">
              <a:lnSpc>
                <a:spcPts val="970"/>
              </a:lnSpc>
              <a:buNone/>
            </a:pPr>
            <a:r>
              <a:rPr lang="en-US" sz="800" i="1" baseline="-40000" dirty="0">
                <a:solidFill>
                  <a:srgbClr val="E6E6E6"/>
                </a:solidFill>
                <a:latin typeface="Tinos" pitchFamily="34" charset="0"/>
                <a:ea typeface="Tinos" pitchFamily="34" charset="-122"/>
                <a:cs typeface="Tinos" pitchFamily="34" charset="-120"/>
              </a:rPr>
              <a:t>Φ</a:t>
            </a:r>
            <a:pPr algn="l" indent="0" marL="0">
              <a:lnSpc>
                <a:spcPts val="970"/>
              </a:lnSpc>
              <a:buNone/>
            </a:pPr>
            <a:r>
              <a:rPr lang="en-US" sz="800" i="1" dirty="0">
                <a:solidFill>
                  <a:srgbClr val="E6E6E6"/>
                </a:solidFill>
                <a:latin typeface="Tinos" pitchFamily="34" charset="0"/>
                <a:ea typeface="Tinos" pitchFamily="34" charset="-122"/>
                <a:cs typeface="Tinos" pitchFamily="34" charset="-120"/>
              </a:rPr>
              <a:t>(C)</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 = </a:t>
            </a:r>
            <a:pPr algn="l" indent="0" marL="0">
              <a:lnSpc>
                <a:spcPts val="970"/>
              </a:lnSpc>
              <a:buNone/>
            </a:pPr>
            <a:r>
              <a:rPr lang="en-US" sz="800" i="1" dirty="0">
                <a:solidFill>
                  <a:srgbClr val="E6E6E6"/>
                </a:solidFill>
                <a:latin typeface="Tinos" pitchFamily="34" charset="0"/>
                <a:ea typeface="Tinos" pitchFamily="34" charset="-122"/>
                <a:cs typeface="Tinos" pitchFamily="34" charset="-120"/>
              </a:rPr>
              <a:t>E</a:t>
            </a:r>
            <a:pPr algn="l" indent="0" marL="0">
              <a:lnSpc>
                <a:spcPts val="970"/>
              </a:lnSpc>
              <a:buNone/>
            </a:pPr>
            <a:r>
              <a:rPr lang="en-US" sz="800" i="1" baseline="-40000" dirty="0">
                <a:solidFill>
                  <a:srgbClr val="E6E6E6"/>
                </a:solidFill>
                <a:latin typeface="Tinos" pitchFamily="34" charset="0"/>
                <a:ea typeface="Tinos" pitchFamily="34" charset="-122"/>
                <a:cs typeface="Tinos" pitchFamily="34" charset="-120"/>
              </a:rPr>
              <a:t>v</a:t>
            </a:r>
            <a:pPr algn="l" indent="0" marL="0">
              <a:lnSpc>
                <a:spcPts val="970"/>
              </a:lnSpc>
              <a:buNone/>
            </a:pPr>
            <a:r>
              <a:rPr lang="en-US" sz="800" i="1" dirty="0">
                <a:solidFill>
                  <a:srgbClr val="E6E6E6"/>
                </a:solidFill>
                <a:latin typeface="Tinos" pitchFamily="34" charset="0"/>
                <a:ea typeface="Tinos" pitchFamily="34" charset="-122"/>
                <a:cs typeface="Tinos" pitchFamily="34" charset="-120"/>
              </a:rPr>
              <a:t>[dist(v,C)/HW(v)]</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 by Jensen on the convex function </a:t>
            </a:r>
            <a:pPr algn="l" indent="0" marL="0">
              <a:lnSpc>
                <a:spcPts val="970"/>
              </a:lnSpc>
              <a:buNone/>
            </a:pPr>
            <a:r>
              <a:rPr lang="en-US" sz="800" i="1" dirty="0">
                <a:solidFill>
                  <a:srgbClr val="E6E6E6"/>
                </a:solidFill>
                <a:latin typeface="Liberation Sans Narrow" pitchFamily="34" charset="0"/>
                <a:ea typeface="Liberation Sans Narrow" pitchFamily="34" charset="-122"/>
                <a:cs typeface="Liberation Sans Narrow" pitchFamily="34" charset="-120"/>
              </a:rPr>
              <a:t>1/(1+β x)</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a:t>
            </a:r>
            <a:endParaRPr lang="en-US" sz="800" dirty="0"/>
          </a:p>
        </p:txBody>
      </p:sp>
      <p:sp>
        <p:nvSpPr>
          <p:cNvPr id="19" name="Text 17"/>
          <p:cNvSpPr/>
          <p:nvPr/>
        </p:nvSpPr>
        <p:spPr>
          <a:xfrm>
            <a:off x="4611291" y="1768301"/>
            <a:ext cx="4071938" cy="921544"/>
          </a:xfrm>
          <a:prstGeom prst="roundRect">
            <a:avLst>
              <a:gd name="adj" fmla="val 6202"/>
            </a:avLst>
          </a:prstGeom>
          <a:solidFill>
            <a:srgbClr val="1F2630"/>
          </a:solidFill>
          <a:ln w="7144">
            <a:solidFill>
              <a:srgbClr val="2A3038"/>
            </a:solidFill>
            <a:prstDash val="solid"/>
          </a:ln>
        </p:spPr>
        <p:txBody>
          <a:bodyPr wrap="square" rtlCol="0" anchor="ctr"/>
          <a:lstStyle/>
          <a:p>
            <a:pPr indent="0" marL="0">
              <a:buNone/>
            </a:pPr>
            <a:endParaRPr lang="en-US" dirty="0"/>
          </a:p>
        </p:txBody>
      </p:sp>
      <p:sp>
        <p:nvSpPr>
          <p:cNvPr id="20" name="Text 18"/>
          <p:cNvSpPr/>
          <p:nvPr/>
        </p:nvSpPr>
        <p:spPr>
          <a:xfrm>
            <a:off x="4718447" y="1861170"/>
            <a:ext cx="150019" cy="150019"/>
          </a:xfrm>
          <a:prstGeom prst="ellipse">
            <a:avLst/>
          </a:prstGeom>
          <a:solidFill>
            <a:srgbClr val="FFB454">
              <a:alpha val="12000"/>
            </a:srgbClr>
          </a:solidFill>
          <a:ln w="7144">
            <a:solidFill>
              <a:srgbClr val="FFB454"/>
            </a:solidFill>
            <a:prstDash val="solid"/>
          </a:ln>
        </p:spPr>
        <p:txBody>
          <a:bodyPr wrap="square" rtlCol="0" anchor="ctr"/>
          <a:lstStyle/>
          <a:p>
            <a:pPr indent="0" marL="0">
              <a:buNone/>
            </a:pPr>
            <a:endParaRPr lang="en-US" dirty="0"/>
          </a:p>
        </p:txBody>
      </p:sp>
      <p:sp>
        <p:nvSpPr>
          <p:cNvPr id="21" name="Text 19"/>
          <p:cNvSpPr/>
          <p:nvPr/>
        </p:nvSpPr>
        <p:spPr>
          <a:xfrm>
            <a:off x="4714875" y="1857598"/>
            <a:ext cx="185738" cy="157163"/>
          </a:xfrm>
          <a:prstGeom prst="rect">
            <a:avLst/>
          </a:prstGeom>
          <a:noFill/>
          <a:ln/>
        </p:spPr>
        <p:txBody>
          <a:bodyPr wrap="none" lIns="0" tIns="0" rIns="0" bIns="0" rtlCol="0" anchor="ctr"/>
          <a:lstStyle/>
          <a:p>
            <a:pPr algn="ctr" indent="0" marL="0">
              <a:lnSpc>
                <a:spcPts val="928"/>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2</a:t>
            </a:r>
            <a:endParaRPr lang="en-US" sz="800" dirty="0"/>
          </a:p>
        </p:txBody>
      </p:sp>
      <p:sp>
        <p:nvSpPr>
          <p:cNvPr id="22" name="Text 20"/>
          <p:cNvSpPr/>
          <p:nvPr/>
        </p:nvSpPr>
        <p:spPr>
          <a:xfrm>
            <a:off x="4929188" y="1887959"/>
            <a:ext cx="3650456" cy="164592"/>
          </a:xfrm>
          <a:prstGeom prst="rect">
            <a:avLst/>
          </a:prstGeom>
          <a:noFill/>
          <a:ln/>
        </p:spPr>
        <p:txBody>
          <a:bodyPr wrap="square" lIns="0" tIns="0" rIns="0" bIns="0" rtlCol="0" anchor="t"/>
          <a:lstStyle/>
          <a:p>
            <a:pPr algn="l" indent="0" marL="0">
              <a:lnSpc>
                <a:spcPts val="759"/>
              </a:lnSpc>
              <a:buNone/>
            </a:pPr>
            <a:r>
              <a:rPr lang="en-US" sz="800" spc="91" kern="0" dirty="0">
                <a:solidFill>
                  <a:srgbClr val="6FE3D2"/>
                </a:solidFill>
                <a:latin typeface="Courier New" pitchFamily="34" charset="0"/>
                <a:ea typeface="Courier New" pitchFamily="34" charset="-122"/>
                <a:cs typeface="Courier New" pitchFamily="34" charset="-120"/>
              </a:rPr>
              <a:t>●</a:t>
            </a:r>
            <a:pPr algn="l" indent="0" marL="0">
              <a:lnSpc>
                <a:spcPts val="759"/>
              </a:lnSpc>
              <a:buNone/>
            </a:pPr>
            <a:r>
              <a:rPr lang="en-US" sz="800" spc="91" kern="0" dirty="0">
                <a:solidFill>
                  <a:srgbClr val="6B7280"/>
                </a:solidFill>
                <a:latin typeface="Courier New" pitchFamily="34" charset="0"/>
                <a:ea typeface="Courier New" pitchFamily="34" charset="-122"/>
                <a:cs typeface="Courier New" pitchFamily="34" charset="-120"/>
              </a:rPr>
              <a:t> DEFINITION</a:t>
            </a:r>
            <a:endParaRPr lang="en-US" sz="800" dirty="0"/>
          </a:p>
        </p:txBody>
      </p:sp>
      <p:sp>
        <p:nvSpPr>
          <p:cNvPr id="23" name="Text 21"/>
          <p:cNvSpPr/>
          <p:nvPr/>
        </p:nvSpPr>
        <p:spPr>
          <a:xfrm>
            <a:off x="4714875" y="2057623"/>
            <a:ext cx="3974497" cy="140781"/>
          </a:xfrm>
          <a:prstGeom prst="rect">
            <a:avLst/>
          </a:prstGeom>
          <a:noFill/>
          <a:ln/>
        </p:spPr>
        <p:txBody>
          <a:bodyPr wrap="square" lIns="0" tIns="0" rIns="0" bIns="0" rtlCol="0" anchor="t">
            <a:normAutofit/>
          </a:bodyPr>
          <a:lstStyle/>
          <a:p>
            <a:pPr algn="l" indent="0" marL="0">
              <a:lnSpc>
                <a:spcPts val="987"/>
              </a:lnSpc>
              <a:buNone/>
            </a:pPr>
            <a:r>
              <a:rPr lang="en-US" sz="800" i="1" dirty="0">
                <a:solidFill>
                  <a:srgbClr val="E6E6E6"/>
                </a:solidFill>
                <a:latin typeface="Tinos" pitchFamily="34" charset="0"/>
                <a:ea typeface="Tinos" pitchFamily="34" charset="-122"/>
                <a:cs typeface="Tinos" pitchFamily="34" charset="-120"/>
              </a:rPr>
              <a:t>ρ</a:t>
            </a:r>
            <a:pPr algn="l" indent="0" marL="0">
              <a:lnSpc>
                <a:spcPts val="987"/>
              </a:lnSpc>
              <a:buNone/>
            </a:pPr>
            <a:r>
              <a:rPr lang="en-US" sz="800" i="1" baseline="-40000" dirty="0">
                <a:solidFill>
                  <a:srgbClr val="E6E6E6"/>
                </a:solidFill>
                <a:latin typeface="Tinos" pitchFamily="34" charset="0"/>
                <a:ea typeface="Tinos" pitchFamily="34" charset="-122"/>
                <a:cs typeface="Tinos" pitchFamily="34" charset="-120"/>
              </a:rPr>
              <a:t>Φ</a:t>
            </a:r>
            <a:pPr algn="l" indent="0" marL="0">
              <a:lnSpc>
                <a:spcPts val="987"/>
              </a:lnSpc>
              <a:buNone/>
            </a:pPr>
            <a:r>
              <a:rPr lang="en-US" sz="800" dirty="0">
                <a:solidFill>
                  <a:srgbClr val="E6E6E6"/>
                </a:solidFill>
                <a:latin typeface="Carlito" pitchFamily="34" charset="0"/>
                <a:ea typeface="Carlito" pitchFamily="34" charset="-122"/>
                <a:cs typeface="Carlito" pitchFamily="34" charset="-120"/>
              </a:rPr>
              <a:t> is determined by the distance distribution</a:t>
            </a:r>
            <a:endParaRPr lang="en-US" sz="800" dirty="0"/>
          </a:p>
        </p:txBody>
      </p:sp>
      <p:sp>
        <p:nvSpPr>
          <p:cNvPr id="24" name="Text 22"/>
          <p:cNvSpPr/>
          <p:nvPr/>
        </p:nvSpPr>
        <p:spPr>
          <a:xfrm>
            <a:off x="4714875" y="2225836"/>
            <a:ext cx="3864769" cy="329184"/>
          </a:xfrm>
          <a:prstGeom prst="rect">
            <a:avLst/>
          </a:prstGeom>
          <a:noFill/>
          <a:ln/>
        </p:spPr>
        <p:txBody>
          <a:bodyPr wrap="square" lIns="0" tIns="0" rIns="0" bIns="0" rtlCol="0" anchor="t"/>
          <a:lstStyle/>
          <a:p>
            <a:pPr algn="l" indent="0" marL="0">
              <a:lnSpc>
                <a:spcPts val="970"/>
              </a:lnSpc>
              <a:buNone/>
            </a:pPr>
            <a:r>
              <a:rPr lang="en-US" sz="800" i="1" dirty="0">
                <a:solidFill>
                  <a:srgbClr val="E6E6E6"/>
                </a:solidFill>
                <a:latin typeface="Tinos" pitchFamily="34" charset="0"/>
                <a:ea typeface="Tinos" pitchFamily="34" charset="-122"/>
                <a:cs typeface="Tinos" pitchFamily="34" charset="-120"/>
              </a:rPr>
              <a:t>ρ</a:t>
            </a:r>
            <a:pPr algn="l" indent="0" marL="0">
              <a:lnSpc>
                <a:spcPts val="970"/>
              </a:lnSpc>
              <a:buNone/>
            </a:pPr>
            <a:r>
              <a:rPr lang="en-US" sz="800" i="1" baseline="-40000" dirty="0">
                <a:solidFill>
                  <a:srgbClr val="E6E6E6"/>
                </a:solidFill>
                <a:latin typeface="Tinos" pitchFamily="34" charset="0"/>
                <a:ea typeface="Tinos" pitchFamily="34" charset="-122"/>
                <a:cs typeface="Tinos" pitchFamily="34" charset="-120"/>
              </a:rPr>
              <a:t>Φ</a:t>
            </a:r>
            <a:pPr algn="l" indent="0" marL="0">
              <a:lnSpc>
                <a:spcPts val="970"/>
              </a:lnSpc>
              <a:buNone/>
            </a:pPr>
            <a:r>
              <a:rPr lang="en-US" sz="800" i="1" dirty="0">
                <a:solidFill>
                  <a:srgbClr val="E6E6E6"/>
                </a:solidFill>
                <a:latin typeface="Tinos" pitchFamily="34" charset="0"/>
                <a:ea typeface="Tinos" pitchFamily="34" charset="-122"/>
                <a:cs typeface="Tinos" pitchFamily="34" charset="-120"/>
              </a:rPr>
              <a:t>(C)</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 is bounded below by a function of the covering radius </a:t>
            </a:r>
            <a:pPr algn="l" indent="0" marL="0">
              <a:lnSpc>
                <a:spcPts val="970"/>
              </a:lnSpc>
              <a:buNone/>
            </a:pPr>
            <a:r>
              <a:rPr lang="en-US" sz="800" i="1" dirty="0">
                <a:solidFill>
                  <a:srgbClr val="E6E6E6"/>
                </a:solidFill>
                <a:latin typeface="Tinos" pitchFamily="34" charset="0"/>
                <a:ea typeface="Tinos" pitchFamily="34" charset="-122"/>
                <a:cs typeface="Tinos" pitchFamily="34" charset="-120"/>
              </a:rPr>
              <a:t>ρ(C)</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 and is exactly determined by the full distance distribution of </a:t>
            </a:r>
            <a:pPr algn="l" indent="0" marL="0">
              <a:lnSpc>
                <a:spcPts val="970"/>
              </a:lnSpc>
              <a:buNone/>
            </a:pPr>
            <a:r>
              <a:rPr lang="en-US" sz="800" i="1" dirty="0">
                <a:solidFill>
                  <a:srgbClr val="E6E6E6"/>
                </a:solidFill>
                <a:latin typeface="Tinos" pitchFamily="34" charset="0"/>
                <a:ea typeface="Tinos" pitchFamily="34" charset="-122"/>
                <a:cs typeface="Tinos" pitchFamily="34" charset="-120"/>
              </a:rPr>
              <a:t>C</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a:t>
            </a:r>
            <a:endParaRPr lang="en-US" sz="800" dirty="0"/>
          </a:p>
        </p:txBody>
      </p:sp>
      <p:sp>
        <p:nvSpPr>
          <p:cNvPr id="25" name="Text 23"/>
          <p:cNvSpPr/>
          <p:nvPr/>
        </p:nvSpPr>
        <p:spPr>
          <a:xfrm>
            <a:off x="460772" y="2768426"/>
            <a:ext cx="4071938" cy="921544"/>
          </a:xfrm>
          <a:prstGeom prst="roundRect">
            <a:avLst>
              <a:gd name="adj" fmla="val 6202"/>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26" name="Text 24"/>
          <p:cNvSpPr/>
          <p:nvPr/>
        </p:nvSpPr>
        <p:spPr>
          <a:xfrm>
            <a:off x="567928" y="2861295"/>
            <a:ext cx="150019" cy="150019"/>
          </a:xfrm>
          <a:prstGeom prst="ellipse">
            <a:avLst/>
          </a:prstGeom>
          <a:solidFill>
            <a:srgbClr val="FFB454">
              <a:alpha val="12000"/>
            </a:srgbClr>
          </a:solidFill>
          <a:ln w="7144">
            <a:solidFill>
              <a:srgbClr val="FFB454"/>
            </a:solidFill>
            <a:prstDash val="solid"/>
          </a:ln>
        </p:spPr>
        <p:txBody>
          <a:bodyPr wrap="square" rtlCol="0" anchor="ctr"/>
          <a:lstStyle/>
          <a:p>
            <a:pPr indent="0" marL="0">
              <a:buNone/>
            </a:pPr>
            <a:endParaRPr lang="en-US" dirty="0"/>
          </a:p>
        </p:txBody>
      </p:sp>
      <p:sp>
        <p:nvSpPr>
          <p:cNvPr id="27" name="Text 25"/>
          <p:cNvSpPr/>
          <p:nvPr/>
        </p:nvSpPr>
        <p:spPr>
          <a:xfrm>
            <a:off x="564356" y="2857723"/>
            <a:ext cx="185738" cy="157163"/>
          </a:xfrm>
          <a:prstGeom prst="rect">
            <a:avLst/>
          </a:prstGeom>
          <a:noFill/>
          <a:ln/>
        </p:spPr>
        <p:txBody>
          <a:bodyPr wrap="none" lIns="0" tIns="0" rIns="0" bIns="0" rtlCol="0" anchor="ctr"/>
          <a:lstStyle/>
          <a:p>
            <a:pPr algn="ctr" indent="0" marL="0">
              <a:lnSpc>
                <a:spcPts val="928"/>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3</a:t>
            </a:r>
            <a:endParaRPr lang="en-US" sz="800" dirty="0"/>
          </a:p>
        </p:txBody>
      </p:sp>
      <p:sp>
        <p:nvSpPr>
          <p:cNvPr id="28" name="Text 26"/>
          <p:cNvSpPr/>
          <p:nvPr/>
        </p:nvSpPr>
        <p:spPr>
          <a:xfrm>
            <a:off x="778669" y="2888084"/>
            <a:ext cx="3650456" cy="164592"/>
          </a:xfrm>
          <a:prstGeom prst="rect">
            <a:avLst/>
          </a:prstGeom>
          <a:noFill/>
          <a:ln/>
        </p:spPr>
        <p:txBody>
          <a:bodyPr wrap="square" lIns="0" tIns="0" rIns="0" bIns="0" rtlCol="0" anchor="t"/>
          <a:lstStyle/>
          <a:p>
            <a:pPr algn="l" indent="0" marL="0">
              <a:lnSpc>
                <a:spcPts val="759"/>
              </a:lnSpc>
              <a:buNone/>
            </a:pPr>
            <a:r>
              <a:rPr lang="en-US" sz="800" spc="91" kern="0" dirty="0">
                <a:solidFill>
                  <a:srgbClr val="FFB454"/>
                </a:solidFill>
                <a:latin typeface="Courier New" pitchFamily="34" charset="0"/>
                <a:ea typeface="Courier New" pitchFamily="34" charset="-122"/>
                <a:cs typeface="Courier New" pitchFamily="34" charset="-120"/>
              </a:rPr>
              <a:t>●</a:t>
            </a:r>
            <a:pPr algn="l" indent="0" marL="0">
              <a:lnSpc>
                <a:spcPts val="759"/>
              </a:lnSpc>
              <a:buNone/>
            </a:pPr>
            <a:r>
              <a:rPr lang="en-US" sz="800" spc="91" kern="0" dirty="0">
                <a:solidFill>
                  <a:srgbClr val="6B7280"/>
                </a:solidFill>
                <a:latin typeface="Courier New" pitchFamily="34" charset="0"/>
                <a:ea typeface="Courier New" pitchFamily="34" charset="-122"/>
                <a:cs typeface="Courier New" pitchFamily="34" charset="-120"/>
              </a:rPr>
              <a:t> PERFECT-CODE STRUCTURE · NEEDS PROOF</a:t>
            </a:r>
            <a:endParaRPr lang="en-US" sz="800" dirty="0"/>
          </a:p>
        </p:txBody>
      </p:sp>
      <p:sp>
        <p:nvSpPr>
          <p:cNvPr id="29" name="Text 27"/>
          <p:cNvSpPr/>
          <p:nvPr/>
        </p:nvSpPr>
        <p:spPr>
          <a:xfrm>
            <a:off x="564356" y="3057748"/>
            <a:ext cx="3864769" cy="140781"/>
          </a:xfrm>
          <a:prstGeom prst="rect">
            <a:avLst/>
          </a:prstGeom>
          <a:noFill/>
          <a:ln/>
        </p:spPr>
        <p:txBody>
          <a:bodyPr wrap="none" lIns="0" tIns="0" rIns="0" bIns="0" rtlCol="0" anchor="t">
            <a:normAutofit/>
          </a:bodyPr>
          <a:lstStyle/>
          <a:p>
            <a:pPr algn="l" indent="0" marL="0">
              <a:lnSpc>
                <a:spcPts val="987"/>
              </a:lnSpc>
              <a:buNone/>
            </a:pPr>
            <a:r>
              <a:rPr lang="en-US" sz="800" dirty="0">
                <a:solidFill>
                  <a:srgbClr val="E6E6E6"/>
                </a:solidFill>
                <a:latin typeface="Carlito" pitchFamily="34" charset="0"/>
                <a:ea typeface="Carlito" pitchFamily="34" charset="-122"/>
                <a:cs typeface="Carlito" pitchFamily="34" charset="-120"/>
              </a:rPr>
              <a:t>Perfect codes minimise </a:t>
            </a:r>
            <a:pPr algn="l" indent="0" marL="0">
              <a:lnSpc>
                <a:spcPts val="987"/>
              </a:lnSpc>
              <a:buNone/>
            </a:pPr>
            <a:r>
              <a:rPr lang="en-US" sz="800" i="1" dirty="0">
                <a:solidFill>
                  <a:srgbClr val="E6E6E6"/>
                </a:solidFill>
                <a:latin typeface="Tinos" pitchFamily="34" charset="0"/>
                <a:ea typeface="Tinos" pitchFamily="34" charset="-122"/>
                <a:cs typeface="Tinos" pitchFamily="34" charset="-120"/>
              </a:rPr>
              <a:t>ρ</a:t>
            </a:r>
            <a:pPr algn="l" indent="0" marL="0">
              <a:lnSpc>
                <a:spcPts val="987"/>
              </a:lnSpc>
              <a:buNone/>
            </a:pPr>
            <a:r>
              <a:rPr lang="en-US" sz="800" i="1" baseline="-40000" dirty="0">
                <a:solidFill>
                  <a:srgbClr val="E6E6E6"/>
                </a:solidFill>
                <a:latin typeface="Tinos" pitchFamily="34" charset="0"/>
                <a:ea typeface="Tinos" pitchFamily="34" charset="-122"/>
                <a:cs typeface="Tinos" pitchFamily="34" charset="-120"/>
              </a:rPr>
              <a:t>Φ</a:t>
            </a:r>
            <a:endParaRPr lang="en-US" sz="800" dirty="0"/>
          </a:p>
        </p:txBody>
      </p:sp>
      <p:sp>
        <p:nvSpPr>
          <p:cNvPr id="30" name="Text 28"/>
          <p:cNvSpPr/>
          <p:nvPr/>
        </p:nvSpPr>
        <p:spPr>
          <a:xfrm>
            <a:off x="564356" y="3225961"/>
            <a:ext cx="3864769" cy="329184"/>
          </a:xfrm>
          <a:prstGeom prst="rect">
            <a:avLst/>
          </a:prstGeom>
          <a:noFill/>
          <a:ln/>
        </p:spPr>
        <p:txBody>
          <a:bodyPr wrap="square" lIns="0" tIns="0" rIns="0" bIns="0" rtlCol="0" anchor="t"/>
          <a:lstStyle/>
          <a:p>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A perfect </a:t>
            </a:r>
            <a:pPr algn="l" indent="0" marL="0">
              <a:lnSpc>
                <a:spcPts val="970"/>
              </a:lnSpc>
              <a:buNone/>
            </a:pPr>
            <a:r>
              <a:rPr lang="en-US" sz="800" i="1" dirty="0">
                <a:solidFill>
                  <a:srgbClr val="E6E6E6"/>
                </a:solidFill>
                <a:latin typeface="Liberation Sans Narrow" pitchFamily="34" charset="0"/>
                <a:ea typeface="Liberation Sans Narrow" pitchFamily="34" charset="-122"/>
                <a:cs typeface="Liberation Sans Narrow" pitchFamily="34" charset="-120"/>
              </a:rPr>
              <a:t>[n,k,2t+1]</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 code has the unique optimal distance distribution: every non-codeword is at distance </a:t>
            </a:r>
            <a:pPr algn="l" indent="0" marL="0">
              <a:lnSpc>
                <a:spcPts val="970"/>
              </a:lnSpc>
              <a:buNone/>
            </a:pPr>
            <a:r>
              <a:rPr lang="en-US" sz="800" dirty="0">
                <a:solidFill>
                  <a:srgbClr val="FFB454"/>
                </a:solidFill>
                <a:latin typeface="Courier New" pitchFamily="34" charset="0"/>
                <a:ea typeface="Courier New" pitchFamily="34" charset="-122"/>
                <a:cs typeface="Courier New" pitchFamily="34" charset="-120"/>
              </a:rPr>
              <a:t>1 ≤ d ≤ t</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 from exactly one codeword. This minimises </a:t>
            </a:r>
            <a:pPr algn="l" indent="0" marL="0">
              <a:lnSpc>
                <a:spcPts val="970"/>
              </a:lnSpc>
              <a:buNone/>
            </a:pPr>
            <a:r>
              <a:rPr lang="en-US" sz="800" i="1" dirty="0">
                <a:solidFill>
                  <a:srgbClr val="E6E6E6"/>
                </a:solidFill>
                <a:latin typeface="Tinos" pitchFamily="34" charset="0"/>
                <a:ea typeface="Tinos" pitchFamily="34" charset="-122"/>
                <a:cs typeface="Tinos" pitchFamily="34" charset="-120"/>
              </a:rPr>
              <a:t>ρ</a:t>
            </a:r>
            <a:pPr algn="l" indent="0" marL="0">
              <a:lnSpc>
                <a:spcPts val="970"/>
              </a:lnSpc>
              <a:buNone/>
            </a:pPr>
            <a:r>
              <a:rPr lang="en-US" sz="800" i="1" baseline="-40000" dirty="0">
                <a:solidFill>
                  <a:srgbClr val="E6E6E6"/>
                </a:solidFill>
                <a:latin typeface="Tinos" pitchFamily="34" charset="0"/>
                <a:ea typeface="Tinos" pitchFamily="34" charset="-122"/>
                <a:cs typeface="Tinos" pitchFamily="34" charset="-120"/>
              </a:rPr>
              <a:t>Φ</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 among all </a:t>
            </a:r>
            <a:pPr algn="l" indent="0" marL="0">
              <a:lnSpc>
                <a:spcPts val="970"/>
              </a:lnSpc>
              <a:buNone/>
            </a:pPr>
            <a:r>
              <a:rPr lang="en-US" sz="800" i="1" dirty="0">
                <a:solidFill>
                  <a:srgbClr val="E6E6E6"/>
                </a:solidFill>
                <a:latin typeface="Tinos" pitchFamily="34" charset="0"/>
                <a:ea typeface="Tinos" pitchFamily="34" charset="-122"/>
                <a:cs typeface="Tinos" pitchFamily="34" charset="-120"/>
              </a:rPr>
              <a:t>[n,k]</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 codes.</a:t>
            </a:r>
            <a:endParaRPr lang="en-US" sz="800" dirty="0"/>
          </a:p>
        </p:txBody>
      </p:sp>
      <p:sp>
        <p:nvSpPr>
          <p:cNvPr id="31" name="Text 29"/>
          <p:cNvSpPr/>
          <p:nvPr/>
        </p:nvSpPr>
        <p:spPr>
          <a:xfrm>
            <a:off x="4611291" y="2768426"/>
            <a:ext cx="4071938" cy="921544"/>
          </a:xfrm>
          <a:prstGeom prst="roundRect">
            <a:avLst>
              <a:gd name="adj" fmla="val 6202"/>
            </a:avLst>
          </a:prstGeom>
          <a:solidFill>
            <a:srgbClr val="1F2630"/>
          </a:solidFill>
          <a:ln w="7144">
            <a:solidFill>
              <a:srgbClr val="2A3038"/>
            </a:solidFill>
            <a:prstDash val="solid"/>
          </a:ln>
        </p:spPr>
        <p:txBody>
          <a:bodyPr wrap="square" rtlCol="0" anchor="ctr"/>
          <a:lstStyle/>
          <a:p>
            <a:pPr indent="0" marL="0">
              <a:buNone/>
            </a:pPr>
            <a:endParaRPr lang="en-US" dirty="0"/>
          </a:p>
        </p:txBody>
      </p:sp>
      <p:sp>
        <p:nvSpPr>
          <p:cNvPr id="32" name="Text 30"/>
          <p:cNvSpPr/>
          <p:nvPr/>
        </p:nvSpPr>
        <p:spPr>
          <a:xfrm>
            <a:off x="4718447" y="2861295"/>
            <a:ext cx="150019" cy="150019"/>
          </a:xfrm>
          <a:prstGeom prst="ellipse">
            <a:avLst/>
          </a:prstGeom>
          <a:solidFill>
            <a:srgbClr val="FFB454">
              <a:alpha val="12000"/>
            </a:srgbClr>
          </a:solidFill>
          <a:ln w="7144">
            <a:solidFill>
              <a:srgbClr val="FFB454"/>
            </a:solidFill>
            <a:prstDash val="solid"/>
          </a:ln>
        </p:spPr>
        <p:txBody>
          <a:bodyPr wrap="square" rtlCol="0" anchor="ctr"/>
          <a:lstStyle/>
          <a:p>
            <a:pPr indent="0" marL="0">
              <a:buNone/>
            </a:pPr>
            <a:endParaRPr lang="en-US" dirty="0"/>
          </a:p>
        </p:txBody>
      </p:sp>
      <p:sp>
        <p:nvSpPr>
          <p:cNvPr id="33" name="Text 31"/>
          <p:cNvSpPr/>
          <p:nvPr/>
        </p:nvSpPr>
        <p:spPr>
          <a:xfrm>
            <a:off x="4714875" y="2857723"/>
            <a:ext cx="185738" cy="157163"/>
          </a:xfrm>
          <a:prstGeom prst="rect">
            <a:avLst/>
          </a:prstGeom>
          <a:noFill/>
          <a:ln/>
        </p:spPr>
        <p:txBody>
          <a:bodyPr wrap="none" lIns="0" tIns="0" rIns="0" bIns="0" rtlCol="0" anchor="ctr"/>
          <a:lstStyle/>
          <a:p>
            <a:pPr algn="ctr" indent="0" marL="0">
              <a:lnSpc>
                <a:spcPts val="928"/>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4</a:t>
            </a:r>
            <a:endParaRPr lang="en-US" sz="800" dirty="0"/>
          </a:p>
        </p:txBody>
      </p:sp>
      <p:sp>
        <p:nvSpPr>
          <p:cNvPr id="34" name="Text 32"/>
          <p:cNvSpPr/>
          <p:nvPr/>
        </p:nvSpPr>
        <p:spPr>
          <a:xfrm>
            <a:off x="4929188" y="2888084"/>
            <a:ext cx="3650456" cy="164592"/>
          </a:xfrm>
          <a:prstGeom prst="rect">
            <a:avLst/>
          </a:prstGeom>
          <a:noFill/>
          <a:ln/>
        </p:spPr>
        <p:txBody>
          <a:bodyPr wrap="none" lIns="0" tIns="0" rIns="0" bIns="0" rtlCol="0" anchor="t"/>
          <a:lstStyle/>
          <a:p>
            <a:pPr algn="l" indent="0" marL="0">
              <a:lnSpc>
                <a:spcPts val="759"/>
              </a:lnSpc>
              <a:buNone/>
            </a:pPr>
            <a:r>
              <a:rPr lang="en-US" sz="800" spc="91" kern="0" dirty="0">
                <a:solidFill>
                  <a:srgbClr val="B097FF"/>
                </a:solidFill>
                <a:latin typeface="Courier New" pitchFamily="34" charset="0"/>
                <a:ea typeface="Courier New" pitchFamily="34" charset="-122"/>
                <a:cs typeface="Courier New" pitchFamily="34" charset="-120"/>
              </a:rPr>
              <a:t>●</a:t>
            </a:r>
            <a:pPr algn="l" indent="0" marL="0">
              <a:lnSpc>
                <a:spcPts val="759"/>
              </a:lnSpc>
              <a:buNone/>
            </a:pPr>
            <a:r>
              <a:rPr lang="en-US" sz="800" spc="91" kern="0" dirty="0">
                <a:solidFill>
                  <a:srgbClr val="6B7280"/>
                </a:solidFill>
                <a:latin typeface="Liberation Sans Narrow" pitchFamily="34" charset="0"/>
                <a:ea typeface="Liberation Sans Narrow" pitchFamily="34" charset="-122"/>
                <a:cs typeface="Liberation Sans Narrow" pitchFamily="34" charset="-120"/>
              </a:rPr>
              <a:t> CLASSICAL · VAN LINT 1971</a:t>
            </a:r>
            <a:endParaRPr lang="en-US" sz="800" dirty="0"/>
          </a:p>
        </p:txBody>
      </p:sp>
      <p:sp>
        <p:nvSpPr>
          <p:cNvPr id="35" name="Text 33"/>
          <p:cNvSpPr/>
          <p:nvPr/>
        </p:nvSpPr>
        <p:spPr>
          <a:xfrm>
            <a:off x="4714875" y="3057748"/>
            <a:ext cx="3974497" cy="140781"/>
          </a:xfrm>
          <a:prstGeom prst="rect">
            <a:avLst/>
          </a:prstGeom>
          <a:noFill/>
          <a:ln/>
        </p:spPr>
        <p:txBody>
          <a:bodyPr wrap="square" lIns="0" tIns="0" rIns="0" bIns="0" rtlCol="0" anchor="t">
            <a:normAutofit/>
          </a:bodyPr>
          <a:lstStyle/>
          <a:p>
            <a:pPr algn="l" indent="0" marL="0">
              <a:lnSpc>
                <a:spcPts val="987"/>
              </a:lnSpc>
              <a:buNone/>
            </a:pPr>
            <a:r>
              <a:rPr lang="en-US" sz="800" dirty="0">
                <a:solidFill>
                  <a:srgbClr val="E6E6E6"/>
                </a:solidFill>
                <a:latin typeface="Carlito" pitchFamily="34" charset="0"/>
                <a:ea typeface="Carlito" pitchFamily="34" charset="-122"/>
                <a:cs typeface="Carlito" pitchFamily="34" charset="-120"/>
              </a:rPr>
              <a:t>Golay is the unique perfect </a:t>
            </a:r>
            <a:pPr algn="l" indent="0" marL="0">
              <a:lnSpc>
                <a:spcPts val="987"/>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[23,12]</a:t>
            </a:r>
            <a:pPr algn="l" indent="0" marL="0">
              <a:lnSpc>
                <a:spcPts val="987"/>
              </a:lnSpc>
              <a:buNone/>
            </a:pPr>
            <a:r>
              <a:rPr lang="en-US" sz="800" dirty="0">
                <a:solidFill>
                  <a:srgbClr val="E6E6E6"/>
                </a:solidFill>
                <a:latin typeface="Carlito" pitchFamily="34" charset="0"/>
                <a:ea typeface="Carlito" pitchFamily="34" charset="-122"/>
                <a:cs typeface="Carlito" pitchFamily="34" charset="-120"/>
              </a:rPr>
              <a:t> code</a:t>
            </a:r>
            <a:endParaRPr lang="en-US" sz="800" dirty="0"/>
          </a:p>
        </p:txBody>
      </p:sp>
      <p:sp>
        <p:nvSpPr>
          <p:cNvPr id="36" name="Text 34"/>
          <p:cNvSpPr/>
          <p:nvPr/>
        </p:nvSpPr>
        <p:spPr>
          <a:xfrm>
            <a:off x="4714875" y="3225961"/>
            <a:ext cx="3864769" cy="329184"/>
          </a:xfrm>
          <a:prstGeom prst="rect">
            <a:avLst/>
          </a:prstGeom>
          <a:noFill/>
          <a:ln/>
        </p:spPr>
        <p:txBody>
          <a:bodyPr wrap="square" lIns="0" tIns="0" rIns="0" bIns="0" rtlCol="0" anchor="t"/>
          <a:lstStyle/>
          <a:p>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The Golay </a:t>
            </a:r>
            <a:pPr algn="l" indent="0" marL="0">
              <a:lnSpc>
                <a:spcPts val="970"/>
              </a:lnSpc>
              <a:buNone/>
            </a:pPr>
            <a:r>
              <a:rPr lang="en-US" sz="800" dirty="0">
                <a:solidFill>
                  <a:srgbClr val="6FE3D2"/>
                </a:solidFill>
                <a:latin typeface="Liberation Sans Narrow" pitchFamily="34" charset="0"/>
                <a:ea typeface="Liberation Sans Narrow" pitchFamily="34" charset="-122"/>
                <a:cs typeface="Liberation Sans Narrow" pitchFamily="34" charset="-120"/>
              </a:rPr>
              <a:t>[23,12,7]</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 code is the unique perfect </a:t>
            </a:r>
            <a:pPr algn="l" indent="0" marL="0">
              <a:lnSpc>
                <a:spcPts val="970"/>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[23,12]</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 code. Therefore it uniquely minimises </a:t>
            </a:r>
            <a:pPr algn="l" indent="0" marL="0">
              <a:lnSpc>
                <a:spcPts val="970"/>
              </a:lnSpc>
              <a:buNone/>
            </a:pPr>
            <a:r>
              <a:rPr lang="en-US" sz="800" i="1" dirty="0">
                <a:solidFill>
                  <a:srgbClr val="E6E6E6"/>
                </a:solidFill>
                <a:latin typeface="Tinos" pitchFamily="34" charset="0"/>
                <a:ea typeface="Tinos" pitchFamily="34" charset="-122"/>
                <a:cs typeface="Tinos" pitchFamily="34" charset="-120"/>
              </a:rPr>
              <a:t>ρ</a:t>
            </a:r>
            <a:pPr algn="l" indent="0" marL="0">
              <a:lnSpc>
                <a:spcPts val="970"/>
              </a:lnSpc>
              <a:buNone/>
            </a:pPr>
            <a:r>
              <a:rPr lang="en-US" sz="800" i="1" baseline="-40000" dirty="0">
                <a:solidFill>
                  <a:srgbClr val="E6E6E6"/>
                </a:solidFill>
                <a:latin typeface="Tinos" pitchFamily="34" charset="0"/>
                <a:ea typeface="Tinos" pitchFamily="34" charset="-122"/>
                <a:cs typeface="Tinos" pitchFamily="34" charset="-120"/>
              </a:rPr>
              <a:t>Φ</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 hence uniquely maximises </a:t>
            </a:r>
            <a:pPr algn="l" indent="0" marL="0">
              <a:lnSpc>
                <a:spcPts val="970"/>
              </a:lnSpc>
              <a:buNone/>
            </a:pPr>
            <a:r>
              <a:rPr lang="en-US" sz="800" i="1" dirty="0">
                <a:solidFill>
                  <a:srgbClr val="E6E6E6"/>
                </a:solidFill>
                <a:latin typeface="Tinos" pitchFamily="34" charset="0"/>
                <a:ea typeface="Tinos" pitchFamily="34" charset="-122"/>
                <a:cs typeface="Tinos" pitchFamily="34" charset="-120"/>
              </a:rPr>
              <a:t>avg</a:t>
            </a:r>
            <a:pPr algn="l" indent="0" marL="0">
              <a:lnSpc>
                <a:spcPts val="970"/>
              </a:lnSpc>
              <a:buNone/>
            </a:pPr>
            <a:r>
              <a:rPr lang="en-US" sz="800" i="1" baseline="-40000" dirty="0">
                <a:solidFill>
                  <a:srgbClr val="E6E6E6"/>
                </a:solidFill>
                <a:latin typeface="Tinos" pitchFamily="34" charset="0"/>
                <a:ea typeface="Tinos" pitchFamily="34" charset="-122"/>
                <a:cs typeface="Tinos" pitchFamily="34" charset="-120"/>
              </a:rPr>
              <a:t>Φ</a:t>
            </a:r>
            <a:pPr algn="l" indent="0" marL="0">
              <a:lnSpc>
                <a:spcPts val="970"/>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 QED (modulo Step 3).</a:t>
            </a:r>
            <a:endParaRPr lang="en-US" sz="800" dirty="0"/>
          </a:p>
        </p:txBody>
      </p:sp>
      <p:sp>
        <p:nvSpPr>
          <p:cNvPr id="37" name="Text 35"/>
          <p:cNvSpPr/>
          <p:nvPr/>
        </p:nvSpPr>
        <p:spPr>
          <a:xfrm>
            <a:off x="457200" y="3786411"/>
            <a:ext cx="128588" cy="128588"/>
          </a:xfrm>
          <a:prstGeom prst="rect">
            <a:avLst/>
          </a:prstGeom>
          <a:noFill/>
          <a:ln/>
        </p:spPr>
        <p:txBody>
          <a:bodyPr wrap="none" lIns="0" tIns="0" rIns="0" bIns="0" rtlCol="0" anchor="ctr"/>
          <a:lstStyle/>
          <a:p>
            <a:pPr algn="ctr" indent="0" marL="0">
              <a:buNone/>
            </a:pPr>
            <a:r>
              <a:rPr lang="en-US" sz="1266" dirty="0">
                <a:solidFill>
                  <a:srgbClr val="FFB454"/>
                </a:solidFill>
                <a:latin typeface="Segoe UI Symbol" pitchFamily="34" charset="0"/>
                <a:ea typeface="Segoe UI Symbol" pitchFamily="34" charset="-122"/>
                <a:cs typeface="Segoe UI Symbol" pitchFamily="34" charset="-120"/>
              </a:rPr>
              <a:t>!</a:t>
            </a:r>
            <a:endParaRPr lang="en-US" sz="1266" dirty="0"/>
          </a:p>
        </p:txBody>
      </p:sp>
      <p:sp>
        <p:nvSpPr>
          <p:cNvPr id="38" name="Text 36"/>
          <p:cNvSpPr/>
          <p:nvPr/>
        </p:nvSpPr>
        <p:spPr>
          <a:xfrm>
            <a:off x="671513" y="3779267"/>
            <a:ext cx="8015288" cy="339999"/>
          </a:xfrm>
          <a:prstGeom prst="rect">
            <a:avLst/>
          </a:prstGeom>
          <a:noFill/>
          <a:ln/>
        </p:spPr>
        <p:txBody>
          <a:bodyPr wrap="square" lIns="0" tIns="0" rIns="0" bIns="0" rtlCol="0" anchor="t"/>
          <a:lstStyle/>
          <a:p>
            <a:pPr algn="l" indent="0" marL="0">
              <a:lnSpc>
                <a:spcPts val="1133"/>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Step 3 is the open step.</a:t>
            </a:r>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 Computational evidence (Thread D, </a:t>
            </a:r>
            <a:pPr algn="l" indent="0" marL="0">
              <a:lnSpc>
                <a:spcPts val="1133"/>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+0.036</a:t>
            </a:r>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 margin) strongly suggests it holds, but a complete proof requires either a direct combinatorial argument or an appeal to Krawtchouk-polynomial / MacWilliams-transform inequalities.</a:t>
            </a:r>
            <a:endParaRPr lang="en-US" sz="800" dirty="0"/>
          </a:p>
        </p:txBody>
      </p:sp>
      <p:sp>
        <p:nvSpPr>
          <p:cNvPr id="39" name="Text 37"/>
          <p:cNvSpPr/>
          <p:nvPr/>
        </p:nvSpPr>
        <p:spPr>
          <a:xfrm>
            <a:off x="457200" y="4893469"/>
            <a:ext cx="7143304"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UBP_STUDY_EXTREMAL_004 / Thread G / p.08</a:t>
            </a:r>
            <a:endParaRPr lang="en-US" sz="800" dirty="0"/>
          </a:p>
        </p:txBody>
      </p:sp>
      <p:sp>
        <p:nvSpPr>
          <p:cNvPr id="40" name="Text 38"/>
          <p:cNvSpPr/>
          <p:nvPr/>
        </p:nvSpPr>
        <p:spPr>
          <a:xfrm>
            <a:off x="7614791" y="4893469"/>
            <a:ext cx="1239510"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THEOREM &amp; PROOF SKETCH</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7080461"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SECTION 04 / 05 / THREAD H / 09 OF 16</a:t>
            </a:r>
            <a:endParaRPr lang="en-US" sz="800" dirty="0"/>
          </a:p>
        </p:txBody>
      </p:sp>
      <p:sp>
        <p:nvSpPr>
          <p:cNvPr id="4" name="Text 2"/>
          <p:cNvSpPr/>
          <p:nvPr/>
        </p:nvSpPr>
        <p:spPr>
          <a:xfrm>
            <a:off x="7551948" y="342900"/>
            <a:ext cx="1134852"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UBP_STUDY_EXTREMAL_004</a:t>
            </a:r>
            <a:endParaRPr lang="en-US" sz="800" dirty="0"/>
          </a:p>
        </p:txBody>
      </p:sp>
      <p:sp>
        <p:nvSpPr>
          <p:cNvPr id="5" name="Text 3"/>
          <p:cNvSpPr/>
          <p:nvPr/>
        </p:nvSpPr>
        <p:spPr>
          <a:xfrm>
            <a:off x="457200" y="0"/>
            <a:ext cx="7144" cy="5143500"/>
          </a:xfrm>
          <a:prstGeom prst="rect">
            <a:avLst/>
          </a:prstGeom>
          <a:solidFill>
            <a:srgbClr val="2A3038">
              <a:alpha val="40000"/>
            </a:srgbClr>
          </a:solidFill>
          <a:ln/>
        </p:spPr>
        <p:txBody>
          <a:bodyPr wrap="square" rtlCol="0" anchor="ctr"/>
          <a:lstStyle/>
          <a:p>
            <a:pPr indent="0" marL="0">
              <a:buNone/>
            </a:pPr>
            <a:endParaRPr lang="en-US" dirty="0"/>
          </a:p>
        </p:txBody>
      </p:sp>
      <p:sp>
        <p:nvSpPr>
          <p:cNvPr id="6" name="Text 4"/>
          <p:cNvSpPr/>
          <p:nvPr/>
        </p:nvSpPr>
        <p:spPr>
          <a:xfrm>
            <a:off x="8679656" y="0"/>
            <a:ext cx="7144" cy="5143500"/>
          </a:xfrm>
          <a:prstGeom prst="rect">
            <a:avLst/>
          </a:prstGeom>
          <a:solidFill>
            <a:srgbClr val="2A3038">
              <a:alpha val="40000"/>
            </a:srgbClr>
          </a:solidFill>
          <a:ln/>
        </p:spPr>
        <p:txBody>
          <a:bodyPr wrap="square" rtlCol="0" anchor="ctr"/>
          <a:lstStyle/>
          <a:p>
            <a:pPr indent="0" marL="0">
              <a:buNone/>
            </a:pPr>
            <a:endParaRPr lang="en-US" dirty="0"/>
          </a:p>
        </p:txBody>
      </p:sp>
      <p:sp>
        <p:nvSpPr>
          <p:cNvPr id="7" name="Text 5"/>
          <p:cNvSpPr/>
          <p:nvPr/>
        </p:nvSpPr>
        <p:spPr>
          <a:xfrm>
            <a:off x="457200" y="721519"/>
            <a:ext cx="42863" cy="42863"/>
          </a:xfrm>
          <a:prstGeom prst="roundRect">
            <a:avLst>
              <a:gd name="adj" fmla="val 66666"/>
            </a:avLst>
          </a:prstGeom>
          <a:solidFill>
            <a:srgbClr val="FF6B6B"/>
          </a:solidFill>
          <a:ln/>
        </p:spPr>
        <p:txBody>
          <a:bodyPr wrap="square" rtlCol="0" anchor="ctr"/>
          <a:lstStyle/>
          <a:p>
            <a:pPr indent="0" marL="0">
              <a:buNone/>
            </a:pPr>
            <a:endParaRPr lang="en-US" dirty="0"/>
          </a:p>
        </p:txBody>
      </p:sp>
      <p:sp>
        <p:nvSpPr>
          <p:cNvPr id="8" name="Text 6"/>
          <p:cNvSpPr/>
          <p:nvPr/>
        </p:nvSpPr>
        <p:spPr>
          <a:xfrm>
            <a:off x="457200" y="685800"/>
            <a:ext cx="8636000" cy="164592"/>
          </a:xfrm>
          <a:prstGeom prst="rect">
            <a:avLst/>
          </a:prstGeom>
          <a:noFill/>
          <a:ln/>
        </p:spPr>
        <p:txBody>
          <a:bodyPr wrap="square" lIns="0" tIns="0" rIns="0" bIns="0" rtlCol="0" anchor="t"/>
          <a:lstStyle/>
          <a:p>
            <a:pPr algn="l" indent="0" marL="0">
              <a:lnSpc>
                <a:spcPts val="928"/>
              </a:lnSpc>
              <a:buNone/>
            </a:pPr>
            <a:r>
              <a:rPr lang="en-US" sz="800" spc="173" kern="0" dirty="0">
                <a:solidFill>
                  <a:srgbClr val="6B7280"/>
                </a:solidFill>
                <a:latin typeface="Courier New" pitchFamily="34" charset="0"/>
                <a:ea typeface="Courier New" pitchFamily="34" charset="-122"/>
                <a:cs typeface="Courier New" pitchFamily="34" charset="-120"/>
              </a:rPr>
              <a:t>SECTION OPENER · FALSIFICATION THREAD</a:t>
            </a:r>
            <a:endParaRPr lang="en-US" sz="800" dirty="0"/>
          </a:p>
        </p:txBody>
      </p:sp>
      <p:sp>
        <p:nvSpPr>
          <p:cNvPr id="9" name="Text 7"/>
          <p:cNvSpPr/>
          <p:nvPr/>
        </p:nvSpPr>
        <p:spPr>
          <a:xfrm>
            <a:off x="457200" y="1060847"/>
            <a:ext cx="8636000" cy="2360867"/>
          </a:xfrm>
          <a:prstGeom prst="rect">
            <a:avLst/>
          </a:prstGeom>
          <a:noFill/>
          <a:ln/>
        </p:spPr>
        <p:txBody>
          <a:bodyPr wrap="none" lIns="0" tIns="0" rIns="0" bIns="0" rtlCol="0" anchor="t"/>
          <a:lstStyle/>
          <a:p>
            <a:pPr algn="l" indent="0" marL="0">
              <a:lnSpc>
                <a:spcPts val="17213"/>
              </a:lnSpc>
              <a:buNone/>
            </a:pPr>
            <a:r>
              <a:rPr lang="en-US" sz="20250" spc="-810" kern="0" dirty="0">
                <a:solidFill>
                  <a:srgbClr val="FFB454">
                    <a:alpha val="92000"/>
                  </a:srgbClr>
                </a:solidFill>
                <a:latin typeface="Liberation Sans Narrow" pitchFamily="34" charset="0"/>
                <a:ea typeface="Liberation Sans Narrow" pitchFamily="34" charset="-122"/>
                <a:cs typeface="Liberation Sans Narrow" pitchFamily="34" charset="-120"/>
              </a:rPr>
              <a:t>04</a:t>
            </a:r>
            <a:pPr algn="l" indent="0" marL="0">
              <a:lnSpc>
                <a:spcPts val="17213"/>
              </a:lnSpc>
              <a:buNone/>
            </a:pPr>
            <a:r>
              <a:rPr lang="en-US" sz="20250" spc="-810" kern="0" dirty="0">
                <a:solidFill>
                  <a:srgbClr val="2A3038">
                    <a:alpha val="92000"/>
                  </a:srgbClr>
                </a:solidFill>
                <a:latin typeface="Courier New" pitchFamily="34" charset="0"/>
                <a:ea typeface="Courier New" pitchFamily="34" charset="-122"/>
                <a:cs typeface="Courier New" pitchFamily="34" charset="-120"/>
              </a:rPr>
              <a:t>/</a:t>
            </a:r>
            <a:pPr algn="l" indent="0" marL="0">
              <a:lnSpc>
                <a:spcPts val="17213"/>
              </a:lnSpc>
              <a:buNone/>
            </a:pPr>
            <a:r>
              <a:rPr lang="en-US" sz="20250" spc="-810" kern="0" dirty="0">
                <a:solidFill>
                  <a:srgbClr val="6B7280">
                    <a:alpha val="55000"/>
                  </a:srgbClr>
                </a:solidFill>
                <a:latin typeface="Liberation Sans Narrow" pitchFamily="34" charset="0"/>
                <a:ea typeface="Liberation Sans Narrow" pitchFamily="34" charset="-122"/>
                <a:cs typeface="Liberation Sans Narrow" pitchFamily="34" charset="-120"/>
              </a:rPr>
              <a:t>05</a:t>
            </a:r>
            <a:endParaRPr lang="en-US" sz="20250" dirty="0"/>
          </a:p>
        </p:txBody>
      </p:sp>
      <p:sp>
        <p:nvSpPr>
          <p:cNvPr id="10" name="Text 8"/>
          <p:cNvSpPr/>
          <p:nvPr/>
        </p:nvSpPr>
        <p:spPr>
          <a:xfrm>
            <a:off x="8141866" y="1260872"/>
            <a:ext cx="342900" cy="21431"/>
          </a:xfrm>
          <a:prstGeom prst="rect">
            <a:avLst/>
          </a:prstGeom>
          <a:solidFill>
            <a:srgbClr val="FF6B6B"/>
          </a:solidFill>
          <a:ln/>
        </p:spPr>
        <p:txBody>
          <a:bodyPr wrap="square" rtlCol="0" anchor="ctr"/>
          <a:lstStyle/>
          <a:p>
            <a:pPr indent="0" marL="0">
              <a:buNone/>
            </a:pPr>
            <a:endParaRPr lang="en-US" dirty="0"/>
          </a:p>
        </p:txBody>
      </p:sp>
      <p:sp>
        <p:nvSpPr>
          <p:cNvPr id="11" name="Text 9"/>
          <p:cNvSpPr/>
          <p:nvPr/>
        </p:nvSpPr>
        <p:spPr>
          <a:xfrm>
            <a:off x="8141866" y="1396603"/>
            <a:ext cx="1002134" cy="2224858"/>
          </a:xfrm>
          <a:prstGeom prst="rect">
            <a:avLst/>
          </a:prstGeom>
          <a:noFill/>
          <a:ln/>
        </p:spPr>
        <p:txBody>
          <a:bodyPr wrap="square" lIns="0" tIns="0" rIns="0" bIns="0" rtlCol="0" anchor="t">
            <a:normAutofit/>
          </a:bodyPr>
          <a:lstStyle/>
          <a:p>
            <a:pPr algn="l" indent="0" marL="0">
              <a:lnSpc>
                <a:spcPts val="2390"/>
              </a:lnSpc>
              <a:buNone/>
            </a:pPr>
            <a:r>
              <a:rPr lang="en-US" sz="2025" spc="-20" kern="0" dirty="0">
                <a:solidFill>
                  <a:srgbClr val="E6E6E6"/>
                </a:solidFill>
                <a:latin typeface="Carlito" pitchFamily="34" charset="0"/>
                <a:ea typeface="Carlito" pitchFamily="34" charset="-122"/>
                <a:cs typeface="Carlito" pitchFamily="34" charset="-120"/>
              </a:rPr>
              <a:t>Thread H </a:t>
            </a:r>
            <a:pPr algn="l" indent="0" marL="0">
              <a:lnSpc>
                <a:spcPts val="2390"/>
              </a:lnSpc>
              <a:buNone/>
            </a:pPr>
            <a:r>
              <a:rPr lang="en-US" sz="2025" spc="-20" kern="0" dirty="0">
                <a:solidFill>
                  <a:srgbClr val="6B7280"/>
                </a:solidFill>
                <a:latin typeface="Carlito" pitchFamily="34" charset="0"/>
                <a:ea typeface="Carlito" pitchFamily="34" charset="-122"/>
                <a:cs typeface="Carlito" pitchFamily="34" charset="-120"/>
              </a:rPr>
              <a:t>—</a:t>
            </a:r>
            <a:pPr algn="l" indent="0" marL="0">
              <a:lnSpc>
                <a:spcPts val="2390"/>
              </a:lnSpc>
              <a:buNone/>
            </a:pPr>
            <a:r>
              <a:rPr lang="en-US" sz="2025" spc="-20" kern="0" dirty="0">
                <a:solidFill>
                  <a:srgbClr val="E6E6E6"/>
                </a:solidFill>
                <a:latin typeface="Carlito" pitchFamily="34" charset="0"/>
                <a:ea typeface="Carlito" pitchFamily="34" charset="-122"/>
                <a:cs typeface="Carlito" pitchFamily="34" charset="-120"/>
              </a:rPr>
              <a:t> Qualified Self-Dual Conjecture on </a:t>
            </a:r>
            <a:pPr algn="l" indent="0" marL="0">
              <a:lnSpc>
                <a:spcPts val="2390"/>
              </a:lnSpc>
              <a:buNone/>
            </a:pPr>
            <a:r>
              <a:rPr lang="en-US" sz="2025" spc="-20" kern="0" dirty="0">
                <a:solidFill>
                  <a:srgbClr val="FFB454"/>
                </a:solidFill>
                <a:latin typeface="Liberation Sans Narrow" pitchFamily="34" charset="0"/>
                <a:ea typeface="Liberation Sans Narrow" pitchFamily="34" charset="-122"/>
                <a:cs typeface="Liberation Sans Narrow" pitchFamily="34" charset="-120"/>
              </a:rPr>
              <a:t>[16,8]</a:t>
            </a:r>
            <a:endParaRPr lang="en-US" sz="2025" dirty="0"/>
          </a:p>
        </p:txBody>
      </p:sp>
      <p:sp>
        <p:nvSpPr>
          <p:cNvPr id="12" name="Text 10"/>
          <p:cNvSpPr/>
          <p:nvPr/>
        </p:nvSpPr>
        <p:spPr>
          <a:xfrm>
            <a:off x="8141866" y="3648894"/>
            <a:ext cx="1002134" cy="1494606"/>
          </a:xfrm>
          <a:prstGeom prst="rect">
            <a:avLst/>
          </a:prstGeom>
          <a:noFill/>
          <a:ln/>
        </p:spPr>
        <p:txBody>
          <a:bodyPr wrap="square" lIns="0" tIns="0" rIns="0" bIns="0" rtlCol="0" anchor="t"/>
          <a:lstStyle/>
          <a:p>
            <a:pPr algn="l" indent="0" marL="0">
              <a:lnSpc>
                <a:spcPts val="1395"/>
              </a:lnSpc>
              <a:buNone/>
            </a:pPr>
            <a:r>
              <a:rPr lang="en-US" sz="900" dirty="0">
                <a:solidFill>
                  <a:srgbClr val="B5BAC4"/>
                </a:solidFill>
                <a:latin typeface="Carlito" pitchFamily="34" charset="0"/>
                <a:ea typeface="Carlito" pitchFamily="34" charset="-122"/>
                <a:cs typeface="Carlito" pitchFamily="34" charset="-120"/>
              </a:rPr>
              <a:t>EXTREMAL_003 falsified the unqualified conjecture. Here we test the qualified form: among codes with </a:t>
            </a:r>
            <a:pPr algn="l" indent="0" marL="0">
              <a:lnSpc>
                <a:spcPts val="1395"/>
              </a:lnSpc>
              <a:buNone/>
            </a:pPr>
            <a:r>
              <a:rPr lang="en-US" sz="900" i="1" dirty="0">
                <a:solidFill>
                  <a:srgbClr val="E6E6E6"/>
                </a:solidFill>
                <a:latin typeface="Tinos" pitchFamily="34" charset="0"/>
                <a:ea typeface="Tinos" pitchFamily="34" charset="-122"/>
                <a:cs typeface="Tinos" pitchFamily="34" charset="-120"/>
              </a:rPr>
              <a:t>d</a:t>
            </a:r>
            <a:pPr algn="l" indent="0" marL="0">
              <a:lnSpc>
                <a:spcPts val="1395"/>
              </a:lnSpc>
              <a:buNone/>
            </a:pPr>
            <a:r>
              <a:rPr lang="en-US" sz="800" i="1" baseline="-40000" dirty="0">
                <a:solidFill>
                  <a:srgbClr val="E6E6E6"/>
                </a:solidFill>
                <a:latin typeface="Tinos" pitchFamily="34" charset="0"/>
                <a:ea typeface="Tinos" pitchFamily="34" charset="-122"/>
                <a:cs typeface="Tinos" pitchFamily="34" charset="-120"/>
              </a:rPr>
              <a:t>min</a:t>
            </a:r>
            <a:pPr algn="l" indent="0" marL="0">
              <a:lnSpc>
                <a:spcPts val="1395"/>
              </a:lnSpc>
              <a:buNone/>
            </a:pPr>
            <a:r>
              <a:rPr lang="en-US" sz="900" i="1" dirty="0">
                <a:solidFill>
                  <a:srgbClr val="E6E6E6"/>
                </a:solidFill>
                <a:latin typeface="Tinos" pitchFamily="34" charset="0"/>
                <a:ea typeface="Tinos" pitchFamily="34" charset="-122"/>
                <a:cs typeface="Tinos" pitchFamily="34" charset="-120"/>
              </a:rPr>
              <a:t> ≥ 4</a:t>
            </a:r>
            <a:pPr algn="l" indent="0" marL="0">
              <a:lnSpc>
                <a:spcPts val="1395"/>
              </a:lnSpc>
              <a:buNone/>
            </a:pPr>
            <a:r>
              <a:rPr lang="en-US" sz="900" dirty="0">
                <a:solidFill>
                  <a:srgbClr val="B5BAC4"/>
                </a:solidFill>
                <a:latin typeface="Carlito" pitchFamily="34" charset="0"/>
                <a:ea typeface="Carlito" pitchFamily="34" charset="-122"/>
                <a:cs typeface="Carlito" pitchFamily="34" charset="-120"/>
              </a:rPr>
              <a:t>, do self-dual codes maximise </a:t>
            </a:r>
            <a:pPr algn="l" indent="0" marL="0">
              <a:lnSpc>
                <a:spcPts val="1395"/>
              </a:lnSpc>
              <a:buNone/>
            </a:pPr>
            <a:r>
              <a:rPr lang="en-US" sz="900" i="1" dirty="0">
                <a:solidFill>
                  <a:srgbClr val="E6E6E6"/>
                </a:solidFill>
                <a:latin typeface="Tinos" pitchFamily="34" charset="0"/>
                <a:ea typeface="Tinos" pitchFamily="34" charset="-122"/>
                <a:cs typeface="Tinos" pitchFamily="34" charset="-120"/>
              </a:rPr>
              <a:t>avg</a:t>
            </a:r>
            <a:pPr algn="l" indent="0" marL="0">
              <a:lnSpc>
                <a:spcPts val="1395"/>
              </a:lnSpc>
              <a:buNone/>
            </a:pPr>
            <a:r>
              <a:rPr lang="en-US" sz="800" i="1" baseline="-40000" dirty="0">
                <a:solidFill>
                  <a:srgbClr val="E6E6E6"/>
                </a:solidFill>
                <a:latin typeface="Tinos" pitchFamily="34" charset="0"/>
                <a:ea typeface="Tinos" pitchFamily="34" charset="-122"/>
                <a:cs typeface="Tinos" pitchFamily="34" charset="-120"/>
              </a:rPr>
              <a:t>Φ</a:t>
            </a:r>
            <a:pPr algn="l" indent="0" marL="0">
              <a:lnSpc>
                <a:spcPts val="1395"/>
              </a:lnSpc>
              <a:buNone/>
            </a:pPr>
            <a:r>
              <a:rPr lang="en-US" sz="900" dirty="0">
                <a:solidFill>
                  <a:srgbClr val="B5BAC4"/>
                </a:solidFill>
                <a:latin typeface="Carlito" pitchFamily="34" charset="0"/>
                <a:ea typeface="Carlito" pitchFamily="34" charset="-122"/>
                <a:cs typeface="Carlito" pitchFamily="34" charset="-120"/>
              </a:rPr>
              <a:t>? Test on </a:t>
            </a:r>
            <a:pPr algn="l" indent="0" marL="0">
              <a:lnSpc>
                <a:spcPts val="1395"/>
              </a:lnSpc>
              <a:buNone/>
            </a:pPr>
            <a:r>
              <a:rPr lang="en-US" sz="900" dirty="0">
                <a:solidFill>
                  <a:srgbClr val="FFB454"/>
                </a:solidFill>
                <a:latin typeface="Liberation Sans Narrow" pitchFamily="34" charset="0"/>
                <a:ea typeface="Liberation Sans Narrow" pitchFamily="34" charset="-122"/>
                <a:cs typeface="Liberation Sans Narrow" pitchFamily="34" charset="-120"/>
              </a:rPr>
              <a:t>[16,8]</a:t>
            </a:r>
            <a:pPr algn="l" indent="0" marL="0">
              <a:lnSpc>
                <a:spcPts val="1395"/>
              </a:lnSpc>
              <a:buNone/>
            </a:pPr>
            <a:r>
              <a:rPr lang="en-US" sz="900" dirty="0">
                <a:solidFill>
                  <a:srgbClr val="B5BAC4"/>
                </a:solidFill>
                <a:latin typeface="Carlito" pitchFamily="34" charset="0"/>
                <a:ea typeface="Carlito" pitchFamily="34" charset="-122"/>
                <a:cs typeface="Carlito" pitchFamily="34" charset="-120"/>
              </a:rPr>
              <a:t>.</a:t>
            </a:r>
            <a:endParaRPr lang="en-US" sz="900" dirty="0"/>
          </a:p>
        </p:txBody>
      </p:sp>
      <p:sp>
        <p:nvSpPr>
          <p:cNvPr id="13" name="Text 11"/>
          <p:cNvSpPr/>
          <p:nvPr/>
        </p:nvSpPr>
        <p:spPr>
          <a:xfrm>
            <a:off x="8119006" y="5256202"/>
            <a:ext cx="654278" cy="184023"/>
          </a:xfrm>
          <a:prstGeom prst="roundRect">
            <a:avLst>
              <a:gd name="adj" fmla="val 5170807"/>
            </a:avLst>
          </a:prstGeom>
          <a:solidFill>
            <a:srgbClr val="1F2630"/>
          </a:solidFill>
          <a:ln w="7144">
            <a:solidFill>
              <a:srgbClr val="FF6B6B"/>
            </a:solidFill>
            <a:prstDash val="solid"/>
          </a:ln>
        </p:spPr>
        <p:txBody>
          <a:bodyPr wrap="square" rtlCol="0" anchor="ctr"/>
          <a:lstStyle/>
          <a:p>
            <a:pPr indent="0" marL="0">
              <a:buNone/>
            </a:pPr>
            <a:endParaRPr lang="en-US" dirty="0"/>
          </a:p>
        </p:txBody>
      </p:sp>
      <p:sp>
        <p:nvSpPr>
          <p:cNvPr id="14" name="Text 12"/>
          <p:cNvSpPr/>
          <p:nvPr/>
        </p:nvSpPr>
        <p:spPr>
          <a:xfrm>
            <a:off x="8141866" y="5266060"/>
            <a:ext cx="608558" cy="91440"/>
          </a:xfrm>
          <a:prstGeom prst="rect">
            <a:avLst/>
          </a:prstGeom>
          <a:noFill/>
          <a:ln/>
        </p:spPr>
        <p:txBody>
          <a:bodyPr wrap="none" lIns="0" tIns="0" rIns="0" bIns="0" rtlCol="0" anchor="ctr"/>
          <a:lstStyle/>
          <a:p>
            <a:pPr algn="ctr" indent="0" marL="0">
              <a:lnSpc>
                <a:spcPts val="844"/>
              </a:lnSpc>
              <a:buNone/>
            </a:pPr>
            <a:r>
              <a:rPr lang="en-US" sz="800" spc="56" kern="0" dirty="0">
                <a:solidFill>
                  <a:srgbClr val="FF6B6B"/>
                </a:solidFill>
                <a:latin typeface="Courier New" pitchFamily="34" charset="0"/>
                <a:ea typeface="Courier New" pitchFamily="34" charset="-122"/>
                <a:cs typeface="Courier New" pitchFamily="34" charset="-120"/>
              </a:rPr>
              <a:t>FALSIFIED</a:t>
            </a:r>
            <a:endParaRPr lang="en-US" sz="800" dirty="0"/>
          </a:p>
        </p:txBody>
      </p:sp>
      <p:sp>
        <p:nvSpPr>
          <p:cNvPr id="15" name="Text 13"/>
          <p:cNvSpPr/>
          <p:nvPr/>
        </p:nvSpPr>
        <p:spPr>
          <a:xfrm>
            <a:off x="8119006" y="5477658"/>
            <a:ext cx="955209" cy="184023"/>
          </a:xfrm>
          <a:prstGeom prst="roundRect">
            <a:avLst>
              <a:gd name="adj" fmla="val 5170807"/>
            </a:avLst>
          </a:prstGeom>
          <a:solidFill>
            <a:srgbClr val="1F2630"/>
          </a:solidFill>
          <a:ln w="7144">
            <a:solidFill>
              <a:srgbClr val="6FE3D2"/>
            </a:solidFill>
            <a:prstDash val="solid"/>
          </a:ln>
        </p:spPr>
        <p:txBody>
          <a:bodyPr wrap="square" rtlCol="0" anchor="ctr"/>
          <a:lstStyle/>
          <a:p>
            <a:pPr indent="0" marL="0">
              <a:buNone/>
            </a:pPr>
            <a:endParaRPr lang="en-US" dirty="0"/>
          </a:p>
        </p:txBody>
      </p:sp>
      <p:sp>
        <p:nvSpPr>
          <p:cNvPr id="16" name="Text 14"/>
          <p:cNvSpPr/>
          <p:nvPr/>
        </p:nvSpPr>
        <p:spPr>
          <a:xfrm>
            <a:off x="8141866" y="5487516"/>
            <a:ext cx="909489" cy="91440"/>
          </a:xfrm>
          <a:prstGeom prst="rect">
            <a:avLst/>
          </a:prstGeom>
          <a:noFill/>
          <a:ln/>
        </p:spPr>
        <p:txBody>
          <a:bodyPr wrap="none" lIns="0" tIns="0" rIns="0" bIns="0" rtlCol="0" anchor="ctr"/>
          <a:lstStyle/>
          <a:p>
            <a:pPr algn="ctr" indent="0" marL="0">
              <a:lnSpc>
                <a:spcPts val="844"/>
              </a:lnSpc>
              <a:buNone/>
            </a:pPr>
            <a:r>
              <a:rPr lang="en-US" sz="800" spc="56" kern="0" dirty="0">
                <a:solidFill>
                  <a:srgbClr val="6FE3D2"/>
                </a:solidFill>
                <a:latin typeface="Liberation Sans Narrow" pitchFamily="34" charset="0"/>
                <a:ea typeface="Liberation Sans Narrow" pitchFamily="34" charset="-122"/>
                <a:cs typeface="Liberation Sans Narrow" pitchFamily="34" charset="-120"/>
              </a:rPr>
              <a:t>80 RANDOM CODES</a:t>
            </a:r>
            <a:endParaRPr lang="en-US" sz="800" dirty="0"/>
          </a:p>
        </p:txBody>
      </p:sp>
      <p:sp>
        <p:nvSpPr>
          <p:cNvPr id="17" name="Text 15"/>
          <p:cNvSpPr/>
          <p:nvPr/>
        </p:nvSpPr>
        <p:spPr>
          <a:xfrm>
            <a:off x="8121533" y="5699114"/>
            <a:ext cx="548988" cy="184023"/>
          </a:xfrm>
          <a:prstGeom prst="roundRect">
            <a:avLst>
              <a:gd name="adj" fmla="val 5170807"/>
            </a:avLst>
          </a:prstGeom>
          <a:solidFill>
            <a:srgbClr val="1F2630"/>
          </a:solidFill>
          <a:ln w="7144">
            <a:solidFill>
              <a:srgbClr val="B097FF"/>
            </a:solidFill>
            <a:prstDash val="solid"/>
          </a:ln>
        </p:spPr>
        <p:txBody>
          <a:bodyPr wrap="square" rtlCol="0" anchor="ctr"/>
          <a:lstStyle/>
          <a:p>
            <a:pPr indent="0" marL="0">
              <a:buNone/>
            </a:pPr>
            <a:endParaRPr lang="en-US" dirty="0"/>
          </a:p>
        </p:txBody>
      </p:sp>
      <p:sp>
        <p:nvSpPr>
          <p:cNvPr id="18" name="Text 16"/>
          <p:cNvSpPr/>
          <p:nvPr/>
        </p:nvSpPr>
        <p:spPr>
          <a:xfrm>
            <a:off x="8141866" y="5708972"/>
            <a:ext cx="508322" cy="91440"/>
          </a:xfrm>
          <a:prstGeom prst="rect">
            <a:avLst/>
          </a:prstGeom>
          <a:noFill/>
          <a:ln/>
        </p:spPr>
        <p:txBody>
          <a:bodyPr wrap="none" lIns="0" tIns="0" rIns="0" bIns="0" rtlCol="0" anchor="ctr"/>
          <a:lstStyle/>
          <a:p>
            <a:pPr algn="ctr" indent="0" marL="0">
              <a:lnSpc>
                <a:spcPts val="844"/>
              </a:lnSpc>
              <a:buNone/>
            </a:pPr>
            <a:r>
              <a:rPr lang="en-US" sz="800" spc="56" kern="0" dirty="0">
                <a:solidFill>
                  <a:srgbClr val="B097FF"/>
                </a:solidFill>
                <a:latin typeface="Liberation Sans Narrow" pitchFamily="34" charset="0"/>
                <a:ea typeface="Liberation Sans Narrow" pitchFamily="34" charset="-122"/>
                <a:cs typeface="Liberation Sans Narrow" pitchFamily="34" charset="-120"/>
              </a:rPr>
              <a:t>OPEN Q2</a:t>
            </a:r>
            <a:endParaRPr lang="en-US" sz="800" dirty="0"/>
          </a:p>
        </p:txBody>
      </p:sp>
      <p:sp>
        <p:nvSpPr>
          <p:cNvPr id="19" name="Shape 17"/>
          <p:cNvSpPr/>
          <p:nvPr/>
        </p:nvSpPr>
        <p:spPr>
          <a:xfrm>
            <a:off x="457200" y="4521994"/>
            <a:ext cx="8229600" cy="0"/>
          </a:xfrm>
          <a:prstGeom prst="line">
            <a:avLst/>
          </a:prstGeom>
          <a:noFill/>
          <a:ln w="7144">
            <a:solidFill>
              <a:srgbClr val="2A3038"/>
            </a:solidFill>
            <a:prstDash val="solid"/>
          </a:ln>
        </p:spPr>
      </p:sp>
      <p:sp>
        <p:nvSpPr>
          <p:cNvPr id="20" name="Text 18"/>
          <p:cNvSpPr/>
          <p:nvPr/>
        </p:nvSpPr>
        <p:spPr>
          <a:xfrm>
            <a:off x="457200" y="4625578"/>
            <a:ext cx="3549104" cy="117872"/>
          </a:xfrm>
          <a:prstGeom prst="rect">
            <a:avLst/>
          </a:prstGeom>
          <a:noFill/>
          <a:ln/>
        </p:spPr>
        <p:txBody>
          <a:bodyPr wrap="none" lIns="0" tIns="0" rIns="0" bIns="0" rtlCol="0" anchor="t"/>
          <a:lstStyle/>
          <a:p>
            <a:pPr algn="l" indent="0" marL="0">
              <a:lnSpc>
                <a:spcPts val="928"/>
              </a:lnSpc>
              <a:buNone/>
            </a:pPr>
            <a:r>
              <a:rPr lang="en-US" sz="800" spc="99" kern="0" dirty="0">
                <a:solidFill>
                  <a:srgbClr val="FFB454"/>
                </a:solidFill>
                <a:latin typeface="Courier New" pitchFamily="34" charset="0"/>
                <a:ea typeface="Courier New" pitchFamily="34" charset="-122"/>
                <a:cs typeface="Courier New" pitchFamily="34" charset="-120"/>
              </a:rPr>
              <a:t>●</a:t>
            </a:r>
            <a:pPr algn="l" indent="0" marL="0">
              <a:lnSpc>
                <a:spcPts val="928"/>
              </a:lnSpc>
              <a:buNone/>
            </a:pPr>
            <a:r>
              <a:rPr lang="en-US" sz="800" spc="99" kern="0" dirty="0">
                <a:solidFill>
                  <a:srgbClr val="6B7280"/>
                </a:solidFill>
                <a:latin typeface="Courier New" pitchFamily="34" charset="0"/>
                <a:ea typeface="Courier New" pitchFamily="34" charset="-122"/>
                <a:cs typeface="Courier New" pitchFamily="34" charset="-120"/>
              </a:rPr>
              <a:t> THREAD G · THEOREM STATED</a:t>
            </a:r>
            <a:endParaRPr lang="en-US" sz="800" dirty="0"/>
          </a:p>
        </p:txBody>
      </p:sp>
      <p:sp>
        <p:nvSpPr>
          <p:cNvPr id="21" name="Text 19"/>
          <p:cNvSpPr/>
          <p:nvPr/>
        </p:nvSpPr>
        <p:spPr>
          <a:xfrm>
            <a:off x="4020592" y="4625578"/>
            <a:ext cx="3394286" cy="117872"/>
          </a:xfrm>
          <a:prstGeom prst="rect">
            <a:avLst/>
          </a:prstGeom>
          <a:noFill/>
          <a:ln/>
        </p:spPr>
        <p:txBody>
          <a:bodyPr wrap="none" lIns="0" tIns="0" rIns="0" bIns="0" rtlCol="0" anchor="t"/>
          <a:lstStyle/>
          <a:p>
            <a:pPr algn="l" indent="0" marL="0">
              <a:lnSpc>
                <a:spcPts val="928"/>
              </a:lnSpc>
              <a:buNone/>
            </a:pPr>
            <a:r>
              <a:rPr lang="en-US" sz="800" spc="124" kern="0" dirty="0">
                <a:solidFill>
                  <a:srgbClr val="FF6B6B"/>
                </a:solidFill>
                <a:latin typeface="Courier New" pitchFamily="34" charset="0"/>
                <a:ea typeface="Courier New" pitchFamily="34" charset="-122"/>
                <a:cs typeface="Courier New" pitchFamily="34" charset="-120"/>
              </a:rPr>
              <a:t>▸ THREAD H · YOU ARE HERE</a:t>
            </a:r>
            <a:endParaRPr lang="en-US" sz="800" dirty="0"/>
          </a:p>
        </p:txBody>
      </p:sp>
      <p:sp>
        <p:nvSpPr>
          <p:cNvPr id="22" name="Text 20"/>
          <p:cNvSpPr/>
          <p:nvPr/>
        </p:nvSpPr>
        <p:spPr>
          <a:xfrm>
            <a:off x="7429165" y="4625578"/>
            <a:ext cx="1257635" cy="117872"/>
          </a:xfrm>
          <a:prstGeom prst="rect">
            <a:avLst/>
          </a:prstGeom>
          <a:noFill/>
          <a:ln/>
        </p:spPr>
        <p:txBody>
          <a:bodyPr wrap="none" lIns="0" tIns="0" rIns="0" bIns="0" rtlCol="0" anchor="t"/>
          <a:lstStyle/>
          <a:p>
            <a:pPr algn="l" indent="0" marL="0">
              <a:lnSpc>
                <a:spcPts val="928"/>
              </a:lnSpc>
              <a:buNone/>
            </a:pPr>
            <a:r>
              <a:rPr lang="en-US" sz="800" spc="99" kern="0" dirty="0">
                <a:solidFill>
                  <a:srgbClr val="6B7280"/>
                </a:solidFill>
                <a:latin typeface="Courier New" pitchFamily="34" charset="0"/>
                <a:ea typeface="Courier New" pitchFamily="34" charset="-122"/>
                <a:cs typeface="Courier New" pitchFamily="34" charset="-120"/>
              </a:rPr>
              <a:t>○ THREAD I · NEXT</a:t>
            </a:r>
            <a:endParaRPr lang="en-US" sz="800" dirty="0"/>
          </a:p>
        </p:txBody>
      </p:sp>
      <p:sp>
        <p:nvSpPr>
          <p:cNvPr id="23" name="Text 21"/>
          <p:cNvSpPr/>
          <p:nvPr/>
        </p:nvSpPr>
        <p:spPr>
          <a:xfrm>
            <a:off x="457200" y="4893469"/>
            <a:ext cx="7533084"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UBP_STUDY_EXTREMAL_004 / Thread H / p.09</a:t>
            </a:r>
            <a:endParaRPr lang="en-US" sz="800" dirty="0"/>
          </a:p>
        </p:txBody>
      </p:sp>
      <p:sp>
        <p:nvSpPr>
          <p:cNvPr id="24" name="Text 22"/>
          <p:cNvSpPr/>
          <p:nvPr/>
        </p:nvSpPr>
        <p:spPr>
          <a:xfrm>
            <a:off x="8004572" y="4893469"/>
            <a:ext cx="837947"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SECTION OPENER</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7080461"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THREAD H / QUALIFIED SELF-DUAL TEST / 10 OF 16</a:t>
            </a:r>
            <a:endParaRPr lang="en-US" sz="800" dirty="0"/>
          </a:p>
        </p:txBody>
      </p:sp>
      <p:sp>
        <p:nvSpPr>
          <p:cNvPr id="4" name="Text 2"/>
          <p:cNvSpPr/>
          <p:nvPr/>
        </p:nvSpPr>
        <p:spPr>
          <a:xfrm>
            <a:off x="7551948" y="342900"/>
            <a:ext cx="1134852"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UBP_STUDY_EXTREMAL_004</a:t>
            </a:r>
            <a:endParaRPr lang="en-US" sz="800" dirty="0"/>
          </a:p>
        </p:txBody>
      </p:sp>
      <p:sp>
        <p:nvSpPr>
          <p:cNvPr id="5" name="Text 3"/>
          <p:cNvSpPr/>
          <p:nvPr/>
        </p:nvSpPr>
        <p:spPr>
          <a:xfrm>
            <a:off x="460772" y="689372"/>
            <a:ext cx="4930527" cy="4279106"/>
          </a:xfrm>
          <a:prstGeom prst="roundRect">
            <a:avLst>
              <a:gd name="adj" fmla="val 1336"/>
            </a:avLst>
          </a:prstGeom>
          <a:solidFill>
            <a:srgbClr val="1F2630"/>
          </a:solidFill>
          <a:ln w="7144">
            <a:solidFill>
              <a:srgbClr val="2A3038"/>
            </a:solidFill>
            <a:prstDash val="solid"/>
          </a:ln>
        </p:spPr>
        <p:txBody>
          <a:bodyPr wrap="square" rtlCol="0" anchor="ctr"/>
          <a:lstStyle/>
          <a:p>
            <a:pPr indent="0" marL="0">
              <a:buNone/>
            </a:pPr>
            <a:endParaRPr lang="en-US" dirty="0"/>
          </a:p>
        </p:txBody>
      </p:sp>
      <p:sp>
        <p:nvSpPr>
          <p:cNvPr id="6" name="Text 4"/>
          <p:cNvSpPr/>
          <p:nvPr/>
        </p:nvSpPr>
        <p:spPr>
          <a:xfrm>
            <a:off x="564356" y="828675"/>
            <a:ext cx="3950047" cy="164592"/>
          </a:xfrm>
          <a:prstGeom prst="rect">
            <a:avLst/>
          </a:prstGeom>
          <a:noFill/>
          <a:ln/>
        </p:spPr>
        <p:txBody>
          <a:bodyPr wrap="square" lIns="0" tIns="0" rIns="0" bIns="0" rtlCol="0" anchor="t"/>
          <a:lstStyle/>
          <a:p>
            <a:pPr algn="l" indent="0" marL="0">
              <a:lnSpc>
                <a:spcPts val="844"/>
              </a:lnSpc>
              <a:buNone/>
            </a:pPr>
            <a:r>
              <a:rPr lang="en-US" sz="800" spc="90" kern="0" dirty="0">
                <a:solidFill>
                  <a:srgbClr val="6B7280"/>
                </a:solidFill>
                <a:latin typeface="Liberation Sans Narrow" pitchFamily="34" charset="0"/>
                <a:ea typeface="Liberation Sans Narrow" pitchFamily="34" charset="-122"/>
                <a:cs typeface="Liberation Sans Narrow" pitchFamily="34" charset="-120"/>
              </a:rPr>
              <a:t>FIG. 8 · AVG</a:t>
            </a:r>
            <a:pPr algn="l" indent="0" marL="0">
              <a:lnSpc>
                <a:spcPts val="844"/>
              </a:lnSpc>
              <a:buNone/>
            </a:pPr>
            <a:r>
              <a:rPr lang="en-US" sz="800" baseline="-40000" spc="90" kern="0" dirty="0">
                <a:solidFill>
                  <a:srgbClr val="6B7280"/>
                </a:solidFill>
                <a:latin typeface="Courier New" pitchFamily="34" charset="0"/>
                <a:ea typeface="Courier New" pitchFamily="34" charset="-122"/>
                <a:cs typeface="Courier New" pitchFamily="34" charset="-120"/>
              </a:rPr>
              <a:t>Φ</a:t>
            </a:r>
            <a:pPr algn="l" indent="0" marL="0">
              <a:lnSpc>
                <a:spcPts val="844"/>
              </a:lnSpc>
              <a:buNone/>
            </a:pPr>
            <a:r>
              <a:rPr lang="en-US" sz="800" spc="90" kern="0" dirty="0">
                <a:solidFill>
                  <a:srgbClr val="6B7280"/>
                </a:solidFill>
                <a:latin typeface="Liberation Sans Narrow" pitchFamily="34" charset="0"/>
                <a:ea typeface="Liberation Sans Narrow" pitchFamily="34" charset="-122"/>
                <a:cs typeface="Liberation Sans Narrow" pitchFamily="34" charset="-120"/>
              </a:rPr>
              <a:t> ON [16,8] CODES · MC 10K</a:t>
            </a:r>
            <a:endParaRPr lang="en-US" sz="800" dirty="0"/>
          </a:p>
        </p:txBody>
      </p:sp>
      <p:sp>
        <p:nvSpPr>
          <p:cNvPr id="7" name="Text 5"/>
          <p:cNvSpPr/>
          <p:nvPr/>
        </p:nvSpPr>
        <p:spPr>
          <a:xfrm>
            <a:off x="4505831" y="797385"/>
            <a:ext cx="804743" cy="184023"/>
          </a:xfrm>
          <a:prstGeom prst="roundRect">
            <a:avLst>
              <a:gd name="adj" fmla="val 5170807"/>
            </a:avLst>
          </a:prstGeom>
          <a:solidFill>
            <a:srgbClr val="1F2630"/>
          </a:solidFill>
          <a:ln w="7144">
            <a:solidFill>
              <a:srgbClr val="FF6B6B"/>
            </a:solidFill>
            <a:prstDash val="solid"/>
          </a:ln>
        </p:spPr>
        <p:txBody>
          <a:bodyPr wrap="square" rtlCol="0" anchor="ctr"/>
          <a:lstStyle/>
          <a:p>
            <a:pPr indent="0" marL="0">
              <a:buNone/>
            </a:pPr>
            <a:endParaRPr lang="en-US" dirty="0"/>
          </a:p>
        </p:txBody>
      </p:sp>
      <p:sp>
        <p:nvSpPr>
          <p:cNvPr id="8" name="Text 6"/>
          <p:cNvSpPr/>
          <p:nvPr/>
        </p:nvSpPr>
        <p:spPr>
          <a:xfrm>
            <a:off x="4528691" y="807244"/>
            <a:ext cx="759023"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FF6B6B"/>
                </a:solidFill>
                <a:latin typeface="Liberation Sans Narrow" pitchFamily="34" charset="0"/>
                <a:ea typeface="Liberation Sans Narrow" pitchFamily="34" charset="-122"/>
                <a:cs typeface="Liberation Sans Narrow" pitchFamily="34" charset="-120"/>
              </a:rPr>
              <a:t>D = 4 SUBSET</a:t>
            </a:r>
            <a:endParaRPr lang="en-US" sz="800" dirty="0"/>
          </a:p>
        </p:txBody>
      </p:sp>
      <p:pic>
        <p:nvPicPr>
          <p:cNvPr id="9" name="Image 0" descr="/tmp/h2p-fit-1782288495424-mqmjko.png">    </p:cNvPr>
          <p:cNvPicPr>
            <a:picLocks noChangeAspect="1"/>
          </p:cNvPicPr>
          <p:nvPr/>
        </p:nvPicPr>
        <p:blipFill>
          <a:blip r:embed="rId1"/>
          <a:stretch>
            <a:fillRect/>
          </a:stretch>
        </p:blipFill>
        <p:spPr>
          <a:xfrm>
            <a:off x="564356" y="1968215"/>
            <a:ext cx="4723358" cy="1803462"/>
          </a:xfrm>
          <a:prstGeom prst="rect">
            <a:avLst/>
          </a:prstGeom>
        </p:spPr>
      </p:pic>
      <p:sp>
        <p:nvSpPr>
          <p:cNvPr id="10" name="Text 7"/>
          <p:cNvSpPr/>
          <p:nvPr/>
        </p:nvSpPr>
        <p:spPr>
          <a:xfrm>
            <a:off x="564356" y="4768453"/>
            <a:ext cx="4723358" cy="96441"/>
          </a:xfrm>
          <a:prstGeom prst="rect">
            <a:avLst/>
          </a:prstGeom>
          <a:noFill/>
          <a:ln/>
        </p:spPr>
        <p:txBody>
          <a:bodyPr wrap="square" lIns="0" tIns="0" rIns="0" bIns="0" rtlCol="0" anchor="t"/>
          <a:lstStyle/>
          <a:p>
            <a:pPr algn="r" indent="0" marL="0">
              <a:lnSpc>
                <a:spcPts val="759"/>
              </a:lnSpc>
              <a:buNone/>
            </a:pPr>
            <a:r>
              <a:rPr lang="en-US" sz="800" spc="41" kern="0" dirty="0">
                <a:solidFill>
                  <a:srgbClr val="6B7280"/>
                </a:solidFill>
                <a:latin typeface="Courier New" pitchFamily="34" charset="0"/>
                <a:ea typeface="Courier New" pitchFamily="34" charset="-122"/>
                <a:cs typeface="Courier New" pitchFamily="34" charset="-120"/>
              </a:rPr>
              <a:t>n=80 random · 6 of d=4 · E8+E8 = 2.0650 (lowest)</a:t>
            </a:r>
            <a:endParaRPr lang="en-US" sz="800" dirty="0"/>
          </a:p>
        </p:txBody>
      </p:sp>
      <p:sp>
        <p:nvSpPr>
          <p:cNvPr id="11" name="Text 8"/>
          <p:cNvSpPr/>
          <p:nvPr/>
        </p:nvSpPr>
        <p:spPr>
          <a:xfrm>
            <a:off x="5537746" y="685800"/>
            <a:ext cx="342900" cy="21431"/>
          </a:xfrm>
          <a:prstGeom prst="rect">
            <a:avLst/>
          </a:prstGeom>
          <a:solidFill>
            <a:srgbClr val="FF6B6B"/>
          </a:solidFill>
          <a:ln/>
        </p:spPr>
        <p:txBody>
          <a:bodyPr wrap="square" rtlCol="0" anchor="ctr"/>
          <a:lstStyle/>
          <a:p>
            <a:pPr indent="0" marL="0">
              <a:buNone/>
            </a:pPr>
            <a:endParaRPr lang="en-US" dirty="0"/>
          </a:p>
        </p:txBody>
      </p:sp>
      <p:sp>
        <p:nvSpPr>
          <p:cNvPr id="12" name="Text 9"/>
          <p:cNvSpPr/>
          <p:nvPr/>
        </p:nvSpPr>
        <p:spPr>
          <a:xfrm>
            <a:off x="5537746" y="778669"/>
            <a:ext cx="3555163" cy="203610"/>
          </a:xfrm>
          <a:prstGeom prst="rect">
            <a:avLst/>
          </a:prstGeom>
          <a:noFill/>
          <a:ln/>
        </p:spPr>
        <p:txBody>
          <a:bodyPr wrap="square" lIns="0" tIns="0" rIns="0" bIns="0" rtlCol="0" anchor="t"/>
          <a:lstStyle/>
          <a:p>
            <a:pPr algn="l" indent="0" marL="0">
              <a:lnSpc>
                <a:spcPts val="1485"/>
              </a:lnSpc>
              <a:buNone/>
            </a:pPr>
            <a:r>
              <a:rPr lang="en-US" sz="1238" spc="-12" kern="0" dirty="0">
                <a:solidFill>
                  <a:srgbClr val="FF6B6B"/>
                </a:solidFill>
                <a:latin typeface="Liberation Sans Narrow" pitchFamily="34" charset="0"/>
                <a:ea typeface="Liberation Sans Narrow" pitchFamily="34" charset="-122"/>
                <a:cs typeface="Liberation Sans Narrow" pitchFamily="34" charset="-120"/>
              </a:rPr>
              <a:t>E8+E8 [16,8,4] loses to random d=4</a:t>
            </a:r>
            <a:endParaRPr lang="en-US" sz="1238" dirty="0"/>
          </a:p>
        </p:txBody>
      </p:sp>
      <p:sp>
        <p:nvSpPr>
          <p:cNvPr id="13" name="Text 10"/>
          <p:cNvSpPr/>
          <p:nvPr/>
        </p:nvSpPr>
        <p:spPr>
          <a:xfrm>
            <a:off x="5537746" y="1052922"/>
            <a:ext cx="3291818" cy="315468"/>
          </a:xfrm>
          <a:prstGeom prst="rect">
            <a:avLst/>
          </a:prstGeom>
          <a:noFill/>
          <a:ln/>
        </p:spPr>
        <p:txBody>
          <a:bodyPr wrap="square" lIns="0" tIns="0" rIns="0" bIns="0" rtlCol="0" anchor="t">
            <a:normAutofit/>
          </a:bodyPr>
          <a:lstStyle/>
          <a:p>
            <a:pPr algn="l" indent="0" marL="0">
              <a:lnSpc>
                <a:spcPts val="1013"/>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80</a:t>
            </a:r>
            <a:pPr algn="l" indent="0" marL="0">
              <a:lnSpc>
                <a:spcPts val="1013"/>
              </a:lnSpc>
              <a:buNone/>
            </a:pPr>
            <a:r>
              <a:rPr lang="en-US" sz="800" dirty="0">
                <a:solidFill>
                  <a:srgbClr val="B5BAC4"/>
                </a:solidFill>
                <a:latin typeface="Carlito" pitchFamily="34" charset="0"/>
                <a:ea typeface="Carlito" pitchFamily="34" charset="-122"/>
                <a:cs typeface="Carlito" pitchFamily="34" charset="-120"/>
              </a:rPr>
              <a:t> random </a:t>
            </a:r>
            <a:pPr algn="l" indent="0" marL="0">
              <a:lnSpc>
                <a:spcPts val="1013"/>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[16,8]</a:t>
            </a:r>
            <a:pPr algn="l" indent="0" marL="0">
              <a:lnSpc>
                <a:spcPts val="1013"/>
              </a:lnSpc>
              <a:buNone/>
            </a:pPr>
            <a:r>
              <a:rPr lang="en-US" sz="800" dirty="0">
                <a:solidFill>
                  <a:srgbClr val="B5BAC4"/>
                </a:solidFill>
                <a:latin typeface="Carlito" pitchFamily="34" charset="0"/>
                <a:ea typeface="Carlito" pitchFamily="34" charset="-122"/>
                <a:cs typeface="Carlito" pitchFamily="34" charset="-120"/>
              </a:rPr>
              <a:t> codes sampled (Monte Carlo, 10k each). </a:t>
            </a:r>
            <a:pPr algn="l" indent="0" marL="0">
              <a:lnSpc>
                <a:spcPts val="1013"/>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6</a:t>
            </a:r>
            <a:pPr algn="l" indent="0" marL="0">
              <a:lnSpc>
                <a:spcPts val="1013"/>
              </a:lnSpc>
              <a:buNone/>
            </a:pPr>
            <a:r>
              <a:rPr lang="en-US" sz="800" dirty="0">
                <a:solidFill>
                  <a:srgbClr val="B5BAC4"/>
                </a:solidFill>
                <a:latin typeface="Carlito" pitchFamily="34" charset="0"/>
                <a:ea typeface="Carlito" pitchFamily="34" charset="-122"/>
                <a:cs typeface="Carlito" pitchFamily="34" charset="-120"/>
              </a:rPr>
              <a:t> of them happened to have </a:t>
            </a:r>
            <a:pPr algn="l" indent="0" marL="0">
              <a:lnSpc>
                <a:spcPts val="1013"/>
              </a:lnSpc>
              <a:buNone/>
            </a:pPr>
            <a:r>
              <a:rPr lang="en-US" sz="800" i="1" dirty="0">
                <a:solidFill>
                  <a:srgbClr val="E6E6E6"/>
                </a:solidFill>
                <a:latin typeface="Liberation Sans Narrow" pitchFamily="34" charset="0"/>
                <a:ea typeface="Liberation Sans Narrow" pitchFamily="34" charset="-122"/>
                <a:cs typeface="Liberation Sans Narrow" pitchFamily="34" charset="-120"/>
              </a:rPr>
              <a:t>d = 4</a:t>
            </a:r>
            <a:pPr algn="l" indent="0" marL="0">
              <a:lnSpc>
                <a:spcPts val="1013"/>
              </a:lnSpc>
              <a:buNone/>
            </a:pPr>
            <a:r>
              <a:rPr lang="en-US" sz="800" dirty="0">
                <a:solidFill>
                  <a:srgbClr val="B5BAC4"/>
                </a:solidFill>
                <a:latin typeface="Carlito" pitchFamily="34" charset="0"/>
                <a:ea typeface="Carlito" pitchFamily="34" charset="-122"/>
                <a:cs typeface="Carlito" pitchFamily="34" charset="-120"/>
              </a:rPr>
              <a:t>. Compared to </a:t>
            </a:r>
            <a:pPr algn="l" indent="0" marL="0">
              <a:lnSpc>
                <a:spcPts val="1013"/>
              </a:lnSpc>
              <a:buNone/>
            </a:pPr>
            <a:r>
              <a:rPr lang="en-US" sz="800" i="1" dirty="0">
                <a:solidFill>
                  <a:srgbClr val="E6E6E6"/>
                </a:solidFill>
                <a:latin typeface="Liberation Sans Narrow" pitchFamily="34" charset="0"/>
                <a:ea typeface="Liberation Sans Narrow" pitchFamily="34" charset="-122"/>
                <a:cs typeface="Liberation Sans Narrow" pitchFamily="34" charset="-120"/>
              </a:rPr>
              <a:t>E8+E8 [16,8,4]</a:t>
            </a:r>
            <a:pPr algn="l" indent="0" marL="0">
              <a:lnSpc>
                <a:spcPts val="1013"/>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 (self-dual, d=4):</a:t>
            </a:r>
            <a:endParaRPr lang="en-US" sz="800" dirty="0"/>
          </a:p>
        </p:txBody>
      </p:sp>
      <p:sp>
        <p:nvSpPr>
          <p:cNvPr id="14" name="Text 11"/>
          <p:cNvSpPr/>
          <p:nvPr/>
        </p:nvSpPr>
        <p:spPr>
          <a:xfrm>
            <a:off x="5541318" y="1399394"/>
            <a:ext cx="3284674" cy="1744861"/>
          </a:xfrm>
          <a:prstGeom prst="roundRect">
            <a:avLst>
              <a:gd name="adj" fmla="val 3275"/>
            </a:avLst>
          </a:prstGeom>
          <a:solidFill>
            <a:srgbClr val="161B22"/>
          </a:solidFill>
          <a:ln w="7144">
            <a:solidFill>
              <a:srgbClr val="2A3038"/>
            </a:solidFill>
            <a:prstDash val="solid"/>
          </a:ln>
        </p:spPr>
        <p:txBody>
          <a:bodyPr wrap="square" rtlCol="0" anchor="ctr"/>
          <a:lstStyle/>
          <a:p>
            <a:pPr indent="0" marL="0">
              <a:buNone/>
            </a:pPr>
            <a:endParaRPr lang="en-US"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30614" y="1474403"/>
          <a:ext cx="3106080" cy="914400"/>
        </p:xfrm>
        <a:graphic>
          <a:graphicData uri="http://schemas.openxmlformats.org/drawingml/2006/table">
            <a:tbl>
              <a:tblPr/>
              <a:tblGrid>
                <a:gridCol w="229270"/>
                <a:gridCol w="2234654"/>
                <a:gridCol w="642156"/>
              </a:tblGrid>
              <a:tr h="0">
                <a:tc>
                  <a:txBody>
                    <a:bodyPr/>
                    <a:lstStyle/>
                    <a:p>
                      <a:pPr algn="l" indent="0" marL="0">
                        <a:buNone/>
                      </a:pPr>
                      <a:endParaRPr lang="en-US" sz="800" dirty="0">
                        <a:latin typeface="Courier New" charset="0"/>
                        <a:ea typeface="Courier New" charset="0"/>
                        <a:cs typeface="Courier New" charset="0"/>
                      </a:endParaRPr>
                    </a:p>
                  </a:txBody>
                  <a:tcPr marL="2571750" marR="4114800" marT="0" marB="3086100"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b="1" dirty="0">
                          <a:solidFill>
                            <a:srgbClr val="6B7280"/>
                          </a:solidFill>
                          <a:latin typeface="Courier New" pitchFamily="34" charset="0"/>
                          <a:ea typeface="Courier New" pitchFamily="34" charset="-122"/>
                          <a:cs typeface="Courier New" pitchFamily="34" charset="-120"/>
                        </a:rPr>
                        <a:t>code</a:t>
                      </a:r>
                      <a:endParaRPr lang="en-US" sz="800" dirty="0">
                        <a:latin typeface="Courier New" charset="0"/>
                        <a:ea typeface="Courier New" charset="0"/>
                        <a:cs typeface="Courier New" charset="0"/>
                      </a:endParaRPr>
                    </a:p>
                  </a:txBody>
                  <a:tcPr marL="2571750" marR="4114800" marT="0" marB="3086100"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r" indent="0" marL="0">
                        <a:buNone/>
                      </a:pPr>
                      <a:r>
                        <a:rPr lang="en-US" sz="800" b="1" dirty="0">
                          <a:solidFill>
                            <a:srgbClr val="6B7280"/>
                          </a:solidFill>
                          <a:latin typeface="Courier New" pitchFamily="34" charset="0"/>
                          <a:ea typeface="Courier New" pitchFamily="34" charset="-122"/>
                          <a:cs typeface="Courier New" pitchFamily="34" charset="-120"/>
                        </a:rPr>
                        <a:t>avgΦ</a:t>
                      </a:r>
                      <a:endParaRPr lang="en-US" sz="800" dirty="0">
                        <a:latin typeface="Courier New" charset="0"/>
                        <a:ea typeface="Courier New" charset="0"/>
                        <a:cs typeface="Courier New" charset="0"/>
                      </a:endParaRPr>
                    </a:p>
                  </a:txBody>
                  <a:tcPr marL="2571750" marR="4114800" marT="0" marB="3086100"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r>
              <a:tr h="0">
                <a:tc>
                  <a:txBody>
                    <a:bodyPr/>
                    <a:lstStyle/>
                    <a:p>
                      <a:pPr algn="l" indent="0" marL="0">
                        <a:buNone/>
                      </a:pPr>
                      <a:r>
                        <a:rPr lang="en-US" sz="800" dirty="0">
                          <a:solidFill>
                            <a:srgbClr val="FFB454"/>
                          </a:solidFill>
                          <a:latin typeface="Courier New" pitchFamily="34" charset="0"/>
                          <a:ea typeface="Courier New" pitchFamily="34" charset="-122"/>
                          <a:cs typeface="Courier New" pitchFamily="34" charset="-120"/>
                        </a:rPr>
                        <a:t>#21</a:t>
                      </a:r>
                      <a:endParaRPr lang="en-US" sz="800" dirty="0">
                        <a:latin typeface="Courier New" charset="0"/>
                        <a:ea typeface="Courier New" charset="0"/>
                        <a:cs typeface="Courier New" charset="0"/>
                      </a:endParaRPr>
                    </a:p>
                  </a:txBody>
                  <a:tcPr marL="2571750" marR="4114800" marT="0" marB="2571750"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FFB454"/>
                          </a:solidFill>
                          <a:latin typeface="Courier New" pitchFamily="34" charset="0"/>
                          <a:ea typeface="Courier New" pitchFamily="34" charset="-122"/>
                          <a:cs typeface="Courier New" pitchFamily="34" charset="-120"/>
                        </a:rPr>
                        <a:t>Random NSD, d=4 ← highest</a:t>
                      </a:r>
                      <a:endParaRPr lang="en-US" sz="800" dirty="0">
                        <a:latin typeface="Courier New" charset="0"/>
                        <a:ea typeface="Courier New" charset="0"/>
                        <a:cs typeface="Courier New" charset="0"/>
                      </a:endParaRPr>
                    </a:p>
                  </a:txBody>
                  <a:tcPr marL="2571750" marR="4114800" marT="0" marB="2571750"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r" indent="0" marL="0">
                        <a:buNone/>
                      </a:pPr>
                      <a:r>
                        <a:rPr lang="en-US" sz="800" dirty="0">
                          <a:solidFill>
                            <a:srgbClr val="FFB454"/>
                          </a:solidFill>
                          <a:latin typeface="Courier New" pitchFamily="34" charset="0"/>
                          <a:ea typeface="Courier New" pitchFamily="34" charset="-122"/>
                          <a:cs typeface="Courier New" pitchFamily="34" charset="-120"/>
                        </a:rPr>
                        <a:t>2.1069</a:t>
                      </a:r>
                      <a:endParaRPr lang="en-US" sz="800" dirty="0">
                        <a:latin typeface="Courier New" charset="0"/>
                        <a:ea typeface="Courier New" charset="0"/>
                        <a:cs typeface="Courier New" charset="0"/>
                      </a:endParaRPr>
                    </a:p>
                  </a:txBody>
                  <a:tcPr marL="2571750" marR="4114800" marT="0" marB="2571750"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r>
              <a:tr h="0">
                <a:tc>
                  <a:txBody>
                    <a:bodyPr/>
                    <a:lstStyle/>
                    <a:p>
                      <a:pPr algn="l" indent="0" marL="0">
                        <a:buNone/>
                      </a:pPr>
                      <a:r>
                        <a:rPr lang="en-US" sz="800" dirty="0">
                          <a:solidFill>
                            <a:srgbClr val="E6E6E6"/>
                          </a:solidFill>
                          <a:latin typeface="Courier New" pitchFamily="34" charset="0"/>
                          <a:ea typeface="Courier New" pitchFamily="34" charset="-122"/>
                          <a:cs typeface="Courier New" pitchFamily="34" charset="-120"/>
                        </a:rPr>
                        <a:t>#14</a:t>
                      </a:r>
                      <a:endParaRPr lang="en-US" sz="800" dirty="0">
                        <a:latin typeface="Courier New" charset="0"/>
                        <a:ea typeface="Courier New" charset="0"/>
                        <a:cs typeface="Courier New" charset="0"/>
                      </a:endParaRPr>
                    </a:p>
                  </a:txBody>
                  <a:tcPr marL="2571750" marR="4114800" marT="0" marB="2571750"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ourier New" pitchFamily="34" charset="0"/>
                          <a:ea typeface="Courier New" pitchFamily="34" charset="-122"/>
                          <a:cs typeface="Courier New" pitchFamily="34" charset="-120"/>
                        </a:rPr>
                        <a:t>Random NSD, d=4</a:t>
                      </a:r>
                      <a:endParaRPr lang="en-US" sz="800" dirty="0">
                        <a:latin typeface="Courier New" charset="0"/>
                        <a:ea typeface="Courier New" charset="0"/>
                        <a:cs typeface="Courier New" charset="0"/>
                      </a:endParaRPr>
                    </a:p>
                  </a:txBody>
                  <a:tcPr marL="2571750" marR="4114800" marT="0" marB="2571750"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r" indent="0" marL="0">
                        <a:buNone/>
                      </a:pPr>
                      <a:r>
                        <a:rPr lang="en-US" sz="800" dirty="0">
                          <a:solidFill>
                            <a:srgbClr val="E6E6E6"/>
                          </a:solidFill>
                          <a:latin typeface="Courier New" pitchFamily="34" charset="0"/>
                          <a:ea typeface="Courier New" pitchFamily="34" charset="-122"/>
                          <a:cs typeface="Courier New" pitchFamily="34" charset="-120"/>
                        </a:rPr>
                        <a:t>2.1065</a:t>
                      </a:r>
                      <a:endParaRPr lang="en-US" sz="800" dirty="0">
                        <a:latin typeface="Courier New" charset="0"/>
                        <a:ea typeface="Courier New" charset="0"/>
                        <a:cs typeface="Courier New" charset="0"/>
                      </a:endParaRPr>
                    </a:p>
                  </a:txBody>
                  <a:tcPr marL="2571750" marR="4114800" marT="0" marB="2571750"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r>
              <a:tr h="0">
                <a:tc>
                  <a:txBody>
                    <a:bodyPr/>
                    <a:lstStyle/>
                    <a:p>
                      <a:pPr algn="l" indent="0" marL="0">
                        <a:buNone/>
                      </a:pPr>
                      <a:r>
                        <a:rPr lang="en-US" sz="800" dirty="0">
                          <a:solidFill>
                            <a:srgbClr val="E6E6E6"/>
                          </a:solidFill>
                          <a:latin typeface="Courier New" pitchFamily="34" charset="0"/>
                          <a:ea typeface="Courier New" pitchFamily="34" charset="-122"/>
                          <a:cs typeface="Courier New" pitchFamily="34" charset="-120"/>
                        </a:rPr>
                        <a:t>#69</a:t>
                      </a:r>
                      <a:endParaRPr lang="en-US" sz="800" dirty="0">
                        <a:latin typeface="Courier New" charset="0"/>
                        <a:ea typeface="Courier New" charset="0"/>
                        <a:cs typeface="Courier New" charset="0"/>
                      </a:endParaRPr>
                    </a:p>
                  </a:txBody>
                  <a:tcPr marL="2571750" marR="4114800" marT="0" marB="2571750"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ourier New" pitchFamily="34" charset="0"/>
                          <a:ea typeface="Courier New" pitchFamily="34" charset="-122"/>
                          <a:cs typeface="Courier New" pitchFamily="34" charset="-120"/>
                        </a:rPr>
                        <a:t>Random NSD, d=4</a:t>
                      </a:r>
                      <a:endParaRPr lang="en-US" sz="800" dirty="0">
                        <a:latin typeface="Courier New" charset="0"/>
                        <a:ea typeface="Courier New" charset="0"/>
                        <a:cs typeface="Courier New" charset="0"/>
                      </a:endParaRPr>
                    </a:p>
                  </a:txBody>
                  <a:tcPr marL="2571750" marR="4114800" marT="0" marB="2571750"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r" indent="0" marL="0">
                        <a:buNone/>
                      </a:pPr>
                      <a:r>
                        <a:rPr lang="en-US" sz="800" dirty="0">
                          <a:solidFill>
                            <a:srgbClr val="E6E6E6"/>
                          </a:solidFill>
                          <a:latin typeface="Courier New" pitchFamily="34" charset="0"/>
                          <a:ea typeface="Courier New" pitchFamily="34" charset="-122"/>
                          <a:cs typeface="Courier New" pitchFamily="34" charset="-120"/>
                        </a:rPr>
                        <a:t>2.1048</a:t>
                      </a:r>
                      <a:endParaRPr lang="en-US" sz="800" dirty="0">
                        <a:latin typeface="Courier New" charset="0"/>
                        <a:ea typeface="Courier New" charset="0"/>
                        <a:cs typeface="Courier New" charset="0"/>
                      </a:endParaRPr>
                    </a:p>
                  </a:txBody>
                  <a:tcPr marL="2571750" marR="4114800" marT="0" marB="2571750"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r>
              <a:tr h="0">
                <a:tc>
                  <a:txBody>
                    <a:bodyPr/>
                    <a:lstStyle/>
                    <a:p>
                      <a:pPr algn="l" indent="0" marL="0">
                        <a:buNone/>
                      </a:pPr>
                      <a:r>
                        <a:rPr lang="en-US" sz="800" dirty="0">
                          <a:solidFill>
                            <a:srgbClr val="E6E6E6"/>
                          </a:solidFill>
                          <a:latin typeface="Courier New" pitchFamily="34" charset="0"/>
                          <a:ea typeface="Courier New" pitchFamily="34" charset="-122"/>
                          <a:cs typeface="Courier New" pitchFamily="34" charset="-120"/>
                        </a:rPr>
                        <a:t>#8</a:t>
                      </a:r>
                      <a:endParaRPr lang="en-US" sz="800" dirty="0">
                        <a:latin typeface="Courier New" charset="0"/>
                        <a:ea typeface="Courier New" charset="0"/>
                        <a:cs typeface="Courier New" charset="0"/>
                      </a:endParaRPr>
                    </a:p>
                  </a:txBody>
                  <a:tcPr marL="2571750" marR="4114800" marT="0" marB="2571750"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ourier New" pitchFamily="34" charset="0"/>
                          <a:ea typeface="Courier New" pitchFamily="34" charset="-122"/>
                          <a:cs typeface="Courier New" pitchFamily="34" charset="-120"/>
                        </a:rPr>
                        <a:t>Random NSD, d=4</a:t>
                      </a:r>
                      <a:endParaRPr lang="en-US" sz="800" dirty="0">
                        <a:latin typeface="Courier New" charset="0"/>
                        <a:ea typeface="Courier New" charset="0"/>
                        <a:cs typeface="Courier New" charset="0"/>
                      </a:endParaRPr>
                    </a:p>
                  </a:txBody>
                  <a:tcPr marL="2571750" marR="4114800" marT="0" marB="2571750"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r" indent="0" marL="0">
                        <a:buNone/>
                      </a:pPr>
                      <a:r>
                        <a:rPr lang="en-US" sz="800" dirty="0">
                          <a:solidFill>
                            <a:srgbClr val="E6E6E6"/>
                          </a:solidFill>
                          <a:latin typeface="Courier New" pitchFamily="34" charset="0"/>
                          <a:ea typeface="Courier New" pitchFamily="34" charset="-122"/>
                          <a:cs typeface="Courier New" pitchFamily="34" charset="-120"/>
                        </a:rPr>
                        <a:t>2.0962</a:t>
                      </a:r>
                      <a:endParaRPr lang="en-US" sz="800" dirty="0">
                        <a:latin typeface="Courier New" charset="0"/>
                        <a:ea typeface="Courier New" charset="0"/>
                        <a:cs typeface="Courier New" charset="0"/>
                      </a:endParaRPr>
                    </a:p>
                  </a:txBody>
                  <a:tcPr marL="2571750" marR="4114800" marT="0" marB="2571750"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r>
              <a:tr h="0">
                <a:tc>
                  <a:txBody>
                    <a:bodyPr/>
                    <a:lstStyle/>
                    <a:p>
                      <a:pPr algn="l" indent="0" marL="0">
                        <a:buNone/>
                      </a:pPr>
                      <a:r>
                        <a:rPr lang="en-US" sz="800" dirty="0">
                          <a:solidFill>
                            <a:srgbClr val="E6E6E6"/>
                          </a:solidFill>
                          <a:latin typeface="Courier New" pitchFamily="34" charset="0"/>
                          <a:ea typeface="Courier New" pitchFamily="34" charset="-122"/>
                          <a:cs typeface="Courier New" pitchFamily="34" charset="-120"/>
                        </a:rPr>
                        <a:t>#66</a:t>
                      </a:r>
                      <a:endParaRPr lang="en-US" sz="800" dirty="0">
                        <a:latin typeface="Courier New" charset="0"/>
                        <a:ea typeface="Courier New" charset="0"/>
                        <a:cs typeface="Courier New" charset="0"/>
                      </a:endParaRPr>
                    </a:p>
                  </a:txBody>
                  <a:tcPr marL="2571750" marR="4114800" marT="0" marB="2571750"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ourier New" pitchFamily="34" charset="0"/>
                          <a:ea typeface="Courier New" pitchFamily="34" charset="-122"/>
                          <a:cs typeface="Courier New" pitchFamily="34" charset="-120"/>
                        </a:rPr>
                        <a:t>Random NSD, d=4</a:t>
                      </a:r>
                      <a:endParaRPr lang="en-US" sz="800" dirty="0">
                        <a:latin typeface="Courier New" charset="0"/>
                        <a:ea typeface="Courier New" charset="0"/>
                        <a:cs typeface="Courier New" charset="0"/>
                      </a:endParaRPr>
                    </a:p>
                  </a:txBody>
                  <a:tcPr marL="2571750" marR="4114800" marT="0" marB="2571750"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r" indent="0" marL="0">
                        <a:buNone/>
                      </a:pPr>
                      <a:r>
                        <a:rPr lang="en-US" sz="800" dirty="0">
                          <a:solidFill>
                            <a:srgbClr val="E6E6E6"/>
                          </a:solidFill>
                          <a:latin typeface="Courier New" pitchFamily="34" charset="0"/>
                          <a:ea typeface="Courier New" pitchFamily="34" charset="-122"/>
                          <a:cs typeface="Courier New" pitchFamily="34" charset="-120"/>
                        </a:rPr>
                        <a:t>2.0951</a:t>
                      </a:r>
                      <a:endParaRPr lang="en-US" sz="800" dirty="0">
                        <a:latin typeface="Courier New" charset="0"/>
                        <a:ea typeface="Courier New" charset="0"/>
                        <a:cs typeface="Courier New" charset="0"/>
                      </a:endParaRPr>
                    </a:p>
                  </a:txBody>
                  <a:tcPr marL="2571750" marR="4114800" marT="0" marB="2571750"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r>
              <a:tr h="0">
                <a:tc>
                  <a:txBody>
                    <a:bodyPr/>
                    <a:lstStyle/>
                    <a:p>
                      <a:pPr algn="l" indent="0" marL="0">
                        <a:buNone/>
                      </a:pPr>
                      <a:r>
                        <a:rPr lang="en-US" sz="800" dirty="0">
                          <a:solidFill>
                            <a:srgbClr val="E6E6E6"/>
                          </a:solidFill>
                          <a:latin typeface="Courier New" pitchFamily="34" charset="0"/>
                          <a:ea typeface="Courier New" pitchFamily="34" charset="-122"/>
                          <a:cs typeface="Courier New" pitchFamily="34" charset="-120"/>
                        </a:rPr>
                        <a:t>#30</a:t>
                      </a:r>
                      <a:endParaRPr lang="en-US" sz="800" dirty="0">
                        <a:latin typeface="Courier New" charset="0"/>
                        <a:ea typeface="Courier New" charset="0"/>
                        <a:cs typeface="Courier New" charset="0"/>
                      </a:endParaRPr>
                    </a:p>
                  </a:txBody>
                  <a:tcPr marL="2571750" marR="4114800" marT="0" marB="2571750"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ourier New" pitchFamily="34" charset="0"/>
                          <a:ea typeface="Courier New" pitchFamily="34" charset="-122"/>
                          <a:cs typeface="Courier New" pitchFamily="34" charset="-120"/>
                        </a:rPr>
                        <a:t>Random NSD, d=4</a:t>
                      </a:r>
                      <a:endParaRPr lang="en-US" sz="800" dirty="0">
                        <a:latin typeface="Courier New" charset="0"/>
                        <a:ea typeface="Courier New" charset="0"/>
                        <a:cs typeface="Courier New" charset="0"/>
                      </a:endParaRPr>
                    </a:p>
                  </a:txBody>
                  <a:tcPr marL="2571750" marR="4114800" marT="0" marB="2571750"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r" indent="0" marL="0">
                        <a:buNone/>
                      </a:pPr>
                      <a:r>
                        <a:rPr lang="en-US" sz="800" dirty="0">
                          <a:solidFill>
                            <a:srgbClr val="E6E6E6"/>
                          </a:solidFill>
                          <a:latin typeface="Courier New" pitchFamily="34" charset="0"/>
                          <a:ea typeface="Courier New" pitchFamily="34" charset="-122"/>
                          <a:cs typeface="Courier New" pitchFamily="34" charset="-120"/>
                        </a:rPr>
                        <a:t>2.0938</a:t>
                      </a:r>
                      <a:endParaRPr lang="en-US" sz="800" dirty="0">
                        <a:latin typeface="Courier New" charset="0"/>
                        <a:ea typeface="Courier New" charset="0"/>
                        <a:cs typeface="Courier New" charset="0"/>
                      </a:endParaRPr>
                    </a:p>
                  </a:txBody>
                  <a:tcPr marL="2571750" marR="4114800" marT="0" marB="2571750"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r>
              <a:tr h="0">
                <a:tc>
                  <a:txBody>
                    <a:bodyPr/>
                    <a:lstStyle/>
                    <a:p>
                      <a:pPr algn="l" indent="0" marL="0">
                        <a:buNone/>
                      </a:pPr>
                      <a:r>
                        <a:rPr lang="en-US" sz="800" dirty="0">
                          <a:solidFill>
                            <a:srgbClr val="FF6B6B"/>
                          </a:solidFill>
                          <a:latin typeface="Courier New" pitchFamily="34" charset="0"/>
                          <a:ea typeface="Courier New" pitchFamily="34" charset="-122"/>
                          <a:cs typeface="Courier New" pitchFamily="34" charset="-120"/>
                        </a:rPr>
                        <a:t>E8×2</a:t>
                      </a:r>
                      <a:endParaRPr lang="en-US" sz="800" dirty="0">
                        <a:latin typeface="Courier New" charset="0"/>
                        <a:ea typeface="Courier New" charset="0"/>
                        <a:cs typeface="Courier New" charset="0"/>
                      </a:endParaRPr>
                    </a:p>
                  </a:txBody>
                  <a:tcPr marL="2571750" marR="4114800" marT="0" marB="2571750"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FF6B6B"/>
                          </a:solidFill>
                          <a:latin typeface="Courier New" pitchFamily="34" charset="0"/>
                          <a:ea typeface="Courier New" pitchFamily="34" charset="-122"/>
                          <a:cs typeface="Courier New" pitchFamily="34" charset="-120"/>
                        </a:rPr>
                        <a:t>E8+E8 (SD, d=4) ← LOWEST</a:t>
                      </a:r>
                      <a:endParaRPr lang="en-US" sz="800" dirty="0">
                        <a:latin typeface="Courier New" charset="0"/>
                        <a:ea typeface="Courier New" charset="0"/>
                        <a:cs typeface="Courier New" charset="0"/>
                      </a:endParaRPr>
                    </a:p>
                  </a:txBody>
                  <a:tcPr marL="2571750" marR="4114800" marT="0" marB="2571750"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r" indent="0" marL="0">
                        <a:buNone/>
                      </a:pPr>
                      <a:r>
                        <a:rPr lang="en-US" sz="800" dirty="0">
                          <a:solidFill>
                            <a:srgbClr val="FF6B6B"/>
                          </a:solidFill>
                          <a:latin typeface="Courier New" pitchFamily="34" charset="0"/>
                          <a:ea typeface="Courier New" pitchFamily="34" charset="-122"/>
                          <a:cs typeface="Courier New" pitchFamily="34" charset="-120"/>
                        </a:rPr>
                        <a:t>2.0650</a:t>
                      </a:r>
                      <a:endParaRPr lang="en-US" sz="800" dirty="0">
                        <a:latin typeface="Courier New" charset="0"/>
                        <a:ea typeface="Courier New" charset="0"/>
                        <a:cs typeface="Courier New" charset="0"/>
                      </a:endParaRPr>
                    </a:p>
                  </a:txBody>
                  <a:tcPr marL="2571750" marR="4114800" marT="0" marB="2571750"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r>
            </a:tbl>
          </a:graphicData>
        </a:graphic>
      </p:graphicFrame>
      <p:sp>
        <p:nvSpPr>
          <p:cNvPr id="16" name="Text 12"/>
          <p:cNvSpPr/>
          <p:nvPr/>
        </p:nvSpPr>
        <p:spPr>
          <a:xfrm>
            <a:off x="5537746" y="3240695"/>
            <a:ext cx="114300" cy="114300"/>
          </a:xfrm>
          <a:prstGeom prst="rect">
            <a:avLst/>
          </a:prstGeom>
          <a:noFill/>
          <a:ln/>
        </p:spPr>
        <p:txBody>
          <a:bodyPr wrap="none" lIns="0" tIns="0" rIns="0" bIns="0" rtlCol="0" anchor="ctr"/>
          <a:lstStyle/>
          <a:p>
            <a:pPr algn="ctr" indent="0" marL="0">
              <a:buNone/>
            </a:pPr>
            <a:r>
              <a:rPr lang="en-US" sz="1125" dirty="0">
                <a:solidFill>
                  <a:srgbClr val="FF6B6B"/>
                </a:solidFill>
                <a:latin typeface="Segoe UI Symbol" pitchFamily="34" charset="0"/>
                <a:ea typeface="Segoe UI Symbol" pitchFamily="34" charset="-122"/>
                <a:cs typeface="Segoe UI Symbol" pitchFamily="34" charset="-120"/>
              </a:rPr>
              <a:t>✕</a:t>
            </a:r>
            <a:endParaRPr lang="en-US" sz="1125" dirty="0"/>
          </a:p>
        </p:txBody>
      </p:sp>
      <p:sp>
        <p:nvSpPr>
          <p:cNvPr id="17" name="Text 13"/>
          <p:cNvSpPr/>
          <p:nvPr/>
        </p:nvSpPr>
        <p:spPr>
          <a:xfrm>
            <a:off x="5709196" y="3233551"/>
            <a:ext cx="3120368" cy="329184"/>
          </a:xfrm>
          <a:prstGeom prst="rect">
            <a:avLst/>
          </a:prstGeom>
          <a:noFill/>
          <a:ln/>
        </p:spPr>
        <p:txBody>
          <a:bodyPr wrap="square" lIns="0" tIns="0" rIns="0" bIns="0" rtlCol="0" anchor="t"/>
          <a:lstStyle/>
          <a:p>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All 6 non-self-dual d=4 codes beat the self-dual E8+E8. Self-dual codes are </a:t>
            </a:r>
            <a:pPr algn="l" indent="0" marL="0">
              <a:lnSpc>
                <a:spcPts val="970"/>
              </a:lnSpc>
              <a:buNone/>
            </a:pPr>
            <a:r>
              <a:rPr lang="en-US" sz="800" dirty="0">
                <a:solidFill>
                  <a:srgbClr val="FF6B6B"/>
                </a:solidFill>
                <a:latin typeface="Carlito" pitchFamily="34" charset="0"/>
                <a:ea typeface="Carlito" pitchFamily="34" charset="-122"/>
                <a:cs typeface="Carlito" pitchFamily="34" charset="-120"/>
              </a:rPr>
              <a:t>NOT</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 avg</a:t>
            </a:r>
            <a:pPr algn="l" indent="0" marL="0">
              <a:lnSpc>
                <a:spcPts val="970"/>
              </a:lnSpc>
              <a:buNone/>
            </a:pPr>
            <a:r>
              <a:rPr lang="en-US" sz="800" baseline="-40000" dirty="0">
                <a:solidFill>
                  <a:srgbClr val="B5BAC4"/>
                </a:solidFill>
                <a:latin typeface="Carlito" pitchFamily="34" charset="0"/>
                <a:ea typeface="Carlito" pitchFamily="34" charset="-122"/>
                <a:cs typeface="Carlito" pitchFamily="34" charset="-120"/>
              </a:rPr>
              <a:t>Φ</a:t>
            </a:r>
            <a:pPr algn="l" indent="0" marL="0">
              <a:lnSpc>
                <a:spcPts val="970"/>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-optimal even among d=4 codes.</a:t>
            </a:r>
            <a:endParaRPr lang="en-US" sz="800" dirty="0"/>
          </a:p>
        </p:txBody>
      </p:sp>
      <p:sp>
        <p:nvSpPr>
          <p:cNvPr id="18" name="Text 14"/>
          <p:cNvSpPr/>
          <p:nvPr/>
        </p:nvSpPr>
        <p:spPr>
          <a:xfrm>
            <a:off x="5537746" y="3572880"/>
            <a:ext cx="114300" cy="114300"/>
          </a:xfrm>
          <a:prstGeom prst="rect">
            <a:avLst/>
          </a:prstGeom>
          <a:noFill/>
          <a:ln/>
        </p:spPr>
        <p:txBody>
          <a:bodyPr wrap="none" lIns="0" tIns="0" rIns="0" bIns="0" rtlCol="0" anchor="ctr"/>
          <a:lstStyle/>
          <a:p>
            <a:pPr algn="ctr" indent="0" marL="0">
              <a:buNone/>
            </a:pPr>
            <a:r>
              <a:rPr lang="en-US" sz="1125" dirty="0">
                <a:solidFill>
                  <a:srgbClr val="B097FF"/>
                </a:solidFill>
                <a:latin typeface="Segoe UI Symbol" pitchFamily="34" charset="0"/>
                <a:ea typeface="Segoe UI Symbol" pitchFamily="34" charset="-122"/>
                <a:cs typeface="Segoe UI Symbol" pitchFamily="34" charset="-120"/>
              </a:rPr>
              <a:t>⚗</a:t>
            </a:r>
            <a:endParaRPr lang="en-US" sz="1125" dirty="0"/>
          </a:p>
        </p:txBody>
      </p:sp>
      <p:sp>
        <p:nvSpPr>
          <p:cNvPr id="19" name="Text 15"/>
          <p:cNvSpPr/>
          <p:nvPr/>
        </p:nvSpPr>
        <p:spPr>
          <a:xfrm>
            <a:off x="5709196" y="3565736"/>
            <a:ext cx="3120368" cy="329184"/>
          </a:xfrm>
          <a:prstGeom prst="rect">
            <a:avLst/>
          </a:prstGeom>
          <a:noFill/>
          <a:ln/>
        </p:spPr>
        <p:txBody>
          <a:bodyPr wrap="square" lIns="0" tIns="0" rIns="0" bIns="0" rtlCol="0" anchor="t"/>
          <a:lstStyle/>
          <a:p>
            <a:pPr algn="l" indent="0" marL="0">
              <a:lnSpc>
                <a:spcPts val="970"/>
              </a:lnSpc>
              <a:buNone/>
            </a:pPr>
            <a:r>
              <a:rPr lang="en-US" sz="800" dirty="0">
                <a:solidFill>
                  <a:srgbClr val="B097FF"/>
                </a:solidFill>
                <a:latin typeface="Carlito" pitchFamily="34" charset="0"/>
                <a:ea typeface="Carlito" pitchFamily="34" charset="-122"/>
                <a:cs typeface="Carlito" pitchFamily="34" charset="-120"/>
              </a:rPr>
              <a:t>Refined conjecture:</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 maybe </a:t>
            </a:r>
            <a:pPr algn="l" indent="0" marL="0">
              <a:lnSpc>
                <a:spcPts val="970"/>
              </a:lnSpc>
              <a:buNone/>
            </a:pPr>
            <a:r>
              <a:rPr lang="en-US" sz="800" dirty="0">
                <a:solidFill>
                  <a:srgbClr val="B097FF"/>
                </a:solidFill>
                <a:latin typeface="Carlito" pitchFamily="34" charset="0"/>
                <a:ea typeface="Carlito" pitchFamily="34" charset="-122"/>
                <a:cs typeface="Carlito" pitchFamily="34" charset="-120"/>
              </a:rPr>
              <a:t>DOUBLY-EVEN</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 self-dual codes (Golay, ExtHamming) are special. E8+E8 is singly-even. Test left for future work.</a:t>
            </a:r>
            <a:endParaRPr lang="en-US" sz="800" dirty="0"/>
          </a:p>
        </p:txBody>
      </p:sp>
      <p:sp>
        <p:nvSpPr>
          <p:cNvPr id="20" name="Text 16"/>
          <p:cNvSpPr/>
          <p:nvPr/>
        </p:nvSpPr>
        <p:spPr>
          <a:xfrm>
            <a:off x="5541318" y="4811316"/>
            <a:ext cx="1955602" cy="157163"/>
          </a:xfrm>
          <a:prstGeom prst="roundRect">
            <a:avLst>
              <a:gd name="adj" fmla="val 6054526"/>
            </a:avLst>
          </a:prstGeom>
          <a:solidFill>
            <a:srgbClr val="1F2630"/>
          </a:solidFill>
          <a:ln w="7144">
            <a:solidFill>
              <a:srgbClr val="FF6B6B"/>
            </a:solidFill>
            <a:prstDash val="solid"/>
          </a:ln>
        </p:spPr>
        <p:txBody>
          <a:bodyPr wrap="square" rtlCol="0" anchor="ctr"/>
          <a:lstStyle/>
          <a:p>
            <a:pPr indent="0" marL="0">
              <a:buNone/>
            </a:pPr>
            <a:endParaRPr lang="en-US" dirty="0"/>
          </a:p>
        </p:txBody>
      </p:sp>
      <p:sp>
        <p:nvSpPr>
          <p:cNvPr id="21" name="Text 17"/>
          <p:cNvSpPr/>
          <p:nvPr/>
        </p:nvSpPr>
        <p:spPr>
          <a:xfrm>
            <a:off x="5537746" y="4807744"/>
            <a:ext cx="1962745" cy="252374"/>
          </a:xfrm>
          <a:prstGeom prst="rect">
            <a:avLst/>
          </a:prstGeom>
          <a:noFill/>
          <a:ln/>
        </p:spPr>
        <p:txBody>
          <a:bodyPr wrap="square" lIns="71438" tIns="21431" rIns="71438" bIns="21431" rtlCol="0" anchor="t"/>
          <a:lstStyle/>
          <a:p>
            <a:pPr algn="l" indent="0" marL="0">
              <a:lnSpc>
                <a:spcPts val="844"/>
              </a:lnSpc>
              <a:buNone/>
            </a:pPr>
            <a:r>
              <a:rPr lang="en-US" sz="800" spc="56" kern="0" dirty="0">
                <a:solidFill>
                  <a:srgbClr val="FF6B6B"/>
                </a:solidFill>
                <a:latin typeface="Liberation Sans Narrow" pitchFamily="34" charset="0"/>
                <a:ea typeface="Liberation Sans Narrow" pitchFamily="34" charset="-122"/>
                <a:cs typeface="Liberation Sans Narrow" pitchFamily="34" charset="-120"/>
              </a:rPr>
              <a:t>OPEN Q2 — FALSIFIED (QUALIFIED FORM)</a:t>
            </a:r>
            <a:endParaRPr lang="en-US" sz="800" dirty="0"/>
          </a:p>
        </p:txBody>
      </p:sp>
      <p:sp>
        <p:nvSpPr>
          <p:cNvPr id="22" name="Text 18"/>
          <p:cNvSpPr/>
          <p:nvPr/>
        </p:nvSpPr>
        <p:spPr>
          <a:xfrm>
            <a:off x="457200" y="4893469"/>
            <a:ext cx="7484418"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UBP_STUDY_EXTREMAL_004 / Thread H / p.10</a:t>
            </a:r>
            <a:endParaRPr lang="en-US" sz="800" dirty="0"/>
          </a:p>
        </p:txBody>
      </p:sp>
      <p:sp>
        <p:nvSpPr>
          <p:cNvPr id="23" name="Text 19"/>
          <p:cNvSpPr/>
          <p:nvPr/>
        </p:nvSpPr>
        <p:spPr>
          <a:xfrm>
            <a:off x="7955905" y="4893469"/>
            <a:ext cx="897722"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NEGATIVE RESULT</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7080461"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SECTION 05 / 05 / THREAD I / 11 OF 16</a:t>
            </a:r>
            <a:endParaRPr lang="en-US" sz="800" dirty="0"/>
          </a:p>
        </p:txBody>
      </p:sp>
      <p:sp>
        <p:nvSpPr>
          <p:cNvPr id="4" name="Text 2"/>
          <p:cNvSpPr/>
          <p:nvPr/>
        </p:nvSpPr>
        <p:spPr>
          <a:xfrm>
            <a:off x="7551948" y="342900"/>
            <a:ext cx="1134852"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UBP_STUDY_EXTREMAL_004</a:t>
            </a:r>
            <a:endParaRPr lang="en-US" sz="800" dirty="0"/>
          </a:p>
        </p:txBody>
      </p:sp>
      <p:sp>
        <p:nvSpPr>
          <p:cNvPr id="5" name="Text 3"/>
          <p:cNvSpPr/>
          <p:nvPr/>
        </p:nvSpPr>
        <p:spPr>
          <a:xfrm>
            <a:off x="457200" y="0"/>
            <a:ext cx="7144" cy="5143500"/>
          </a:xfrm>
          <a:prstGeom prst="rect">
            <a:avLst/>
          </a:prstGeom>
          <a:solidFill>
            <a:srgbClr val="2A3038">
              <a:alpha val="40000"/>
            </a:srgbClr>
          </a:solidFill>
          <a:ln/>
        </p:spPr>
        <p:txBody>
          <a:bodyPr wrap="square" rtlCol="0" anchor="ctr"/>
          <a:lstStyle/>
          <a:p>
            <a:pPr indent="0" marL="0">
              <a:buNone/>
            </a:pPr>
            <a:endParaRPr lang="en-US" dirty="0"/>
          </a:p>
        </p:txBody>
      </p:sp>
      <p:sp>
        <p:nvSpPr>
          <p:cNvPr id="6" name="Text 4"/>
          <p:cNvSpPr/>
          <p:nvPr/>
        </p:nvSpPr>
        <p:spPr>
          <a:xfrm>
            <a:off x="8679656" y="0"/>
            <a:ext cx="7144" cy="5143500"/>
          </a:xfrm>
          <a:prstGeom prst="rect">
            <a:avLst/>
          </a:prstGeom>
          <a:solidFill>
            <a:srgbClr val="2A3038">
              <a:alpha val="40000"/>
            </a:srgbClr>
          </a:solidFill>
          <a:ln/>
        </p:spPr>
        <p:txBody>
          <a:bodyPr wrap="square" rtlCol="0" anchor="ctr"/>
          <a:lstStyle/>
          <a:p>
            <a:pPr indent="0" marL="0">
              <a:buNone/>
            </a:pPr>
            <a:endParaRPr lang="en-US" dirty="0"/>
          </a:p>
        </p:txBody>
      </p:sp>
      <p:sp>
        <p:nvSpPr>
          <p:cNvPr id="7" name="Text 5"/>
          <p:cNvSpPr/>
          <p:nvPr/>
        </p:nvSpPr>
        <p:spPr>
          <a:xfrm>
            <a:off x="457200" y="721519"/>
            <a:ext cx="42863" cy="42863"/>
          </a:xfrm>
          <a:prstGeom prst="roundRect">
            <a:avLst>
              <a:gd name="adj" fmla="val 66666"/>
            </a:avLst>
          </a:prstGeom>
          <a:solidFill>
            <a:srgbClr val="B097FF"/>
          </a:solidFill>
          <a:ln/>
        </p:spPr>
        <p:txBody>
          <a:bodyPr wrap="square" rtlCol="0" anchor="ctr"/>
          <a:lstStyle/>
          <a:p>
            <a:pPr indent="0" marL="0">
              <a:buNone/>
            </a:pPr>
            <a:endParaRPr lang="en-US" dirty="0"/>
          </a:p>
        </p:txBody>
      </p:sp>
      <p:sp>
        <p:nvSpPr>
          <p:cNvPr id="8" name="Text 6"/>
          <p:cNvSpPr/>
          <p:nvPr/>
        </p:nvSpPr>
        <p:spPr>
          <a:xfrm>
            <a:off x="457200" y="685800"/>
            <a:ext cx="8636000" cy="164592"/>
          </a:xfrm>
          <a:prstGeom prst="rect">
            <a:avLst/>
          </a:prstGeom>
          <a:noFill/>
          <a:ln/>
        </p:spPr>
        <p:txBody>
          <a:bodyPr wrap="square" lIns="0" tIns="0" rIns="0" bIns="0" rtlCol="0" anchor="t"/>
          <a:lstStyle/>
          <a:p>
            <a:pPr algn="l" indent="0" marL="0">
              <a:lnSpc>
                <a:spcPts val="928"/>
              </a:lnSpc>
              <a:buNone/>
            </a:pPr>
            <a:r>
              <a:rPr lang="en-US" sz="800" spc="173" kern="0" dirty="0">
                <a:solidFill>
                  <a:srgbClr val="6B7280"/>
                </a:solidFill>
                <a:latin typeface="Courier New" pitchFamily="34" charset="0"/>
                <a:ea typeface="Courier New" pitchFamily="34" charset="-122"/>
                <a:cs typeface="Courier New" pitchFamily="34" charset="-120"/>
              </a:rPr>
              <a:t>SECTION OPENER · SPECULATIVE THREAD</a:t>
            </a:r>
            <a:endParaRPr lang="en-US" sz="800" dirty="0"/>
          </a:p>
        </p:txBody>
      </p:sp>
      <p:sp>
        <p:nvSpPr>
          <p:cNvPr id="9" name="Text 7"/>
          <p:cNvSpPr/>
          <p:nvPr/>
        </p:nvSpPr>
        <p:spPr>
          <a:xfrm>
            <a:off x="457200" y="1060847"/>
            <a:ext cx="8636000" cy="2360867"/>
          </a:xfrm>
          <a:prstGeom prst="rect">
            <a:avLst/>
          </a:prstGeom>
          <a:noFill/>
          <a:ln/>
        </p:spPr>
        <p:txBody>
          <a:bodyPr wrap="none" lIns="0" tIns="0" rIns="0" bIns="0" rtlCol="0" anchor="t"/>
          <a:lstStyle/>
          <a:p>
            <a:pPr algn="l" indent="0" marL="0">
              <a:lnSpc>
                <a:spcPts val="17213"/>
              </a:lnSpc>
              <a:buNone/>
            </a:pPr>
            <a:r>
              <a:rPr lang="en-US" sz="20250" spc="-810" kern="0" dirty="0">
                <a:solidFill>
                  <a:srgbClr val="FFB454">
                    <a:alpha val="92000"/>
                  </a:srgbClr>
                </a:solidFill>
                <a:latin typeface="Liberation Sans Narrow" pitchFamily="34" charset="0"/>
                <a:ea typeface="Liberation Sans Narrow" pitchFamily="34" charset="-122"/>
                <a:cs typeface="Liberation Sans Narrow" pitchFamily="34" charset="-120"/>
              </a:rPr>
              <a:t>05</a:t>
            </a:r>
            <a:pPr algn="l" indent="0" marL="0">
              <a:lnSpc>
                <a:spcPts val="17213"/>
              </a:lnSpc>
              <a:buNone/>
            </a:pPr>
            <a:r>
              <a:rPr lang="en-US" sz="20250" spc="-810" kern="0" dirty="0">
                <a:solidFill>
                  <a:srgbClr val="2A3038">
                    <a:alpha val="92000"/>
                  </a:srgbClr>
                </a:solidFill>
                <a:latin typeface="Courier New" pitchFamily="34" charset="0"/>
                <a:ea typeface="Courier New" pitchFamily="34" charset="-122"/>
                <a:cs typeface="Courier New" pitchFamily="34" charset="-120"/>
              </a:rPr>
              <a:t>/</a:t>
            </a:r>
            <a:pPr algn="l" indent="0" marL="0">
              <a:lnSpc>
                <a:spcPts val="17213"/>
              </a:lnSpc>
              <a:buNone/>
            </a:pPr>
            <a:r>
              <a:rPr lang="en-US" sz="20250" spc="-810" kern="0" dirty="0">
                <a:solidFill>
                  <a:srgbClr val="6B7280">
                    <a:alpha val="55000"/>
                  </a:srgbClr>
                </a:solidFill>
                <a:latin typeface="Liberation Sans Narrow" pitchFamily="34" charset="0"/>
                <a:ea typeface="Liberation Sans Narrow" pitchFamily="34" charset="-122"/>
                <a:cs typeface="Liberation Sans Narrow" pitchFamily="34" charset="-120"/>
              </a:rPr>
              <a:t>05</a:t>
            </a:r>
            <a:endParaRPr lang="en-US" sz="20250" dirty="0"/>
          </a:p>
        </p:txBody>
      </p:sp>
      <p:sp>
        <p:nvSpPr>
          <p:cNvPr id="10" name="Text 8"/>
          <p:cNvSpPr/>
          <p:nvPr/>
        </p:nvSpPr>
        <p:spPr>
          <a:xfrm>
            <a:off x="8141866" y="1260872"/>
            <a:ext cx="342900" cy="21431"/>
          </a:xfrm>
          <a:prstGeom prst="rect">
            <a:avLst/>
          </a:prstGeom>
          <a:solidFill>
            <a:srgbClr val="B097FF"/>
          </a:solidFill>
          <a:ln/>
        </p:spPr>
        <p:txBody>
          <a:bodyPr wrap="square" rtlCol="0" anchor="ctr"/>
          <a:lstStyle/>
          <a:p>
            <a:pPr indent="0" marL="0">
              <a:buNone/>
            </a:pPr>
            <a:endParaRPr lang="en-US" dirty="0"/>
          </a:p>
        </p:txBody>
      </p:sp>
      <p:sp>
        <p:nvSpPr>
          <p:cNvPr id="11" name="Text 9"/>
          <p:cNvSpPr/>
          <p:nvPr/>
        </p:nvSpPr>
        <p:spPr>
          <a:xfrm>
            <a:off x="8141866" y="1396603"/>
            <a:ext cx="1002134" cy="1310628"/>
          </a:xfrm>
          <a:prstGeom prst="rect">
            <a:avLst/>
          </a:prstGeom>
          <a:noFill/>
          <a:ln/>
        </p:spPr>
        <p:txBody>
          <a:bodyPr wrap="square" lIns="0" tIns="0" rIns="0" bIns="0" rtlCol="0" anchor="t"/>
          <a:lstStyle/>
          <a:p>
            <a:pPr algn="l" indent="0" marL="0">
              <a:lnSpc>
                <a:spcPts val="2390"/>
              </a:lnSpc>
              <a:buNone/>
            </a:pPr>
            <a:r>
              <a:rPr lang="en-US" sz="2025" spc="-20" kern="0" dirty="0">
                <a:solidFill>
                  <a:srgbClr val="E6E6E6"/>
                </a:solidFill>
                <a:latin typeface="Carlito" pitchFamily="34" charset="0"/>
                <a:ea typeface="Carlito" pitchFamily="34" charset="-122"/>
                <a:cs typeface="Carlito" pitchFamily="34" charset="-120"/>
              </a:rPr>
              <a:t>Thread I </a:t>
            </a:r>
            <a:pPr algn="l" indent="0" marL="0">
              <a:lnSpc>
                <a:spcPts val="2390"/>
              </a:lnSpc>
              <a:buNone/>
            </a:pPr>
            <a:r>
              <a:rPr lang="en-US" sz="2025" spc="-20" kern="0" dirty="0">
                <a:solidFill>
                  <a:srgbClr val="6B7280"/>
                </a:solidFill>
                <a:latin typeface="Carlito" pitchFamily="34" charset="0"/>
                <a:ea typeface="Carlito" pitchFamily="34" charset="-122"/>
                <a:cs typeface="Carlito" pitchFamily="34" charset="-120"/>
              </a:rPr>
              <a:t>—</a:t>
            </a:r>
            <a:pPr algn="l" indent="0" marL="0">
              <a:lnSpc>
                <a:spcPts val="2390"/>
              </a:lnSpc>
              <a:buNone/>
            </a:pPr>
            <a:r>
              <a:rPr lang="en-US" sz="2025" spc="-20" kern="0" dirty="0">
                <a:solidFill>
                  <a:srgbClr val="E6E6E6"/>
                </a:solidFill>
                <a:latin typeface="Carlito" pitchFamily="34" charset="0"/>
                <a:ea typeface="Carlito" pitchFamily="34" charset="-122"/>
                <a:cs typeface="Carlito" pitchFamily="34" charset="-120"/>
              </a:rPr>
              <a:t> Why </a:t>
            </a:r>
            <a:pPr algn="l" indent="0" marL="0">
              <a:lnSpc>
                <a:spcPts val="2390"/>
              </a:lnSpc>
              <a:buNone/>
            </a:pPr>
            <a:r>
              <a:rPr lang="en-US" sz="2025" spc="-20" kern="0" dirty="0">
                <a:solidFill>
                  <a:srgbClr val="FFB454"/>
                </a:solidFill>
                <a:latin typeface="Liberation Sans Narrow" pitchFamily="34" charset="0"/>
                <a:ea typeface="Liberation Sans Narrow" pitchFamily="34" charset="-122"/>
                <a:cs typeface="Liberation Sans Narrow" pitchFamily="34" charset="-120"/>
              </a:rPr>
              <a:t>24</a:t>
            </a:r>
            <a:pPr algn="l" indent="0" marL="0">
              <a:lnSpc>
                <a:spcPts val="2390"/>
              </a:lnSpc>
              <a:buNone/>
            </a:pPr>
            <a:r>
              <a:rPr lang="en-US" sz="2025" spc="-20" kern="0" dirty="0">
                <a:solidFill>
                  <a:srgbClr val="E6E6E6"/>
                </a:solidFill>
                <a:latin typeface="Carlito" pitchFamily="34" charset="0"/>
                <a:ea typeface="Carlito" pitchFamily="34" charset="-122"/>
                <a:cs typeface="Carlito" pitchFamily="34" charset="-120"/>
              </a:rPr>
              <a:t>? </a:t>
            </a:r>
            <a:pPr algn="l" indent="0" marL="0">
              <a:lnSpc>
                <a:spcPts val="2390"/>
              </a:lnSpc>
              <a:buNone/>
            </a:pPr>
            <a:r>
              <a:rPr lang="en-US" sz="1575" spc="-20" kern="0" dirty="0">
                <a:solidFill>
                  <a:srgbClr val="6B7280"/>
                </a:solidFill>
                <a:latin typeface="Carlito" pitchFamily="34" charset="0"/>
                <a:ea typeface="Carlito" pitchFamily="34" charset="-122"/>
                <a:cs typeface="Carlito" pitchFamily="34" charset="-120"/>
              </a:rPr>
              <a:t>(Speculative)</a:t>
            </a:r>
            <a:endParaRPr lang="en-US" sz="2025" dirty="0"/>
          </a:p>
        </p:txBody>
      </p:sp>
      <p:sp>
        <p:nvSpPr>
          <p:cNvPr id="12" name="Text 10"/>
          <p:cNvSpPr/>
          <p:nvPr/>
        </p:nvSpPr>
        <p:spPr>
          <a:xfrm>
            <a:off x="8141866" y="2738735"/>
            <a:ext cx="1002134" cy="2295769"/>
          </a:xfrm>
          <a:prstGeom prst="rect">
            <a:avLst/>
          </a:prstGeom>
          <a:noFill/>
          <a:ln/>
        </p:spPr>
        <p:txBody>
          <a:bodyPr wrap="square" lIns="0" tIns="0" rIns="0" bIns="0" rtlCol="0" anchor="t"/>
          <a:lstStyle/>
          <a:p>
            <a:pPr algn="l" indent="0" marL="0">
              <a:lnSpc>
                <a:spcPts val="1395"/>
              </a:lnSpc>
              <a:buNone/>
            </a:pPr>
            <a:r>
              <a:rPr lang="en-US" sz="900" dirty="0">
                <a:solidFill>
                  <a:srgbClr val="B5BAC4"/>
                </a:solidFill>
                <a:latin typeface="Carlito" pitchFamily="34" charset="0"/>
                <a:ea typeface="Carlito" pitchFamily="34" charset="-122"/>
                <a:cs typeface="Carlito" pitchFamily="34" charset="-120"/>
              </a:rPr>
              <a:t>The deepest obstruction. No property of </a:t>
            </a:r>
            <a:pPr algn="l" indent="0" marL="0">
              <a:lnSpc>
                <a:spcPts val="1395"/>
              </a:lnSpc>
              <a:buNone/>
            </a:pPr>
            <a:r>
              <a:rPr lang="en-US" sz="900" i="1" dirty="0">
                <a:solidFill>
                  <a:srgbClr val="E6E6E6"/>
                </a:solidFill>
                <a:latin typeface="Tinos" pitchFamily="34" charset="0"/>
                <a:ea typeface="Tinos" pitchFamily="34" charset="-122"/>
                <a:cs typeface="Tinos" pitchFamily="34" charset="-120"/>
              </a:rPr>
              <a:t>Φ</a:t>
            </a:r>
            <a:pPr algn="l" indent="0" marL="0">
              <a:lnSpc>
                <a:spcPts val="1395"/>
              </a:lnSpc>
              <a:buNone/>
            </a:pPr>
            <a:r>
              <a:rPr lang="en-US" sz="900" dirty="0">
                <a:solidFill>
                  <a:srgbClr val="B5BAC4"/>
                </a:solidFill>
                <a:latin typeface="Carlito" pitchFamily="34" charset="0"/>
                <a:ea typeface="Carlito" pitchFamily="34" charset="-122"/>
                <a:cs typeface="Carlito" pitchFamily="34" charset="-120"/>
              </a:rPr>
              <a:t> alone explains why the substrate is </a:t>
            </a:r>
            <a:pPr algn="l" indent="0" marL="0">
              <a:lnSpc>
                <a:spcPts val="1395"/>
              </a:lnSpc>
              <a:buNone/>
            </a:pPr>
            <a:r>
              <a:rPr lang="en-US" sz="900" dirty="0">
                <a:solidFill>
                  <a:srgbClr val="FFB454"/>
                </a:solidFill>
                <a:latin typeface="Liberation Sans Narrow" pitchFamily="34" charset="0"/>
                <a:ea typeface="Liberation Sans Narrow" pitchFamily="34" charset="-122"/>
                <a:cs typeface="Liberation Sans Narrow" pitchFamily="34" charset="-120"/>
              </a:rPr>
              <a:t>24</a:t>
            </a:r>
            <a:pPr algn="l" indent="0" marL="0">
              <a:lnSpc>
                <a:spcPts val="1395"/>
              </a:lnSpc>
              <a:buNone/>
            </a:pPr>
            <a:r>
              <a:rPr lang="en-US" sz="900" dirty="0">
                <a:solidFill>
                  <a:srgbClr val="B5BAC4"/>
                </a:solidFill>
                <a:latin typeface="Carlito" pitchFamily="34" charset="0"/>
                <a:ea typeface="Carlito" pitchFamily="34" charset="-122"/>
                <a:cs typeface="Carlito" pitchFamily="34" charset="-120"/>
              </a:rPr>
              <a:t>-dimensional. We articulate a </a:t>
            </a:r>
            <a:pPr algn="l" indent="0" marL="0">
              <a:lnSpc>
                <a:spcPts val="1395"/>
              </a:lnSpc>
              <a:buNone/>
            </a:pPr>
            <a:r>
              <a:rPr lang="en-US" sz="900" i="1" dirty="0">
                <a:solidFill>
                  <a:srgbClr val="E6E6E6"/>
                </a:solidFill>
                <a:latin typeface="Tinos" pitchFamily="34" charset="0"/>
                <a:ea typeface="Tinos" pitchFamily="34" charset="-122"/>
                <a:cs typeface="Tinos" pitchFamily="34" charset="-120"/>
              </a:rPr>
              <a:t>Φ</a:t>
            </a:r>
            <a:pPr algn="l" indent="0" marL="0">
              <a:lnSpc>
                <a:spcPts val="1395"/>
              </a:lnSpc>
              <a:buNone/>
            </a:pPr>
            <a:r>
              <a:rPr lang="en-US" sz="900" dirty="0">
                <a:solidFill>
                  <a:srgbClr val="B5BAC4"/>
                </a:solidFill>
                <a:latin typeface="Carlito" pitchFamily="34" charset="0"/>
                <a:ea typeface="Carlito" pitchFamily="34" charset="-122"/>
                <a:cs typeface="Carlito" pitchFamily="34" charset="-120"/>
              </a:rPr>
              <a:t>-adjacent principle that points at </a:t>
            </a:r>
            <a:pPr algn="l" indent="0" marL="0">
              <a:lnSpc>
                <a:spcPts val="1395"/>
              </a:lnSpc>
              <a:buNone/>
            </a:pPr>
            <a:r>
              <a:rPr lang="en-US" sz="900" dirty="0">
                <a:solidFill>
                  <a:srgbClr val="FFB454"/>
                </a:solidFill>
                <a:latin typeface="Liberation Sans Narrow" pitchFamily="34" charset="0"/>
                <a:ea typeface="Liberation Sans Narrow" pitchFamily="34" charset="-122"/>
                <a:cs typeface="Liberation Sans Narrow" pitchFamily="34" charset="-120"/>
              </a:rPr>
              <a:t>24</a:t>
            </a:r>
            <a:pPr algn="l" indent="0" marL="0">
              <a:lnSpc>
                <a:spcPts val="1395"/>
              </a:lnSpc>
              <a:buNone/>
            </a:pPr>
            <a:r>
              <a:rPr lang="en-US" sz="900" dirty="0">
                <a:solidFill>
                  <a:srgbClr val="B5BAC4"/>
                </a:solidFill>
                <a:latin typeface="Carlito" pitchFamily="34" charset="0"/>
                <a:ea typeface="Carlito" pitchFamily="34" charset="-122"/>
                <a:cs typeface="Carlito" pitchFamily="34" charset="-120"/>
              </a:rPr>
              <a:t>, but the answer likely sits permanently outside </a:t>
            </a:r>
            <a:pPr algn="l" indent="0" marL="0">
              <a:lnSpc>
                <a:spcPts val="1395"/>
              </a:lnSpc>
              <a:buNone/>
            </a:pPr>
            <a:r>
              <a:rPr lang="en-US" sz="900" i="1" dirty="0">
                <a:solidFill>
                  <a:srgbClr val="E6E6E6"/>
                </a:solidFill>
                <a:latin typeface="Tinos" pitchFamily="34" charset="0"/>
                <a:ea typeface="Tinos" pitchFamily="34" charset="-122"/>
                <a:cs typeface="Tinos" pitchFamily="34" charset="-120"/>
              </a:rPr>
              <a:t>Φ</a:t>
            </a:r>
            <a:pPr algn="l" indent="0" marL="0">
              <a:lnSpc>
                <a:spcPts val="1395"/>
              </a:lnSpc>
              <a:buNone/>
            </a:pPr>
            <a:r>
              <a:rPr lang="en-US" sz="900" dirty="0">
                <a:solidFill>
                  <a:srgbClr val="B5BAC4"/>
                </a:solidFill>
                <a:latin typeface="Carlito" pitchFamily="34" charset="0"/>
                <a:ea typeface="Carlito" pitchFamily="34" charset="-122"/>
                <a:cs typeface="Carlito" pitchFamily="34" charset="-120"/>
              </a:rPr>
              <a:t>.</a:t>
            </a:r>
            <a:endParaRPr lang="en-US" sz="900" dirty="0"/>
          </a:p>
        </p:txBody>
      </p:sp>
      <p:sp>
        <p:nvSpPr>
          <p:cNvPr id="13" name="Text 11"/>
          <p:cNvSpPr/>
          <p:nvPr/>
        </p:nvSpPr>
        <p:spPr>
          <a:xfrm>
            <a:off x="8127552" y="5054614"/>
            <a:ext cx="386486" cy="184023"/>
          </a:xfrm>
          <a:prstGeom prst="roundRect">
            <a:avLst>
              <a:gd name="adj" fmla="val 5170807"/>
            </a:avLst>
          </a:prstGeom>
          <a:solidFill>
            <a:srgbClr val="1F2630"/>
          </a:solidFill>
          <a:ln w="7144">
            <a:solidFill>
              <a:srgbClr val="B097FF"/>
            </a:solidFill>
            <a:prstDash val="solid"/>
          </a:ln>
        </p:spPr>
        <p:txBody>
          <a:bodyPr wrap="square" rtlCol="0" anchor="ctr"/>
          <a:lstStyle/>
          <a:p>
            <a:pPr indent="0" marL="0">
              <a:buNone/>
            </a:pPr>
            <a:endParaRPr lang="en-US" dirty="0"/>
          </a:p>
        </p:txBody>
      </p:sp>
      <p:sp>
        <p:nvSpPr>
          <p:cNvPr id="14" name="Text 12"/>
          <p:cNvSpPr/>
          <p:nvPr/>
        </p:nvSpPr>
        <p:spPr>
          <a:xfrm>
            <a:off x="8141866" y="5064472"/>
            <a:ext cx="357857" cy="91440"/>
          </a:xfrm>
          <a:prstGeom prst="rect">
            <a:avLst/>
          </a:prstGeom>
          <a:noFill/>
          <a:ln/>
        </p:spPr>
        <p:txBody>
          <a:bodyPr wrap="none" lIns="0" tIns="0" rIns="0" bIns="0" rtlCol="0" anchor="ctr"/>
          <a:lstStyle/>
          <a:p>
            <a:pPr algn="ctr" indent="0" marL="0">
              <a:lnSpc>
                <a:spcPts val="844"/>
              </a:lnSpc>
              <a:buNone/>
            </a:pPr>
            <a:r>
              <a:rPr lang="en-US" sz="800" spc="56" kern="0" dirty="0">
                <a:solidFill>
                  <a:srgbClr val="B097FF"/>
                </a:solidFill>
                <a:latin typeface="Courier New" pitchFamily="34" charset="0"/>
                <a:ea typeface="Courier New" pitchFamily="34" charset="-122"/>
                <a:cs typeface="Courier New" pitchFamily="34" charset="-120"/>
              </a:rPr>
              <a:t>OPEN</a:t>
            </a:r>
            <a:endParaRPr lang="en-US" sz="800" dirty="0"/>
          </a:p>
        </p:txBody>
      </p:sp>
      <p:sp>
        <p:nvSpPr>
          <p:cNvPr id="15" name="Text 13"/>
          <p:cNvSpPr/>
          <p:nvPr/>
        </p:nvSpPr>
        <p:spPr>
          <a:xfrm>
            <a:off x="8119006" y="5276070"/>
            <a:ext cx="754626" cy="184023"/>
          </a:xfrm>
          <a:prstGeom prst="roundRect">
            <a:avLst>
              <a:gd name="adj" fmla="val 5170807"/>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16" name="Text 14"/>
          <p:cNvSpPr/>
          <p:nvPr/>
        </p:nvSpPr>
        <p:spPr>
          <a:xfrm>
            <a:off x="8141866" y="5285929"/>
            <a:ext cx="708906" cy="91440"/>
          </a:xfrm>
          <a:prstGeom prst="rect">
            <a:avLst/>
          </a:prstGeom>
          <a:noFill/>
          <a:ln/>
        </p:spPr>
        <p:txBody>
          <a:bodyPr wrap="none" lIns="0" tIns="0" rIns="0" bIns="0" rtlCol="0" anchor="ctr"/>
          <a:lstStyle/>
          <a:p>
            <a:pPr algn="ctr" indent="0" marL="0">
              <a:lnSpc>
                <a:spcPts val="844"/>
              </a:lnSpc>
              <a:buNone/>
            </a:pPr>
            <a:r>
              <a:rPr lang="en-US" sz="800" spc="56" kern="0" dirty="0">
                <a:solidFill>
                  <a:srgbClr val="FFB454"/>
                </a:solidFill>
                <a:latin typeface="Courier New" pitchFamily="34" charset="0"/>
                <a:ea typeface="Courier New" pitchFamily="34" charset="-122"/>
                <a:cs typeface="Courier New" pitchFamily="34" charset="-120"/>
              </a:rPr>
              <a:t>SPECULATIVE</a:t>
            </a:r>
            <a:endParaRPr lang="en-US" sz="800" dirty="0"/>
          </a:p>
        </p:txBody>
      </p:sp>
      <p:sp>
        <p:nvSpPr>
          <p:cNvPr id="17" name="Text 15"/>
          <p:cNvSpPr/>
          <p:nvPr/>
        </p:nvSpPr>
        <p:spPr>
          <a:xfrm>
            <a:off x="8119006" y="5497526"/>
            <a:ext cx="905091" cy="184023"/>
          </a:xfrm>
          <a:prstGeom prst="roundRect">
            <a:avLst>
              <a:gd name="adj" fmla="val 5170807"/>
            </a:avLst>
          </a:prstGeom>
          <a:solidFill>
            <a:srgbClr val="1F2630"/>
          </a:solidFill>
          <a:ln w="7144">
            <a:solidFill>
              <a:srgbClr val="6FE3D2"/>
            </a:solidFill>
            <a:prstDash val="solid"/>
          </a:ln>
        </p:spPr>
        <p:txBody>
          <a:bodyPr wrap="square" rtlCol="0" anchor="ctr"/>
          <a:lstStyle/>
          <a:p>
            <a:pPr indent="0" marL="0">
              <a:buNone/>
            </a:pPr>
            <a:endParaRPr lang="en-US" dirty="0"/>
          </a:p>
        </p:txBody>
      </p:sp>
      <p:sp>
        <p:nvSpPr>
          <p:cNvPr id="18" name="Text 16"/>
          <p:cNvSpPr/>
          <p:nvPr/>
        </p:nvSpPr>
        <p:spPr>
          <a:xfrm>
            <a:off x="8141866" y="5507385"/>
            <a:ext cx="859371" cy="91440"/>
          </a:xfrm>
          <a:prstGeom prst="rect">
            <a:avLst/>
          </a:prstGeom>
          <a:noFill/>
          <a:ln/>
        </p:spPr>
        <p:txBody>
          <a:bodyPr wrap="none" lIns="0" tIns="0" rIns="0" bIns="0" rtlCol="0" anchor="ctr"/>
          <a:lstStyle/>
          <a:p>
            <a:pPr algn="ctr" indent="0" marL="0">
              <a:lnSpc>
                <a:spcPts val="844"/>
              </a:lnSpc>
              <a:buNone/>
            </a:pPr>
            <a:r>
              <a:rPr lang="en-US" sz="800" spc="56" kern="0" dirty="0">
                <a:solidFill>
                  <a:srgbClr val="6FE3D2"/>
                </a:solidFill>
                <a:latin typeface="Courier New" pitchFamily="34" charset="0"/>
                <a:ea typeface="Courier New" pitchFamily="34" charset="-122"/>
                <a:cs typeface="Courier New" pitchFamily="34" charset="-120"/>
              </a:rPr>
              <a:t>LATTICE THEORY</a:t>
            </a:r>
            <a:endParaRPr lang="en-US" sz="800" dirty="0"/>
          </a:p>
        </p:txBody>
      </p:sp>
      <p:sp>
        <p:nvSpPr>
          <p:cNvPr id="19" name="Shape 17"/>
          <p:cNvSpPr/>
          <p:nvPr/>
        </p:nvSpPr>
        <p:spPr>
          <a:xfrm>
            <a:off x="457200" y="4521994"/>
            <a:ext cx="8229600" cy="0"/>
          </a:xfrm>
          <a:prstGeom prst="line">
            <a:avLst/>
          </a:prstGeom>
          <a:noFill/>
          <a:ln w="7144">
            <a:solidFill>
              <a:srgbClr val="2A3038"/>
            </a:solidFill>
            <a:prstDash val="solid"/>
          </a:ln>
        </p:spPr>
      </p:sp>
      <p:sp>
        <p:nvSpPr>
          <p:cNvPr id="20" name="Text 18"/>
          <p:cNvSpPr/>
          <p:nvPr/>
        </p:nvSpPr>
        <p:spPr>
          <a:xfrm>
            <a:off x="457200" y="4625578"/>
            <a:ext cx="3369506" cy="117872"/>
          </a:xfrm>
          <a:prstGeom prst="rect">
            <a:avLst/>
          </a:prstGeom>
          <a:noFill/>
          <a:ln/>
        </p:spPr>
        <p:txBody>
          <a:bodyPr wrap="none" lIns="0" tIns="0" rIns="0" bIns="0" rtlCol="0" anchor="t"/>
          <a:lstStyle/>
          <a:p>
            <a:pPr algn="l" indent="0" marL="0">
              <a:lnSpc>
                <a:spcPts val="928"/>
              </a:lnSpc>
              <a:buNone/>
            </a:pPr>
            <a:r>
              <a:rPr lang="en-US" sz="800" spc="99" kern="0" dirty="0">
                <a:solidFill>
                  <a:srgbClr val="FFB454"/>
                </a:solidFill>
                <a:latin typeface="Courier New" pitchFamily="34" charset="0"/>
                <a:ea typeface="Courier New" pitchFamily="34" charset="-122"/>
                <a:cs typeface="Courier New" pitchFamily="34" charset="-120"/>
              </a:rPr>
              <a:t>●</a:t>
            </a:r>
            <a:pPr algn="l" indent="0" marL="0">
              <a:lnSpc>
                <a:spcPts val="928"/>
              </a:lnSpc>
              <a:buNone/>
            </a:pPr>
            <a:r>
              <a:rPr lang="en-US" sz="800" spc="99" kern="0" dirty="0">
                <a:solidFill>
                  <a:srgbClr val="6B7280"/>
                </a:solidFill>
                <a:latin typeface="Courier New" pitchFamily="34" charset="0"/>
                <a:ea typeface="Courier New" pitchFamily="34" charset="-122"/>
                <a:cs typeface="Courier New" pitchFamily="34" charset="-120"/>
              </a:rPr>
              <a:t> THREAD H · FALSIFIED</a:t>
            </a:r>
            <a:endParaRPr lang="en-US" sz="800" dirty="0"/>
          </a:p>
        </p:txBody>
      </p:sp>
      <p:sp>
        <p:nvSpPr>
          <p:cNvPr id="21" name="Text 19"/>
          <p:cNvSpPr/>
          <p:nvPr/>
        </p:nvSpPr>
        <p:spPr>
          <a:xfrm>
            <a:off x="3840993" y="4625578"/>
            <a:ext cx="3514055" cy="117872"/>
          </a:xfrm>
          <a:prstGeom prst="rect">
            <a:avLst/>
          </a:prstGeom>
          <a:noFill/>
          <a:ln/>
        </p:spPr>
        <p:txBody>
          <a:bodyPr wrap="none" lIns="0" tIns="0" rIns="0" bIns="0" rtlCol="0" anchor="t"/>
          <a:lstStyle/>
          <a:p>
            <a:pPr algn="l" indent="0" marL="0">
              <a:lnSpc>
                <a:spcPts val="928"/>
              </a:lnSpc>
              <a:buNone/>
            </a:pPr>
            <a:r>
              <a:rPr lang="en-US" sz="800" spc="124" kern="0" dirty="0">
                <a:solidFill>
                  <a:srgbClr val="B097FF"/>
                </a:solidFill>
                <a:latin typeface="Courier New" pitchFamily="34" charset="0"/>
                <a:ea typeface="Courier New" pitchFamily="34" charset="-122"/>
                <a:cs typeface="Courier New" pitchFamily="34" charset="-120"/>
              </a:rPr>
              <a:t>▸ THREAD I · YOU ARE HERE</a:t>
            </a:r>
            <a:endParaRPr lang="en-US" sz="800" dirty="0"/>
          </a:p>
        </p:txBody>
      </p:sp>
      <p:sp>
        <p:nvSpPr>
          <p:cNvPr id="22" name="Text 20"/>
          <p:cNvSpPr/>
          <p:nvPr/>
        </p:nvSpPr>
        <p:spPr>
          <a:xfrm>
            <a:off x="7369336" y="4625578"/>
            <a:ext cx="1317464" cy="117872"/>
          </a:xfrm>
          <a:prstGeom prst="rect">
            <a:avLst/>
          </a:prstGeom>
          <a:noFill/>
          <a:ln/>
        </p:spPr>
        <p:txBody>
          <a:bodyPr wrap="none" lIns="0" tIns="0" rIns="0" bIns="0" rtlCol="0" anchor="t"/>
          <a:lstStyle/>
          <a:p>
            <a:pPr algn="l" indent="0" marL="0">
              <a:lnSpc>
                <a:spcPts val="928"/>
              </a:lnSpc>
              <a:buNone/>
            </a:pPr>
            <a:r>
              <a:rPr lang="en-US" sz="800" spc="99" kern="0" dirty="0">
                <a:solidFill>
                  <a:srgbClr val="6B7280"/>
                </a:solidFill>
                <a:latin typeface="Courier New" pitchFamily="34" charset="0"/>
                <a:ea typeface="Courier New" pitchFamily="34" charset="-122"/>
                <a:cs typeface="Courier New" pitchFamily="34" charset="-120"/>
              </a:rPr>
              <a:t>▣ SYNTHESIS · NEXT</a:t>
            </a:r>
            <a:endParaRPr lang="en-US" sz="800" dirty="0"/>
          </a:p>
        </p:txBody>
      </p:sp>
      <p:sp>
        <p:nvSpPr>
          <p:cNvPr id="23" name="Text 21"/>
          <p:cNvSpPr/>
          <p:nvPr/>
        </p:nvSpPr>
        <p:spPr>
          <a:xfrm>
            <a:off x="457200" y="4893469"/>
            <a:ext cx="7533084"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UBP_STUDY_EXTREMAL_004 / Thread I / p.11</a:t>
            </a:r>
            <a:endParaRPr lang="en-US" sz="800" dirty="0"/>
          </a:p>
        </p:txBody>
      </p:sp>
      <p:sp>
        <p:nvSpPr>
          <p:cNvPr id="24" name="Text 22"/>
          <p:cNvSpPr/>
          <p:nvPr/>
        </p:nvSpPr>
        <p:spPr>
          <a:xfrm>
            <a:off x="8004572" y="4893469"/>
            <a:ext cx="837947"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SECTION OPENER</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7080461"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THREAD I / LATTICE ARGUMENT / 12 OF 16</a:t>
            </a:r>
            <a:endParaRPr lang="en-US" sz="800" dirty="0"/>
          </a:p>
        </p:txBody>
      </p:sp>
      <p:sp>
        <p:nvSpPr>
          <p:cNvPr id="4" name="Text 2"/>
          <p:cNvSpPr/>
          <p:nvPr/>
        </p:nvSpPr>
        <p:spPr>
          <a:xfrm>
            <a:off x="7551948" y="342900"/>
            <a:ext cx="1134852"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UBP_STUDY_EXTREMAL_004</a:t>
            </a:r>
            <a:endParaRPr lang="en-US" sz="800" dirty="0"/>
          </a:p>
        </p:txBody>
      </p:sp>
      <p:sp>
        <p:nvSpPr>
          <p:cNvPr id="5" name="Text 3"/>
          <p:cNvSpPr/>
          <p:nvPr/>
        </p:nvSpPr>
        <p:spPr>
          <a:xfrm>
            <a:off x="457200" y="685800"/>
            <a:ext cx="342900" cy="21431"/>
          </a:xfrm>
          <a:prstGeom prst="rect">
            <a:avLst/>
          </a:prstGeom>
          <a:solidFill>
            <a:srgbClr val="FFB454"/>
          </a:solidFill>
          <a:ln/>
        </p:spPr>
        <p:txBody>
          <a:bodyPr wrap="square" rtlCol="0" anchor="ctr"/>
          <a:lstStyle/>
          <a:p>
            <a:pPr indent="0" marL="0">
              <a:buNone/>
            </a:pPr>
            <a:endParaRPr lang="en-US" dirty="0"/>
          </a:p>
        </p:txBody>
      </p:sp>
      <p:sp>
        <p:nvSpPr>
          <p:cNvPr id="6" name="Text 4"/>
          <p:cNvSpPr/>
          <p:nvPr/>
        </p:nvSpPr>
        <p:spPr>
          <a:xfrm>
            <a:off x="457200" y="821531"/>
            <a:ext cx="4372497" cy="245370"/>
          </a:xfrm>
          <a:prstGeom prst="rect">
            <a:avLst/>
          </a:prstGeom>
          <a:noFill/>
          <a:ln/>
        </p:spPr>
        <p:txBody>
          <a:bodyPr wrap="square" lIns="0" tIns="0" rIns="0" bIns="0" rtlCol="0" anchor="t">
            <a:normAutofit/>
          </a:bodyPr>
          <a:lstStyle/>
          <a:p>
            <a:pPr algn="l" indent="0" marL="0">
              <a:lnSpc>
                <a:spcPts val="1811"/>
              </a:lnSpc>
              <a:buNone/>
            </a:pPr>
            <a:r>
              <a:rPr lang="en-US" sz="1575" spc="-16" kern="0" dirty="0">
                <a:solidFill>
                  <a:srgbClr val="E6E6E6"/>
                </a:solidFill>
                <a:latin typeface="Carlito" pitchFamily="34" charset="0"/>
                <a:ea typeface="Carlito" pitchFamily="34" charset="-122"/>
                <a:cs typeface="Carlito" pitchFamily="34" charset="-120"/>
              </a:rPr>
              <a:t>The three properties that single out </a:t>
            </a:r>
            <a:pPr algn="l" indent="0" marL="0">
              <a:lnSpc>
                <a:spcPts val="1811"/>
              </a:lnSpc>
              <a:buNone/>
            </a:pPr>
            <a:r>
              <a:rPr lang="en-US" sz="1575" spc="-16" kern="0" dirty="0">
                <a:solidFill>
                  <a:srgbClr val="FFB454"/>
                </a:solidFill>
                <a:latin typeface="Liberation Sans Narrow" pitchFamily="34" charset="0"/>
                <a:ea typeface="Liberation Sans Narrow" pitchFamily="34" charset="-122"/>
                <a:cs typeface="Liberation Sans Narrow" pitchFamily="34" charset="-120"/>
              </a:rPr>
              <a:t>n = 24</a:t>
            </a:r>
            <a:endParaRPr lang="en-US" sz="1575" dirty="0"/>
          </a:p>
        </p:txBody>
      </p:sp>
      <p:sp>
        <p:nvSpPr>
          <p:cNvPr id="7" name="Text 5"/>
          <p:cNvSpPr/>
          <p:nvPr/>
        </p:nvSpPr>
        <p:spPr>
          <a:xfrm>
            <a:off x="457200" y="1094333"/>
            <a:ext cx="4372497" cy="164592"/>
          </a:xfrm>
          <a:prstGeom prst="rect">
            <a:avLst/>
          </a:prstGeom>
          <a:noFill/>
          <a:ln/>
        </p:spPr>
        <p:txBody>
          <a:bodyPr wrap="square" lIns="0" tIns="0" rIns="0" bIns="0" rtlCol="0" anchor="t"/>
          <a:lstStyle/>
          <a:p>
            <a:pPr algn="l" indent="0" marL="0">
              <a:lnSpc>
                <a:spcPts val="1181"/>
              </a:lnSpc>
              <a:buNone/>
            </a:pPr>
            <a:r>
              <a:rPr lang="en-US" sz="800" dirty="0">
                <a:solidFill>
                  <a:srgbClr val="B5BAC4"/>
                </a:solidFill>
                <a:latin typeface="Carlito" pitchFamily="34" charset="0"/>
                <a:ea typeface="Carlito" pitchFamily="34" charset="-122"/>
                <a:cs typeface="Carlito" pitchFamily="34" charset="-120"/>
              </a:rPr>
              <a:t>A </a:t>
            </a:r>
            <a:pPr algn="l" indent="0" marL="0">
              <a:lnSpc>
                <a:spcPts val="1181"/>
              </a:lnSpc>
              <a:buNone/>
            </a:pPr>
            <a:r>
              <a:rPr lang="en-US" sz="800" i="1" dirty="0">
                <a:solidFill>
                  <a:srgbClr val="E6E6E6"/>
                </a:solidFill>
                <a:latin typeface="Tinos" pitchFamily="34" charset="0"/>
                <a:ea typeface="Tinos" pitchFamily="34" charset="-122"/>
                <a:cs typeface="Tinos" pitchFamily="34" charset="-120"/>
              </a:rPr>
              <a:t>Φ</a:t>
            </a:r>
            <a:pPr algn="l" indent="0" marL="0">
              <a:lnSpc>
                <a:spcPts val="1181"/>
              </a:lnSpc>
              <a:buNone/>
            </a:pPr>
            <a:r>
              <a:rPr lang="en-US" sz="800" dirty="0">
                <a:solidFill>
                  <a:srgbClr val="B5BAC4"/>
                </a:solidFill>
                <a:latin typeface="Carlito" pitchFamily="34" charset="0"/>
                <a:ea typeface="Carlito" pitchFamily="34" charset="-122"/>
                <a:cs typeface="Carlito" pitchFamily="34" charset="-120"/>
              </a:rPr>
              <a:t>-adjacent principle, not a </a:t>
            </a:r>
            <a:pPr algn="l" indent="0" marL="0">
              <a:lnSpc>
                <a:spcPts val="1181"/>
              </a:lnSpc>
              <a:buNone/>
            </a:pPr>
            <a:r>
              <a:rPr lang="en-US" sz="800" i="1" dirty="0">
                <a:solidFill>
                  <a:srgbClr val="E6E6E6"/>
                </a:solidFill>
                <a:latin typeface="Tinos" pitchFamily="34" charset="0"/>
                <a:ea typeface="Tinos" pitchFamily="34" charset="-122"/>
                <a:cs typeface="Tinos" pitchFamily="34" charset="-120"/>
              </a:rPr>
              <a:t>Φ</a:t>
            </a:r>
            <a:pPr algn="l" indent="0" marL="0">
              <a:lnSpc>
                <a:spcPts val="1181"/>
              </a:lnSpc>
              <a:buNone/>
            </a:pPr>
            <a:r>
              <a:rPr lang="en-US" sz="800" dirty="0">
                <a:solidFill>
                  <a:srgbClr val="B5BAC4"/>
                </a:solidFill>
                <a:latin typeface="Carlito" pitchFamily="34" charset="0"/>
                <a:ea typeface="Carlito" pitchFamily="34" charset="-122"/>
                <a:cs typeface="Carlito" pitchFamily="34" charset="-120"/>
              </a:rPr>
              <a:t> derivation.</a:t>
            </a:r>
            <a:endParaRPr lang="en-US" sz="800" dirty="0"/>
          </a:p>
        </p:txBody>
      </p:sp>
      <p:sp>
        <p:nvSpPr>
          <p:cNvPr id="8" name="Text 6"/>
          <p:cNvSpPr/>
          <p:nvPr/>
        </p:nvSpPr>
        <p:spPr>
          <a:xfrm>
            <a:off x="6623484" y="1030039"/>
            <a:ext cx="2063316" cy="329184"/>
          </a:xfrm>
          <a:prstGeom prst="rect">
            <a:avLst/>
          </a:prstGeom>
          <a:noFill/>
          <a:ln/>
        </p:spPr>
        <p:txBody>
          <a:bodyPr wrap="square" lIns="0" tIns="0" rIns="0" bIns="0" rtlCol="0" anchor="t"/>
          <a:lstStyle/>
          <a:p>
            <a:pPr algn="r"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PROPERTY 1 → PROPERTY 2 → PROPERTY 3</a:t>
            </a:r>
            <a:endParaRPr lang="en-US" sz="800" dirty="0"/>
          </a:p>
          <a:p>
            <a:pPr algn="r" indent="0" marL="0">
              <a:lnSpc>
                <a:spcPts val="844"/>
              </a:lnSpc>
              <a:buNone/>
            </a:pPr>
            <a:r>
              <a:rPr lang="en-US" sz="800" spc="68" kern="0" dirty="0">
                <a:solidFill>
                  <a:srgbClr val="FFB454"/>
                </a:solidFill>
                <a:latin typeface="Courier New" pitchFamily="34" charset="0"/>
                <a:ea typeface="Courier New" pitchFamily="34" charset="-122"/>
                <a:cs typeface="Courier New" pitchFamily="34" charset="-120"/>
              </a:rPr>
              <a:t>narrowing funnel</a:t>
            </a:r>
            <a:endParaRPr lang="en-US" sz="800" dirty="0"/>
          </a:p>
        </p:txBody>
      </p:sp>
      <p:sp>
        <p:nvSpPr>
          <p:cNvPr id="9" name="Text 7"/>
          <p:cNvSpPr/>
          <p:nvPr/>
        </p:nvSpPr>
        <p:spPr>
          <a:xfrm>
            <a:off x="460772" y="1333649"/>
            <a:ext cx="2659819" cy="1907381"/>
          </a:xfrm>
          <a:prstGeom prst="roundRect">
            <a:avLst>
              <a:gd name="adj" fmla="val 2996"/>
            </a:avLst>
          </a:prstGeom>
          <a:solidFill>
            <a:srgbClr val="161B22"/>
          </a:solidFill>
          <a:ln w="7144">
            <a:solidFill>
              <a:srgbClr val="2A3038"/>
            </a:solidFill>
            <a:prstDash val="solid"/>
          </a:ln>
        </p:spPr>
        <p:txBody>
          <a:bodyPr wrap="square" rtlCol="0" anchor="ctr"/>
          <a:lstStyle/>
          <a:p>
            <a:pPr indent="0" marL="0">
              <a:buNone/>
            </a:pPr>
            <a:endParaRPr lang="en-US" dirty="0"/>
          </a:p>
        </p:txBody>
      </p:sp>
      <p:sp>
        <p:nvSpPr>
          <p:cNvPr id="10" name="Text 8"/>
          <p:cNvSpPr/>
          <p:nvPr/>
        </p:nvSpPr>
        <p:spPr>
          <a:xfrm>
            <a:off x="582216" y="1440805"/>
            <a:ext cx="2374069" cy="157163"/>
          </a:xfrm>
          <a:prstGeom prst="roundRect">
            <a:avLst>
              <a:gd name="adj" fmla="val 6054526"/>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11" name="Text 9"/>
          <p:cNvSpPr/>
          <p:nvPr/>
        </p:nvSpPr>
        <p:spPr>
          <a:xfrm>
            <a:off x="578644" y="1437233"/>
            <a:ext cx="2381213"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FFB454"/>
                </a:solidFill>
                <a:latin typeface="Liberation Sans Narrow" pitchFamily="34" charset="0"/>
                <a:ea typeface="Liberation Sans Narrow" pitchFamily="34" charset="-122"/>
                <a:cs typeface="Liberation Sans Narrow" pitchFamily="34" charset="-120"/>
              </a:rPr>
              <a:t>PROPERTY 1</a:t>
            </a:r>
            <a:endParaRPr lang="en-US" sz="800" dirty="0"/>
          </a:p>
        </p:txBody>
      </p:sp>
      <p:sp>
        <p:nvSpPr>
          <p:cNvPr id="12" name="Text 10"/>
          <p:cNvSpPr/>
          <p:nvPr/>
        </p:nvSpPr>
        <p:spPr>
          <a:xfrm>
            <a:off x="578644" y="1672977"/>
            <a:ext cx="2533803" cy="137160"/>
          </a:xfrm>
          <a:prstGeom prst="rect">
            <a:avLst/>
          </a:prstGeom>
          <a:noFill/>
          <a:ln/>
        </p:spPr>
        <p:txBody>
          <a:bodyPr wrap="square" lIns="0" tIns="0" rIns="0" bIns="0" rtlCol="0" anchor="t"/>
          <a:lstStyle/>
          <a:p>
            <a:pPr algn="l" indent="0" marL="0">
              <a:lnSpc>
                <a:spcPts val="984"/>
              </a:lnSpc>
              <a:buNone/>
            </a:pPr>
            <a:r>
              <a:rPr lang="en-US" sz="800" dirty="0">
                <a:solidFill>
                  <a:srgbClr val="E6E6E6"/>
                </a:solidFill>
                <a:latin typeface="Carlito" pitchFamily="34" charset="0"/>
                <a:ea typeface="Carlito" pitchFamily="34" charset="-122"/>
                <a:cs typeface="Carlito" pitchFamily="34" charset="-120"/>
              </a:rPr>
              <a:t>Doubly-even self-dual codes exist</a:t>
            </a:r>
            <a:endParaRPr lang="en-US" sz="800" dirty="0"/>
          </a:p>
        </p:txBody>
      </p:sp>
      <p:sp>
        <p:nvSpPr>
          <p:cNvPr id="13" name="Text 11"/>
          <p:cNvSpPr/>
          <p:nvPr/>
        </p:nvSpPr>
        <p:spPr>
          <a:xfrm>
            <a:off x="898327" y="1862286"/>
            <a:ext cx="568263" cy="100013"/>
          </a:xfrm>
          <a:prstGeom prst="roundRect">
            <a:avLst>
              <a:gd name="adj" fmla="val 28571"/>
            </a:avLst>
          </a:prstGeom>
          <a:solidFill>
            <a:srgbClr val="1F2630"/>
          </a:solidFill>
          <a:ln/>
        </p:spPr>
        <p:txBody>
          <a:bodyPr wrap="square" rtlCol="0" anchor="ctr"/>
          <a:lstStyle/>
          <a:p>
            <a:pPr indent="0" marL="0">
              <a:buNone/>
            </a:pPr>
            <a:endParaRPr lang="en-US" dirty="0"/>
          </a:p>
        </p:txBody>
      </p:sp>
      <p:sp>
        <p:nvSpPr>
          <p:cNvPr id="14" name="Text 12"/>
          <p:cNvSpPr/>
          <p:nvPr/>
        </p:nvSpPr>
        <p:spPr>
          <a:xfrm>
            <a:off x="2661605" y="1862286"/>
            <a:ext cx="116644" cy="100013"/>
          </a:xfrm>
          <a:prstGeom prst="roundRect">
            <a:avLst>
              <a:gd name="adj" fmla="val 28571"/>
            </a:avLst>
          </a:prstGeom>
          <a:solidFill>
            <a:srgbClr val="1F2630"/>
          </a:solidFill>
          <a:ln/>
        </p:spPr>
        <p:txBody>
          <a:bodyPr wrap="square" rtlCol="0" anchor="ctr"/>
          <a:lstStyle/>
          <a:p>
            <a:pPr indent="0" marL="0">
              <a:buNone/>
            </a:pPr>
            <a:endParaRPr lang="en-US" dirty="0"/>
          </a:p>
        </p:txBody>
      </p:sp>
      <p:sp>
        <p:nvSpPr>
          <p:cNvPr id="15" name="Text 13"/>
          <p:cNvSpPr/>
          <p:nvPr/>
        </p:nvSpPr>
        <p:spPr>
          <a:xfrm>
            <a:off x="975903" y="1989534"/>
            <a:ext cx="116644" cy="100013"/>
          </a:xfrm>
          <a:prstGeom prst="roundRect">
            <a:avLst>
              <a:gd name="adj" fmla="val 28571"/>
            </a:avLst>
          </a:prstGeom>
          <a:solidFill>
            <a:srgbClr val="1F2630"/>
          </a:solidFill>
          <a:ln/>
        </p:spPr>
        <p:txBody>
          <a:bodyPr wrap="square" rtlCol="0" anchor="ctr"/>
          <a:lstStyle/>
          <a:p>
            <a:pPr indent="0" marL="0">
              <a:buNone/>
            </a:pPr>
            <a:endParaRPr lang="en-US" dirty="0"/>
          </a:p>
        </p:txBody>
      </p:sp>
      <p:sp>
        <p:nvSpPr>
          <p:cNvPr id="16" name="Text 14"/>
          <p:cNvSpPr/>
          <p:nvPr/>
        </p:nvSpPr>
        <p:spPr>
          <a:xfrm>
            <a:off x="578644" y="2244030"/>
            <a:ext cx="206946" cy="100013"/>
          </a:xfrm>
          <a:prstGeom prst="roundRect">
            <a:avLst>
              <a:gd name="adj" fmla="val 28571"/>
            </a:avLst>
          </a:prstGeom>
          <a:solidFill>
            <a:srgbClr val="1F2630"/>
          </a:solidFill>
          <a:ln/>
        </p:spPr>
        <p:txBody>
          <a:bodyPr wrap="square" rtlCol="0" anchor="ctr"/>
          <a:lstStyle/>
          <a:p>
            <a:pPr indent="0" marL="0">
              <a:buNone/>
            </a:pPr>
            <a:endParaRPr lang="en-US" dirty="0"/>
          </a:p>
        </p:txBody>
      </p:sp>
      <p:sp>
        <p:nvSpPr>
          <p:cNvPr id="17" name="Text 15"/>
          <p:cNvSpPr/>
          <p:nvPr/>
        </p:nvSpPr>
        <p:spPr>
          <a:xfrm>
            <a:off x="1575643" y="2244030"/>
            <a:ext cx="387660" cy="100013"/>
          </a:xfrm>
          <a:prstGeom prst="roundRect">
            <a:avLst>
              <a:gd name="adj" fmla="val 28571"/>
            </a:avLst>
          </a:prstGeom>
          <a:solidFill>
            <a:srgbClr val="1F2630"/>
          </a:solidFill>
          <a:ln/>
        </p:spPr>
        <p:txBody>
          <a:bodyPr wrap="square" rtlCol="0" anchor="ctr"/>
          <a:lstStyle/>
          <a:p>
            <a:pPr indent="0" marL="0">
              <a:buNone/>
            </a:pPr>
            <a:endParaRPr lang="en-US" dirty="0"/>
          </a:p>
        </p:txBody>
      </p:sp>
      <p:sp>
        <p:nvSpPr>
          <p:cNvPr id="18" name="Text 16"/>
          <p:cNvSpPr/>
          <p:nvPr/>
        </p:nvSpPr>
        <p:spPr>
          <a:xfrm>
            <a:off x="578644" y="2371279"/>
            <a:ext cx="252152" cy="100013"/>
          </a:xfrm>
          <a:prstGeom prst="roundRect">
            <a:avLst>
              <a:gd name="adj" fmla="val 28571"/>
            </a:avLst>
          </a:prstGeom>
          <a:solidFill>
            <a:srgbClr val="1F2630"/>
          </a:solidFill>
          <a:ln/>
        </p:spPr>
        <p:txBody>
          <a:bodyPr wrap="square" rtlCol="0" anchor="ctr"/>
          <a:lstStyle/>
          <a:p>
            <a:pPr indent="0" marL="0">
              <a:buNone/>
            </a:pPr>
            <a:endParaRPr lang="en-US" dirty="0"/>
          </a:p>
        </p:txBody>
      </p:sp>
      <p:sp>
        <p:nvSpPr>
          <p:cNvPr id="19" name="Text 17"/>
          <p:cNvSpPr/>
          <p:nvPr/>
        </p:nvSpPr>
        <p:spPr>
          <a:xfrm>
            <a:off x="1148246" y="2371279"/>
            <a:ext cx="432755" cy="100013"/>
          </a:xfrm>
          <a:prstGeom prst="roundRect">
            <a:avLst>
              <a:gd name="adj" fmla="val 28571"/>
            </a:avLst>
          </a:prstGeom>
          <a:solidFill>
            <a:srgbClr val="1F2630"/>
          </a:solidFill>
          <a:ln/>
        </p:spPr>
        <p:txBody>
          <a:bodyPr wrap="square" rtlCol="0" anchor="ctr"/>
          <a:lstStyle/>
          <a:p>
            <a:pPr indent="0" marL="0">
              <a:buNone/>
            </a:pPr>
            <a:endParaRPr lang="en-US" dirty="0"/>
          </a:p>
        </p:txBody>
      </p:sp>
      <p:sp>
        <p:nvSpPr>
          <p:cNvPr id="20" name="Text 18"/>
          <p:cNvSpPr/>
          <p:nvPr/>
        </p:nvSpPr>
        <p:spPr>
          <a:xfrm>
            <a:off x="578644" y="2498527"/>
            <a:ext cx="252152" cy="100013"/>
          </a:xfrm>
          <a:prstGeom prst="roundRect">
            <a:avLst>
              <a:gd name="adj" fmla="val 28571"/>
            </a:avLst>
          </a:prstGeom>
          <a:solidFill>
            <a:srgbClr val="1F2630"/>
          </a:solidFill>
          <a:ln/>
        </p:spPr>
        <p:txBody>
          <a:bodyPr wrap="square" rtlCol="0" anchor="ctr"/>
          <a:lstStyle/>
          <a:p>
            <a:pPr indent="0" marL="0">
              <a:buNone/>
            </a:pPr>
            <a:endParaRPr lang="en-US" dirty="0"/>
          </a:p>
        </p:txBody>
      </p:sp>
      <p:sp>
        <p:nvSpPr>
          <p:cNvPr id="21" name="Text 19"/>
          <p:cNvSpPr/>
          <p:nvPr/>
        </p:nvSpPr>
        <p:spPr>
          <a:xfrm>
            <a:off x="1113979" y="2498527"/>
            <a:ext cx="477962" cy="100013"/>
          </a:xfrm>
          <a:prstGeom prst="roundRect">
            <a:avLst>
              <a:gd name="adj" fmla="val 28571"/>
            </a:avLst>
          </a:prstGeom>
          <a:solidFill>
            <a:srgbClr val="1F2630"/>
          </a:solidFill>
          <a:ln/>
        </p:spPr>
        <p:txBody>
          <a:bodyPr wrap="square" rtlCol="0" anchor="ctr"/>
          <a:lstStyle/>
          <a:p>
            <a:pPr indent="0" marL="0">
              <a:buNone/>
            </a:pPr>
            <a:endParaRPr lang="en-US" dirty="0"/>
          </a:p>
        </p:txBody>
      </p:sp>
      <p:sp>
        <p:nvSpPr>
          <p:cNvPr id="22" name="Text 20"/>
          <p:cNvSpPr/>
          <p:nvPr/>
        </p:nvSpPr>
        <p:spPr>
          <a:xfrm>
            <a:off x="1122127" y="2753023"/>
            <a:ext cx="568263" cy="100013"/>
          </a:xfrm>
          <a:prstGeom prst="roundRect">
            <a:avLst>
              <a:gd name="adj" fmla="val 28571"/>
            </a:avLst>
          </a:prstGeom>
          <a:solidFill>
            <a:srgbClr val="1F2630"/>
          </a:solidFill>
          <a:ln/>
        </p:spPr>
        <p:txBody>
          <a:bodyPr wrap="square" rtlCol="0" anchor="ctr"/>
          <a:lstStyle/>
          <a:p>
            <a:pPr indent="0" marL="0">
              <a:buNone/>
            </a:pPr>
            <a:endParaRPr lang="en-US" dirty="0"/>
          </a:p>
        </p:txBody>
      </p:sp>
      <p:sp>
        <p:nvSpPr>
          <p:cNvPr id="23" name="Text 21"/>
          <p:cNvSpPr/>
          <p:nvPr/>
        </p:nvSpPr>
        <p:spPr>
          <a:xfrm>
            <a:off x="578644" y="1855143"/>
            <a:ext cx="2424075" cy="1282303"/>
          </a:xfrm>
          <a:prstGeom prst="rect">
            <a:avLst/>
          </a:prstGeom>
          <a:noFill/>
          <a:ln/>
        </p:spPr>
        <p:txBody>
          <a:bodyPr wrap="square" lIns="0" tIns="0" rIns="0" bIns="0" rtlCol="0" anchor="t"/>
          <a:lstStyle/>
          <a:p>
            <a:pPr algn="l" indent="0" marL="0">
              <a:lnSpc>
                <a:spcPts val="1003"/>
              </a:lnSpc>
              <a:buNone/>
            </a:pPr>
            <a:r>
              <a:rPr lang="en-US" sz="800" dirty="0">
                <a:solidFill>
                  <a:srgbClr val="B5BAC4"/>
                </a:solidFill>
                <a:latin typeface="Carlito" pitchFamily="34" charset="0"/>
                <a:ea typeface="Carlito" pitchFamily="34" charset="-122"/>
                <a:cs typeface="Carlito" pitchFamily="34" charset="-120"/>
              </a:rPr>
              <a:t>A binary </a:t>
            </a:r>
            <a:pPr algn="l" indent="0" marL="0">
              <a:lnSpc>
                <a:spcPts val="1003"/>
              </a:lnSpc>
              <a:buNone/>
            </a:pPr>
            <a:r>
              <a:rPr lang="en-US" sz="800" dirty="0">
                <a:solidFill>
                  <a:srgbClr val="E6E6E6"/>
                </a:solidFill>
                <a:highlight>
                  <a:srgbClr val="1F2630"/>
                </a:highlight>
                <a:latin typeface="Liberation Sans Narrow" pitchFamily="34" charset="0"/>
                <a:ea typeface="Liberation Sans Narrow" pitchFamily="34" charset="-122"/>
                <a:cs typeface="Liberation Sans Narrow" pitchFamily="34" charset="-120"/>
              </a:rPr>
              <a:t>[n, n/2, d]</a:t>
            </a:r>
            <a:pPr algn="l" indent="0" marL="0">
              <a:lnSpc>
                <a:spcPts val="1003"/>
              </a:lnSpc>
              <a:buNone/>
            </a:pPr>
            <a:r>
              <a:rPr lang="en-US" sz="800" dirty="0">
                <a:solidFill>
                  <a:srgbClr val="B5BAC4"/>
                </a:solidFill>
                <a:latin typeface="Carlito" pitchFamily="34" charset="0"/>
                <a:ea typeface="Carlito" pitchFamily="34" charset="-122"/>
                <a:cs typeface="Carlito" pitchFamily="34" charset="-120"/>
              </a:rPr>
              <a:t> code is doubly-even self-dual iff </a:t>
            </a:r>
            <a:pPr algn="l" indent="0" marL="0">
              <a:lnSpc>
                <a:spcPts val="1003"/>
              </a:lnSpc>
              <a:buNone/>
            </a:pPr>
            <a:r>
              <a:rPr lang="en-US" sz="800" dirty="0">
                <a:solidFill>
                  <a:srgbClr val="E6E6E6"/>
                </a:solidFill>
                <a:highlight>
                  <a:srgbClr val="1F2630"/>
                </a:highlight>
                <a:latin typeface="Courier New" pitchFamily="34" charset="0"/>
                <a:ea typeface="Courier New" pitchFamily="34" charset="-122"/>
                <a:cs typeface="Courier New" pitchFamily="34" charset="-120"/>
              </a:rPr>
              <a:t>n</a:t>
            </a:r>
            <a:pPr algn="l" indent="0" marL="0">
              <a:lnSpc>
                <a:spcPts val="1003"/>
              </a:lnSpc>
              <a:buNone/>
            </a:pPr>
            <a:r>
              <a:rPr lang="en-US" sz="800" dirty="0">
                <a:solidFill>
                  <a:srgbClr val="B5BAC4"/>
                </a:solidFill>
                <a:latin typeface="Carlito" pitchFamily="34" charset="0"/>
                <a:ea typeface="Carlito" pitchFamily="34" charset="-122"/>
                <a:cs typeface="Carlito" pitchFamily="34" charset="-120"/>
              </a:rPr>
              <a:t> is a multiple of </a:t>
            </a:r>
            <a:pPr algn="l" indent="0" marL="0">
              <a:lnSpc>
                <a:spcPts val="1003"/>
              </a:lnSpc>
              <a:buNone/>
            </a:pPr>
            <a:r>
              <a:rPr lang="en-US" sz="800" dirty="0">
                <a:solidFill>
                  <a:srgbClr val="E6E6E6"/>
                </a:solidFill>
                <a:highlight>
                  <a:srgbClr val="1F2630"/>
                </a:highlight>
                <a:latin typeface="Liberation Sans Narrow" pitchFamily="34" charset="0"/>
                <a:ea typeface="Liberation Sans Narrow" pitchFamily="34" charset="-122"/>
                <a:cs typeface="Liberation Sans Narrow" pitchFamily="34" charset="-120"/>
              </a:rPr>
              <a:t>8</a:t>
            </a:r>
            <a:pPr algn="l" indent="0" marL="0">
              <a:lnSpc>
                <a:spcPts val="1003"/>
              </a:lnSpc>
              <a:buNone/>
            </a:pPr>
            <a:r>
              <a:rPr lang="en-US" sz="800" dirty="0">
                <a:solidFill>
                  <a:srgbClr val="B5BAC4"/>
                </a:solidFill>
                <a:latin typeface="Carlito" pitchFamily="34" charset="0"/>
                <a:ea typeface="Carlito" pitchFamily="34" charset="-122"/>
                <a:cs typeface="Carlito" pitchFamily="34" charset="-120"/>
              </a:rPr>
              <a:t>.</a:t>
            </a:r>
            <a:endParaRPr lang="en-US" sz="800" dirty="0"/>
          </a:p>
          <a:p>
            <a:pPr algn="l" indent="0" marL="0">
              <a:lnSpc>
                <a:spcPts val="1003"/>
              </a:lnSpc>
              <a:buNone/>
            </a:pPr>
            <a:r>
              <a:rPr lang="en-US" sz="800" dirty="0">
                <a:solidFill>
                  <a:srgbClr val="E6E6E6"/>
                </a:solidFill>
                <a:highlight>
                  <a:srgbClr val="1F2630"/>
                </a:highlight>
                <a:latin typeface="Liberation Sans Narrow" pitchFamily="34" charset="0"/>
                <a:ea typeface="Liberation Sans Narrow" pitchFamily="34" charset="-122"/>
                <a:cs typeface="Liberation Sans Narrow" pitchFamily="34" charset="-120"/>
              </a:rPr>
              <a:t>n=8</a:t>
            </a:r>
            <a:pPr algn="l" indent="0" marL="0">
              <a:lnSpc>
                <a:spcPts val="1003"/>
              </a:lnSpc>
              <a:buNone/>
            </a:pPr>
            <a:r>
              <a:rPr lang="en-US" sz="800" dirty="0">
                <a:solidFill>
                  <a:srgbClr val="B5BAC4"/>
                </a:solidFill>
                <a:latin typeface="Carlito" pitchFamily="34" charset="0"/>
                <a:ea typeface="Carlito" pitchFamily="34" charset="-122"/>
                <a:cs typeface="Carlito" pitchFamily="34" charset="-120"/>
              </a:rPr>
              <a:t>: Extended Hamming </a:t>
            </a:r>
            <a:pPr algn="l" indent="0" marL="0">
              <a:lnSpc>
                <a:spcPts val="1003"/>
              </a:lnSpc>
              <a:buNone/>
            </a:pPr>
            <a:r>
              <a:rPr lang="en-US" sz="800" dirty="0">
                <a:solidFill>
                  <a:srgbClr val="E6E6E6"/>
                </a:solidFill>
                <a:highlight>
                  <a:srgbClr val="1F2630"/>
                </a:highlight>
                <a:latin typeface="Liberation Sans Narrow" pitchFamily="34" charset="0"/>
                <a:ea typeface="Liberation Sans Narrow" pitchFamily="34" charset="-122"/>
                <a:cs typeface="Liberation Sans Narrow" pitchFamily="34" charset="-120"/>
              </a:rPr>
              <a:t>[8,4,4]</a:t>
            </a:r>
            <a:pPr algn="l" indent="0" marL="0">
              <a:lnSpc>
                <a:spcPts val="1003"/>
              </a:lnSpc>
              <a:buNone/>
            </a:pPr>
            <a:r>
              <a:rPr lang="en-US" sz="800" dirty="0">
                <a:solidFill>
                  <a:srgbClr val="B5BAC4"/>
                </a:solidFill>
                <a:latin typeface="Carlito" pitchFamily="34" charset="0"/>
                <a:ea typeface="Carlito" pitchFamily="34" charset="-122"/>
                <a:cs typeface="Carlito" pitchFamily="34" charset="-120"/>
              </a:rPr>
              <a:t>.</a:t>
            </a:r>
            <a:endParaRPr lang="en-US" sz="800" dirty="0"/>
          </a:p>
          <a:p>
            <a:pPr algn="l" indent="0" marL="0">
              <a:lnSpc>
                <a:spcPts val="1003"/>
              </a:lnSpc>
              <a:buNone/>
            </a:pPr>
            <a:r>
              <a:rPr lang="en-US" sz="800" dirty="0">
                <a:solidFill>
                  <a:srgbClr val="E6E6E6"/>
                </a:solidFill>
                <a:highlight>
                  <a:srgbClr val="1F2630"/>
                </a:highlight>
                <a:latin typeface="Liberation Sans Narrow" pitchFamily="34" charset="0"/>
                <a:ea typeface="Liberation Sans Narrow" pitchFamily="34" charset="-122"/>
                <a:cs typeface="Liberation Sans Narrow" pitchFamily="34" charset="-120"/>
              </a:rPr>
              <a:t>n=16</a:t>
            </a:r>
            <a:pPr algn="l" indent="0" marL="0">
              <a:lnSpc>
                <a:spcPts val="1003"/>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 E8+E8 </a:t>
            </a:r>
            <a:pPr algn="l" indent="0" marL="0">
              <a:lnSpc>
                <a:spcPts val="1003"/>
              </a:lnSpc>
              <a:buNone/>
            </a:pPr>
            <a:r>
              <a:rPr lang="en-US" sz="800" dirty="0">
                <a:solidFill>
                  <a:srgbClr val="E6E6E6"/>
                </a:solidFill>
                <a:highlight>
                  <a:srgbClr val="1F2630"/>
                </a:highlight>
                <a:latin typeface="Liberation Sans Narrow" pitchFamily="34" charset="0"/>
                <a:ea typeface="Liberation Sans Narrow" pitchFamily="34" charset="-122"/>
                <a:cs typeface="Liberation Sans Narrow" pitchFamily="34" charset="-120"/>
              </a:rPr>
              <a:t>[16,8,4]</a:t>
            </a:r>
            <a:pPr algn="l" indent="0" marL="0">
              <a:lnSpc>
                <a:spcPts val="1003"/>
              </a:lnSpc>
              <a:buNone/>
            </a:pPr>
            <a:r>
              <a:rPr lang="en-US" sz="800" dirty="0">
                <a:solidFill>
                  <a:srgbClr val="B5BAC4"/>
                </a:solidFill>
                <a:latin typeface="Carlito" pitchFamily="34" charset="0"/>
                <a:ea typeface="Carlito" pitchFamily="34" charset="-122"/>
                <a:cs typeface="Carlito" pitchFamily="34" charset="-120"/>
              </a:rPr>
              <a:t>.</a:t>
            </a:r>
            <a:endParaRPr lang="en-US" sz="800" dirty="0"/>
          </a:p>
          <a:p>
            <a:pPr algn="l" indent="0" marL="0">
              <a:lnSpc>
                <a:spcPts val="1003"/>
              </a:lnSpc>
              <a:buNone/>
            </a:pPr>
            <a:r>
              <a:rPr lang="en-US" sz="800" dirty="0">
                <a:solidFill>
                  <a:srgbClr val="E6E6E6"/>
                </a:solidFill>
                <a:highlight>
                  <a:srgbClr val="1F2630"/>
                </a:highlight>
                <a:latin typeface="Liberation Sans Narrow" pitchFamily="34" charset="0"/>
                <a:ea typeface="Liberation Sans Narrow" pitchFamily="34" charset="-122"/>
                <a:cs typeface="Liberation Sans Narrow" pitchFamily="34" charset="-120"/>
              </a:rPr>
              <a:t>n=24</a:t>
            </a:r>
            <a:pPr algn="l" indent="0" marL="0">
              <a:lnSpc>
                <a:spcPts val="1003"/>
              </a:lnSpc>
              <a:buNone/>
            </a:pPr>
            <a:r>
              <a:rPr lang="en-US" sz="800" dirty="0">
                <a:solidFill>
                  <a:srgbClr val="B5BAC4"/>
                </a:solidFill>
                <a:latin typeface="Carlito" pitchFamily="34" charset="0"/>
                <a:ea typeface="Carlito" pitchFamily="34" charset="-122"/>
                <a:cs typeface="Carlito" pitchFamily="34" charset="-120"/>
              </a:rPr>
              <a:t>: Golay </a:t>
            </a:r>
            <a:pPr algn="l" indent="0" marL="0">
              <a:lnSpc>
                <a:spcPts val="1003"/>
              </a:lnSpc>
              <a:buNone/>
            </a:pPr>
            <a:r>
              <a:rPr lang="en-US" sz="800" dirty="0">
                <a:solidFill>
                  <a:srgbClr val="E6E6E6"/>
                </a:solidFill>
                <a:highlight>
                  <a:srgbClr val="1F2630"/>
                </a:highlight>
                <a:latin typeface="Liberation Sans Narrow" pitchFamily="34" charset="0"/>
                <a:ea typeface="Liberation Sans Narrow" pitchFamily="34" charset="-122"/>
                <a:cs typeface="Liberation Sans Narrow" pitchFamily="34" charset="-120"/>
              </a:rPr>
              <a:t>[24,12,8]</a:t>
            </a:r>
            <a:pPr algn="l" indent="0" marL="0">
              <a:lnSpc>
                <a:spcPts val="1003"/>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 (unique at d=8).</a:t>
            </a:r>
            <a:endParaRPr lang="en-US" sz="800" dirty="0"/>
          </a:p>
          <a:p>
            <a:pPr algn="l" indent="0" marL="0">
              <a:lnSpc>
                <a:spcPts val="1003"/>
              </a:lnSpc>
              <a:buNone/>
            </a:pPr>
            <a:r>
              <a:rPr lang="en-US" sz="800" dirty="0">
                <a:solidFill>
                  <a:srgbClr val="B5BAC4"/>
                </a:solidFill>
                <a:latin typeface="Carlito" pitchFamily="34" charset="0"/>
                <a:ea typeface="Carlito" pitchFamily="34" charset="-122"/>
                <a:cs typeface="Carlito" pitchFamily="34" charset="-120"/>
              </a:rPr>
              <a:t>The constraint </a:t>
            </a:r>
            <a:pPr algn="l" indent="0" marL="0">
              <a:lnSpc>
                <a:spcPts val="1003"/>
              </a:lnSpc>
              <a:buNone/>
            </a:pPr>
            <a:r>
              <a:rPr lang="en-US" sz="800" dirty="0">
                <a:solidFill>
                  <a:srgbClr val="E6E6E6"/>
                </a:solidFill>
                <a:highlight>
                  <a:srgbClr val="1F2630"/>
                </a:highlight>
                <a:latin typeface="Liberation Sans Narrow" pitchFamily="34" charset="0"/>
                <a:ea typeface="Liberation Sans Narrow" pitchFamily="34" charset="-122"/>
                <a:cs typeface="Liberation Sans Narrow" pitchFamily="34" charset="-120"/>
              </a:rPr>
              <a:t>n = 0 mod 8</a:t>
            </a:r>
            <a:pPr algn="l" indent="0" marL="0">
              <a:lnSpc>
                <a:spcPts val="1003"/>
              </a:lnSpc>
              <a:buNone/>
            </a:pPr>
            <a:r>
              <a:rPr lang="en-US" sz="800" dirty="0">
                <a:solidFill>
                  <a:srgbClr val="B5BAC4"/>
                </a:solidFill>
                <a:latin typeface="Carlito" pitchFamily="34" charset="0"/>
                <a:ea typeface="Carlito" pitchFamily="34" charset="-122"/>
                <a:cs typeface="Carlito" pitchFamily="34" charset="-120"/>
              </a:rPr>
              <a:t> comes from requiring all codeword weights divisible by 4.</a:t>
            </a:r>
            <a:endParaRPr lang="en-US" sz="800" dirty="0"/>
          </a:p>
        </p:txBody>
      </p:sp>
      <p:sp>
        <p:nvSpPr>
          <p:cNvPr id="24" name="Text 22"/>
          <p:cNvSpPr/>
          <p:nvPr/>
        </p:nvSpPr>
        <p:spPr>
          <a:xfrm>
            <a:off x="3242035" y="1333649"/>
            <a:ext cx="2659819" cy="1907381"/>
          </a:xfrm>
          <a:prstGeom prst="roundRect">
            <a:avLst>
              <a:gd name="adj" fmla="val 2996"/>
            </a:avLst>
          </a:prstGeom>
          <a:solidFill>
            <a:srgbClr val="161B22"/>
          </a:solidFill>
          <a:ln w="7144">
            <a:solidFill>
              <a:srgbClr val="2A3038"/>
            </a:solidFill>
            <a:prstDash val="solid"/>
          </a:ln>
        </p:spPr>
        <p:txBody>
          <a:bodyPr wrap="square" rtlCol="0" anchor="ctr"/>
          <a:lstStyle/>
          <a:p>
            <a:pPr indent="0" marL="0">
              <a:buNone/>
            </a:pPr>
            <a:endParaRPr lang="en-US" dirty="0"/>
          </a:p>
        </p:txBody>
      </p:sp>
      <p:sp>
        <p:nvSpPr>
          <p:cNvPr id="25" name="Text 23"/>
          <p:cNvSpPr/>
          <p:nvPr/>
        </p:nvSpPr>
        <p:spPr>
          <a:xfrm>
            <a:off x="3363478" y="1440805"/>
            <a:ext cx="2374069" cy="157163"/>
          </a:xfrm>
          <a:prstGeom prst="roundRect">
            <a:avLst>
              <a:gd name="adj" fmla="val 6054526"/>
            </a:avLst>
          </a:prstGeom>
          <a:solidFill>
            <a:srgbClr val="1F2630"/>
          </a:solidFill>
          <a:ln w="7144">
            <a:solidFill>
              <a:srgbClr val="6FE3D2"/>
            </a:solidFill>
            <a:prstDash val="solid"/>
          </a:ln>
        </p:spPr>
        <p:txBody>
          <a:bodyPr wrap="square" rtlCol="0" anchor="ctr"/>
          <a:lstStyle/>
          <a:p>
            <a:pPr indent="0" marL="0">
              <a:buNone/>
            </a:pPr>
            <a:endParaRPr lang="en-US" dirty="0"/>
          </a:p>
        </p:txBody>
      </p:sp>
      <p:sp>
        <p:nvSpPr>
          <p:cNvPr id="26" name="Text 24"/>
          <p:cNvSpPr/>
          <p:nvPr/>
        </p:nvSpPr>
        <p:spPr>
          <a:xfrm>
            <a:off x="3359907" y="1437233"/>
            <a:ext cx="2381213"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6FE3D2"/>
                </a:solidFill>
                <a:latin typeface="Liberation Sans Narrow" pitchFamily="34" charset="0"/>
                <a:ea typeface="Liberation Sans Narrow" pitchFamily="34" charset="-122"/>
                <a:cs typeface="Liberation Sans Narrow" pitchFamily="34" charset="-120"/>
              </a:rPr>
              <a:t>PROPERTY 2</a:t>
            </a:r>
            <a:endParaRPr lang="en-US" sz="800" dirty="0"/>
          </a:p>
        </p:txBody>
      </p:sp>
      <p:sp>
        <p:nvSpPr>
          <p:cNvPr id="27" name="Text 25"/>
          <p:cNvSpPr/>
          <p:nvPr/>
        </p:nvSpPr>
        <p:spPr>
          <a:xfrm>
            <a:off x="3359907" y="1672977"/>
            <a:ext cx="2533803" cy="137160"/>
          </a:xfrm>
          <a:prstGeom prst="rect">
            <a:avLst/>
          </a:prstGeom>
          <a:noFill/>
          <a:ln/>
        </p:spPr>
        <p:txBody>
          <a:bodyPr wrap="square" lIns="0" tIns="0" rIns="0" bIns="0" rtlCol="0" anchor="t"/>
          <a:lstStyle/>
          <a:p>
            <a:pPr algn="l" indent="0" marL="0">
              <a:lnSpc>
                <a:spcPts val="984"/>
              </a:lnSpc>
              <a:buNone/>
            </a:pPr>
            <a:r>
              <a:rPr lang="en-US" sz="800" dirty="0">
                <a:solidFill>
                  <a:srgbClr val="E6E6E6"/>
                </a:solidFill>
                <a:latin typeface="Carlito" pitchFamily="34" charset="0"/>
                <a:ea typeface="Carlito" pitchFamily="34" charset="-122"/>
                <a:cs typeface="Carlito" pitchFamily="34" charset="-120"/>
              </a:rPr>
              <a:t>Even unimodular lattices exist</a:t>
            </a:r>
            <a:endParaRPr lang="en-US" sz="800" dirty="0"/>
          </a:p>
        </p:txBody>
      </p:sp>
      <p:sp>
        <p:nvSpPr>
          <p:cNvPr id="28" name="Text 26"/>
          <p:cNvSpPr/>
          <p:nvPr/>
        </p:nvSpPr>
        <p:spPr>
          <a:xfrm>
            <a:off x="4834979" y="1862286"/>
            <a:ext cx="116644" cy="100013"/>
          </a:xfrm>
          <a:prstGeom prst="roundRect">
            <a:avLst>
              <a:gd name="adj" fmla="val 28571"/>
            </a:avLst>
          </a:prstGeom>
          <a:solidFill>
            <a:srgbClr val="1F2630"/>
          </a:solidFill>
          <a:ln/>
        </p:spPr>
        <p:txBody>
          <a:bodyPr wrap="square" rtlCol="0" anchor="ctr"/>
          <a:lstStyle/>
          <a:p>
            <a:pPr indent="0" marL="0">
              <a:buNone/>
            </a:pPr>
            <a:endParaRPr lang="en-US" dirty="0"/>
          </a:p>
        </p:txBody>
      </p:sp>
      <p:sp>
        <p:nvSpPr>
          <p:cNvPr id="29" name="Text 27"/>
          <p:cNvSpPr/>
          <p:nvPr/>
        </p:nvSpPr>
        <p:spPr>
          <a:xfrm>
            <a:off x="5292514" y="1862286"/>
            <a:ext cx="116644" cy="100013"/>
          </a:xfrm>
          <a:prstGeom prst="roundRect">
            <a:avLst>
              <a:gd name="adj" fmla="val 28571"/>
            </a:avLst>
          </a:prstGeom>
          <a:solidFill>
            <a:srgbClr val="1F2630"/>
          </a:solidFill>
          <a:ln/>
        </p:spPr>
        <p:txBody>
          <a:bodyPr wrap="square" rtlCol="0" anchor="ctr"/>
          <a:lstStyle/>
          <a:p>
            <a:pPr indent="0" marL="0">
              <a:buNone/>
            </a:pPr>
            <a:endParaRPr lang="en-US" dirty="0"/>
          </a:p>
        </p:txBody>
      </p:sp>
      <p:sp>
        <p:nvSpPr>
          <p:cNvPr id="30" name="Text 28"/>
          <p:cNvSpPr/>
          <p:nvPr/>
        </p:nvSpPr>
        <p:spPr>
          <a:xfrm>
            <a:off x="3757166" y="1989534"/>
            <a:ext cx="116644" cy="100013"/>
          </a:xfrm>
          <a:prstGeom prst="roundRect">
            <a:avLst>
              <a:gd name="adj" fmla="val 28571"/>
            </a:avLst>
          </a:prstGeom>
          <a:solidFill>
            <a:srgbClr val="1F2630"/>
          </a:solidFill>
          <a:ln/>
        </p:spPr>
        <p:txBody>
          <a:bodyPr wrap="square" rtlCol="0" anchor="ctr"/>
          <a:lstStyle/>
          <a:p>
            <a:pPr indent="0" marL="0">
              <a:buNone/>
            </a:pPr>
            <a:endParaRPr lang="en-US" dirty="0"/>
          </a:p>
        </p:txBody>
      </p:sp>
      <p:sp>
        <p:nvSpPr>
          <p:cNvPr id="31" name="Text 29"/>
          <p:cNvSpPr/>
          <p:nvPr/>
        </p:nvSpPr>
        <p:spPr>
          <a:xfrm>
            <a:off x="3359907" y="2244030"/>
            <a:ext cx="206946" cy="100013"/>
          </a:xfrm>
          <a:prstGeom prst="roundRect">
            <a:avLst>
              <a:gd name="adj" fmla="val 28571"/>
            </a:avLst>
          </a:prstGeom>
          <a:solidFill>
            <a:srgbClr val="1F2630"/>
          </a:solidFill>
          <a:ln/>
        </p:spPr>
        <p:txBody>
          <a:bodyPr wrap="square" rtlCol="0" anchor="ctr"/>
          <a:lstStyle/>
          <a:p>
            <a:pPr indent="0" marL="0">
              <a:buNone/>
            </a:pPr>
            <a:endParaRPr lang="en-US" dirty="0"/>
          </a:p>
        </p:txBody>
      </p:sp>
      <p:sp>
        <p:nvSpPr>
          <p:cNvPr id="32" name="Text 30"/>
          <p:cNvSpPr/>
          <p:nvPr/>
        </p:nvSpPr>
        <p:spPr>
          <a:xfrm>
            <a:off x="3359907" y="2371279"/>
            <a:ext cx="252152" cy="100013"/>
          </a:xfrm>
          <a:prstGeom prst="roundRect">
            <a:avLst>
              <a:gd name="adj" fmla="val 28571"/>
            </a:avLst>
          </a:prstGeom>
          <a:solidFill>
            <a:srgbClr val="1F2630"/>
          </a:solidFill>
          <a:ln/>
        </p:spPr>
        <p:txBody>
          <a:bodyPr wrap="square" rtlCol="0" anchor="ctr"/>
          <a:lstStyle/>
          <a:p>
            <a:pPr indent="0" marL="0">
              <a:buNone/>
            </a:pPr>
            <a:endParaRPr lang="en-US" dirty="0"/>
          </a:p>
        </p:txBody>
      </p:sp>
      <p:sp>
        <p:nvSpPr>
          <p:cNvPr id="33" name="Text 31"/>
          <p:cNvSpPr/>
          <p:nvPr/>
        </p:nvSpPr>
        <p:spPr>
          <a:xfrm>
            <a:off x="3359907" y="2498527"/>
            <a:ext cx="252152" cy="100013"/>
          </a:xfrm>
          <a:prstGeom prst="roundRect">
            <a:avLst>
              <a:gd name="adj" fmla="val 28571"/>
            </a:avLst>
          </a:prstGeom>
          <a:solidFill>
            <a:srgbClr val="1F2630"/>
          </a:solidFill>
          <a:ln/>
        </p:spPr>
        <p:txBody>
          <a:bodyPr wrap="square" rtlCol="0" anchor="ctr"/>
          <a:lstStyle/>
          <a:p>
            <a:pPr indent="0" marL="0">
              <a:buNone/>
            </a:pPr>
            <a:endParaRPr lang="en-US" dirty="0"/>
          </a:p>
        </p:txBody>
      </p:sp>
      <p:sp>
        <p:nvSpPr>
          <p:cNvPr id="34" name="Text 32"/>
          <p:cNvSpPr/>
          <p:nvPr/>
        </p:nvSpPr>
        <p:spPr>
          <a:xfrm>
            <a:off x="3359907" y="1855143"/>
            <a:ext cx="2424075" cy="1282303"/>
          </a:xfrm>
          <a:prstGeom prst="rect">
            <a:avLst/>
          </a:prstGeom>
          <a:noFill/>
          <a:ln/>
        </p:spPr>
        <p:txBody>
          <a:bodyPr wrap="square" lIns="0" tIns="0" rIns="0" bIns="0" rtlCol="0" anchor="t"/>
          <a:lstStyle/>
          <a:p>
            <a:pPr algn="l" indent="0" marL="0">
              <a:lnSpc>
                <a:spcPts val="1003"/>
              </a:lnSpc>
              <a:buNone/>
            </a:pPr>
            <a:r>
              <a:rPr lang="en-US" sz="800" dirty="0">
                <a:solidFill>
                  <a:srgbClr val="B5BAC4"/>
                </a:solidFill>
                <a:latin typeface="Carlito" pitchFamily="34" charset="0"/>
                <a:ea typeface="Carlito" pitchFamily="34" charset="-122"/>
                <a:cs typeface="Carlito" pitchFamily="34" charset="-120"/>
              </a:rPr>
              <a:t>An even unimodular lattice in dimension </a:t>
            </a:r>
            <a:pPr algn="l" indent="0" marL="0">
              <a:lnSpc>
                <a:spcPts val="1003"/>
              </a:lnSpc>
              <a:buNone/>
            </a:pPr>
            <a:r>
              <a:rPr lang="en-US" sz="800" dirty="0">
                <a:solidFill>
                  <a:srgbClr val="E6E6E6"/>
                </a:solidFill>
                <a:highlight>
                  <a:srgbClr val="1F2630"/>
                </a:highlight>
                <a:latin typeface="Courier New" pitchFamily="34" charset="0"/>
                <a:ea typeface="Courier New" pitchFamily="34" charset="-122"/>
                <a:cs typeface="Courier New" pitchFamily="34" charset="-120"/>
              </a:rPr>
              <a:t>n</a:t>
            </a:r>
            <a:pPr algn="l" indent="0" marL="0">
              <a:lnSpc>
                <a:spcPts val="1003"/>
              </a:lnSpc>
              <a:buNone/>
            </a:pPr>
            <a:r>
              <a:rPr lang="en-US" sz="800" dirty="0">
                <a:solidFill>
                  <a:srgbClr val="B5BAC4"/>
                </a:solidFill>
                <a:latin typeface="Carlito" pitchFamily="34" charset="0"/>
                <a:ea typeface="Carlito" pitchFamily="34" charset="-122"/>
                <a:cs typeface="Carlito" pitchFamily="34" charset="-120"/>
              </a:rPr>
              <a:t> exists iff </a:t>
            </a:r>
            <a:pPr algn="l" indent="0" marL="0">
              <a:lnSpc>
                <a:spcPts val="1003"/>
              </a:lnSpc>
              <a:buNone/>
            </a:pPr>
            <a:r>
              <a:rPr lang="en-US" sz="800" dirty="0">
                <a:solidFill>
                  <a:srgbClr val="E6E6E6"/>
                </a:solidFill>
                <a:highlight>
                  <a:srgbClr val="1F2630"/>
                </a:highlight>
                <a:latin typeface="Courier New" pitchFamily="34" charset="0"/>
                <a:ea typeface="Courier New" pitchFamily="34" charset="-122"/>
                <a:cs typeface="Courier New" pitchFamily="34" charset="-120"/>
              </a:rPr>
              <a:t>n</a:t>
            </a:r>
            <a:pPr algn="l" indent="0" marL="0">
              <a:lnSpc>
                <a:spcPts val="1003"/>
              </a:lnSpc>
              <a:buNone/>
            </a:pPr>
            <a:r>
              <a:rPr lang="en-US" sz="800" dirty="0">
                <a:solidFill>
                  <a:srgbClr val="B5BAC4"/>
                </a:solidFill>
                <a:latin typeface="Carlito" pitchFamily="34" charset="0"/>
                <a:ea typeface="Carlito" pitchFamily="34" charset="-122"/>
                <a:cs typeface="Carlito" pitchFamily="34" charset="-120"/>
              </a:rPr>
              <a:t> is a multiple of </a:t>
            </a:r>
            <a:pPr algn="l" indent="0" marL="0">
              <a:lnSpc>
                <a:spcPts val="1003"/>
              </a:lnSpc>
              <a:buNone/>
            </a:pPr>
            <a:r>
              <a:rPr lang="en-US" sz="800" dirty="0">
                <a:solidFill>
                  <a:srgbClr val="E6E6E6"/>
                </a:solidFill>
                <a:highlight>
                  <a:srgbClr val="1F2630"/>
                </a:highlight>
                <a:latin typeface="Liberation Sans Narrow" pitchFamily="34" charset="0"/>
                <a:ea typeface="Liberation Sans Narrow" pitchFamily="34" charset="-122"/>
                <a:cs typeface="Liberation Sans Narrow" pitchFamily="34" charset="-120"/>
              </a:rPr>
              <a:t>8</a:t>
            </a:r>
            <a:pPr algn="l" indent="0" marL="0">
              <a:lnSpc>
                <a:spcPts val="1003"/>
              </a:lnSpc>
              <a:buNone/>
            </a:pPr>
            <a:r>
              <a:rPr lang="en-US" sz="800" dirty="0">
                <a:solidFill>
                  <a:srgbClr val="B5BAC4"/>
                </a:solidFill>
                <a:latin typeface="Carlito" pitchFamily="34" charset="0"/>
                <a:ea typeface="Carlito" pitchFamily="34" charset="-122"/>
                <a:cs typeface="Carlito" pitchFamily="34" charset="-120"/>
              </a:rPr>
              <a:t>.</a:t>
            </a:r>
            <a:endParaRPr lang="en-US" sz="800" dirty="0"/>
          </a:p>
          <a:p>
            <a:pPr algn="l" indent="0" marL="0">
              <a:lnSpc>
                <a:spcPts val="1003"/>
              </a:lnSpc>
              <a:buNone/>
            </a:pPr>
            <a:r>
              <a:rPr lang="en-US" sz="800" dirty="0">
                <a:solidFill>
                  <a:srgbClr val="E6E6E6"/>
                </a:solidFill>
                <a:highlight>
                  <a:srgbClr val="1F2630"/>
                </a:highlight>
                <a:latin typeface="Liberation Sans Narrow" pitchFamily="34" charset="0"/>
                <a:ea typeface="Liberation Sans Narrow" pitchFamily="34" charset="-122"/>
                <a:cs typeface="Liberation Sans Narrow" pitchFamily="34" charset="-120"/>
              </a:rPr>
              <a:t>n=8</a:t>
            </a:r>
            <a:pPr algn="l" indent="0" marL="0">
              <a:lnSpc>
                <a:spcPts val="1003"/>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 E8 lattice (root system).</a:t>
            </a:r>
            <a:endParaRPr lang="en-US" sz="800" dirty="0"/>
          </a:p>
          <a:p>
            <a:pPr algn="l" indent="0" marL="0">
              <a:lnSpc>
                <a:spcPts val="1003"/>
              </a:lnSpc>
              <a:buNone/>
            </a:pPr>
            <a:r>
              <a:rPr lang="en-US" sz="800" dirty="0">
                <a:solidFill>
                  <a:srgbClr val="E6E6E6"/>
                </a:solidFill>
                <a:highlight>
                  <a:srgbClr val="1F2630"/>
                </a:highlight>
                <a:latin typeface="Liberation Sans Narrow" pitchFamily="34" charset="0"/>
                <a:ea typeface="Liberation Sans Narrow" pitchFamily="34" charset="-122"/>
                <a:cs typeface="Liberation Sans Narrow" pitchFamily="34" charset="-120"/>
              </a:rPr>
              <a:t>n=16</a:t>
            </a:r>
            <a:pPr algn="l" indent="0" marL="0">
              <a:lnSpc>
                <a:spcPts val="1003"/>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 D16+ or E8 ⊕ E8.</a:t>
            </a:r>
            <a:endParaRPr lang="en-US" sz="800" dirty="0"/>
          </a:p>
          <a:p>
            <a:pPr algn="l" indent="0" marL="0">
              <a:lnSpc>
                <a:spcPts val="1003"/>
              </a:lnSpc>
              <a:buNone/>
            </a:pPr>
            <a:r>
              <a:rPr lang="en-US" sz="800" dirty="0">
                <a:solidFill>
                  <a:srgbClr val="E6E6E6"/>
                </a:solidFill>
                <a:highlight>
                  <a:srgbClr val="1F2630"/>
                </a:highlight>
                <a:latin typeface="Liberation Sans Narrow" pitchFamily="34" charset="0"/>
                <a:ea typeface="Liberation Sans Narrow" pitchFamily="34" charset="-122"/>
                <a:cs typeface="Liberation Sans Narrow" pitchFamily="34" charset="-120"/>
              </a:rPr>
              <a:t>n=24</a:t>
            </a:r>
            <a:pPr algn="l" indent="0" marL="0">
              <a:lnSpc>
                <a:spcPts val="1003"/>
              </a:lnSpc>
              <a:buNone/>
            </a:pPr>
            <a:r>
              <a:rPr lang="en-US" sz="800" dirty="0">
                <a:solidFill>
                  <a:srgbClr val="B5BAC4"/>
                </a:solidFill>
                <a:latin typeface="Carlito" pitchFamily="34" charset="0"/>
                <a:ea typeface="Carlito" pitchFamily="34" charset="-122"/>
                <a:cs typeface="Carlito" pitchFamily="34" charset="-120"/>
              </a:rPr>
              <a:t>: 24 Niemeier lattices (one is Leech, 23 have roots).</a:t>
            </a:r>
            <a:endParaRPr lang="en-US" sz="800" dirty="0"/>
          </a:p>
          <a:p>
            <a:pPr algn="l" indent="0" marL="0">
              <a:lnSpc>
                <a:spcPts val="1003"/>
              </a:lnSpc>
              <a:buNone/>
            </a:pPr>
            <a:r>
              <a:rPr lang="en-US" sz="800" dirty="0">
                <a:solidFill>
                  <a:srgbClr val="B5BAC4"/>
                </a:solidFill>
                <a:latin typeface="Carlito" pitchFamily="34" charset="0"/>
                <a:ea typeface="Carlito" pitchFamily="34" charset="-122"/>
                <a:cs typeface="Carlito" pitchFamily="34" charset="-120"/>
              </a:rPr>
              <a:t>Construction A connects doubly-even self-dual codes to even unimodular lattices.</a:t>
            </a:r>
            <a:endParaRPr lang="en-US" sz="800" dirty="0"/>
          </a:p>
        </p:txBody>
      </p:sp>
      <p:sp>
        <p:nvSpPr>
          <p:cNvPr id="35" name="Text 33"/>
          <p:cNvSpPr/>
          <p:nvPr/>
        </p:nvSpPr>
        <p:spPr>
          <a:xfrm>
            <a:off x="6023297" y="1333649"/>
            <a:ext cx="2659931" cy="1907381"/>
          </a:xfrm>
          <a:prstGeom prst="roundRect">
            <a:avLst>
              <a:gd name="adj" fmla="val 2996"/>
            </a:avLst>
          </a:prstGeom>
          <a:solidFill>
            <a:srgbClr val="161B22"/>
          </a:solidFill>
          <a:ln w="7144">
            <a:solidFill>
              <a:srgbClr val="2A3038"/>
            </a:solidFill>
            <a:prstDash val="solid"/>
          </a:ln>
        </p:spPr>
        <p:txBody>
          <a:bodyPr wrap="square" rtlCol="0" anchor="ctr"/>
          <a:lstStyle/>
          <a:p>
            <a:pPr indent="0" marL="0">
              <a:buNone/>
            </a:pPr>
            <a:endParaRPr lang="en-US" dirty="0"/>
          </a:p>
        </p:txBody>
      </p:sp>
      <p:sp>
        <p:nvSpPr>
          <p:cNvPr id="36" name="Text 34"/>
          <p:cNvSpPr/>
          <p:nvPr/>
        </p:nvSpPr>
        <p:spPr>
          <a:xfrm>
            <a:off x="6144741" y="1440805"/>
            <a:ext cx="2374181" cy="157163"/>
          </a:xfrm>
          <a:prstGeom prst="roundRect">
            <a:avLst>
              <a:gd name="adj" fmla="val 6054526"/>
            </a:avLst>
          </a:prstGeom>
          <a:solidFill>
            <a:srgbClr val="1F2630"/>
          </a:solidFill>
          <a:ln w="7144">
            <a:solidFill>
              <a:srgbClr val="B097FF"/>
            </a:solidFill>
            <a:prstDash val="solid"/>
          </a:ln>
        </p:spPr>
        <p:txBody>
          <a:bodyPr wrap="square" rtlCol="0" anchor="ctr"/>
          <a:lstStyle/>
          <a:p>
            <a:pPr indent="0" marL="0">
              <a:buNone/>
            </a:pPr>
            <a:endParaRPr lang="en-US" dirty="0"/>
          </a:p>
        </p:txBody>
      </p:sp>
      <p:sp>
        <p:nvSpPr>
          <p:cNvPr id="37" name="Text 35"/>
          <p:cNvSpPr/>
          <p:nvPr/>
        </p:nvSpPr>
        <p:spPr>
          <a:xfrm>
            <a:off x="6141169" y="1437233"/>
            <a:ext cx="2381324"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B097FF"/>
                </a:solidFill>
                <a:latin typeface="Liberation Sans Narrow" pitchFamily="34" charset="0"/>
                <a:ea typeface="Liberation Sans Narrow" pitchFamily="34" charset="-122"/>
                <a:cs typeface="Liberation Sans Narrow" pitchFamily="34" charset="-120"/>
              </a:rPr>
              <a:t>PROPERTY 3</a:t>
            </a:r>
            <a:endParaRPr lang="en-US" sz="800" dirty="0"/>
          </a:p>
        </p:txBody>
      </p:sp>
      <p:sp>
        <p:nvSpPr>
          <p:cNvPr id="38" name="Text 36"/>
          <p:cNvSpPr/>
          <p:nvPr/>
        </p:nvSpPr>
        <p:spPr>
          <a:xfrm>
            <a:off x="6141169" y="1672977"/>
            <a:ext cx="2533915" cy="137160"/>
          </a:xfrm>
          <a:prstGeom prst="rect">
            <a:avLst/>
          </a:prstGeom>
          <a:noFill/>
          <a:ln/>
        </p:spPr>
        <p:txBody>
          <a:bodyPr wrap="square" lIns="0" tIns="0" rIns="0" bIns="0" rtlCol="0" anchor="t"/>
          <a:lstStyle/>
          <a:p>
            <a:pPr algn="l" indent="0" marL="0">
              <a:lnSpc>
                <a:spcPts val="984"/>
              </a:lnSpc>
              <a:buNone/>
            </a:pPr>
            <a:r>
              <a:rPr lang="en-US" sz="800" dirty="0">
                <a:solidFill>
                  <a:srgbClr val="E6E6E6"/>
                </a:solidFill>
                <a:latin typeface="Carlito" pitchFamily="34" charset="0"/>
                <a:ea typeface="Carlito" pitchFamily="34" charset="-122"/>
                <a:cs typeface="Carlito" pitchFamily="34" charset="-120"/>
              </a:rPr>
              <a:t>Rootless even unimodular lattices exist</a:t>
            </a:r>
            <a:endParaRPr lang="en-US" sz="800" dirty="0"/>
          </a:p>
        </p:txBody>
      </p:sp>
      <p:sp>
        <p:nvSpPr>
          <p:cNvPr id="39" name="Text 37"/>
          <p:cNvSpPr/>
          <p:nvPr/>
        </p:nvSpPr>
        <p:spPr>
          <a:xfrm>
            <a:off x="6868827" y="1989534"/>
            <a:ext cx="161851" cy="100013"/>
          </a:xfrm>
          <a:prstGeom prst="roundRect">
            <a:avLst>
              <a:gd name="adj" fmla="val 28571"/>
            </a:avLst>
          </a:prstGeom>
          <a:solidFill>
            <a:srgbClr val="1F2630"/>
          </a:solidFill>
          <a:ln/>
        </p:spPr>
        <p:txBody>
          <a:bodyPr wrap="square" rtlCol="0" anchor="ctr"/>
          <a:lstStyle/>
          <a:p>
            <a:pPr indent="0" marL="0">
              <a:buNone/>
            </a:pPr>
            <a:endParaRPr lang="en-US" dirty="0"/>
          </a:p>
        </p:txBody>
      </p:sp>
      <p:sp>
        <p:nvSpPr>
          <p:cNvPr id="40" name="Text 38"/>
          <p:cNvSpPr/>
          <p:nvPr/>
        </p:nvSpPr>
        <p:spPr>
          <a:xfrm>
            <a:off x="6141169" y="2498527"/>
            <a:ext cx="387660" cy="100013"/>
          </a:xfrm>
          <a:prstGeom prst="roundRect">
            <a:avLst>
              <a:gd name="adj" fmla="val 28571"/>
            </a:avLst>
          </a:prstGeom>
          <a:solidFill>
            <a:srgbClr val="1F2630"/>
          </a:solidFill>
          <a:ln/>
        </p:spPr>
        <p:txBody>
          <a:bodyPr wrap="square" rtlCol="0" anchor="ctr"/>
          <a:lstStyle/>
          <a:p>
            <a:pPr indent="0" marL="0">
              <a:buNone/>
            </a:pPr>
            <a:endParaRPr lang="en-US" dirty="0"/>
          </a:p>
        </p:txBody>
      </p:sp>
      <p:sp>
        <p:nvSpPr>
          <p:cNvPr id="41" name="Text 39"/>
          <p:cNvSpPr/>
          <p:nvPr/>
        </p:nvSpPr>
        <p:spPr>
          <a:xfrm>
            <a:off x="6141169" y="1855143"/>
            <a:ext cx="2424187" cy="1189714"/>
          </a:xfrm>
          <a:prstGeom prst="rect">
            <a:avLst/>
          </a:prstGeom>
          <a:noFill/>
          <a:ln/>
        </p:spPr>
        <p:txBody>
          <a:bodyPr wrap="square" lIns="0" tIns="0" rIns="0" bIns="0" rtlCol="0" anchor="t"/>
          <a:lstStyle/>
          <a:p>
            <a:pPr algn="l" indent="0" marL="0">
              <a:lnSpc>
                <a:spcPts val="1003"/>
              </a:lnSpc>
              <a:buNone/>
            </a:pPr>
            <a:r>
              <a:rPr lang="en-US" sz="800" dirty="0">
                <a:solidFill>
                  <a:srgbClr val="B5BAC4"/>
                </a:solidFill>
                <a:latin typeface="Carlito" pitchFamily="34" charset="0"/>
                <a:ea typeface="Carlito" pitchFamily="34" charset="-122"/>
                <a:cs typeface="Carlito" pitchFamily="34" charset="-120"/>
              </a:rPr>
              <a:t>An even unimodular lattice with no roots (vectors of norm 2) exists </a:t>
            </a:r>
            <a:pPr algn="l" indent="0" marL="0">
              <a:lnSpc>
                <a:spcPts val="1003"/>
              </a:lnSpc>
              <a:buNone/>
            </a:pPr>
            <a:r>
              <a:rPr lang="en-US" sz="800" dirty="0">
                <a:solidFill>
                  <a:srgbClr val="B097FF"/>
                </a:solidFill>
                <a:latin typeface="Carlito" pitchFamily="34" charset="0"/>
                <a:ea typeface="Carlito" pitchFamily="34" charset="-122"/>
                <a:cs typeface="Carlito" pitchFamily="34" charset="-120"/>
              </a:rPr>
              <a:t>ONLY</a:t>
            </a:r>
            <a:pPr algn="l" indent="0" marL="0">
              <a:lnSpc>
                <a:spcPts val="1003"/>
              </a:lnSpc>
              <a:buNone/>
            </a:pPr>
            <a:r>
              <a:rPr lang="en-US" sz="800" dirty="0">
                <a:solidFill>
                  <a:srgbClr val="B5BAC4"/>
                </a:solidFill>
                <a:latin typeface="Carlito" pitchFamily="34" charset="0"/>
                <a:ea typeface="Carlito" pitchFamily="34" charset="-122"/>
                <a:cs typeface="Carlito" pitchFamily="34" charset="-120"/>
              </a:rPr>
              <a:t> in dimension </a:t>
            </a:r>
            <a:pPr algn="l" indent="0" marL="0">
              <a:lnSpc>
                <a:spcPts val="1003"/>
              </a:lnSpc>
              <a:buNone/>
            </a:pPr>
            <a:r>
              <a:rPr lang="en-US" sz="800" dirty="0">
                <a:solidFill>
                  <a:srgbClr val="E6E6E6"/>
                </a:solidFill>
                <a:highlight>
                  <a:srgbClr val="1F2630"/>
                </a:highlight>
                <a:latin typeface="Liberation Sans Narrow" pitchFamily="34" charset="0"/>
                <a:ea typeface="Liberation Sans Narrow" pitchFamily="34" charset="-122"/>
                <a:cs typeface="Liberation Sans Narrow" pitchFamily="34" charset="-120"/>
              </a:rPr>
              <a:t>24</a:t>
            </a:r>
            <a:pPr algn="l" indent="0" marL="0">
              <a:lnSpc>
                <a:spcPts val="1003"/>
              </a:lnSpc>
              <a:buNone/>
            </a:pPr>
            <a:r>
              <a:rPr lang="en-US" sz="800" dirty="0">
                <a:solidFill>
                  <a:srgbClr val="B5BAC4"/>
                </a:solidFill>
                <a:latin typeface="Carlito" pitchFamily="34" charset="0"/>
                <a:ea typeface="Carlito" pitchFamily="34" charset="-122"/>
                <a:cs typeface="Carlito" pitchFamily="34" charset="-120"/>
              </a:rPr>
              <a:t>, and is </a:t>
            </a:r>
            <a:pPr algn="l" indent="0" marL="0">
              <a:lnSpc>
                <a:spcPts val="1003"/>
              </a:lnSpc>
              <a:buNone/>
            </a:pPr>
            <a:r>
              <a:rPr lang="en-US" sz="800" dirty="0">
                <a:solidFill>
                  <a:srgbClr val="B097FF"/>
                </a:solidFill>
                <a:latin typeface="Carlito" pitchFamily="34" charset="0"/>
                <a:ea typeface="Carlito" pitchFamily="34" charset="-122"/>
                <a:cs typeface="Carlito" pitchFamily="34" charset="-120"/>
              </a:rPr>
              <a:t>UNIQUE</a:t>
            </a:r>
            <a:pPr algn="l" indent="0" marL="0">
              <a:lnSpc>
                <a:spcPts val="1003"/>
              </a:lnSpc>
              <a:buNone/>
            </a:pPr>
            <a:r>
              <a:rPr lang="en-US" sz="800" dirty="0">
                <a:solidFill>
                  <a:srgbClr val="B5BAC4"/>
                </a:solidFill>
                <a:latin typeface="Carlito" pitchFamily="34" charset="0"/>
                <a:ea typeface="Carlito" pitchFamily="34" charset="-122"/>
                <a:cs typeface="Carlito" pitchFamily="34" charset="-120"/>
              </a:rPr>
              <a:t>: the Leech lattice.</a:t>
            </a:r>
            <a:endParaRPr lang="en-US" sz="800" dirty="0"/>
          </a:p>
          <a:p>
            <a:pPr algn="l" indent="0" marL="0">
              <a:lnSpc>
                <a:spcPts val="1003"/>
              </a:lnSpc>
              <a:buNone/>
            </a:pPr>
            <a:r>
              <a:rPr lang="en-US" sz="800" dirty="0">
                <a:solidFill>
                  <a:srgbClr val="B5BAC4"/>
                </a:solidFill>
                <a:latin typeface="Carlito" pitchFamily="34" charset="0"/>
                <a:ea typeface="Carlito" pitchFamily="34" charset="-122"/>
                <a:cs typeface="Carlito" pitchFamily="34" charset="-120"/>
              </a:rPr>
              <a:t>This is the deepest of the three properties. The Leech gives the densest sphere packing in 24 dimensions (kissing number </a:t>
            </a:r>
            <a:pPr algn="l" indent="0" marL="0">
              <a:lnSpc>
                <a:spcPts val="1003"/>
              </a:lnSpc>
              <a:buNone/>
            </a:pPr>
            <a:r>
              <a:rPr lang="en-US" sz="800" dirty="0">
                <a:solidFill>
                  <a:srgbClr val="E6E6E6"/>
                </a:solidFill>
                <a:highlight>
                  <a:srgbClr val="1F2630"/>
                </a:highlight>
                <a:latin typeface="Liberation Sans Narrow" pitchFamily="34" charset="0"/>
                <a:ea typeface="Liberation Sans Narrow" pitchFamily="34" charset="-122"/>
                <a:cs typeface="Liberation Sans Narrow" pitchFamily="34" charset="-120"/>
              </a:rPr>
              <a:t>196,560</a:t>
            </a:r>
            <a:pPr algn="l" indent="0" marL="0">
              <a:lnSpc>
                <a:spcPts val="1003"/>
              </a:lnSpc>
              <a:buNone/>
            </a:pPr>
            <a:r>
              <a:rPr lang="en-US" sz="800" dirty="0">
                <a:solidFill>
                  <a:srgbClr val="B5BAC4"/>
                </a:solidFill>
                <a:latin typeface="Carlito" pitchFamily="34" charset="0"/>
                <a:ea typeface="Carlito" pitchFamily="34" charset="-122"/>
                <a:cs typeface="Carlito" pitchFamily="34" charset="-120"/>
              </a:rPr>
              <a:t>) and connects to the Monster group via Monstrous Moonshine.</a:t>
            </a:r>
            <a:endParaRPr lang="en-US" sz="800" dirty="0"/>
          </a:p>
        </p:txBody>
      </p:sp>
      <p:sp>
        <p:nvSpPr>
          <p:cNvPr id="42" name="Text 40"/>
          <p:cNvSpPr/>
          <p:nvPr/>
        </p:nvSpPr>
        <p:spPr>
          <a:xfrm>
            <a:off x="460772" y="3333899"/>
            <a:ext cx="8222456" cy="1023342"/>
          </a:xfrm>
          <a:prstGeom prst="roundRect">
            <a:avLst>
              <a:gd name="adj" fmla="val 5585"/>
            </a:avLst>
          </a:prstGeom>
          <a:solidFill>
            <a:srgbClr val="1F2630"/>
          </a:solidFill>
          <a:ln w="7144">
            <a:solidFill>
              <a:srgbClr val="2A3038"/>
            </a:solidFill>
            <a:prstDash val="solid"/>
          </a:ln>
        </p:spPr>
        <p:txBody>
          <a:bodyPr wrap="square" rtlCol="0" anchor="ctr"/>
          <a:lstStyle/>
          <a:p>
            <a:pPr indent="0" marL="0">
              <a:buNone/>
            </a:pPr>
            <a:endParaRPr lang="en-US" dirty="0"/>
          </a:p>
        </p:txBody>
      </p:sp>
      <p:sp>
        <p:nvSpPr>
          <p:cNvPr id="43" name="Text 41"/>
          <p:cNvSpPr/>
          <p:nvPr/>
        </p:nvSpPr>
        <p:spPr>
          <a:xfrm>
            <a:off x="607219" y="3437483"/>
            <a:ext cx="6160480" cy="164592"/>
          </a:xfrm>
          <a:prstGeom prst="rect">
            <a:avLst/>
          </a:prstGeom>
          <a:noFill/>
          <a:ln/>
        </p:spPr>
        <p:txBody>
          <a:bodyPr wrap="none" lIns="0" tIns="0" rIns="0" bIns="0" rtlCol="0" anchor="t"/>
          <a:lstStyle/>
          <a:p>
            <a:pPr algn="l" indent="0" marL="0">
              <a:lnSpc>
                <a:spcPts val="1181"/>
              </a:lnSpc>
              <a:buNone/>
            </a:pPr>
            <a:r>
              <a:rPr lang="en-US" sz="800" spc="8" kern="0" dirty="0">
                <a:solidFill>
                  <a:srgbClr val="FFB454"/>
                </a:solidFill>
                <a:latin typeface="Carlito" pitchFamily="34" charset="0"/>
                <a:ea typeface="Carlito" pitchFamily="34" charset="-122"/>
                <a:cs typeface="Carlito" pitchFamily="34" charset="-120"/>
              </a:rPr>
              <a:t>The </a:t>
            </a:r>
            <a:pPr algn="l" indent="0" marL="0">
              <a:lnSpc>
                <a:spcPts val="1181"/>
              </a:lnSpc>
              <a:buNone/>
            </a:pPr>
            <a:r>
              <a:rPr lang="en-US" sz="800" i="1" spc="8" kern="0" dirty="0">
                <a:solidFill>
                  <a:srgbClr val="E6E6E6"/>
                </a:solidFill>
                <a:latin typeface="Tinos" pitchFamily="34" charset="0"/>
                <a:ea typeface="Tinos" pitchFamily="34" charset="-122"/>
                <a:cs typeface="Tinos" pitchFamily="34" charset="-120"/>
              </a:rPr>
              <a:t>Φ</a:t>
            </a:r>
            <a:pPr algn="l" indent="0" marL="0">
              <a:lnSpc>
                <a:spcPts val="1181"/>
              </a:lnSpc>
              <a:buNone/>
            </a:pPr>
            <a:r>
              <a:rPr lang="en-US" sz="800" spc="8" kern="0" dirty="0">
                <a:solidFill>
                  <a:srgbClr val="FFB454"/>
                </a:solidFill>
                <a:latin typeface="Carlito" pitchFamily="34" charset="0"/>
                <a:ea typeface="Carlito" pitchFamily="34" charset="-122"/>
                <a:cs typeface="Carlito" pitchFamily="34" charset="-120"/>
              </a:rPr>
              <a:t>-adjacent principle </a:t>
            </a:r>
            <a:pPr algn="l" indent="0" marL="0">
              <a:lnSpc>
                <a:spcPts val="1181"/>
              </a:lnSpc>
              <a:buNone/>
            </a:pPr>
            <a:r>
              <a:rPr lang="en-US" sz="800" spc="52" kern="0" dirty="0">
                <a:solidFill>
                  <a:srgbClr val="6B7280"/>
                </a:solidFill>
                <a:latin typeface="Courier New" pitchFamily="34" charset="0"/>
                <a:ea typeface="Courier New" pitchFamily="34" charset="-122"/>
                <a:cs typeface="Courier New" pitchFamily="34" charset="-120"/>
              </a:rPr>
              <a:t>(SPECULATIVE)</a:t>
            </a:r>
            <a:endParaRPr lang="en-US" sz="800" dirty="0"/>
          </a:p>
        </p:txBody>
      </p:sp>
      <p:sp>
        <p:nvSpPr>
          <p:cNvPr id="44" name="Text 42"/>
          <p:cNvSpPr/>
          <p:nvPr/>
        </p:nvSpPr>
        <p:spPr>
          <a:xfrm>
            <a:off x="6785558" y="3441055"/>
            <a:ext cx="1704789" cy="157163"/>
          </a:xfrm>
          <a:prstGeom prst="roundRect">
            <a:avLst>
              <a:gd name="adj" fmla="val 6054526"/>
            </a:avLst>
          </a:prstGeom>
          <a:solidFill>
            <a:srgbClr val="1F2630"/>
          </a:solidFill>
          <a:ln w="7144">
            <a:solidFill>
              <a:srgbClr val="B097FF"/>
            </a:solidFill>
            <a:prstDash val="solid"/>
          </a:ln>
        </p:spPr>
        <p:txBody>
          <a:bodyPr wrap="square" rtlCol="0" anchor="ctr"/>
          <a:lstStyle/>
          <a:p>
            <a:pPr indent="0" marL="0">
              <a:buNone/>
            </a:pPr>
            <a:endParaRPr lang="en-US" dirty="0"/>
          </a:p>
        </p:txBody>
      </p:sp>
      <p:sp>
        <p:nvSpPr>
          <p:cNvPr id="45" name="Text 43"/>
          <p:cNvSpPr/>
          <p:nvPr/>
        </p:nvSpPr>
        <p:spPr>
          <a:xfrm>
            <a:off x="6781986" y="3437483"/>
            <a:ext cx="1754795" cy="252374"/>
          </a:xfrm>
          <a:prstGeom prst="rect">
            <a:avLst/>
          </a:prstGeom>
          <a:noFill/>
          <a:ln/>
        </p:spPr>
        <p:txBody>
          <a:bodyPr wrap="square" lIns="71438" tIns="21431" rIns="71438" bIns="21431" rtlCol="0" anchor="t"/>
          <a:lstStyle/>
          <a:p>
            <a:pPr algn="l" indent="0" marL="0">
              <a:lnSpc>
                <a:spcPts val="844"/>
              </a:lnSpc>
              <a:buNone/>
            </a:pPr>
            <a:r>
              <a:rPr lang="en-US" sz="800" spc="56" kern="0" dirty="0">
                <a:solidFill>
                  <a:srgbClr val="B097FF"/>
                </a:solidFill>
                <a:latin typeface="Liberation Sans Narrow" pitchFamily="34" charset="0"/>
                <a:ea typeface="Liberation Sans Narrow" pitchFamily="34" charset="-122"/>
                <a:cs typeface="Liberation Sans Narrow" pitchFamily="34" charset="-120"/>
              </a:rPr>
              <a:t>OPEN Q3 — DIRECTION ARTICULATED</a:t>
            </a:r>
            <a:endParaRPr lang="en-US" sz="800" dirty="0"/>
          </a:p>
        </p:txBody>
      </p:sp>
      <p:sp>
        <p:nvSpPr>
          <p:cNvPr id="46" name="Text 44"/>
          <p:cNvSpPr/>
          <p:nvPr/>
        </p:nvSpPr>
        <p:spPr>
          <a:xfrm>
            <a:off x="607219" y="3630364"/>
            <a:ext cx="7929563" cy="299395"/>
          </a:xfrm>
          <a:prstGeom prst="rect">
            <a:avLst/>
          </a:prstGeom>
          <a:noFill/>
          <a:ln/>
        </p:spPr>
        <p:txBody>
          <a:bodyPr wrap="square" lIns="0" tIns="0" rIns="0" bIns="0" rtlCol="0" anchor="t">
            <a:normAutofit/>
          </a:bodyPr>
          <a:lstStyle/>
          <a:p>
            <a:pPr algn="l" indent="0" marL="0">
              <a:lnSpc>
                <a:spcPts val="1090"/>
              </a:lnSpc>
              <a:buNone/>
            </a:pPr>
            <a:r>
              <a:rPr lang="en-US" sz="800" dirty="0">
                <a:solidFill>
                  <a:srgbClr val="E6E6E6"/>
                </a:solidFill>
                <a:latin typeface="Carlito" pitchFamily="34" charset="0"/>
                <a:ea typeface="Carlito" pitchFamily="34" charset="-122"/>
                <a:cs typeface="Carlito" pitchFamily="34" charset="-120"/>
              </a:rPr>
              <a:t>The substrate dimension </a:t>
            </a:r>
            <a:pPr algn="l" indent="0" marL="0">
              <a:lnSpc>
                <a:spcPts val="1090"/>
              </a:lnSpc>
              <a:buNone/>
            </a:pPr>
            <a:r>
              <a:rPr lang="en-US" sz="800" i="1" dirty="0">
                <a:solidFill>
                  <a:srgbClr val="E6E6E6"/>
                </a:solidFill>
                <a:latin typeface="Tinos" pitchFamily="34" charset="0"/>
                <a:ea typeface="Tinos" pitchFamily="34" charset="-122"/>
                <a:cs typeface="Tinos" pitchFamily="34" charset="-120"/>
              </a:rPr>
              <a:t>n</a:t>
            </a:r>
            <a:pPr algn="l" indent="0" marL="0">
              <a:lnSpc>
                <a:spcPts val="1090"/>
              </a:lnSpc>
              <a:buNone/>
            </a:pPr>
            <a:r>
              <a:rPr lang="en-US" sz="800" dirty="0">
                <a:solidFill>
                  <a:srgbClr val="E6E6E6"/>
                </a:solidFill>
                <a:latin typeface="Carlito" pitchFamily="34" charset="0"/>
                <a:ea typeface="Carlito" pitchFamily="34" charset="-122"/>
                <a:cs typeface="Carlito" pitchFamily="34" charset="-120"/>
              </a:rPr>
              <a:t> must support a doubly-even self-dual code (requires </a:t>
            </a:r>
            <a:pPr algn="l" indent="0" marL="0">
              <a:lnSpc>
                <a:spcPts val="1090"/>
              </a:lnSpc>
              <a:buNone/>
            </a:pPr>
            <a:r>
              <a:rPr lang="en-US" sz="800" i="1" dirty="0">
                <a:solidFill>
                  <a:srgbClr val="E6E6E6"/>
                </a:solidFill>
                <a:latin typeface="Tinos" pitchFamily="34" charset="0"/>
                <a:ea typeface="Tinos" pitchFamily="34" charset="-122"/>
                <a:cs typeface="Tinos" pitchFamily="34" charset="-120"/>
              </a:rPr>
              <a:t>n</a:t>
            </a:r>
            <a:pPr algn="l" indent="0" marL="0">
              <a:lnSpc>
                <a:spcPts val="1090"/>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 = 0 mod 8) </a:t>
            </a:r>
            <a:pPr algn="l" indent="0" marL="0">
              <a:lnSpc>
                <a:spcPts val="1090"/>
              </a:lnSpc>
              <a:buNone/>
            </a:pPr>
            <a:r>
              <a:rPr lang="en-US" sz="800" dirty="0">
                <a:solidFill>
                  <a:srgbClr val="FFB454"/>
                </a:solidFill>
                <a:latin typeface="Carlito" pitchFamily="34" charset="0"/>
                <a:ea typeface="Carlito" pitchFamily="34" charset="-122"/>
                <a:cs typeface="Carlito" pitchFamily="34" charset="-120"/>
              </a:rPr>
              <a:t>AND</a:t>
            </a:r>
            <a:pPr algn="l" indent="0" marL="0">
              <a:lnSpc>
                <a:spcPts val="1090"/>
              </a:lnSpc>
              <a:buNone/>
            </a:pPr>
            <a:r>
              <a:rPr lang="en-US" sz="800" dirty="0">
                <a:solidFill>
                  <a:srgbClr val="E6E6E6"/>
                </a:solidFill>
                <a:latin typeface="Carlito" pitchFamily="34" charset="0"/>
                <a:ea typeface="Carlito" pitchFamily="34" charset="-122"/>
                <a:cs typeface="Carlito" pitchFamily="34" charset="-120"/>
              </a:rPr>
              <a:t> a rootless even unimodular lattice (requires </a:t>
            </a:r>
            <a:pPr algn="l" indent="0" marL="0">
              <a:lnSpc>
                <a:spcPts val="1090"/>
              </a:lnSpc>
              <a:buNone/>
            </a:pPr>
            <a:r>
              <a:rPr lang="en-US" sz="800" i="1" dirty="0">
                <a:solidFill>
                  <a:srgbClr val="E6E6E6"/>
                </a:solidFill>
                <a:latin typeface="Tinos" pitchFamily="34" charset="0"/>
                <a:ea typeface="Tinos" pitchFamily="34" charset="-122"/>
                <a:cs typeface="Tinos" pitchFamily="34" charset="-120"/>
              </a:rPr>
              <a:t>n</a:t>
            </a:r>
            <a:pPr algn="l" indent="0" marL="0">
              <a:lnSpc>
                <a:spcPts val="1090"/>
              </a:lnSpc>
              <a:buNone/>
            </a:pPr>
            <a:r>
              <a:rPr lang="en-US" sz="800" dirty="0">
                <a:solidFill>
                  <a:srgbClr val="E6E6E6"/>
                </a:solidFill>
                <a:latin typeface="Carlito" pitchFamily="34" charset="0"/>
                <a:ea typeface="Carlito" pitchFamily="34" charset="-122"/>
                <a:cs typeface="Carlito" pitchFamily="34" charset="-120"/>
              </a:rPr>
              <a:t> = 24 specifically). The intersection of these constraints picks out </a:t>
            </a:r>
            <a:pPr algn="l" indent="0" marL="0">
              <a:lnSpc>
                <a:spcPts val="1090"/>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n = 24</a:t>
            </a:r>
            <a:pPr algn="l" indent="0" marL="0">
              <a:lnSpc>
                <a:spcPts val="1090"/>
              </a:lnSpc>
              <a:buNone/>
            </a:pPr>
            <a:r>
              <a:rPr lang="en-US" sz="800" dirty="0">
                <a:solidFill>
                  <a:srgbClr val="E6E6E6"/>
                </a:solidFill>
                <a:latin typeface="Carlito" pitchFamily="34" charset="0"/>
                <a:ea typeface="Carlito" pitchFamily="34" charset="-122"/>
                <a:cs typeface="Carlito" pitchFamily="34" charset="-120"/>
              </a:rPr>
              <a:t> uniquely.</a:t>
            </a:r>
            <a:endParaRPr lang="en-US" sz="800" dirty="0"/>
          </a:p>
        </p:txBody>
      </p:sp>
      <p:sp>
        <p:nvSpPr>
          <p:cNvPr id="47" name="Shape 45"/>
          <p:cNvSpPr/>
          <p:nvPr/>
        </p:nvSpPr>
        <p:spPr>
          <a:xfrm>
            <a:off x="607219" y="3960763"/>
            <a:ext cx="7929563" cy="0"/>
          </a:xfrm>
          <a:prstGeom prst="line">
            <a:avLst/>
          </a:prstGeom>
          <a:noFill/>
          <a:ln w="7144">
            <a:solidFill>
              <a:srgbClr val="2A3038"/>
            </a:solidFill>
            <a:prstDash val="dash"/>
          </a:ln>
        </p:spPr>
      </p:sp>
      <p:sp>
        <p:nvSpPr>
          <p:cNvPr id="48" name="Text 46"/>
          <p:cNvSpPr/>
          <p:nvPr/>
        </p:nvSpPr>
        <p:spPr>
          <a:xfrm>
            <a:off x="607219" y="3957191"/>
            <a:ext cx="7929563" cy="296466"/>
          </a:xfrm>
          <a:prstGeom prst="rect">
            <a:avLst/>
          </a:prstGeom>
          <a:noFill/>
          <a:ln/>
        </p:spPr>
        <p:txBody>
          <a:bodyPr wrap="square" lIns="0" tIns="42863" rIns="0" bIns="0" rtlCol="0" anchor="t"/>
          <a:lstStyle/>
          <a:p>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This principle imports lattice theory from outside </a:t>
            </a:r>
            <a:pPr algn="l" indent="0" marL="0">
              <a:lnSpc>
                <a:spcPts val="970"/>
              </a:lnSpc>
              <a:buNone/>
            </a:pPr>
            <a:r>
              <a:rPr lang="en-US" sz="800" i="1" dirty="0">
                <a:solidFill>
                  <a:srgbClr val="E6E6E6"/>
                </a:solidFill>
                <a:latin typeface="Tinos" pitchFamily="34" charset="0"/>
                <a:ea typeface="Tinos" pitchFamily="34" charset="-122"/>
                <a:cs typeface="Tinos" pitchFamily="34" charset="-120"/>
              </a:rPr>
              <a:t>Φ</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 </a:t>
            </a:r>
            <a:pPr algn="l" indent="0" marL="0">
              <a:lnSpc>
                <a:spcPts val="970"/>
              </a:lnSpc>
              <a:buNone/>
            </a:pPr>
            <a:r>
              <a:rPr lang="en-US" sz="800" i="1" dirty="0">
                <a:solidFill>
                  <a:srgbClr val="E6E6E6"/>
                </a:solidFill>
                <a:latin typeface="Tinos" pitchFamily="34" charset="0"/>
                <a:ea typeface="Tinos" pitchFamily="34" charset="-122"/>
                <a:cs typeface="Tinos" pitchFamily="34" charset="-120"/>
              </a:rPr>
              <a:t>Φ</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 alone cannot derive </a:t>
            </a:r>
            <a:pPr algn="l" indent="0" marL="0">
              <a:lnSpc>
                <a:spcPts val="970"/>
              </a:lnSpc>
              <a:buNone/>
            </a:pPr>
            <a:r>
              <a:rPr lang="en-US" sz="800" i="1" dirty="0">
                <a:solidFill>
                  <a:srgbClr val="E6E6E6"/>
                </a:solidFill>
                <a:latin typeface="Tinos" pitchFamily="34" charset="0"/>
                <a:ea typeface="Tinos" pitchFamily="34" charset="-122"/>
                <a:cs typeface="Tinos" pitchFamily="34" charset="-120"/>
              </a:rPr>
              <a:t>n</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 = 24. The deepest obstruction remains open, and may be permanent: the exceptionality of 24 is a theorem about sporadic groups and sphere packing, not about distinction density.</a:t>
            </a:r>
            <a:endParaRPr lang="en-US" sz="800" dirty="0"/>
          </a:p>
        </p:txBody>
      </p:sp>
      <p:sp>
        <p:nvSpPr>
          <p:cNvPr id="49" name="Text 47"/>
          <p:cNvSpPr/>
          <p:nvPr/>
        </p:nvSpPr>
        <p:spPr>
          <a:xfrm>
            <a:off x="457200" y="4893469"/>
            <a:ext cx="7825420"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UBP_STUDY_EXTREMAL_004 / Thread I / p.12</a:t>
            </a:r>
            <a:endParaRPr lang="en-US" sz="800" dirty="0"/>
          </a:p>
        </p:txBody>
      </p:sp>
      <p:sp>
        <p:nvSpPr>
          <p:cNvPr id="50" name="Text 48"/>
          <p:cNvSpPr/>
          <p:nvPr/>
        </p:nvSpPr>
        <p:spPr>
          <a:xfrm>
            <a:off x="8296908" y="4893469"/>
            <a:ext cx="520994"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FFB454"/>
                </a:solidFill>
                <a:latin typeface="Courier New" pitchFamily="34" charset="0"/>
                <a:ea typeface="Courier New" pitchFamily="34" charset="-122"/>
                <a:cs typeface="Courier New" pitchFamily="34" charset="-120"/>
              </a:rPr>
              <a:t>● ACTIVE</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7080461"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SYNTHESIS / STATUS DASHBOARD / 13 OF 16</a:t>
            </a:r>
            <a:endParaRPr lang="en-US" sz="800" dirty="0"/>
          </a:p>
        </p:txBody>
      </p:sp>
      <p:sp>
        <p:nvSpPr>
          <p:cNvPr id="4" name="Text 2"/>
          <p:cNvSpPr/>
          <p:nvPr/>
        </p:nvSpPr>
        <p:spPr>
          <a:xfrm>
            <a:off x="7551948" y="342900"/>
            <a:ext cx="1134852"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UBP_STUDY_EXTREMAL_004</a:t>
            </a:r>
            <a:endParaRPr lang="en-US" sz="800" dirty="0"/>
          </a:p>
        </p:txBody>
      </p:sp>
      <p:sp>
        <p:nvSpPr>
          <p:cNvPr id="5" name="Text 3"/>
          <p:cNvSpPr/>
          <p:nvPr/>
        </p:nvSpPr>
        <p:spPr>
          <a:xfrm>
            <a:off x="457200" y="685800"/>
            <a:ext cx="342900" cy="21431"/>
          </a:xfrm>
          <a:prstGeom prst="rect">
            <a:avLst/>
          </a:prstGeom>
          <a:solidFill>
            <a:srgbClr val="FFB454"/>
          </a:solidFill>
          <a:ln/>
        </p:spPr>
        <p:txBody>
          <a:bodyPr wrap="square" rtlCol="0" anchor="ctr"/>
          <a:lstStyle/>
          <a:p>
            <a:pPr indent="0" marL="0">
              <a:buNone/>
            </a:pPr>
            <a:endParaRPr lang="en-US" dirty="0"/>
          </a:p>
        </p:txBody>
      </p:sp>
      <p:sp>
        <p:nvSpPr>
          <p:cNvPr id="6" name="Text 4"/>
          <p:cNvSpPr/>
          <p:nvPr/>
        </p:nvSpPr>
        <p:spPr>
          <a:xfrm>
            <a:off x="457200" y="821531"/>
            <a:ext cx="5246129" cy="248335"/>
          </a:xfrm>
          <a:prstGeom prst="rect">
            <a:avLst/>
          </a:prstGeom>
          <a:noFill/>
          <a:ln/>
        </p:spPr>
        <p:txBody>
          <a:bodyPr wrap="square" lIns="0" tIns="0" rIns="0" bIns="0" rtlCol="0" anchor="t"/>
          <a:lstStyle/>
          <a:p>
            <a:pPr algn="l" indent="0" marL="0">
              <a:lnSpc>
                <a:spcPts val="1811"/>
              </a:lnSpc>
              <a:buNone/>
            </a:pPr>
            <a:r>
              <a:rPr lang="en-US" sz="1575" spc="-16" kern="0" dirty="0">
                <a:solidFill>
                  <a:srgbClr val="E6E6E6"/>
                </a:solidFill>
                <a:latin typeface="Carlito" pitchFamily="34" charset="0"/>
                <a:ea typeface="Carlito" pitchFamily="34" charset="-122"/>
                <a:cs typeface="Carlito" pitchFamily="34" charset="-120"/>
              </a:rPr>
              <a:t>Open Questions Status: </a:t>
            </a:r>
            <a:pPr algn="l" indent="0" marL="0">
              <a:lnSpc>
                <a:spcPts val="1811"/>
              </a:lnSpc>
              <a:buNone/>
            </a:pPr>
            <a:r>
              <a:rPr lang="en-US" sz="1575" spc="-16" kern="0" dirty="0">
                <a:solidFill>
                  <a:srgbClr val="6FE3D2"/>
                </a:solidFill>
                <a:latin typeface="Liberation Sans Narrow" pitchFamily="34" charset="0"/>
                <a:ea typeface="Liberation Sans Narrow" pitchFamily="34" charset="-122"/>
                <a:cs typeface="Liberation Sans Narrow" pitchFamily="34" charset="-120"/>
              </a:rPr>
              <a:t>3 closed</a:t>
            </a:r>
            <a:pPr algn="l" indent="0" marL="0">
              <a:lnSpc>
                <a:spcPts val="1811"/>
              </a:lnSpc>
              <a:buNone/>
            </a:pPr>
            <a:r>
              <a:rPr lang="en-US" sz="1575" spc="-16" kern="0" dirty="0">
                <a:solidFill>
                  <a:srgbClr val="E6E6E6"/>
                </a:solidFill>
                <a:latin typeface="Carlito" pitchFamily="34" charset="0"/>
                <a:ea typeface="Carlito" pitchFamily="34" charset="-122"/>
                <a:cs typeface="Carlito" pitchFamily="34" charset="-120"/>
              </a:rPr>
              <a:t>, </a:t>
            </a:r>
            <a:pPr algn="l" indent="0" marL="0">
              <a:lnSpc>
                <a:spcPts val="1811"/>
              </a:lnSpc>
              <a:buNone/>
            </a:pPr>
            <a:r>
              <a:rPr lang="en-US" sz="1575" spc="-16" kern="0" dirty="0">
                <a:solidFill>
                  <a:srgbClr val="B097FF"/>
                </a:solidFill>
                <a:latin typeface="Liberation Sans Narrow" pitchFamily="34" charset="0"/>
                <a:ea typeface="Liberation Sans Narrow" pitchFamily="34" charset="-122"/>
                <a:cs typeface="Liberation Sans Narrow" pitchFamily="34" charset="-120"/>
              </a:rPr>
              <a:t>1 theorem</a:t>
            </a:r>
            <a:pPr algn="l" indent="0" marL="0">
              <a:lnSpc>
                <a:spcPts val="1811"/>
              </a:lnSpc>
              <a:buNone/>
            </a:pPr>
            <a:r>
              <a:rPr lang="en-US" sz="1575" spc="-16" kern="0" dirty="0">
                <a:solidFill>
                  <a:srgbClr val="E6E6E6"/>
                </a:solidFill>
                <a:latin typeface="Carlito" pitchFamily="34" charset="0"/>
                <a:ea typeface="Carlito" pitchFamily="34" charset="-122"/>
                <a:cs typeface="Carlito" pitchFamily="34" charset="-120"/>
              </a:rPr>
              <a:t>, </a:t>
            </a:r>
            <a:pPr algn="l" indent="0" marL="0">
              <a:lnSpc>
                <a:spcPts val="1811"/>
              </a:lnSpc>
              <a:buNone/>
            </a:pPr>
            <a:r>
              <a:rPr lang="en-US" sz="1575" spc="-16" kern="0" dirty="0">
                <a:solidFill>
                  <a:srgbClr val="FFB454"/>
                </a:solidFill>
                <a:latin typeface="Liberation Sans Narrow" pitchFamily="34" charset="0"/>
                <a:ea typeface="Liberation Sans Narrow" pitchFamily="34" charset="-122"/>
                <a:cs typeface="Liberation Sans Narrow" pitchFamily="34" charset="-120"/>
              </a:rPr>
              <a:t>1 open</a:t>
            </a:r>
            <a:endParaRPr lang="en-US" sz="1575" dirty="0"/>
          </a:p>
        </p:txBody>
      </p:sp>
      <p:sp>
        <p:nvSpPr>
          <p:cNvPr id="7" name="Text 5"/>
          <p:cNvSpPr/>
          <p:nvPr/>
        </p:nvSpPr>
        <p:spPr>
          <a:xfrm>
            <a:off x="7159479" y="944314"/>
            <a:ext cx="1527321" cy="164592"/>
          </a:xfrm>
          <a:prstGeom prst="rect">
            <a:avLst/>
          </a:prstGeom>
          <a:noFill/>
          <a:ln/>
        </p:spPr>
        <p:txBody>
          <a:bodyPr wrap="none" lIns="0" tIns="0" rIns="0" bIns="0" rtlCol="0" anchor="t"/>
          <a:lstStyle/>
          <a:p>
            <a:pPr algn="r"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FIG. 9 · STATUS DASHBOARD</a:t>
            </a:r>
            <a:endParaRPr lang="en-US" sz="800" dirty="0"/>
          </a:p>
        </p:txBody>
      </p:sp>
      <p:sp>
        <p:nvSpPr>
          <p:cNvPr id="8" name="Text 6"/>
          <p:cNvSpPr/>
          <p:nvPr/>
        </p:nvSpPr>
        <p:spPr>
          <a:xfrm>
            <a:off x="460772" y="1140768"/>
            <a:ext cx="5996397" cy="3421856"/>
          </a:xfrm>
          <a:prstGeom prst="roundRect">
            <a:avLst>
              <a:gd name="adj" fmla="val 1670"/>
            </a:avLst>
          </a:prstGeom>
          <a:solidFill>
            <a:srgbClr val="1F2630"/>
          </a:solidFill>
          <a:ln w="7144">
            <a:solidFill>
              <a:srgbClr val="2A3038"/>
            </a:solidFill>
            <a:prstDash val="solid"/>
          </a:ln>
        </p:spPr>
        <p:txBody>
          <a:bodyPr wrap="square" rtlCol="0" anchor="ctr"/>
          <a:lstStyle/>
          <a:p>
            <a:pPr indent="0" marL="0">
              <a:buNone/>
            </a:pPr>
            <a:endParaRPr lang="en-US" dirty="0"/>
          </a:p>
        </p:txBody>
      </p:sp>
      <p:pic>
        <p:nvPicPr>
          <p:cNvPr id="9" name="Image 0" descr="/tmp/h2p-fit-1782288490997-2de86s.png">    </p:cNvPr>
          <p:cNvPicPr>
            <a:picLocks noChangeAspect="1"/>
          </p:cNvPicPr>
          <p:nvPr/>
        </p:nvPicPr>
        <p:blipFill>
          <a:blip r:embed="rId1"/>
          <a:stretch>
            <a:fillRect/>
          </a:stretch>
        </p:blipFill>
        <p:spPr>
          <a:xfrm>
            <a:off x="564356" y="1244352"/>
            <a:ext cx="5789228" cy="3050381"/>
          </a:xfrm>
          <a:prstGeom prst="rect">
            <a:avLst/>
          </a:prstGeom>
        </p:spPr>
      </p:pic>
      <p:sp>
        <p:nvSpPr>
          <p:cNvPr id="10" name="Text 7"/>
          <p:cNvSpPr/>
          <p:nvPr/>
        </p:nvSpPr>
        <p:spPr>
          <a:xfrm>
            <a:off x="564356" y="4351883"/>
            <a:ext cx="5789228" cy="107156"/>
          </a:xfrm>
          <a:prstGeom prst="rect">
            <a:avLst/>
          </a:prstGeom>
          <a:noFill/>
          <a:ln/>
        </p:spPr>
        <p:txBody>
          <a:bodyPr wrap="square" lIns="0" tIns="0" rIns="0" bIns="0" rtlCol="0" anchor="t"/>
          <a:lstStyle/>
          <a:p>
            <a:pPr algn="ctr"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fig9_status.png · cumulative status, five open questions, two continuations</a:t>
            </a:r>
            <a:endParaRPr lang="en-US" sz="800" dirty="0"/>
          </a:p>
        </p:txBody>
      </p:sp>
      <p:sp>
        <p:nvSpPr>
          <p:cNvPr id="11" name="Text 8"/>
          <p:cNvSpPr/>
          <p:nvPr/>
        </p:nvSpPr>
        <p:spPr>
          <a:xfrm>
            <a:off x="6578612" y="1140768"/>
            <a:ext cx="2104616" cy="3421856"/>
          </a:xfrm>
          <a:prstGeom prst="roundRect">
            <a:avLst>
              <a:gd name="adj" fmla="val 2715"/>
            </a:avLst>
          </a:prstGeom>
          <a:solidFill>
            <a:srgbClr val="161B22"/>
          </a:solidFill>
          <a:ln w="7144">
            <a:solidFill>
              <a:srgbClr val="2A3038"/>
            </a:solidFill>
            <a:prstDash val="solid"/>
          </a:ln>
        </p:spPr>
        <p:txBody>
          <a:bodyPr wrap="square" rtlCol="0" anchor="ctr"/>
          <a:lstStyle/>
          <a:p>
            <a:pPr indent="0" marL="0">
              <a:buNone/>
            </a:pPr>
            <a:endParaRPr lang="en-US" dirty="0"/>
          </a:p>
        </p:txBody>
      </p:sp>
      <p:sp>
        <p:nvSpPr>
          <p:cNvPr id="12" name="Text 9"/>
          <p:cNvSpPr/>
          <p:nvPr/>
        </p:nvSpPr>
        <p:spPr>
          <a:xfrm>
            <a:off x="6696484" y="1244352"/>
            <a:ext cx="1868872" cy="164592"/>
          </a:xfrm>
          <a:prstGeom prst="rect">
            <a:avLst/>
          </a:prstGeom>
          <a:noFill/>
          <a:ln/>
        </p:spPr>
        <p:txBody>
          <a:bodyPr wrap="none" lIns="0" tIns="0" rIns="0" bIns="0" rtlCol="0" anchor="t"/>
          <a:lstStyle/>
          <a:p>
            <a:pPr algn="l" indent="0" marL="0">
              <a:lnSpc>
                <a:spcPts val="1181"/>
              </a:lnSpc>
              <a:buNone/>
            </a:pPr>
            <a:r>
              <a:rPr lang="en-US" sz="800" dirty="0">
                <a:solidFill>
                  <a:srgbClr val="FFB454"/>
                </a:solidFill>
                <a:latin typeface="Carlito" pitchFamily="34" charset="0"/>
                <a:ea typeface="Carlito" pitchFamily="34" charset="-122"/>
                <a:cs typeface="Carlito" pitchFamily="34" charset="-120"/>
              </a:rPr>
              <a:t>Net progress</a:t>
            </a:r>
            <a:endParaRPr lang="en-US" sz="800" dirty="0"/>
          </a:p>
        </p:txBody>
      </p:sp>
      <p:sp>
        <p:nvSpPr>
          <p:cNvPr id="13" name="Shape 10"/>
          <p:cNvSpPr/>
          <p:nvPr/>
        </p:nvSpPr>
        <p:spPr>
          <a:xfrm>
            <a:off x="6696484" y="1762274"/>
            <a:ext cx="1868872" cy="0"/>
          </a:xfrm>
          <a:prstGeom prst="line">
            <a:avLst/>
          </a:prstGeom>
          <a:noFill/>
          <a:ln w="7144">
            <a:solidFill>
              <a:srgbClr val="2A3038"/>
            </a:solidFill>
            <a:prstDash val="dash"/>
          </a:ln>
        </p:spPr>
      </p:sp>
      <p:sp>
        <p:nvSpPr>
          <p:cNvPr id="14" name="Text 11"/>
          <p:cNvSpPr/>
          <p:nvPr/>
        </p:nvSpPr>
        <p:spPr>
          <a:xfrm>
            <a:off x="6696484" y="1465808"/>
            <a:ext cx="297180" cy="164592"/>
          </a:xfrm>
          <a:prstGeom prst="rect">
            <a:avLst/>
          </a:prstGeom>
          <a:noFill/>
          <a:ln/>
        </p:spPr>
        <p:txBody>
          <a:bodyPr wrap="none" lIns="0" tIns="0" rIns="0" bIns="0" rtlCol="0" anchor="t"/>
          <a:lstStyle/>
          <a:p>
            <a:pPr algn="l" indent="0" marL="0">
              <a:lnSpc>
                <a:spcPts val="928"/>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Q4</a:t>
            </a:r>
            <a:endParaRPr lang="en-US" sz="800" dirty="0"/>
          </a:p>
        </p:txBody>
      </p:sp>
      <p:sp>
        <p:nvSpPr>
          <p:cNvPr id="15" name="Text 12"/>
          <p:cNvSpPr/>
          <p:nvPr/>
        </p:nvSpPr>
        <p:spPr>
          <a:xfrm>
            <a:off x="6939372" y="1465808"/>
            <a:ext cx="1625984" cy="235744"/>
          </a:xfrm>
          <a:prstGeom prst="rect">
            <a:avLst/>
          </a:prstGeom>
          <a:noFill/>
          <a:ln/>
        </p:spPr>
        <p:txBody>
          <a:bodyPr wrap="square" lIns="0" tIns="0" rIns="0" bIns="0" rtlCol="0" anchor="t"/>
          <a:lstStyle/>
          <a:p>
            <a:pPr algn="l" indent="0" marL="0">
              <a:lnSpc>
                <a:spcPts val="928"/>
              </a:lnSpc>
              <a:buNone/>
            </a:pPr>
            <a:r>
              <a:rPr lang="en-US" sz="800" spc="43" kern="0" dirty="0">
                <a:solidFill>
                  <a:srgbClr val="6FE3D2"/>
                </a:solidFill>
                <a:latin typeface="Courier New" pitchFamily="34" charset="0"/>
                <a:ea typeface="Courier New" pitchFamily="34" charset="-122"/>
                <a:cs typeface="Courier New" pitchFamily="34" charset="-120"/>
              </a:rPr>
              <a:t>CLOSED</a:t>
            </a:r>
            <a:pPr algn="l" indent="0" marL="0">
              <a:lnSpc>
                <a:spcPts val="928"/>
              </a:lnSpc>
              <a:buNone/>
            </a:pPr>
            <a:r>
              <a:rPr lang="en-US" sz="800" dirty="0">
                <a:solidFill>
                  <a:srgbClr val="E6E6E6"/>
                </a:solidFill>
                <a:latin typeface="Carlito" pitchFamily="34" charset="0"/>
                <a:ea typeface="Carlito" pitchFamily="34" charset="-122"/>
                <a:cs typeface="Carlito" pitchFamily="34" charset="-120"/>
              </a:rPr>
              <a:t>vacuum basin: exact closed-form answer.</a:t>
            </a:r>
            <a:endParaRPr lang="en-US" sz="800" dirty="0"/>
          </a:p>
        </p:txBody>
      </p:sp>
      <p:sp>
        <p:nvSpPr>
          <p:cNvPr id="16" name="Shape 13"/>
          <p:cNvSpPr/>
          <p:nvPr/>
        </p:nvSpPr>
        <p:spPr>
          <a:xfrm>
            <a:off x="6696484" y="2126605"/>
            <a:ext cx="1868872" cy="0"/>
          </a:xfrm>
          <a:prstGeom prst="line">
            <a:avLst/>
          </a:prstGeom>
          <a:noFill/>
          <a:ln w="7144">
            <a:solidFill>
              <a:srgbClr val="2A3038"/>
            </a:solidFill>
            <a:prstDash val="dash"/>
          </a:ln>
        </p:spPr>
      </p:sp>
      <p:sp>
        <p:nvSpPr>
          <p:cNvPr id="17" name="Text 14"/>
          <p:cNvSpPr/>
          <p:nvPr/>
        </p:nvSpPr>
        <p:spPr>
          <a:xfrm>
            <a:off x="6696484" y="1830139"/>
            <a:ext cx="297180" cy="164592"/>
          </a:xfrm>
          <a:prstGeom prst="rect">
            <a:avLst/>
          </a:prstGeom>
          <a:noFill/>
          <a:ln/>
        </p:spPr>
        <p:txBody>
          <a:bodyPr wrap="none" lIns="0" tIns="0" rIns="0" bIns="0" rtlCol="0" anchor="t"/>
          <a:lstStyle/>
          <a:p>
            <a:pPr algn="l" indent="0" marL="0">
              <a:lnSpc>
                <a:spcPts val="928"/>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Q5</a:t>
            </a:r>
            <a:endParaRPr lang="en-US" sz="800" dirty="0"/>
          </a:p>
        </p:txBody>
      </p:sp>
      <p:sp>
        <p:nvSpPr>
          <p:cNvPr id="18" name="Text 15"/>
          <p:cNvSpPr/>
          <p:nvPr/>
        </p:nvSpPr>
        <p:spPr>
          <a:xfrm>
            <a:off x="6939372" y="1830139"/>
            <a:ext cx="1625984" cy="235744"/>
          </a:xfrm>
          <a:prstGeom prst="rect">
            <a:avLst/>
          </a:prstGeom>
          <a:noFill/>
          <a:ln/>
        </p:spPr>
        <p:txBody>
          <a:bodyPr wrap="square" lIns="0" tIns="0" rIns="0" bIns="0" rtlCol="0" anchor="t"/>
          <a:lstStyle/>
          <a:p>
            <a:pPr algn="l" indent="0" marL="0">
              <a:lnSpc>
                <a:spcPts val="928"/>
              </a:lnSpc>
              <a:buNone/>
            </a:pPr>
            <a:r>
              <a:rPr lang="en-US" sz="800" spc="43" kern="0" dirty="0">
                <a:solidFill>
                  <a:srgbClr val="FFB454"/>
                </a:solidFill>
                <a:latin typeface="Courier New" pitchFamily="34" charset="0"/>
                <a:ea typeface="Courier New" pitchFamily="34" charset="-122"/>
                <a:cs typeface="Courier New" pitchFamily="34" charset="-120"/>
              </a:rPr>
              <a:t>PARTIAL</a:t>
            </a:r>
            <a:pPr algn="l" indent="0" marL="0">
              <a:lnSpc>
                <a:spcPts val="928"/>
              </a:lnSpc>
              <a:buNone/>
            </a:pPr>
            <a:r>
              <a:rPr lang="en-US" sz="800" dirty="0">
                <a:solidFill>
                  <a:srgbClr val="E6E6E6"/>
                </a:solidFill>
                <a:latin typeface="Carlito" pitchFamily="34" charset="0"/>
                <a:ea typeface="Carlito" pitchFamily="34" charset="-122"/>
                <a:cs typeface="Carlito" pitchFamily="34" charset="-120"/>
              </a:rPr>
              <a:t>[24,12,8] sampling: Golay wins +0.015, self-dual sampling incomplete.</a:t>
            </a:r>
            <a:endParaRPr lang="en-US" sz="800" dirty="0"/>
          </a:p>
        </p:txBody>
      </p:sp>
      <p:sp>
        <p:nvSpPr>
          <p:cNvPr id="19" name="Shape 16"/>
          <p:cNvSpPr/>
          <p:nvPr/>
        </p:nvSpPr>
        <p:spPr>
          <a:xfrm>
            <a:off x="6696484" y="2490936"/>
            <a:ext cx="1868872" cy="0"/>
          </a:xfrm>
          <a:prstGeom prst="line">
            <a:avLst/>
          </a:prstGeom>
          <a:noFill/>
          <a:ln w="7144">
            <a:solidFill>
              <a:srgbClr val="2A3038"/>
            </a:solidFill>
            <a:prstDash val="dash"/>
          </a:ln>
        </p:spPr>
      </p:sp>
      <p:sp>
        <p:nvSpPr>
          <p:cNvPr id="20" name="Text 17"/>
          <p:cNvSpPr/>
          <p:nvPr/>
        </p:nvSpPr>
        <p:spPr>
          <a:xfrm>
            <a:off x="6696484" y="2194471"/>
            <a:ext cx="297180" cy="164592"/>
          </a:xfrm>
          <a:prstGeom prst="rect">
            <a:avLst/>
          </a:prstGeom>
          <a:noFill/>
          <a:ln/>
        </p:spPr>
        <p:txBody>
          <a:bodyPr wrap="none" lIns="0" tIns="0" rIns="0" bIns="0" rtlCol="0" anchor="t"/>
          <a:lstStyle/>
          <a:p>
            <a:pPr algn="l" indent="0" marL="0">
              <a:lnSpc>
                <a:spcPts val="928"/>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Q1</a:t>
            </a:r>
            <a:endParaRPr lang="en-US" sz="800" dirty="0"/>
          </a:p>
        </p:txBody>
      </p:sp>
      <p:sp>
        <p:nvSpPr>
          <p:cNvPr id="21" name="Text 18"/>
          <p:cNvSpPr/>
          <p:nvPr/>
        </p:nvSpPr>
        <p:spPr>
          <a:xfrm>
            <a:off x="6939372" y="2194471"/>
            <a:ext cx="1625984" cy="235744"/>
          </a:xfrm>
          <a:prstGeom prst="rect">
            <a:avLst/>
          </a:prstGeom>
          <a:noFill/>
          <a:ln/>
        </p:spPr>
        <p:txBody>
          <a:bodyPr wrap="square" lIns="0" tIns="0" rIns="0" bIns="0" rtlCol="0" anchor="t"/>
          <a:lstStyle/>
          <a:p>
            <a:pPr algn="l" indent="0" marL="0">
              <a:lnSpc>
                <a:spcPts val="928"/>
              </a:lnSpc>
              <a:buNone/>
            </a:pPr>
            <a:r>
              <a:rPr lang="en-US" sz="800" spc="43" kern="0" dirty="0">
                <a:solidFill>
                  <a:srgbClr val="B097FF"/>
                </a:solidFill>
                <a:latin typeface="Courier New" pitchFamily="34" charset="0"/>
                <a:ea typeface="Courier New" pitchFamily="34" charset="-122"/>
                <a:cs typeface="Courier New" pitchFamily="34" charset="-120"/>
              </a:rPr>
              <a:t>THEOREM</a:t>
            </a:r>
            <a:pPr algn="l" indent="0" marL="0">
              <a:lnSpc>
                <a:spcPts val="928"/>
              </a:lnSpc>
              <a:buNone/>
            </a:pPr>
            <a:r>
              <a:rPr lang="en-US" sz="800" dirty="0">
                <a:solidFill>
                  <a:srgbClr val="E6E6E6"/>
                </a:solidFill>
                <a:latin typeface="Carlito" pitchFamily="34" charset="0"/>
                <a:ea typeface="Carlito" pitchFamily="34" charset="-122"/>
                <a:cs typeface="Carlito" pitchFamily="34" charset="-120"/>
              </a:rPr>
              <a:t>Golay uniqueness: 4-step proof sketch, Step 3 incomplete.</a:t>
            </a:r>
            <a:endParaRPr lang="en-US" sz="800" dirty="0"/>
          </a:p>
        </p:txBody>
      </p:sp>
      <p:sp>
        <p:nvSpPr>
          <p:cNvPr id="22" name="Shape 19"/>
          <p:cNvSpPr/>
          <p:nvPr/>
        </p:nvSpPr>
        <p:spPr>
          <a:xfrm>
            <a:off x="6696484" y="2855268"/>
            <a:ext cx="1868872" cy="0"/>
          </a:xfrm>
          <a:prstGeom prst="line">
            <a:avLst/>
          </a:prstGeom>
          <a:noFill/>
          <a:ln w="7144">
            <a:solidFill>
              <a:srgbClr val="2A3038"/>
            </a:solidFill>
            <a:prstDash val="dash"/>
          </a:ln>
        </p:spPr>
      </p:sp>
      <p:sp>
        <p:nvSpPr>
          <p:cNvPr id="23" name="Text 20"/>
          <p:cNvSpPr/>
          <p:nvPr/>
        </p:nvSpPr>
        <p:spPr>
          <a:xfrm>
            <a:off x="6696484" y="2558802"/>
            <a:ext cx="297180" cy="164592"/>
          </a:xfrm>
          <a:prstGeom prst="rect">
            <a:avLst/>
          </a:prstGeom>
          <a:noFill/>
          <a:ln/>
        </p:spPr>
        <p:txBody>
          <a:bodyPr wrap="none" lIns="0" tIns="0" rIns="0" bIns="0" rtlCol="0" anchor="t"/>
          <a:lstStyle/>
          <a:p>
            <a:pPr algn="l" indent="0" marL="0">
              <a:lnSpc>
                <a:spcPts val="928"/>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Q2</a:t>
            </a:r>
            <a:endParaRPr lang="en-US" sz="800" dirty="0"/>
          </a:p>
        </p:txBody>
      </p:sp>
      <p:sp>
        <p:nvSpPr>
          <p:cNvPr id="24" name="Text 21"/>
          <p:cNvSpPr/>
          <p:nvPr/>
        </p:nvSpPr>
        <p:spPr>
          <a:xfrm>
            <a:off x="6939372" y="2558802"/>
            <a:ext cx="1625984" cy="235744"/>
          </a:xfrm>
          <a:prstGeom prst="rect">
            <a:avLst/>
          </a:prstGeom>
          <a:noFill/>
          <a:ln/>
        </p:spPr>
        <p:txBody>
          <a:bodyPr wrap="square" lIns="0" tIns="0" rIns="0" bIns="0" rtlCol="0" anchor="t"/>
          <a:lstStyle/>
          <a:p>
            <a:pPr algn="l" indent="0" marL="0">
              <a:lnSpc>
                <a:spcPts val="928"/>
              </a:lnSpc>
              <a:buNone/>
            </a:pPr>
            <a:r>
              <a:rPr lang="en-US" sz="800" spc="43" kern="0" dirty="0">
                <a:solidFill>
                  <a:srgbClr val="FF6B6B"/>
                </a:solidFill>
                <a:latin typeface="Courier New" pitchFamily="34" charset="0"/>
                <a:ea typeface="Courier New" pitchFamily="34" charset="-122"/>
                <a:cs typeface="Courier New" pitchFamily="34" charset="-120"/>
              </a:rPr>
              <a:t>FALSIFIED</a:t>
            </a:r>
            <a:pPr algn="l" indent="0" marL="0">
              <a:lnSpc>
                <a:spcPts val="928"/>
              </a:lnSpc>
              <a:buNone/>
            </a:pPr>
            <a:r>
              <a:rPr lang="en-US" sz="800" dirty="0">
                <a:solidFill>
                  <a:srgbClr val="E6E6E6"/>
                </a:solidFill>
                <a:latin typeface="Carlito" pitchFamily="34" charset="0"/>
                <a:ea typeface="Carlito" pitchFamily="34" charset="-122"/>
                <a:cs typeface="Carlito" pitchFamily="34" charset="-120"/>
              </a:rPr>
              <a:t>qualified self-dual: E8+E8 loses to random d=4 at [16,8].</a:t>
            </a:r>
            <a:endParaRPr lang="en-US" sz="800" dirty="0"/>
          </a:p>
        </p:txBody>
      </p:sp>
      <p:sp>
        <p:nvSpPr>
          <p:cNvPr id="25" name="Shape 22"/>
          <p:cNvSpPr/>
          <p:nvPr/>
        </p:nvSpPr>
        <p:spPr>
          <a:xfrm>
            <a:off x="6696484" y="3219599"/>
            <a:ext cx="1868872" cy="0"/>
          </a:xfrm>
          <a:prstGeom prst="line">
            <a:avLst/>
          </a:prstGeom>
          <a:noFill/>
          <a:ln w="7144">
            <a:solidFill>
              <a:srgbClr val="2A3038"/>
            </a:solidFill>
            <a:prstDash val="dash"/>
          </a:ln>
        </p:spPr>
      </p:sp>
      <p:sp>
        <p:nvSpPr>
          <p:cNvPr id="26" name="Text 23"/>
          <p:cNvSpPr/>
          <p:nvPr/>
        </p:nvSpPr>
        <p:spPr>
          <a:xfrm>
            <a:off x="6696484" y="2923133"/>
            <a:ext cx="297180" cy="164592"/>
          </a:xfrm>
          <a:prstGeom prst="rect">
            <a:avLst/>
          </a:prstGeom>
          <a:noFill/>
          <a:ln/>
        </p:spPr>
        <p:txBody>
          <a:bodyPr wrap="none" lIns="0" tIns="0" rIns="0" bIns="0" rtlCol="0" anchor="t"/>
          <a:lstStyle/>
          <a:p>
            <a:pPr algn="l" indent="0" marL="0">
              <a:lnSpc>
                <a:spcPts val="928"/>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Q3</a:t>
            </a:r>
            <a:endParaRPr lang="en-US" sz="800" dirty="0"/>
          </a:p>
        </p:txBody>
      </p:sp>
      <p:sp>
        <p:nvSpPr>
          <p:cNvPr id="27" name="Text 24"/>
          <p:cNvSpPr/>
          <p:nvPr/>
        </p:nvSpPr>
        <p:spPr>
          <a:xfrm>
            <a:off x="6939372" y="2923133"/>
            <a:ext cx="1625984" cy="235744"/>
          </a:xfrm>
          <a:prstGeom prst="rect">
            <a:avLst/>
          </a:prstGeom>
          <a:noFill/>
          <a:ln/>
        </p:spPr>
        <p:txBody>
          <a:bodyPr wrap="square" lIns="0" tIns="0" rIns="0" bIns="0" rtlCol="0" anchor="t"/>
          <a:lstStyle/>
          <a:p>
            <a:pPr algn="l" indent="0" marL="0">
              <a:lnSpc>
                <a:spcPts val="928"/>
              </a:lnSpc>
              <a:buNone/>
            </a:pPr>
            <a:r>
              <a:rPr lang="en-US" sz="800" spc="43" kern="0" dirty="0">
                <a:solidFill>
                  <a:srgbClr val="6B7280"/>
                </a:solidFill>
                <a:latin typeface="Courier New" pitchFamily="34" charset="0"/>
                <a:ea typeface="Courier New" pitchFamily="34" charset="-122"/>
                <a:cs typeface="Courier New" pitchFamily="34" charset="-120"/>
              </a:rPr>
              <a:t>OPEN</a:t>
            </a:r>
            <a:pPr algn="l" indent="0" marL="0">
              <a:lnSpc>
                <a:spcPts val="928"/>
              </a:lnSpc>
              <a:buNone/>
            </a:pPr>
            <a:r>
              <a:rPr lang="en-US" sz="800" dirty="0">
                <a:solidFill>
                  <a:srgbClr val="E6E6E6"/>
                </a:solidFill>
                <a:latin typeface="Carlito" pitchFamily="34" charset="0"/>
                <a:ea typeface="Carlito" pitchFamily="34" charset="-122"/>
                <a:cs typeface="Carlito" pitchFamily="34" charset="-120"/>
              </a:rPr>
              <a:t>why n=24: lattice argument articulated but sits outside </a:t>
            </a:r>
            <a:pPr algn="l" indent="0" marL="0">
              <a:lnSpc>
                <a:spcPts val="928"/>
              </a:lnSpc>
              <a:buNone/>
            </a:pPr>
            <a:r>
              <a:rPr lang="en-US" sz="800" i="1" dirty="0">
                <a:solidFill>
                  <a:srgbClr val="E6E6E6"/>
                </a:solidFill>
                <a:latin typeface="Tinos" pitchFamily="34" charset="0"/>
                <a:ea typeface="Tinos" pitchFamily="34" charset="-122"/>
                <a:cs typeface="Tinos" pitchFamily="34" charset="-120"/>
              </a:rPr>
              <a:t>Φ</a:t>
            </a:r>
            <a:pPr algn="l" indent="0" marL="0">
              <a:lnSpc>
                <a:spcPts val="928"/>
              </a:lnSpc>
              <a:buNone/>
            </a:pPr>
            <a:r>
              <a:rPr lang="en-US" sz="800" dirty="0">
                <a:solidFill>
                  <a:srgbClr val="E6E6E6"/>
                </a:solidFill>
                <a:latin typeface="Carlito" pitchFamily="34" charset="0"/>
                <a:ea typeface="Carlito" pitchFamily="34" charset="-122"/>
                <a:cs typeface="Carlito" pitchFamily="34" charset="-120"/>
              </a:rPr>
              <a:t>.</a:t>
            </a:r>
            <a:endParaRPr lang="en-US" sz="800" dirty="0"/>
          </a:p>
        </p:txBody>
      </p:sp>
      <p:sp>
        <p:nvSpPr>
          <p:cNvPr id="28" name="Shape 25"/>
          <p:cNvSpPr/>
          <p:nvPr/>
        </p:nvSpPr>
        <p:spPr>
          <a:xfrm>
            <a:off x="6696484" y="4166592"/>
            <a:ext cx="1868872" cy="0"/>
          </a:xfrm>
          <a:prstGeom prst="line">
            <a:avLst/>
          </a:prstGeom>
          <a:noFill/>
          <a:ln w="7144">
            <a:solidFill>
              <a:srgbClr val="2A3038"/>
            </a:solidFill>
            <a:prstDash val="solid"/>
          </a:ln>
        </p:spPr>
      </p:sp>
      <p:sp>
        <p:nvSpPr>
          <p:cNvPr id="29" name="Text 26"/>
          <p:cNvSpPr/>
          <p:nvPr/>
        </p:nvSpPr>
        <p:spPr>
          <a:xfrm>
            <a:off x="6696484" y="4163020"/>
            <a:ext cx="1868872" cy="296019"/>
          </a:xfrm>
          <a:prstGeom prst="rect">
            <a:avLst/>
          </a:prstGeom>
          <a:noFill/>
          <a:ln/>
        </p:spPr>
        <p:txBody>
          <a:bodyPr wrap="square" lIns="0" tIns="71438" rIns="0" bIns="0" rtlCol="0" anchor="t"/>
          <a:lstStyle/>
          <a:p>
            <a:pPr algn="l" indent="0" marL="0">
              <a:lnSpc>
                <a:spcPts val="856"/>
              </a:lnSpc>
              <a:buNone/>
            </a:pPr>
            <a:r>
              <a:rPr lang="en-US" sz="800" dirty="0">
                <a:solidFill>
                  <a:srgbClr val="E6E6E6"/>
                </a:solidFill>
                <a:latin typeface="Carlito" pitchFamily="34" charset="0"/>
                <a:ea typeface="Carlito" pitchFamily="34" charset="-122"/>
                <a:cs typeface="Carlito" pitchFamily="34" charset="-120"/>
              </a:rPr>
              <a:t>Net:</a:t>
            </a:r>
            <a:pPr algn="l" indent="0" marL="0">
              <a:lnSpc>
                <a:spcPts val="856"/>
              </a:lnSpc>
              <a:buNone/>
            </a:pPr>
            <a:r>
              <a:rPr lang="en-US" sz="800" dirty="0">
                <a:solidFill>
                  <a:srgbClr val="B5BAC4"/>
                </a:solidFill>
                <a:latin typeface="Carlito" pitchFamily="34" charset="0"/>
                <a:ea typeface="Carlito" pitchFamily="34" charset="-122"/>
                <a:cs typeface="Carlito" pitchFamily="34" charset="-120"/>
              </a:rPr>
              <a:t> 3 closed (1 fully, 1 partially, 1 falsified), 1 theorem, 1 open.</a:t>
            </a:r>
            <a:endParaRPr lang="en-US" sz="800" dirty="0"/>
          </a:p>
        </p:txBody>
      </p:sp>
      <p:sp>
        <p:nvSpPr>
          <p:cNvPr id="30" name="Text 27"/>
          <p:cNvSpPr/>
          <p:nvPr/>
        </p:nvSpPr>
        <p:spPr>
          <a:xfrm>
            <a:off x="6767029" y="4655493"/>
            <a:ext cx="1873337" cy="196453"/>
          </a:xfrm>
          <a:prstGeom prst="roundRect">
            <a:avLst>
              <a:gd name="adj" fmla="val 4843639"/>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31" name="Text 28"/>
          <p:cNvSpPr/>
          <p:nvPr/>
        </p:nvSpPr>
        <p:spPr>
          <a:xfrm>
            <a:off x="6763457" y="4651921"/>
            <a:ext cx="1923343" cy="284295"/>
          </a:xfrm>
          <a:prstGeom prst="rect">
            <a:avLst/>
          </a:prstGeom>
          <a:noFill/>
          <a:ln/>
        </p:spPr>
        <p:txBody>
          <a:bodyPr wrap="square" lIns="100013" tIns="35719" rIns="100013" bIns="35719" rtlCol="0" anchor="t"/>
          <a:lstStyle/>
          <a:p>
            <a:pPr algn="l" indent="0" marL="0">
              <a:lnSpc>
                <a:spcPts val="928"/>
              </a:lnSpc>
              <a:buNone/>
            </a:pPr>
            <a:r>
              <a:rPr lang="en-US" sz="800" spc="62" kern="0" dirty="0">
                <a:solidFill>
                  <a:srgbClr val="FFB454"/>
                </a:solidFill>
                <a:latin typeface="Segoe UI Symbol" pitchFamily="34" charset="0"/>
                <a:ea typeface="Segoe UI Symbol" pitchFamily="34" charset="-122"/>
                <a:cs typeface="Segoe UI Symbol" pitchFamily="34" charset="-120"/>
              </a:rPr>
              <a:t>✓</a:t>
            </a:r>
            <a:pPr algn="l" indent="0" marL="0">
              <a:lnSpc>
                <a:spcPts val="928"/>
              </a:lnSpc>
              <a:buNone/>
            </a:pPr>
            <a:r>
              <a:rPr lang="en-US" sz="800" spc="62" kern="0" dirty="0">
                <a:solidFill>
                  <a:srgbClr val="FFB454"/>
                </a:solidFill>
                <a:latin typeface="Courier New" pitchFamily="34" charset="0"/>
                <a:ea typeface="Courier New" pitchFamily="34" charset="-122"/>
                <a:cs typeface="Courier New" pitchFamily="34" charset="-120"/>
              </a:rPr>
              <a:t> CONTINUATION STATUS: ACTIVE</a:t>
            </a:r>
            <a:endParaRPr lang="en-US" sz="800" dirty="0"/>
          </a:p>
        </p:txBody>
      </p:sp>
      <p:sp>
        <p:nvSpPr>
          <p:cNvPr id="32" name="Text 29"/>
          <p:cNvSpPr/>
          <p:nvPr/>
        </p:nvSpPr>
        <p:spPr>
          <a:xfrm>
            <a:off x="457200" y="4893469"/>
            <a:ext cx="6363742"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UBP_STUDY_EXTREMAL_004 / Synthesis / p.13</a:t>
            </a:r>
            <a:endParaRPr lang="en-US" sz="800" dirty="0"/>
          </a:p>
        </p:txBody>
      </p:sp>
      <p:sp>
        <p:nvSpPr>
          <p:cNvPr id="33" name="Text 30"/>
          <p:cNvSpPr/>
          <p:nvPr/>
        </p:nvSpPr>
        <p:spPr>
          <a:xfrm>
            <a:off x="6835229" y="4893469"/>
            <a:ext cx="1999696"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Liberation Sans Narrow" pitchFamily="34" charset="0"/>
                <a:ea typeface="Liberation Sans Narrow" pitchFamily="34" charset="-122"/>
                <a:cs typeface="Liberation Sans Narrow" pitchFamily="34" charset="-120"/>
              </a:rPr>
              <a:t>5 OPEN QS · 3 CLOSED · 1 FALSIFIED</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7080461"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REFINED CONJECTURE / DOUBLY-EVEN SELF-DUAL / 14 OF 16</a:t>
            </a:r>
            <a:endParaRPr lang="en-US" sz="800" dirty="0"/>
          </a:p>
        </p:txBody>
      </p:sp>
      <p:sp>
        <p:nvSpPr>
          <p:cNvPr id="4" name="Text 2"/>
          <p:cNvSpPr/>
          <p:nvPr/>
        </p:nvSpPr>
        <p:spPr>
          <a:xfrm>
            <a:off x="7551948" y="342900"/>
            <a:ext cx="1134852"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UBP_STUDY_EXTREMAL_004</a:t>
            </a:r>
            <a:endParaRPr lang="en-US" sz="800" dirty="0"/>
          </a:p>
        </p:txBody>
      </p:sp>
      <p:sp>
        <p:nvSpPr>
          <p:cNvPr id="5" name="Text 3"/>
          <p:cNvSpPr/>
          <p:nvPr/>
        </p:nvSpPr>
        <p:spPr>
          <a:xfrm>
            <a:off x="457200" y="685800"/>
            <a:ext cx="342900" cy="21431"/>
          </a:xfrm>
          <a:prstGeom prst="rect">
            <a:avLst/>
          </a:prstGeom>
          <a:solidFill>
            <a:srgbClr val="FFB454"/>
          </a:solidFill>
          <a:ln/>
        </p:spPr>
        <p:txBody>
          <a:bodyPr wrap="square" rtlCol="0" anchor="ctr"/>
          <a:lstStyle/>
          <a:p>
            <a:pPr indent="0" marL="0">
              <a:buNone/>
            </a:pPr>
            <a:endParaRPr lang="en-US" dirty="0"/>
          </a:p>
        </p:txBody>
      </p:sp>
      <p:sp>
        <p:nvSpPr>
          <p:cNvPr id="6" name="Text 4"/>
          <p:cNvSpPr/>
          <p:nvPr/>
        </p:nvSpPr>
        <p:spPr>
          <a:xfrm>
            <a:off x="457200" y="821531"/>
            <a:ext cx="4518645" cy="238226"/>
          </a:xfrm>
          <a:prstGeom prst="rect">
            <a:avLst/>
          </a:prstGeom>
          <a:noFill/>
          <a:ln/>
        </p:spPr>
        <p:txBody>
          <a:bodyPr wrap="square" lIns="0" tIns="0" rIns="0" bIns="0" rtlCol="0" anchor="t">
            <a:normAutofit/>
          </a:bodyPr>
          <a:lstStyle/>
          <a:p>
            <a:pPr algn="l" indent="0" marL="0">
              <a:lnSpc>
                <a:spcPts val="1811"/>
              </a:lnSpc>
              <a:buNone/>
            </a:pPr>
            <a:r>
              <a:rPr lang="en-US" sz="1575" spc="-16" kern="0" dirty="0">
                <a:solidFill>
                  <a:srgbClr val="E6E6E6"/>
                </a:solidFill>
                <a:latin typeface="Carlito" pitchFamily="34" charset="0"/>
                <a:ea typeface="Carlito" pitchFamily="34" charset="-122"/>
                <a:cs typeface="Carlito" pitchFamily="34" charset="-120"/>
              </a:rPr>
              <a:t>Refined conjecture: doubly-even self-dual codes</a:t>
            </a:r>
            <a:endParaRPr lang="en-US" sz="1575" dirty="0"/>
          </a:p>
        </p:txBody>
      </p:sp>
      <p:sp>
        <p:nvSpPr>
          <p:cNvPr id="7" name="Text 5"/>
          <p:cNvSpPr/>
          <p:nvPr/>
        </p:nvSpPr>
        <p:spPr>
          <a:xfrm>
            <a:off x="457200" y="1087189"/>
            <a:ext cx="4518645" cy="164592"/>
          </a:xfrm>
          <a:prstGeom prst="rect">
            <a:avLst/>
          </a:prstGeom>
          <a:noFill/>
          <a:ln/>
        </p:spPr>
        <p:txBody>
          <a:bodyPr wrap="square" lIns="0" tIns="0" rIns="0" bIns="0" rtlCol="0" anchor="t"/>
          <a:lstStyle/>
          <a:p>
            <a:pPr algn="l" indent="0" marL="0">
              <a:lnSpc>
                <a:spcPts val="1181"/>
              </a:lnSpc>
              <a:buNone/>
            </a:pPr>
            <a:r>
              <a:rPr lang="en-US" sz="800" dirty="0">
                <a:solidFill>
                  <a:srgbClr val="B5BAC4"/>
                </a:solidFill>
                <a:latin typeface="Carlito" pitchFamily="34" charset="0"/>
                <a:ea typeface="Carlito" pitchFamily="34" charset="-122"/>
                <a:cs typeface="Carlito" pitchFamily="34" charset="-120"/>
              </a:rPr>
              <a:t>A pattern emerges from the negative and positive results across </a:t>
            </a:r>
            <a:pPr algn="l" indent="0" marL="0">
              <a:lnSpc>
                <a:spcPts val="1181"/>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n = 8, 16, 24</a:t>
            </a:r>
            <a:pPr algn="l" indent="0" marL="0">
              <a:lnSpc>
                <a:spcPts val="1181"/>
              </a:lnSpc>
              <a:buNone/>
            </a:pPr>
            <a:r>
              <a:rPr lang="en-US" sz="800" dirty="0">
                <a:solidFill>
                  <a:srgbClr val="B5BAC4"/>
                </a:solidFill>
                <a:latin typeface="Carlito" pitchFamily="34" charset="0"/>
                <a:ea typeface="Carlito" pitchFamily="34" charset="-122"/>
                <a:cs typeface="Carlito" pitchFamily="34" charset="-120"/>
              </a:rPr>
              <a:t>.</a:t>
            </a:r>
            <a:endParaRPr lang="en-US" sz="800" dirty="0"/>
          </a:p>
        </p:txBody>
      </p:sp>
      <p:sp>
        <p:nvSpPr>
          <p:cNvPr id="8" name="Text 6"/>
          <p:cNvSpPr/>
          <p:nvPr/>
        </p:nvSpPr>
        <p:spPr>
          <a:xfrm>
            <a:off x="7964612" y="1022896"/>
            <a:ext cx="722188" cy="329184"/>
          </a:xfrm>
          <a:prstGeom prst="rect">
            <a:avLst/>
          </a:prstGeom>
          <a:noFill/>
          <a:ln/>
        </p:spPr>
        <p:txBody>
          <a:bodyPr wrap="square" lIns="0" tIns="0" rIns="0" bIns="0" rtlCol="0" anchor="t"/>
          <a:lstStyle/>
          <a:p>
            <a:pPr algn="r"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TABLE · 4 ROWS</a:t>
            </a:r>
            <a:endParaRPr lang="en-US" sz="800" dirty="0"/>
          </a:p>
          <a:p>
            <a:pPr algn="r"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4 COLUMNS</a:t>
            </a:r>
            <a:endParaRPr lang="en-US" sz="800" dirty="0"/>
          </a:p>
        </p:txBody>
      </p:sp>
      <p:sp>
        <p:nvSpPr>
          <p:cNvPr id="9" name="Text 7"/>
          <p:cNvSpPr/>
          <p:nvPr/>
        </p:nvSpPr>
        <p:spPr>
          <a:xfrm>
            <a:off x="460772" y="1326505"/>
            <a:ext cx="8222456" cy="1268462"/>
          </a:xfrm>
          <a:prstGeom prst="roundRect">
            <a:avLst>
              <a:gd name="adj" fmla="val 4505"/>
            </a:avLst>
          </a:prstGeom>
          <a:solidFill>
            <a:srgbClr val="161B22"/>
          </a:solidFill>
          <a:ln w="7144">
            <a:solidFill>
              <a:srgbClr val="2A3038"/>
            </a:solidFill>
            <a:prstDash val="solid"/>
          </a:ln>
        </p:spPr>
        <p:txBody>
          <a:bodyPr wrap="square" rtlCol="0" anchor="ctr"/>
          <a:lstStyle/>
          <a:p>
            <a:pPr indent="0" marL="0">
              <a:buNone/>
            </a:pPr>
            <a:endParaRPr lang="en-US"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64344" y="1330077"/>
          <a:ext cx="8215313" cy="914400"/>
        </p:xfrm>
        <a:graphic>
          <a:graphicData uri="http://schemas.openxmlformats.org/drawingml/2006/table">
            <a:tbl>
              <a:tblPr/>
              <a:tblGrid>
                <a:gridCol w="903684"/>
                <a:gridCol w="2135981"/>
                <a:gridCol w="2053828"/>
                <a:gridCol w="3121819"/>
              </a:tblGrid>
              <a:tr h="0">
                <a:tc>
                  <a:txBody>
                    <a:bodyPr/>
                    <a:lstStyle/>
                    <a:p>
                      <a:pPr algn="l" indent="0" marL="0">
                        <a:buNone/>
                      </a:pPr>
                      <a:r>
                        <a:rPr lang="en-US" sz="800" b="1" dirty="0">
                          <a:solidFill>
                            <a:srgbClr val="6B7280"/>
                          </a:solidFill>
                          <a:latin typeface="Courier New" pitchFamily="34" charset="0"/>
                          <a:ea typeface="Courier New" pitchFamily="34" charset="-122"/>
                          <a:cs typeface="Courier New" pitchFamily="34" charset="-120"/>
                        </a:rPr>
                        <a:t>Dimension</a:t>
                      </a:r>
                      <a:endParaRPr lang="en-US" sz="800" dirty="0">
                        <a:latin typeface="Courier New" charset="0"/>
                        <a:ea typeface="Courier New" charset="0"/>
                        <a:cs typeface="Courier New" charset="0"/>
                      </a:endParaRPr>
                    </a:p>
                  </a:txBody>
                  <a:tcPr marL="57150" marR="85725" marT="85725" marB="57150"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solidFill>
                      <a:srgbClr val="1F2630"/>
                    </a:solidFill>
                  </a:tcPr>
                </a:tc>
                <a:tc>
                  <a:txBody>
                    <a:bodyPr/>
                    <a:lstStyle/>
                    <a:p>
                      <a:pPr algn="l" indent="0" marL="0">
                        <a:buNone/>
                      </a:pPr>
                      <a:r>
                        <a:rPr lang="en-US" sz="800" b="1" dirty="0">
                          <a:solidFill>
                            <a:srgbClr val="6B7280"/>
                          </a:solidFill>
                          <a:latin typeface="Courier New" pitchFamily="34" charset="0"/>
                          <a:ea typeface="Courier New" pitchFamily="34" charset="-122"/>
                          <a:cs typeface="Courier New" pitchFamily="34" charset="-120"/>
                        </a:rPr>
                        <a:t>Self-dual code</a:t>
                      </a:r>
                      <a:endParaRPr lang="en-US" sz="800" dirty="0">
                        <a:latin typeface="Courier New" charset="0"/>
                        <a:ea typeface="Courier New" charset="0"/>
                        <a:cs typeface="Courier New" charset="0"/>
                      </a:endParaRPr>
                    </a:p>
                  </a:txBody>
                  <a:tcPr marL="57150" marR="85725" marT="85725" marB="57150"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solidFill>
                      <a:srgbClr val="1F2630"/>
                    </a:solidFill>
                  </a:tcPr>
                </a:tc>
                <a:tc>
                  <a:txBody>
                    <a:bodyPr/>
                    <a:lstStyle/>
                    <a:p>
                      <a:pPr algn="l" indent="0" marL="0">
                        <a:buNone/>
                      </a:pPr>
                      <a:r>
                        <a:rPr lang="en-US" sz="800" b="1" dirty="0">
                          <a:solidFill>
                            <a:srgbClr val="6B7280"/>
                          </a:solidFill>
                          <a:latin typeface="Courier New" pitchFamily="34" charset="0"/>
                          <a:ea typeface="Courier New" pitchFamily="34" charset="-122"/>
                          <a:cs typeface="Courier New" pitchFamily="34" charset="-120"/>
                        </a:rPr>
                        <a:t>Doubly-even?</a:t>
                      </a:r>
                      <a:endParaRPr lang="en-US" sz="800" dirty="0">
                        <a:latin typeface="Courier New" charset="0"/>
                        <a:ea typeface="Courier New" charset="0"/>
                        <a:cs typeface="Courier New" charset="0"/>
                      </a:endParaRPr>
                    </a:p>
                  </a:txBody>
                  <a:tcPr marL="57150" marR="85725" marT="85725" marB="57150"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solidFill>
                      <a:srgbClr val="1F2630"/>
                    </a:solidFill>
                  </a:tcPr>
                </a:tc>
                <a:tc>
                  <a:txBody>
                    <a:bodyPr/>
                    <a:lstStyle/>
                    <a:p>
                      <a:pPr algn="l" indent="0" marL="0">
                        <a:buNone/>
                      </a:pPr>
                      <a:r>
                        <a:rPr lang="en-US" sz="800" b="1" dirty="0">
                          <a:solidFill>
                            <a:srgbClr val="6B7280"/>
                          </a:solidFill>
                          <a:latin typeface="Courier New" pitchFamily="34" charset="0"/>
                          <a:ea typeface="Courier New" pitchFamily="34" charset="-122"/>
                          <a:cs typeface="Courier New" pitchFamily="34" charset="-120"/>
                        </a:rPr>
                        <a:t>avg_Φ outcome</a:t>
                      </a:r>
                      <a:endParaRPr lang="en-US" sz="800" dirty="0">
                        <a:latin typeface="Courier New" charset="0"/>
                        <a:ea typeface="Courier New" charset="0"/>
                        <a:cs typeface="Courier New" charset="0"/>
                      </a:endParaRPr>
                    </a:p>
                  </a:txBody>
                  <a:tcPr marL="57150" marR="85725" marT="85725" marB="57150"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solidFill>
                      <a:srgbClr val="1F2630"/>
                    </a:solidFill>
                  </a:tcPr>
                </a:tc>
              </a:tr>
              <a:tr h="0">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n = 8</a:t>
                      </a:r>
                      <a:endParaRPr lang="en-US" sz="800" dirty="0">
                        <a:latin typeface="Carlito" charset="0"/>
                        <a:ea typeface="Carlito" charset="0"/>
                        <a:cs typeface="Carlito" charset="0"/>
                      </a:endParaRPr>
                    </a:p>
                  </a:txBody>
                  <a:tcPr marL="64294" marR="85725" marT="85725" marB="64294"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Ext Hamming [8,4,4]</a:t>
                      </a:r>
                      <a:endParaRPr lang="en-US" sz="800" dirty="0">
                        <a:latin typeface="Carlito" charset="0"/>
                        <a:ea typeface="Carlito" charset="0"/>
                        <a:cs typeface="Carlito" charset="0"/>
                      </a:endParaRPr>
                    </a:p>
                  </a:txBody>
                  <a:tcPr marL="64294" marR="85725" marT="85725" marB="64294"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YES (w divisible by 4)</a:t>
                      </a:r>
                      <a:endParaRPr lang="en-US" sz="800" dirty="0">
                        <a:latin typeface="Carlito" charset="0"/>
                        <a:ea typeface="Carlito" charset="0"/>
                        <a:cs typeface="Carlito" charset="0"/>
                      </a:endParaRPr>
                    </a:p>
                  </a:txBody>
                  <a:tcPr marL="64294" marR="85725" marT="85725" marB="64294"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WINS among d≥4 codes (Thread B + EXTREMAL_003)</a:t>
                      </a:r>
                      <a:endParaRPr lang="en-US" sz="800" dirty="0">
                        <a:latin typeface="Carlito" charset="0"/>
                        <a:ea typeface="Carlito" charset="0"/>
                        <a:cs typeface="Carlito" charset="0"/>
                      </a:endParaRPr>
                    </a:p>
                  </a:txBody>
                  <a:tcPr marL="64294" marR="85725" marT="85725" marB="64294"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r>
              <a:tr h="0">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n = 16</a:t>
                      </a:r>
                      <a:endParaRPr lang="en-US" sz="800" dirty="0">
                        <a:latin typeface="Carlito" charset="0"/>
                        <a:ea typeface="Carlito" charset="0"/>
                        <a:cs typeface="Carlito" charset="0"/>
                      </a:endParaRPr>
                    </a:p>
                  </a:txBody>
                  <a:tcPr marL="64294" marR="85725" marT="85725" marB="64294"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E8+E8 [16,8,4]</a:t>
                      </a:r>
                      <a:endParaRPr lang="en-US" sz="800" dirty="0">
                        <a:latin typeface="Carlito" charset="0"/>
                        <a:ea typeface="Carlito" charset="0"/>
                        <a:cs typeface="Carlito" charset="0"/>
                      </a:endParaRPr>
                    </a:p>
                  </a:txBody>
                  <a:tcPr marL="64294" marR="85725" marT="85725" marB="64294"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NO (singly-even, w=4 ok but w=8 not div by 4)</a:t>
                      </a:r>
                      <a:endParaRPr lang="en-US" sz="800" dirty="0">
                        <a:latin typeface="Carlito" charset="0"/>
                        <a:ea typeface="Carlito" charset="0"/>
                        <a:cs typeface="Carlito" charset="0"/>
                      </a:endParaRPr>
                    </a:p>
                  </a:txBody>
                  <a:tcPr marL="64294" marR="85725" marT="85725" marB="64294"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LOSES to 6 random NSD d=4 codes (Thread H)</a:t>
                      </a:r>
                      <a:endParaRPr lang="en-US" sz="800" dirty="0">
                        <a:latin typeface="Carlito" charset="0"/>
                        <a:ea typeface="Carlito" charset="0"/>
                        <a:cs typeface="Carlito" charset="0"/>
                      </a:endParaRPr>
                    </a:p>
                  </a:txBody>
                  <a:tcPr marL="64294" marR="85725" marT="85725" marB="64294"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r>
              <a:tr h="0">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n = 24</a:t>
                      </a:r>
                      <a:endParaRPr lang="en-US" sz="800" dirty="0">
                        <a:latin typeface="Carlito" charset="0"/>
                        <a:ea typeface="Carlito" charset="0"/>
                        <a:cs typeface="Carlito" charset="0"/>
                      </a:endParaRPr>
                    </a:p>
                  </a:txBody>
                  <a:tcPr marL="64294" marR="85725" marT="85725" marB="64294"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Golay [24,12,8]</a:t>
                      </a:r>
                      <a:endParaRPr lang="en-US" sz="800" dirty="0">
                        <a:latin typeface="Carlito" charset="0"/>
                        <a:ea typeface="Carlito" charset="0"/>
                        <a:cs typeface="Carlito" charset="0"/>
                      </a:endParaRPr>
                    </a:p>
                  </a:txBody>
                  <a:tcPr marL="64294" marR="85725" marT="85725" marB="64294"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YES (w ∈ {0,8,12,16,24}, all div by 4)</a:t>
                      </a:r>
                      <a:endParaRPr lang="en-US" sz="800" dirty="0">
                        <a:latin typeface="Carlito" charset="0"/>
                        <a:ea typeface="Carlito" charset="0"/>
                        <a:cs typeface="Carlito" charset="0"/>
                      </a:endParaRPr>
                    </a:p>
                  </a:txBody>
                  <a:tcPr marL="64294" marR="85725" marT="85725" marB="64294"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WINS over 4 random [24,12] codes (Thread F)</a:t>
                      </a:r>
                      <a:endParaRPr lang="en-US" sz="800" dirty="0">
                        <a:latin typeface="Carlito" charset="0"/>
                        <a:ea typeface="Carlito" charset="0"/>
                        <a:cs typeface="Carlito" charset="0"/>
                      </a:endParaRPr>
                    </a:p>
                  </a:txBody>
                  <a:tcPr marL="64294" marR="85725" marT="85725" marB="64294"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r>
              <a:tr h="0">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n = 24</a:t>
                      </a:r>
                      <a:endParaRPr lang="en-US" sz="800" dirty="0">
                        <a:latin typeface="Carlito" charset="0"/>
                        <a:ea typeface="Carlito" charset="0"/>
                        <a:cs typeface="Carlito" charset="0"/>
                      </a:endParaRPr>
                    </a:p>
                  </a:txBody>
                  <a:tcPr marL="64294" marR="85725" marT="85725" marB="64294"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Golay [23,12,7] puncture</a:t>
                      </a:r>
                      <a:endParaRPr lang="en-US" sz="800" dirty="0">
                        <a:latin typeface="Carlito" charset="0"/>
                        <a:ea typeface="Carlito" charset="0"/>
                        <a:cs typeface="Carlito" charset="0"/>
                      </a:endParaRPr>
                    </a:p>
                  </a:txBody>
                  <a:tcPr marL="64294" marR="85725" marT="85725" marB="64294"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N/A (not self-dual at n=23)</a:t>
                      </a:r>
                      <a:endParaRPr lang="en-US" sz="800" dirty="0">
                        <a:latin typeface="Carlito" charset="0"/>
                        <a:ea typeface="Carlito" charset="0"/>
                        <a:cs typeface="Carlito" charset="0"/>
                      </a:endParaRPr>
                    </a:p>
                  </a:txBody>
                  <a:tcPr marL="64294" marR="85725" marT="85725" marB="64294"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WINS over 5 random [23,12] codes (Thread D, EXTREMAL_003)</a:t>
                      </a:r>
                      <a:endParaRPr lang="en-US" sz="800" dirty="0">
                        <a:latin typeface="Carlito" charset="0"/>
                        <a:ea typeface="Carlito" charset="0"/>
                        <a:cs typeface="Carlito" charset="0"/>
                      </a:endParaRPr>
                    </a:p>
                  </a:txBody>
                  <a:tcPr marL="64294" marR="85725" marT="85725" marB="64294"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r>
            </a:tbl>
          </a:graphicData>
        </a:graphic>
      </p:graphicFrame>
      <p:sp>
        <p:nvSpPr>
          <p:cNvPr id="11" name="Text 8"/>
          <p:cNvSpPr/>
          <p:nvPr/>
        </p:nvSpPr>
        <p:spPr>
          <a:xfrm>
            <a:off x="460772" y="2687836"/>
            <a:ext cx="8222456" cy="1205954"/>
          </a:xfrm>
          <a:prstGeom prst="roundRect">
            <a:avLst>
              <a:gd name="adj" fmla="val 4739"/>
            </a:avLst>
          </a:prstGeom>
          <a:solidFill>
            <a:srgbClr val="1F2630"/>
          </a:solidFill>
          <a:ln w="7144">
            <a:solidFill>
              <a:srgbClr val="2A3038"/>
            </a:solidFill>
            <a:prstDash val="solid"/>
          </a:ln>
        </p:spPr>
        <p:txBody>
          <a:bodyPr wrap="square" rtlCol="0" anchor="ctr"/>
          <a:lstStyle/>
          <a:p>
            <a:pPr indent="0" marL="0">
              <a:buNone/>
            </a:pPr>
            <a:endParaRPr lang="en-US" dirty="0"/>
          </a:p>
        </p:txBody>
      </p:sp>
      <p:sp>
        <p:nvSpPr>
          <p:cNvPr id="12" name="Text 9"/>
          <p:cNvSpPr/>
          <p:nvPr/>
        </p:nvSpPr>
        <p:spPr>
          <a:xfrm>
            <a:off x="592931" y="2784277"/>
            <a:ext cx="6740686" cy="164592"/>
          </a:xfrm>
          <a:prstGeom prst="rect">
            <a:avLst/>
          </a:prstGeom>
          <a:noFill/>
          <a:ln/>
        </p:spPr>
        <p:txBody>
          <a:bodyPr wrap="none" lIns="0" tIns="0" rIns="0" bIns="0" rtlCol="0" anchor="t"/>
          <a:lstStyle/>
          <a:p>
            <a:pPr algn="l" indent="0" marL="0">
              <a:lnSpc>
                <a:spcPts val="1181"/>
              </a:lnSpc>
              <a:buNone/>
            </a:pPr>
            <a:r>
              <a:rPr lang="en-US" sz="800" spc="4" kern="0" dirty="0">
                <a:solidFill>
                  <a:srgbClr val="FFB454"/>
                </a:solidFill>
                <a:latin typeface="Carlito" pitchFamily="34" charset="0"/>
                <a:ea typeface="Carlito" pitchFamily="34" charset="-122"/>
                <a:cs typeface="Carlito" pitchFamily="34" charset="-120"/>
              </a:rPr>
              <a:t>Refined Conjecture</a:t>
            </a:r>
            <a:endParaRPr lang="en-US" sz="800" dirty="0"/>
          </a:p>
        </p:txBody>
      </p:sp>
      <p:sp>
        <p:nvSpPr>
          <p:cNvPr id="13" name="Text 10"/>
          <p:cNvSpPr/>
          <p:nvPr/>
        </p:nvSpPr>
        <p:spPr>
          <a:xfrm>
            <a:off x="7325045" y="2767274"/>
            <a:ext cx="1206021" cy="184023"/>
          </a:xfrm>
          <a:prstGeom prst="roundRect">
            <a:avLst>
              <a:gd name="adj" fmla="val 5170807"/>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14" name="Text 11"/>
          <p:cNvSpPr/>
          <p:nvPr/>
        </p:nvSpPr>
        <p:spPr>
          <a:xfrm>
            <a:off x="7347905" y="2777133"/>
            <a:ext cx="1160301"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FFB454"/>
                </a:solidFill>
                <a:latin typeface="Courier New" pitchFamily="34" charset="0"/>
                <a:ea typeface="Courier New" pitchFamily="34" charset="-122"/>
                <a:cs typeface="Courier New" pitchFamily="34" charset="-120"/>
              </a:rPr>
              <a:t>CONJECTURE (REFINED)</a:t>
            </a:r>
            <a:endParaRPr lang="en-US" sz="800" dirty="0"/>
          </a:p>
        </p:txBody>
      </p:sp>
      <p:sp>
        <p:nvSpPr>
          <p:cNvPr id="15" name="Text 12"/>
          <p:cNvSpPr/>
          <p:nvPr/>
        </p:nvSpPr>
        <p:spPr>
          <a:xfrm>
            <a:off x="592931" y="2998589"/>
            <a:ext cx="7958138" cy="175272"/>
          </a:xfrm>
          <a:prstGeom prst="rect">
            <a:avLst/>
          </a:prstGeom>
          <a:noFill/>
          <a:ln/>
        </p:spPr>
        <p:txBody>
          <a:bodyPr wrap="square" lIns="0" tIns="0" rIns="0" bIns="0" rtlCol="0" anchor="t">
            <a:normAutofit/>
          </a:bodyPr>
          <a:lstStyle/>
          <a:p>
            <a:pPr algn="l" indent="0" marL="0">
              <a:lnSpc>
                <a:spcPts val="1090"/>
              </a:lnSpc>
              <a:buNone/>
            </a:pPr>
            <a:r>
              <a:rPr lang="en-US" sz="800" dirty="0">
                <a:solidFill>
                  <a:srgbClr val="E6E6E6"/>
                </a:solidFill>
                <a:latin typeface="Carlito" pitchFamily="34" charset="0"/>
                <a:ea typeface="Carlito" pitchFamily="34" charset="-122"/>
                <a:cs typeface="Carlito" pitchFamily="34" charset="-120"/>
              </a:rPr>
              <a:t>Among </a:t>
            </a:r>
            <a:pPr algn="l" indent="0" marL="0">
              <a:lnSpc>
                <a:spcPts val="1090"/>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[n, n/2]</a:t>
            </a:r>
            <a:pPr algn="l" indent="0" marL="0">
              <a:lnSpc>
                <a:spcPts val="1090"/>
              </a:lnSpc>
              <a:buNone/>
            </a:pPr>
            <a:r>
              <a:rPr lang="en-US" sz="800" dirty="0">
                <a:solidFill>
                  <a:srgbClr val="E6E6E6"/>
                </a:solidFill>
                <a:latin typeface="Carlito" pitchFamily="34" charset="0"/>
                <a:ea typeface="Carlito" pitchFamily="34" charset="-122"/>
                <a:cs typeface="Carlito" pitchFamily="34" charset="-120"/>
              </a:rPr>
              <a:t> binary linear codes, </a:t>
            </a:r>
            <a:pPr algn="l" indent="0" marL="0">
              <a:lnSpc>
                <a:spcPts val="1090"/>
              </a:lnSpc>
              <a:buNone/>
            </a:pPr>
            <a:r>
              <a:rPr lang="en-US" sz="800" dirty="0">
                <a:solidFill>
                  <a:srgbClr val="FFB454"/>
                </a:solidFill>
                <a:latin typeface="Carlito" pitchFamily="34" charset="0"/>
                <a:ea typeface="Carlito" pitchFamily="34" charset="-122"/>
                <a:cs typeface="Carlito" pitchFamily="34" charset="-120"/>
              </a:rPr>
              <a:t>doubly-even self-dual codes uniquely maximise</a:t>
            </a:r>
            <a:pPr algn="l" indent="0" marL="0">
              <a:lnSpc>
                <a:spcPts val="1090"/>
              </a:lnSpc>
              <a:buNone/>
            </a:pPr>
            <a:r>
              <a:rPr lang="en-US" sz="800" dirty="0">
                <a:solidFill>
                  <a:srgbClr val="E6E6E6"/>
                </a:solidFill>
                <a:latin typeface="Carlito" pitchFamily="34" charset="0"/>
                <a:ea typeface="Carlito" pitchFamily="34" charset="-122"/>
                <a:cs typeface="Carlito" pitchFamily="34" charset="-120"/>
              </a:rPr>
              <a:t> avg_</a:t>
            </a:r>
            <a:pPr algn="l" indent="0" marL="0">
              <a:lnSpc>
                <a:spcPts val="1090"/>
              </a:lnSpc>
              <a:buNone/>
            </a:pPr>
            <a:r>
              <a:rPr lang="en-US" sz="800" i="1" dirty="0">
                <a:solidFill>
                  <a:srgbClr val="E6E6E6"/>
                </a:solidFill>
                <a:latin typeface="Tinos" pitchFamily="34" charset="0"/>
                <a:ea typeface="Tinos" pitchFamily="34" charset="-122"/>
                <a:cs typeface="Tinos" pitchFamily="34" charset="-120"/>
              </a:rPr>
              <a:t>Φ</a:t>
            </a:r>
            <a:pPr algn="l" indent="0" marL="0">
              <a:lnSpc>
                <a:spcPts val="1090"/>
              </a:lnSpc>
              <a:buNone/>
            </a:pPr>
            <a:r>
              <a:rPr lang="en-US" sz="800" dirty="0">
                <a:solidFill>
                  <a:srgbClr val="E6E6E6"/>
                </a:solidFill>
                <a:latin typeface="Carlito" pitchFamily="34" charset="0"/>
                <a:ea typeface="Carlito" pitchFamily="34" charset="-122"/>
                <a:cs typeface="Carlito" pitchFamily="34" charset="-120"/>
              </a:rPr>
              <a:t> — provided such a code exists for the given </a:t>
            </a:r>
            <a:pPr algn="l" indent="0" marL="0">
              <a:lnSpc>
                <a:spcPts val="1090"/>
              </a:lnSpc>
              <a:buNone/>
            </a:pPr>
            <a:r>
              <a:rPr lang="en-US" sz="800" i="1" dirty="0">
                <a:solidFill>
                  <a:srgbClr val="E6E6E6"/>
                </a:solidFill>
                <a:latin typeface="Tinos" pitchFamily="34" charset="0"/>
                <a:ea typeface="Tinos" pitchFamily="34" charset="-122"/>
                <a:cs typeface="Tinos" pitchFamily="34" charset="-120"/>
              </a:rPr>
              <a:t>n</a:t>
            </a:r>
            <a:pPr algn="l" indent="0" marL="0">
              <a:lnSpc>
                <a:spcPts val="1090"/>
              </a:lnSpc>
              <a:buNone/>
            </a:pPr>
            <a:r>
              <a:rPr lang="en-US" sz="800" dirty="0">
                <a:solidFill>
                  <a:srgbClr val="E6E6E6"/>
                </a:solidFill>
                <a:latin typeface="Carlito" pitchFamily="34" charset="0"/>
                <a:ea typeface="Carlito" pitchFamily="34" charset="-122"/>
                <a:cs typeface="Carlito" pitchFamily="34" charset="-120"/>
              </a:rPr>
              <a:t> (which requires </a:t>
            </a:r>
            <a:pPr algn="l" indent="0" marL="0">
              <a:lnSpc>
                <a:spcPts val="1090"/>
              </a:lnSpc>
              <a:buNone/>
            </a:pPr>
            <a:r>
              <a:rPr lang="en-US" sz="800" i="1" dirty="0">
                <a:solidFill>
                  <a:srgbClr val="E6E6E6"/>
                </a:solidFill>
                <a:latin typeface="Tinos" pitchFamily="34" charset="0"/>
                <a:ea typeface="Tinos" pitchFamily="34" charset="-122"/>
                <a:cs typeface="Tinos" pitchFamily="34" charset="-120"/>
              </a:rPr>
              <a:t>n</a:t>
            </a:r>
            <a:pPr algn="l" indent="0" marL="0">
              <a:lnSpc>
                <a:spcPts val="1090"/>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 = 0 mod 8).</a:t>
            </a:r>
            <a:endParaRPr lang="en-US" sz="800" dirty="0"/>
          </a:p>
        </p:txBody>
      </p:sp>
      <p:sp>
        <p:nvSpPr>
          <p:cNvPr id="16" name="Text 13"/>
          <p:cNvSpPr/>
          <p:nvPr/>
        </p:nvSpPr>
        <p:spPr>
          <a:xfrm>
            <a:off x="592931" y="3201293"/>
            <a:ext cx="5315109" cy="108299"/>
          </a:xfrm>
          <a:prstGeom prst="rect">
            <a:avLst/>
          </a:prstGeom>
          <a:noFill/>
          <a:ln/>
        </p:spPr>
        <p:txBody>
          <a:bodyPr wrap="none" lIns="0" tIns="0" rIns="0" bIns="0" rtlCol="0" anchor="t">
            <a:normAutofit/>
          </a:bodyPr>
          <a:lstStyle/>
          <a:p>
            <a:pPr algn="l" indent="0" marL="0">
              <a:lnSpc>
                <a:spcPts val="844"/>
              </a:lnSpc>
              <a:buNone/>
            </a:pPr>
            <a:r>
              <a:rPr lang="en-US" sz="800" spc="56" kern="0" dirty="0">
                <a:solidFill>
                  <a:srgbClr val="6B7280"/>
                </a:solidFill>
                <a:latin typeface="Courier New" pitchFamily="34" charset="0"/>
                <a:ea typeface="Courier New" pitchFamily="34" charset="-122"/>
                <a:cs typeface="Courier New" pitchFamily="34" charset="-120"/>
              </a:rPr>
              <a:t>EVIDENCE</a:t>
            </a:r>
            <a:endParaRPr lang="en-US" sz="800" dirty="0"/>
          </a:p>
        </p:txBody>
      </p:sp>
      <p:sp>
        <p:nvSpPr>
          <p:cNvPr id="17" name="Text 14"/>
          <p:cNvSpPr/>
          <p:nvPr/>
        </p:nvSpPr>
        <p:spPr>
          <a:xfrm>
            <a:off x="692944" y="3337024"/>
            <a:ext cx="3836194" cy="169959"/>
          </a:xfrm>
          <a:prstGeom prst="rect">
            <a:avLst/>
          </a:prstGeom>
          <a:noFill/>
          <a:ln/>
        </p:spPr>
        <p:txBody>
          <a:bodyPr wrap="square" lIns="0" tIns="0" rIns="0" bIns="0" rtlCol="0" anchor="t"/>
          <a:lstStyle/>
          <a:p>
            <a:pPr algn="l" indent="0" marL="0">
              <a:lnSpc>
                <a:spcPts val="1003"/>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n=8</a:t>
            </a:r>
            <a:pPr algn="l" indent="0" marL="0">
              <a:lnSpc>
                <a:spcPts val="1003"/>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 ExtHamming [8,4,4] </a:t>
            </a:r>
            <a:pPr algn="l" indent="0" marL="0">
              <a:lnSpc>
                <a:spcPts val="1003"/>
              </a:lnSpc>
              <a:buNone/>
            </a:pPr>
            <a:r>
              <a:rPr lang="en-US" sz="800" dirty="0">
                <a:solidFill>
                  <a:srgbClr val="6FE3D2"/>
                </a:solidFill>
                <a:latin typeface="Carlito" pitchFamily="34" charset="0"/>
                <a:ea typeface="Carlito" pitchFamily="34" charset="-122"/>
                <a:cs typeface="Carlito" pitchFamily="34" charset="-120"/>
              </a:rPr>
              <a:t>(DE SD)</a:t>
            </a:r>
            <a:pPr algn="l" indent="0" marL="0">
              <a:lnSpc>
                <a:spcPts val="1003"/>
              </a:lnSpc>
              <a:buNone/>
            </a:pPr>
            <a:r>
              <a:rPr lang="en-US" sz="800" dirty="0">
                <a:solidFill>
                  <a:srgbClr val="E6E6E6"/>
                </a:solidFill>
                <a:latin typeface="Carlito" pitchFamily="34" charset="0"/>
                <a:ea typeface="Carlito" pitchFamily="34" charset="-122"/>
                <a:cs typeface="Carlito" pitchFamily="34" charset="-120"/>
              </a:rPr>
              <a:t> </a:t>
            </a:r>
            <a:pPr algn="l" indent="0" marL="0">
              <a:lnSpc>
                <a:spcPts val="1003"/>
              </a:lnSpc>
              <a:buNone/>
            </a:pPr>
            <a:r>
              <a:rPr lang="en-US" sz="800" dirty="0">
                <a:solidFill>
                  <a:srgbClr val="6FE3D2"/>
                </a:solidFill>
                <a:latin typeface="Carlito" pitchFamily="34" charset="0"/>
                <a:ea typeface="Carlito" pitchFamily="34" charset="-122"/>
                <a:cs typeface="Carlito" pitchFamily="34" charset="-120"/>
              </a:rPr>
              <a:t>WINS</a:t>
            </a:r>
            <a:pPr algn="l" indent="0" marL="0">
              <a:lnSpc>
                <a:spcPts val="1003"/>
              </a:lnSpc>
              <a:buNone/>
            </a:pPr>
            <a:r>
              <a:rPr lang="en-US" sz="800" dirty="0">
                <a:solidFill>
                  <a:srgbClr val="E6E6E6"/>
                </a:solidFill>
                <a:latin typeface="Carlito" pitchFamily="34" charset="0"/>
                <a:ea typeface="Carlito" pitchFamily="34" charset="-122"/>
                <a:cs typeface="Carlito" pitchFamily="34" charset="-120"/>
              </a:rPr>
              <a:t>.</a:t>
            </a:r>
            <a:endParaRPr lang="en-US" sz="800" dirty="0"/>
          </a:p>
        </p:txBody>
      </p:sp>
      <p:sp>
        <p:nvSpPr>
          <p:cNvPr id="18" name="Text 15"/>
          <p:cNvSpPr/>
          <p:nvPr/>
        </p:nvSpPr>
        <p:spPr>
          <a:xfrm>
            <a:off x="692944" y="3492847"/>
            <a:ext cx="3836194" cy="169959"/>
          </a:xfrm>
          <a:prstGeom prst="rect">
            <a:avLst/>
          </a:prstGeom>
          <a:noFill/>
          <a:ln/>
        </p:spPr>
        <p:txBody>
          <a:bodyPr wrap="square" lIns="0" tIns="0" rIns="0" bIns="0" rtlCol="0" anchor="t"/>
          <a:lstStyle/>
          <a:p>
            <a:pPr algn="l" indent="0" marL="0">
              <a:lnSpc>
                <a:spcPts val="1003"/>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n=16</a:t>
            </a:r>
            <a:pPr algn="l" indent="0" marL="0">
              <a:lnSpc>
                <a:spcPts val="1003"/>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 E8+E8 [16,8,4] </a:t>
            </a:r>
            <a:pPr algn="l" indent="0" marL="0">
              <a:lnSpc>
                <a:spcPts val="1003"/>
              </a:lnSpc>
              <a:buNone/>
            </a:pPr>
            <a:r>
              <a:rPr lang="en-US" sz="800" dirty="0">
                <a:solidFill>
                  <a:srgbClr val="FF6B6B"/>
                </a:solidFill>
                <a:latin typeface="Carlito" pitchFamily="34" charset="0"/>
                <a:ea typeface="Carlito" pitchFamily="34" charset="-122"/>
                <a:cs typeface="Carlito" pitchFamily="34" charset="-120"/>
              </a:rPr>
              <a:t>(SE SD)</a:t>
            </a:r>
            <a:pPr algn="l" indent="0" marL="0">
              <a:lnSpc>
                <a:spcPts val="1003"/>
              </a:lnSpc>
              <a:buNone/>
            </a:pPr>
            <a:r>
              <a:rPr lang="en-US" sz="800" dirty="0">
                <a:solidFill>
                  <a:srgbClr val="E6E6E6"/>
                </a:solidFill>
                <a:latin typeface="Carlito" pitchFamily="34" charset="0"/>
                <a:ea typeface="Carlito" pitchFamily="34" charset="-122"/>
                <a:cs typeface="Carlito" pitchFamily="34" charset="-120"/>
              </a:rPr>
              <a:t> </a:t>
            </a:r>
            <a:pPr algn="l" indent="0" marL="0">
              <a:lnSpc>
                <a:spcPts val="1003"/>
              </a:lnSpc>
              <a:buNone/>
            </a:pPr>
            <a:r>
              <a:rPr lang="en-US" sz="800" dirty="0">
                <a:solidFill>
                  <a:srgbClr val="FF6B6B"/>
                </a:solidFill>
                <a:latin typeface="Carlito" pitchFamily="34" charset="0"/>
                <a:ea typeface="Carlito" pitchFamily="34" charset="-122"/>
                <a:cs typeface="Carlito" pitchFamily="34" charset="-120"/>
              </a:rPr>
              <a:t>LOSES</a:t>
            </a:r>
            <a:pPr algn="l" indent="0" marL="0">
              <a:lnSpc>
                <a:spcPts val="1003"/>
              </a:lnSpc>
              <a:buNone/>
            </a:pPr>
            <a:r>
              <a:rPr lang="en-US" sz="800" dirty="0">
                <a:solidFill>
                  <a:srgbClr val="E6E6E6"/>
                </a:solidFill>
                <a:latin typeface="Carlito" pitchFamily="34" charset="0"/>
                <a:ea typeface="Carlito" pitchFamily="34" charset="-122"/>
                <a:cs typeface="Carlito" pitchFamily="34" charset="-120"/>
              </a:rPr>
              <a:t>. </a:t>
            </a:r>
            <a:pPr algn="l" indent="0" marL="0">
              <a:lnSpc>
                <a:spcPts val="1003"/>
              </a:lnSpc>
              <a:buNone/>
            </a:pPr>
            <a:r>
              <a:rPr lang="en-US" sz="800" dirty="0">
                <a:solidFill>
                  <a:srgbClr val="6B7280"/>
                </a:solidFill>
                <a:latin typeface="Carlito" pitchFamily="34" charset="0"/>
                <a:ea typeface="Carlito" pitchFamily="34" charset="-122"/>
                <a:cs typeface="Carlito" pitchFamily="34" charset="-120"/>
              </a:rPr>
              <a:t>(No doubly-even self-dual [16,8] code exists with d &gt; 4.)</a:t>
            </a:r>
            <a:endParaRPr lang="en-US" sz="800" dirty="0"/>
          </a:p>
        </p:txBody>
      </p:sp>
      <p:sp>
        <p:nvSpPr>
          <p:cNvPr id="19" name="Text 16"/>
          <p:cNvSpPr/>
          <p:nvPr/>
        </p:nvSpPr>
        <p:spPr>
          <a:xfrm>
            <a:off x="692944" y="3648670"/>
            <a:ext cx="3836194" cy="155823"/>
          </a:xfrm>
          <a:prstGeom prst="rect">
            <a:avLst/>
          </a:prstGeom>
          <a:noFill/>
          <a:ln/>
        </p:spPr>
        <p:txBody>
          <a:bodyPr wrap="square" lIns="0" tIns="0" rIns="0" bIns="0" rtlCol="0" anchor="t"/>
          <a:lstStyle/>
          <a:p>
            <a:pPr algn="l" indent="0" marL="0">
              <a:lnSpc>
                <a:spcPts val="1003"/>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n=24</a:t>
            </a:r>
            <a:pPr algn="l" indent="0" marL="0">
              <a:lnSpc>
                <a:spcPts val="1003"/>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 Golay [24,12,8] </a:t>
            </a:r>
            <a:pPr algn="l" indent="0" marL="0">
              <a:lnSpc>
                <a:spcPts val="1003"/>
              </a:lnSpc>
              <a:buNone/>
            </a:pPr>
            <a:r>
              <a:rPr lang="en-US" sz="800" dirty="0">
                <a:solidFill>
                  <a:srgbClr val="6FE3D2"/>
                </a:solidFill>
                <a:latin typeface="Carlito" pitchFamily="34" charset="0"/>
                <a:ea typeface="Carlito" pitchFamily="34" charset="-122"/>
                <a:cs typeface="Carlito" pitchFamily="34" charset="-120"/>
              </a:rPr>
              <a:t>(DE SD)</a:t>
            </a:r>
            <a:pPr algn="l" indent="0" marL="0">
              <a:lnSpc>
                <a:spcPts val="1003"/>
              </a:lnSpc>
              <a:buNone/>
            </a:pPr>
            <a:r>
              <a:rPr lang="en-US" sz="800" dirty="0">
                <a:solidFill>
                  <a:srgbClr val="E6E6E6"/>
                </a:solidFill>
                <a:latin typeface="Carlito" pitchFamily="34" charset="0"/>
                <a:ea typeface="Carlito" pitchFamily="34" charset="-122"/>
                <a:cs typeface="Carlito" pitchFamily="34" charset="-120"/>
              </a:rPr>
              <a:t> </a:t>
            </a:r>
            <a:pPr algn="l" indent="0" marL="0">
              <a:lnSpc>
                <a:spcPts val="1003"/>
              </a:lnSpc>
              <a:buNone/>
            </a:pPr>
            <a:r>
              <a:rPr lang="en-US" sz="800" dirty="0">
                <a:solidFill>
                  <a:srgbClr val="6FE3D2"/>
                </a:solidFill>
                <a:latin typeface="Carlito" pitchFamily="34" charset="0"/>
                <a:ea typeface="Carlito" pitchFamily="34" charset="-122"/>
                <a:cs typeface="Carlito" pitchFamily="34" charset="-120"/>
              </a:rPr>
              <a:t>WINS</a:t>
            </a:r>
            <a:pPr algn="l" indent="0" marL="0">
              <a:lnSpc>
                <a:spcPts val="1003"/>
              </a:lnSpc>
              <a:buNone/>
            </a:pPr>
            <a:r>
              <a:rPr lang="en-US" sz="800" dirty="0">
                <a:solidFill>
                  <a:srgbClr val="E6E6E6"/>
                </a:solidFill>
                <a:latin typeface="Carlito" pitchFamily="34" charset="0"/>
                <a:ea typeface="Carlito" pitchFamily="34" charset="-122"/>
                <a:cs typeface="Carlito" pitchFamily="34" charset="-120"/>
              </a:rPr>
              <a:t>.</a:t>
            </a:r>
            <a:endParaRPr lang="en-US" sz="800" dirty="0"/>
          </a:p>
        </p:txBody>
      </p:sp>
      <p:sp>
        <p:nvSpPr>
          <p:cNvPr id="20" name="Text 17"/>
          <p:cNvSpPr/>
          <p:nvPr/>
        </p:nvSpPr>
        <p:spPr>
          <a:xfrm>
            <a:off x="4614863" y="3201293"/>
            <a:ext cx="3936206" cy="108299"/>
          </a:xfrm>
          <a:prstGeom prst="rect">
            <a:avLst/>
          </a:prstGeom>
          <a:noFill/>
          <a:ln/>
        </p:spPr>
        <p:txBody>
          <a:bodyPr wrap="none" lIns="0" tIns="0" rIns="0" bIns="0" rtlCol="0" anchor="t">
            <a:normAutofit/>
          </a:bodyPr>
          <a:lstStyle/>
          <a:p>
            <a:pPr algn="l" indent="0" marL="0">
              <a:lnSpc>
                <a:spcPts val="844"/>
              </a:lnSpc>
              <a:buNone/>
            </a:pPr>
            <a:r>
              <a:rPr lang="en-US" sz="800" spc="56" kern="0" dirty="0">
                <a:solidFill>
                  <a:srgbClr val="6B7280"/>
                </a:solidFill>
                <a:latin typeface="Courier New" pitchFamily="34" charset="0"/>
                <a:ea typeface="Courier New" pitchFamily="34" charset="-122"/>
                <a:cs typeface="Courier New" pitchFamily="34" charset="-120"/>
              </a:rPr>
              <a:t>NOTE</a:t>
            </a:r>
            <a:endParaRPr lang="en-US" sz="800" dirty="0"/>
          </a:p>
        </p:txBody>
      </p:sp>
      <p:sp>
        <p:nvSpPr>
          <p:cNvPr id="21" name="Text 18"/>
          <p:cNvSpPr/>
          <p:nvPr/>
        </p:nvSpPr>
        <p:spPr>
          <a:xfrm>
            <a:off x="4614863" y="3337024"/>
            <a:ext cx="3936206" cy="467469"/>
          </a:xfrm>
          <a:prstGeom prst="rect">
            <a:avLst/>
          </a:prstGeom>
          <a:noFill/>
          <a:ln/>
        </p:spPr>
        <p:txBody>
          <a:bodyPr wrap="square" lIns="0" tIns="0" rIns="0" bIns="0" rtlCol="0" anchor="t"/>
          <a:lstStyle/>
          <a:p>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The </a:t>
            </a:r>
            <a:pPr algn="l" indent="0" marL="0">
              <a:lnSpc>
                <a:spcPts val="970"/>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n=16</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 row is the tricky case. There exist doubly-even self-dual </a:t>
            </a:r>
            <a:pPr algn="l" indent="0" marL="0">
              <a:lnSpc>
                <a:spcPts val="970"/>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[16,8]</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 codes (e.g. RM(1,4) extended differently), but they all have d=4, same as E8+E8. The refined conjecture predicts that a doubly-even </a:t>
            </a:r>
            <a:pPr algn="l" indent="0" marL="0">
              <a:lnSpc>
                <a:spcPts val="970"/>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[16,8,4]</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 code would beat the singly-even E8+E8. </a:t>
            </a:r>
            <a:pPr algn="l" indent="0" marL="0">
              <a:lnSpc>
                <a:spcPts val="970"/>
              </a:lnSpc>
              <a:buNone/>
            </a:pPr>
            <a:r>
              <a:rPr lang="en-US" sz="800" dirty="0">
                <a:solidFill>
                  <a:srgbClr val="FFB454"/>
                </a:solidFill>
                <a:latin typeface="Carlito" pitchFamily="34" charset="0"/>
                <a:ea typeface="Carlito" pitchFamily="34" charset="-122"/>
                <a:cs typeface="Carlito" pitchFamily="34" charset="-120"/>
              </a:rPr>
              <a:t>Not yet tested.</a:t>
            </a:r>
            <a:endParaRPr lang="en-US" sz="800" dirty="0"/>
          </a:p>
        </p:txBody>
      </p:sp>
      <p:sp>
        <p:nvSpPr>
          <p:cNvPr id="22" name="Text 19"/>
          <p:cNvSpPr/>
          <p:nvPr/>
        </p:nvSpPr>
        <p:spPr>
          <a:xfrm>
            <a:off x="457200" y="4893469"/>
            <a:ext cx="6753523"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UBP_STUDY_EXTREMAL_004 / Refined conjecture / p.14</a:t>
            </a:r>
            <a:endParaRPr lang="en-US" sz="800" dirty="0"/>
          </a:p>
        </p:txBody>
      </p:sp>
      <p:sp>
        <p:nvSpPr>
          <p:cNvPr id="23" name="Text 20"/>
          <p:cNvSpPr/>
          <p:nvPr/>
        </p:nvSpPr>
        <p:spPr>
          <a:xfrm>
            <a:off x="7225010" y="4893469"/>
            <a:ext cx="1578733"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Liberation Sans Narrow" pitchFamily="34" charset="0"/>
                <a:ea typeface="Liberation Sans Narrow" pitchFamily="34" charset="-122"/>
                <a:cs typeface="Liberation Sans Narrow" pitchFamily="34" charset="-120"/>
              </a:rPr>
              <a:t>NEXT TEST: RANDOM DE-SD [16,8]</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7080461"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PROGRAM STATUS / ALL 4 DOCUMENTS / 15 OF 16</a:t>
            </a:r>
            <a:endParaRPr lang="en-US" sz="800" dirty="0"/>
          </a:p>
        </p:txBody>
      </p:sp>
      <p:sp>
        <p:nvSpPr>
          <p:cNvPr id="4" name="Text 2"/>
          <p:cNvSpPr/>
          <p:nvPr/>
        </p:nvSpPr>
        <p:spPr>
          <a:xfrm>
            <a:off x="7551948" y="342900"/>
            <a:ext cx="1134852"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UBP_STUDY_EXTREMAL_004</a:t>
            </a:r>
            <a:endParaRPr lang="en-US" sz="800" dirty="0"/>
          </a:p>
        </p:txBody>
      </p:sp>
      <p:sp>
        <p:nvSpPr>
          <p:cNvPr id="5" name="Text 3"/>
          <p:cNvSpPr/>
          <p:nvPr/>
        </p:nvSpPr>
        <p:spPr>
          <a:xfrm>
            <a:off x="457200" y="685800"/>
            <a:ext cx="342900" cy="21431"/>
          </a:xfrm>
          <a:prstGeom prst="rect">
            <a:avLst/>
          </a:prstGeom>
          <a:solidFill>
            <a:srgbClr val="FFB454"/>
          </a:solidFill>
          <a:ln/>
        </p:spPr>
        <p:txBody>
          <a:bodyPr wrap="square" rtlCol="0" anchor="ctr"/>
          <a:lstStyle/>
          <a:p>
            <a:pPr indent="0" marL="0">
              <a:buNone/>
            </a:pPr>
            <a:endParaRPr lang="en-US" dirty="0"/>
          </a:p>
        </p:txBody>
      </p:sp>
      <p:sp>
        <p:nvSpPr>
          <p:cNvPr id="6" name="Text 4"/>
          <p:cNvSpPr/>
          <p:nvPr/>
        </p:nvSpPr>
        <p:spPr>
          <a:xfrm>
            <a:off x="457200" y="821531"/>
            <a:ext cx="4925705" cy="248335"/>
          </a:xfrm>
          <a:prstGeom prst="rect">
            <a:avLst/>
          </a:prstGeom>
          <a:noFill/>
          <a:ln/>
        </p:spPr>
        <p:txBody>
          <a:bodyPr wrap="square" lIns="0" tIns="0" rIns="0" bIns="0" rtlCol="0" anchor="t"/>
          <a:lstStyle/>
          <a:p>
            <a:pPr algn="l" indent="0" marL="0">
              <a:lnSpc>
                <a:spcPts val="1811"/>
              </a:lnSpc>
              <a:buNone/>
            </a:pPr>
            <a:r>
              <a:rPr lang="en-US" sz="1575" spc="-16" kern="0" dirty="0">
                <a:solidFill>
                  <a:srgbClr val="E6E6E6"/>
                </a:solidFill>
                <a:latin typeface="Carlito" pitchFamily="34" charset="0"/>
                <a:ea typeface="Carlito" pitchFamily="34" charset="-122"/>
                <a:cs typeface="Carlito" pitchFamily="34" charset="-120"/>
              </a:rPr>
              <a:t>Cumulative status across </a:t>
            </a:r>
            <a:pPr algn="l" indent="0" marL="0">
              <a:lnSpc>
                <a:spcPts val="1811"/>
              </a:lnSpc>
              <a:buNone/>
            </a:pPr>
            <a:r>
              <a:rPr lang="en-US" sz="1575" spc="-16" kern="0" dirty="0">
                <a:solidFill>
                  <a:srgbClr val="FFB454"/>
                </a:solidFill>
                <a:latin typeface="Liberation Sans Narrow" pitchFamily="34" charset="0"/>
                <a:ea typeface="Liberation Sans Narrow" pitchFamily="34" charset="-122"/>
                <a:cs typeface="Liberation Sans Narrow" pitchFamily="34" charset="-120"/>
              </a:rPr>
              <a:t>EXTREMAL_001 — 004</a:t>
            </a:r>
            <a:endParaRPr lang="en-US" sz="1575" dirty="0"/>
          </a:p>
        </p:txBody>
      </p:sp>
      <p:sp>
        <p:nvSpPr>
          <p:cNvPr id="7" name="Text 5"/>
          <p:cNvSpPr/>
          <p:nvPr/>
        </p:nvSpPr>
        <p:spPr>
          <a:xfrm>
            <a:off x="6737012" y="944314"/>
            <a:ext cx="1949788" cy="164592"/>
          </a:xfrm>
          <a:prstGeom prst="rect">
            <a:avLst/>
          </a:prstGeom>
          <a:noFill/>
          <a:ln/>
        </p:spPr>
        <p:txBody>
          <a:bodyPr wrap="square" lIns="0" tIns="0" rIns="0" bIns="0" rtlCol="0" anchor="t"/>
          <a:lstStyle/>
          <a:p>
            <a:pPr algn="r"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5 DOCUMENTS · 5 CLOSED · 2 THEOREMS</a:t>
            </a:r>
            <a:endParaRPr lang="en-US" sz="800" dirty="0"/>
          </a:p>
        </p:txBody>
      </p:sp>
      <p:sp>
        <p:nvSpPr>
          <p:cNvPr id="8" name="Text 6"/>
          <p:cNvSpPr/>
          <p:nvPr/>
        </p:nvSpPr>
        <p:spPr>
          <a:xfrm>
            <a:off x="460772" y="1140768"/>
            <a:ext cx="8222456" cy="2915096"/>
          </a:xfrm>
          <a:prstGeom prst="roundRect">
            <a:avLst>
              <a:gd name="adj" fmla="val 1960"/>
            </a:avLst>
          </a:prstGeom>
          <a:solidFill>
            <a:srgbClr val="161B22"/>
          </a:solidFill>
          <a:ln w="7144">
            <a:solidFill>
              <a:srgbClr val="2A3038"/>
            </a:solidFill>
            <a:prstDash val="solid"/>
          </a:ln>
        </p:spPr>
        <p:txBody>
          <a:bodyPr wrap="square" rtlCol="0" anchor="ctr"/>
          <a:lstStyle/>
          <a:p>
            <a:pPr indent="0" marL="0">
              <a:buNone/>
            </a:pPr>
            <a:endParaRPr lang="en-US"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64344" y="1144339"/>
          <a:ext cx="8215313" cy="914400"/>
        </p:xfrm>
        <a:graphic>
          <a:graphicData uri="http://schemas.openxmlformats.org/drawingml/2006/table">
            <a:tbl>
              <a:tblPr/>
              <a:tblGrid>
                <a:gridCol w="1150144"/>
                <a:gridCol w="2957513"/>
                <a:gridCol w="1150144"/>
                <a:gridCol w="1314450"/>
                <a:gridCol w="1643063"/>
              </a:tblGrid>
              <a:tr h="0">
                <a:tc>
                  <a:txBody>
                    <a:bodyPr/>
                    <a:lstStyle/>
                    <a:p>
                      <a:pPr algn="l" indent="0" marL="0">
                        <a:buNone/>
                      </a:pPr>
                      <a:r>
                        <a:rPr lang="en-US" sz="800" b="1" dirty="0">
                          <a:solidFill>
                            <a:srgbClr val="6B7280"/>
                          </a:solidFill>
                          <a:latin typeface="Courier New" pitchFamily="34" charset="0"/>
                          <a:ea typeface="Courier New" pitchFamily="34" charset="-122"/>
                          <a:cs typeface="Courier New" pitchFamily="34" charset="-120"/>
                        </a:rPr>
                        <a:t>Document</a:t>
                      </a:r>
                      <a:endParaRPr lang="en-US" sz="800" dirty="0">
                        <a:latin typeface="Courier New" charset="0"/>
                        <a:ea typeface="Courier New" charset="0"/>
                        <a:cs typeface="Courier New" charset="0"/>
                      </a:endParaRPr>
                    </a:p>
                  </a:txBody>
                  <a:tcPr marL="64294" marR="78581" marT="78581" marB="64294"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solidFill>
                      <a:srgbClr val="1F2630"/>
                    </a:solidFill>
                  </a:tcPr>
                </a:tc>
                <a:tc>
                  <a:txBody>
                    <a:bodyPr/>
                    <a:lstStyle/>
                    <a:p>
                      <a:pPr algn="l" indent="0" marL="0">
                        <a:buNone/>
                      </a:pPr>
                      <a:r>
                        <a:rPr lang="en-US" sz="800" b="1" dirty="0">
                          <a:solidFill>
                            <a:srgbClr val="6B7280"/>
                          </a:solidFill>
                          <a:latin typeface="Courier New" pitchFamily="34" charset="0"/>
                          <a:ea typeface="Courier New" pitchFamily="34" charset="-122"/>
                          <a:cs typeface="Courier New" pitchFamily="34" charset="-120"/>
                        </a:rPr>
                        <a:t>Key result</a:t>
                      </a:r>
                      <a:endParaRPr lang="en-US" sz="800" dirty="0">
                        <a:latin typeface="Courier New" charset="0"/>
                        <a:ea typeface="Courier New" charset="0"/>
                        <a:cs typeface="Courier New" charset="0"/>
                      </a:endParaRPr>
                    </a:p>
                  </a:txBody>
                  <a:tcPr marL="64294" marR="78581" marT="78581" marB="64294"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solidFill>
                      <a:srgbClr val="1F2630"/>
                    </a:solidFill>
                  </a:tcPr>
                </a:tc>
                <a:tc>
                  <a:txBody>
                    <a:bodyPr/>
                    <a:lstStyle/>
                    <a:p>
                      <a:pPr algn="l" indent="0" marL="0">
                        <a:buNone/>
                      </a:pPr>
                      <a:r>
                        <a:rPr lang="en-US" sz="800" b="1" dirty="0">
                          <a:solidFill>
                            <a:srgbClr val="6B7280"/>
                          </a:solidFill>
                          <a:latin typeface="Courier New" pitchFamily="34" charset="0"/>
                          <a:ea typeface="Courier New" pitchFamily="34" charset="-122"/>
                          <a:cs typeface="Courier New" pitchFamily="34" charset="-120"/>
                        </a:rPr>
                        <a:t>Status</a:t>
                      </a:r>
                      <a:endParaRPr lang="en-US" sz="800" dirty="0">
                        <a:latin typeface="Courier New" charset="0"/>
                        <a:ea typeface="Courier New" charset="0"/>
                        <a:cs typeface="Courier New" charset="0"/>
                      </a:endParaRPr>
                    </a:p>
                  </a:txBody>
                  <a:tcPr marL="64294" marR="78581" marT="78581" marB="64294"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solidFill>
                      <a:srgbClr val="1F2630"/>
                    </a:solidFill>
                  </a:tcPr>
                </a:tc>
                <a:tc>
                  <a:txBody>
                    <a:bodyPr/>
                    <a:lstStyle/>
                    <a:p>
                      <a:pPr algn="l" indent="0" marL="0">
                        <a:buNone/>
                      </a:pPr>
                      <a:r>
                        <a:rPr lang="en-US" sz="800" b="1" dirty="0">
                          <a:solidFill>
                            <a:srgbClr val="6B7280"/>
                          </a:solidFill>
                          <a:latin typeface="Courier New" pitchFamily="34" charset="0"/>
                          <a:ea typeface="Courier New" pitchFamily="34" charset="-122"/>
                          <a:cs typeface="Courier New" pitchFamily="34" charset="-120"/>
                        </a:rPr>
                        <a:t>Open Qs raised</a:t>
                      </a:r>
                      <a:endParaRPr lang="en-US" sz="800" dirty="0">
                        <a:latin typeface="Courier New" charset="0"/>
                        <a:ea typeface="Courier New" charset="0"/>
                        <a:cs typeface="Courier New" charset="0"/>
                      </a:endParaRPr>
                    </a:p>
                  </a:txBody>
                  <a:tcPr marL="64294" marR="78581" marT="78581" marB="64294"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solidFill>
                      <a:srgbClr val="1F2630"/>
                    </a:solidFill>
                  </a:tcPr>
                </a:tc>
                <a:tc>
                  <a:txBody>
                    <a:bodyPr/>
                    <a:lstStyle/>
                    <a:p>
                      <a:pPr algn="l" indent="0" marL="0">
                        <a:buNone/>
                      </a:pPr>
                      <a:r>
                        <a:rPr lang="en-US" sz="800" b="1" dirty="0">
                          <a:solidFill>
                            <a:srgbClr val="6B7280"/>
                          </a:solidFill>
                          <a:latin typeface="Courier New" pitchFamily="34" charset="0"/>
                          <a:ea typeface="Courier New" pitchFamily="34" charset="-122"/>
                          <a:cs typeface="Courier New" pitchFamily="34" charset="-120"/>
                        </a:rPr>
                        <a:t>Open Qs closed</a:t>
                      </a:r>
                      <a:endParaRPr lang="en-US" sz="800" dirty="0">
                        <a:latin typeface="Courier New" charset="0"/>
                        <a:ea typeface="Courier New" charset="0"/>
                        <a:cs typeface="Courier New" charset="0"/>
                      </a:endParaRPr>
                    </a:p>
                  </a:txBody>
                  <a:tcPr marL="64294" marR="78581" marT="78581" marB="64294"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solidFill>
                      <a:srgbClr val="1F2630"/>
                    </a:solidFill>
                  </a:tcPr>
                </a:tc>
              </a:tr>
              <a:tr h="0">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EXTREMAL_001</a:t>
                      </a:r>
                      <a:endParaRPr lang="en-US" sz="800" dirty="0">
                        <a:latin typeface="Carlito" charset="0"/>
                        <a:ea typeface="Carlito" charset="0"/>
                        <a:cs typeface="Carlito" charset="0"/>
                      </a:endParaRPr>
                    </a:p>
                  </a:txBody>
                  <a:tcPr marL="71438" marR="78581" marT="78581"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Initial Φ definition; 105 sweep; vacuum collapse anomaly observed.</a:t>
                      </a:r>
                      <a:endParaRPr lang="en-US" sz="800" dirty="0">
                        <a:latin typeface="Carlito" charset="0"/>
                        <a:ea typeface="Carlito" charset="0"/>
                        <a:cs typeface="Carlito" charset="0"/>
                      </a:endParaRPr>
                    </a:p>
                  </a:txBody>
                  <a:tcPr marL="71438" marR="78581" marT="78581"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PROVISIONAL</a:t>
                      </a:r>
                      <a:endParaRPr lang="en-US" sz="800" dirty="0">
                        <a:latin typeface="Carlito" charset="0"/>
                        <a:ea typeface="Carlito" charset="0"/>
                        <a:cs typeface="Carlito" charset="0"/>
                      </a:endParaRPr>
                    </a:p>
                  </a:txBody>
                  <a:tcPr marL="71438" marR="78581" marT="78581"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3formalise peak · prove dominance · explain anomaly</a:t>
                      </a:r>
                      <a:endParaRPr lang="en-US" sz="800" dirty="0">
                        <a:latin typeface="Carlito" charset="0"/>
                        <a:ea typeface="Carlito" charset="0"/>
                        <a:cs typeface="Carlito" charset="0"/>
                      </a:endParaRPr>
                    </a:p>
                  </a:txBody>
                  <a:tcPr marL="71438" marR="78581" marT="78581"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0none</a:t>
                      </a:r>
                      <a:endParaRPr lang="en-US" sz="800" dirty="0">
                        <a:latin typeface="Carlito" charset="0"/>
                        <a:ea typeface="Carlito" charset="0"/>
                        <a:cs typeface="Carlito" charset="0"/>
                      </a:endParaRPr>
                    </a:p>
                  </a:txBody>
                  <a:tcPr marL="71438" marR="78581" marT="78581"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r>
              <a:tr h="0">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EXTREMAL_002</a:t>
                      </a:r>
                      <a:endParaRPr lang="en-US" sz="800" dirty="0">
                        <a:latin typeface="Carlito" charset="0"/>
                        <a:ea typeface="Carlito" charset="0"/>
                        <a:cs typeface="Carlito" charset="0"/>
                      </a:endParaRPr>
                    </a:p>
                  </a:txBody>
                  <a:tcPr marL="71438" marR="78581" marT="78581"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Constant Peak Theorem (analytic); Analytic Dominance Theorem (analytic); Decoder-Flow Conjecture.</a:t>
                      </a:r>
                      <a:endParaRPr lang="en-US" sz="800" dirty="0">
                        <a:latin typeface="Carlito" charset="0"/>
                        <a:ea typeface="Carlito" charset="0"/>
                        <a:cs typeface="Carlito" charset="0"/>
                      </a:endParaRPr>
                    </a:p>
                  </a:txBody>
                  <a:tcPr marL="71438" marR="78581" marT="78581"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CANDIDATE VARIATIONAL FOUNDATION</a:t>
                      </a:r>
                      <a:endParaRPr lang="en-US" sz="800" dirty="0">
                        <a:latin typeface="Carlito" charset="0"/>
                        <a:ea typeface="Carlito" charset="0"/>
                        <a:cs typeface="Carlito" charset="0"/>
                      </a:endParaRPr>
                    </a:p>
                  </a:txBody>
                  <a:tcPr marL="71438" marR="78581" marT="78581"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3decoder-flow monotonicity · vacuum basin · converse derivation</a:t>
                      </a:r>
                      <a:endParaRPr lang="en-US" sz="800" dirty="0">
                        <a:latin typeface="Carlito" charset="0"/>
                        <a:ea typeface="Carlito" charset="0"/>
                        <a:cs typeface="Carlito" charset="0"/>
                      </a:endParaRPr>
                    </a:p>
                  </a:txBody>
                  <a:tcPr marL="71438" marR="78581" marT="78581"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2peak · dominance</a:t>
                      </a:r>
                      <a:endParaRPr lang="en-US" sz="800" dirty="0">
                        <a:latin typeface="Carlito" charset="0"/>
                        <a:ea typeface="Carlito" charset="0"/>
                        <a:cs typeface="Carlito" charset="0"/>
                      </a:endParaRPr>
                    </a:p>
                  </a:txBody>
                  <a:tcPr marL="71438" marR="78581" marT="78581"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r>
              <a:tr h="0">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CONVERSE_001</a:t>
                      </a:r>
                      <a:endParaRPr lang="en-US" sz="800" dirty="0">
                        <a:latin typeface="Carlito" charset="0"/>
                        <a:ea typeface="Carlito" charset="0"/>
                        <a:cs typeface="Carlito" charset="0"/>
                      </a:endParaRPr>
                    </a:p>
                  </a:txBody>
                  <a:tcPr marL="71438" marR="78581" marT="78581"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Two breaks (circular dependency, regime inversion); partial connection via avg_Φ.</a:t>
                      </a:r>
                      <a:endParaRPr lang="en-US" sz="800" dirty="0">
                        <a:latin typeface="Carlito" charset="0"/>
                        <a:ea typeface="Carlito" charset="0"/>
                        <a:cs typeface="Carlito" charset="0"/>
                      </a:endParaRPr>
                    </a:p>
                  </a:txBody>
                  <a:tcPr marL="71438" marR="78581" marT="78581"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SELF-FALSIFICATION EXERCISE</a:t>
                      </a:r>
                      <a:endParaRPr lang="en-US" sz="800" dirty="0">
                        <a:latin typeface="Carlito" charset="0"/>
                        <a:ea typeface="Carlito" charset="0"/>
                        <a:cs typeface="Carlito" charset="0"/>
                      </a:endParaRPr>
                    </a:p>
                  </a:txBody>
                  <a:tcPr marL="71438" marR="78581" marT="78581"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4avg_Φ theorem · self-dual extension · n=24 · [23,12] test</a:t>
                      </a:r>
                      <a:endParaRPr lang="en-US" sz="800" dirty="0">
                        <a:latin typeface="Carlito" charset="0"/>
                        <a:ea typeface="Carlito" charset="0"/>
                        <a:cs typeface="Carlito" charset="0"/>
                      </a:endParaRPr>
                    </a:p>
                  </a:txBody>
                  <a:tcPr marL="71438" marR="78581" marT="78581"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0all open</a:t>
                      </a:r>
                      <a:endParaRPr lang="en-US" sz="800" dirty="0">
                        <a:latin typeface="Carlito" charset="0"/>
                        <a:ea typeface="Carlito" charset="0"/>
                        <a:cs typeface="Carlito" charset="0"/>
                      </a:endParaRPr>
                    </a:p>
                  </a:txBody>
                  <a:tcPr marL="71438" marR="78581" marT="78581"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r>
              <a:tr h="0">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EXTREMAL_003</a:t>
                      </a:r>
                      <a:endParaRPr lang="en-US" sz="800" dirty="0">
                        <a:latin typeface="Carlito" charset="0"/>
                        <a:ea typeface="Carlito" charset="0"/>
                        <a:cs typeface="Carlito" charset="0"/>
                      </a:endParaRPr>
                    </a:p>
                  </a:txBody>
                  <a:tcPr marL="71438" marR="78581" marT="78581"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Baseline tightened; self-dual falsified (unqualified); avg_Φ-covering theorem stated; [23,12] Golay wins.</a:t>
                      </a:r>
                      <a:endParaRPr lang="en-US" sz="800" dirty="0">
                        <a:latin typeface="Carlito" charset="0"/>
                        <a:ea typeface="Carlito" charset="0"/>
                        <a:cs typeface="Carlito" charset="0"/>
                      </a:endParaRPr>
                    </a:p>
                  </a:txBody>
                  <a:tcPr marL="71438" marR="78581" marT="78581"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PROGRAM ADVANCED</a:t>
                      </a:r>
                      <a:endParaRPr lang="en-US" sz="800" dirty="0">
                        <a:latin typeface="Carlito" charset="0"/>
                        <a:ea typeface="Carlito" charset="0"/>
                        <a:cs typeface="Carlito" charset="0"/>
                      </a:endParaRPr>
                    </a:p>
                  </a:txBody>
                  <a:tcPr marL="71438" marR="78581" marT="78581"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5Q1 uniqueness · Q2 qualified SD · Q3 n=24 · Q4 basin · Q5 [24,12,8]</a:t>
                      </a:r>
                      <a:endParaRPr lang="en-US" sz="800" dirty="0">
                        <a:latin typeface="Carlito" charset="0"/>
                        <a:ea typeface="Carlito" charset="0"/>
                        <a:cs typeface="Carlito" charset="0"/>
                      </a:endParaRPr>
                    </a:p>
                  </a:txBody>
                  <a:tcPr marL="71438" marR="78581" marT="78581"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0all 5 left open</a:t>
                      </a:r>
                      <a:endParaRPr lang="en-US" sz="800" dirty="0">
                        <a:latin typeface="Carlito" charset="0"/>
                        <a:ea typeface="Carlito" charset="0"/>
                        <a:cs typeface="Carlito" charset="0"/>
                      </a:endParaRPr>
                    </a:p>
                  </a:txBody>
                  <a:tcPr marL="71438" marR="78581" marT="78581"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r>
              <a:tr h="0">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EXTREMAL_004THIS DOCUMENT</a:t>
                      </a:r>
                      <a:endParaRPr lang="en-US" sz="800" dirty="0">
                        <a:latin typeface="Carlito" charset="0"/>
                        <a:ea typeface="Carlito" charset="0"/>
                        <a:cs typeface="Carlito" charset="0"/>
                      </a:endParaRPr>
                    </a:p>
                  </a:txBody>
                  <a:tcPr marL="71438" marR="78581" marT="78581"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Basin = 2,325 exact; [24,12,8] Golay wins +0.015; uniqueness theorem stated; qualified SD falsified; lattice argument for n=24.</a:t>
                      </a:r>
                      <a:endParaRPr lang="en-US" sz="800" dirty="0">
                        <a:latin typeface="Carlito" charset="0"/>
                        <a:ea typeface="Carlito" charset="0"/>
                        <a:cs typeface="Carlito" charset="0"/>
                      </a:endParaRPr>
                    </a:p>
                  </a:txBody>
                  <a:tcPr marL="71438" marR="78581" marT="78581"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3 CLOSED · 1 THEOREM · 1 OPEN</a:t>
                      </a:r>
                      <a:endParaRPr lang="en-US" sz="800" dirty="0">
                        <a:latin typeface="Carlito" charset="0"/>
                        <a:ea typeface="Carlito" charset="0"/>
                        <a:cs typeface="Carlito" charset="0"/>
                      </a:endParaRPr>
                    </a:p>
                  </a:txBody>
                  <a:tcPr marL="71438" marR="78581" marT="78581"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1doubly-even SD refined conjecture</a:t>
                      </a:r>
                      <a:endParaRPr lang="en-US" sz="800" dirty="0">
                        <a:latin typeface="Carlito" charset="0"/>
                        <a:ea typeface="Carlito" charset="0"/>
                        <a:cs typeface="Carlito" charset="0"/>
                      </a:endParaRPr>
                    </a:p>
                  </a:txBody>
                  <a:tcPr marL="71438" marR="78581" marT="78581"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3Q4 fully · Q5 partially · Q2 falsified + Q1 theorem</a:t>
                      </a:r>
                      <a:endParaRPr lang="en-US" sz="800" dirty="0">
                        <a:latin typeface="Carlito" charset="0"/>
                        <a:ea typeface="Carlito" charset="0"/>
                        <a:cs typeface="Carlito" charset="0"/>
                      </a:endParaRPr>
                    </a:p>
                  </a:txBody>
                  <a:tcPr marL="71438" marR="78581" marT="78581"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r>
            </a:tbl>
          </a:graphicData>
        </a:graphic>
      </p:graphicFrame>
      <p:sp>
        <p:nvSpPr>
          <p:cNvPr id="10" name="Text 7"/>
          <p:cNvSpPr/>
          <p:nvPr/>
        </p:nvSpPr>
        <p:spPr>
          <a:xfrm>
            <a:off x="460772" y="4148733"/>
            <a:ext cx="8222456" cy="442913"/>
          </a:xfrm>
          <a:prstGeom prst="roundRect">
            <a:avLst>
              <a:gd name="adj" fmla="val 12903"/>
            </a:avLst>
          </a:prstGeom>
          <a:solidFill>
            <a:srgbClr val="1F2630"/>
          </a:solidFill>
          <a:ln w="7144">
            <a:solidFill>
              <a:srgbClr val="2A3038"/>
            </a:solidFill>
            <a:prstDash val="solid"/>
          </a:ln>
        </p:spPr>
        <p:txBody>
          <a:bodyPr wrap="square" rtlCol="0" anchor="ctr"/>
          <a:lstStyle/>
          <a:p>
            <a:pPr indent="0" marL="0">
              <a:buNone/>
            </a:pPr>
            <a:endParaRPr lang="en-US" dirty="0"/>
          </a:p>
        </p:txBody>
      </p:sp>
      <p:sp>
        <p:nvSpPr>
          <p:cNvPr id="11" name="Text 8"/>
          <p:cNvSpPr/>
          <p:nvPr/>
        </p:nvSpPr>
        <p:spPr>
          <a:xfrm>
            <a:off x="592931" y="4238030"/>
            <a:ext cx="128588" cy="128588"/>
          </a:xfrm>
          <a:prstGeom prst="rect">
            <a:avLst/>
          </a:prstGeom>
          <a:noFill/>
          <a:ln/>
        </p:spPr>
        <p:txBody>
          <a:bodyPr wrap="none" lIns="0" tIns="0" rIns="0" bIns="0" rtlCol="0" anchor="ctr"/>
          <a:lstStyle/>
          <a:p>
            <a:pPr algn="ctr" indent="0" marL="0">
              <a:buNone/>
            </a:pPr>
            <a:r>
              <a:rPr lang="en-US" sz="1266" dirty="0">
                <a:solidFill>
                  <a:srgbClr val="FFB454"/>
                </a:solidFill>
                <a:latin typeface="Segoe UI Symbol" pitchFamily="34" charset="0"/>
                <a:ea typeface="Segoe UI Symbol" pitchFamily="34" charset="-122"/>
                <a:cs typeface="Segoe UI Symbol" pitchFamily="34" charset="-120"/>
              </a:rPr>
              <a:t>↗</a:t>
            </a:r>
            <a:endParaRPr lang="en-US" sz="1266" dirty="0"/>
          </a:p>
        </p:txBody>
      </p:sp>
      <p:sp>
        <p:nvSpPr>
          <p:cNvPr id="12" name="Text 9"/>
          <p:cNvSpPr/>
          <p:nvPr/>
        </p:nvSpPr>
        <p:spPr>
          <a:xfrm>
            <a:off x="807244" y="4266605"/>
            <a:ext cx="1466244" cy="120701"/>
          </a:xfrm>
          <a:prstGeom prst="rect">
            <a:avLst/>
          </a:prstGeom>
          <a:noFill/>
          <a:ln/>
        </p:spPr>
        <p:txBody>
          <a:bodyPr wrap="non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NET PROGRESS · 001 → 004</a:t>
            </a:r>
            <a:endParaRPr lang="en-US" sz="800" dirty="0"/>
          </a:p>
        </p:txBody>
      </p:sp>
      <p:sp>
        <p:nvSpPr>
          <p:cNvPr id="13" name="Text 10"/>
          <p:cNvSpPr/>
          <p:nvPr/>
        </p:nvSpPr>
        <p:spPr>
          <a:xfrm>
            <a:off x="807244" y="4245173"/>
            <a:ext cx="7729314" cy="264319"/>
          </a:xfrm>
          <a:prstGeom prst="rect">
            <a:avLst/>
          </a:prstGeom>
          <a:noFill/>
          <a:ln/>
        </p:spPr>
        <p:txBody>
          <a:bodyPr wrap="square" lIns="0" tIns="0" rIns="0" bIns="0" rtlCol="0" anchor="t"/>
          <a:lstStyle/>
          <a:p>
            <a:pPr algn="l" indent="0" marL="0">
              <a:lnSpc>
                <a:spcPts val="1097"/>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4 documents, </a:t>
            </a:r>
            <a:pPr algn="l" indent="0" marL="0">
              <a:lnSpc>
                <a:spcPts val="1097"/>
              </a:lnSpc>
              <a:buNone/>
            </a:pPr>
            <a:r>
              <a:rPr lang="en-US" sz="800" dirty="0">
                <a:solidFill>
                  <a:srgbClr val="6FE3D2"/>
                </a:solidFill>
                <a:latin typeface="Liberation Sans Narrow" pitchFamily="34" charset="0"/>
                <a:ea typeface="Liberation Sans Narrow" pitchFamily="34" charset="-122"/>
                <a:cs typeface="Liberation Sans Narrow" pitchFamily="34" charset="-120"/>
              </a:rPr>
              <a:t>5 closed questions</a:t>
            </a:r>
            <a:pPr algn="l" indent="0" marL="0">
              <a:lnSpc>
                <a:spcPts val="1097"/>
              </a:lnSpc>
              <a:buNone/>
            </a:pPr>
            <a:r>
              <a:rPr lang="en-US" sz="800" dirty="0">
                <a:solidFill>
                  <a:srgbClr val="E6E6E6"/>
                </a:solidFill>
                <a:latin typeface="Carlito" pitchFamily="34" charset="0"/>
                <a:ea typeface="Carlito" pitchFamily="34" charset="-122"/>
                <a:cs typeface="Carlito" pitchFamily="34" charset="-120"/>
              </a:rPr>
              <a:t>, </a:t>
            </a:r>
            <a:pPr algn="l" indent="0" marL="0">
              <a:lnSpc>
                <a:spcPts val="1097"/>
              </a:lnSpc>
              <a:buNone/>
            </a:pPr>
            <a:r>
              <a:rPr lang="en-US" sz="800" dirty="0">
                <a:solidFill>
                  <a:srgbClr val="B097FF"/>
                </a:solidFill>
                <a:latin typeface="Liberation Sans Narrow" pitchFamily="34" charset="0"/>
                <a:ea typeface="Liberation Sans Narrow" pitchFamily="34" charset="-122"/>
                <a:cs typeface="Liberation Sans Narrow" pitchFamily="34" charset="-120"/>
              </a:rPr>
              <a:t>2 theorems stated</a:t>
            </a:r>
            <a:pPr algn="l" indent="0" marL="0">
              <a:lnSpc>
                <a:spcPts val="1097"/>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 (1 with full proof, 1 with sketch), </a:t>
            </a:r>
            <a:pPr algn="l" indent="0" marL="0">
              <a:lnSpc>
                <a:spcPts val="1097"/>
              </a:lnSpc>
              <a:buNone/>
            </a:pPr>
            <a:r>
              <a:rPr lang="en-US" sz="800" dirty="0">
                <a:solidFill>
                  <a:srgbClr val="FF6B6B"/>
                </a:solidFill>
                <a:latin typeface="Carlito" pitchFamily="34" charset="0"/>
                <a:ea typeface="Carlito" pitchFamily="34" charset="-122"/>
                <a:cs typeface="Carlito" pitchFamily="34" charset="-120"/>
              </a:rPr>
              <a:t>2 negative results published honestly</a:t>
            </a:r>
            <a:pPr algn="l" indent="0" marL="0">
              <a:lnSpc>
                <a:spcPts val="1097"/>
              </a:lnSpc>
              <a:buNone/>
            </a:pPr>
            <a:r>
              <a:rPr lang="en-US" sz="800" dirty="0">
                <a:solidFill>
                  <a:srgbClr val="E6E6E6"/>
                </a:solidFill>
                <a:latin typeface="Carlito" pitchFamily="34" charset="0"/>
                <a:ea typeface="Carlito" pitchFamily="34" charset="-122"/>
                <a:cs typeface="Carlito" pitchFamily="34" charset="-120"/>
              </a:rPr>
              <a:t>, 1 deepest question (n=24) still open.</a:t>
            </a:r>
            <a:endParaRPr lang="en-US" sz="800" dirty="0"/>
          </a:p>
        </p:txBody>
      </p:sp>
      <p:sp>
        <p:nvSpPr>
          <p:cNvPr id="14" name="Text 11"/>
          <p:cNvSpPr/>
          <p:nvPr/>
        </p:nvSpPr>
        <p:spPr>
          <a:xfrm>
            <a:off x="457200" y="4893469"/>
            <a:ext cx="5779071"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UBP_STUDY_EXTREMAL_004 / Program status / p.15</a:t>
            </a:r>
            <a:endParaRPr lang="en-US" sz="800" dirty="0"/>
          </a:p>
        </p:txBody>
      </p:sp>
      <p:sp>
        <p:nvSpPr>
          <p:cNvPr id="15" name="Text 12"/>
          <p:cNvSpPr/>
          <p:nvPr/>
        </p:nvSpPr>
        <p:spPr>
          <a:xfrm>
            <a:off x="6250558" y="4893469"/>
            <a:ext cx="2631141"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NEXT: COMPLETE STEP 3 · OR · TEST DE-SD CONJECTURE</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7080461"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VERDICT / PRIORITIES FOR EXTREMAL_005 / 16 OF 16</a:t>
            </a:r>
            <a:endParaRPr lang="en-US" sz="800" dirty="0"/>
          </a:p>
        </p:txBody>
      </p:sp>
      <p:sp>
        <p:nvSpPr>
          <p:cNvPr id="4" name="Text 2"/>
          <p:cNvSpPr/>
          <p:nvPr/>
        </p:nvSpPr>
        <p:spPr>
          <a:xfrm>
            <a:off x="7551948" y="342900"/>
            <a:ext cx="1134852"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UBP_STUDY_EXTREMAL_004</a:t>
            </a:r>
            <a:endParaRPr lang="en-US" sz="800" dirty="0"/>
          </a:p>
        </p:txBody>
      </p:sp>
      <p:sp>
        <p:nvSpPr>
          <p:cNvPr id="5" name="Text 3"/>
          <p:cNvSpPr/>
          <p:nvPr/>
        </p:nvSpPr>
        <p:spPr>
          <a:xfrm>
            <a:off x="457200" y="685800"/>
            <a:ext cx="342900" cy="21431"/>
          </a:xfrm>
          <a:prstGeom prst="rect">
            <a:avLst/>
          </a:prstGeom>
          <a:solidFill>
            <a:srgbClr val="FFB454"/>
          </a:solidFill>
          <a:ln/>
        </p:spPr>
        <p:txBody>
          <a:bodyPr wrap="square" rtlCol="0" anchor="ctr"/>
          <a:lstStyle/>
          <a:p>
            <a:pPr indent="0" marL="0">
              <a:buNone/>
            </a:pPr>
            <a:endParaRPr lang="en-US" dirty="0"/>
          </a:p>
        </p:txBody>
      </p:sp>
      <p:sp>
        <p:nvSpPr>
          <p:cNvPr id="6" name="Text 4"/>
          <p:cNvSpPr/>
          <p:nvPr/>
        </p:nvSpPr>
        <p:spPr>
          <a:xfrm>
            <a:off x="457200" y="821531"/>
            <a:ext cx="4428312" cy="283897"/>
          </a:xfrm>
          <a:prstGeom prst="rect">
            <a:avLst/>
          </a:prstGeom>
          <a:noFill/>
          <a:ln/>
        </p:spPr>
        <p:txBody>
          <a:bodyPr wrap="square" lIns="0" tIns="0" rIns="0" bIns="0" rtlCol="0" anchor="t"/>
          <a:lstStyle/>
          <a:p>
            <a:pPr algn="l" indent="0" marL="0">
              <a:lnSpc>
                <a:spcPts val="2070"/>
              </a:lnSpc>
              <a:buNone/>
            </a:pPr>
            <a:r>
              <a:rPr lang="en-US" sz="1800" spc="-18" kern="0" dirty="0">
                <a:solidFill>
                  <a:srgbClr val="E6E6E6"/>
                </a:solidFill>
                <a:latin typeface="Carlito" pitchFamily="34" charset="0"/>
                <a:ea typeface="Carlito" pitchFamily="34" charset="-122"/>
                <a:cs typeface="Carlito" pitchFamily="34" charset="-120"/>
              </a:rPr>
              <a:t>Verdict and priorities for the next push</a:t>
            </a:r>
            <a:endParaRPr lang="en-US" sz="1800" dirty="0"/>
          </a:p>
        </p:txBody>
      </p:sp>
      <p:sp>
        <p:nvSpPr>
          <p:cNvPr id="7" name="Text 5"/>
          <p:cNvSpPr/>
          <p:nvPr/>
        </p:nvSpPr>
        <p:spPr>
          <a:xfrm>
            <a:off x="6569808" y="977243"/>
            <a:ext cx="2116992" cy="164592"/>
          </a:xfrm>
          <a:prstGeom prst="rect">
            <a:avLst/>
          </a:prstGeom>
          <a:noFill/>
          <a:ln/>
        </p:spPr>
        <p:txBody>
          <a:bodyPr wrap="square" lIns="0" tIns="0" rIns="0" bIns="0" rtlCol="0" anchor="t"/>
          <a:lstStyle/>
          <a:p>
            <a:pPr algn="r"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END OF DECK · CLOSE OF CONTINUATION II</a:t>
            </a:r>
            <a:endParaRPr lang="en-US" sz="800" dirty="0"/>
          </a:p>
        </p:txBody>
      </p:sp>
      <p:sp>
        <p:nvSpPr>
          <p:cNvPr id="8" name="Text 6"/>
          <p:cNvSpPr/>
          <p:nvPr/>
        </p:nvSpPr>
        <p:spPr>
          <a:xfrm>
            <a:off x="457200" y="1170124"/>
            <a:ext cx="8229600" cy="857696"/>
          </a:xfrm>
          <a:prstGeom prst="rect">
            <a:avLst/>
          </a:prstGeom>
          <a:solidFill>
            <a:srgbClr val="1F2630"/>
          </a:solidFill>
          <a:ln/>
        </p:spPr>
        <p:txBody>
          <a:bodyPr wrap="square" rtlCol="0" anchor="ctr"/>
          <a:lstStyle/>
          <a:p>
            <a:pPr indent="0" marL="0">
              <a:buNone/>
            </a:pPr>
            <a:endParaRPr lang="en-US" dirty="0"/>
          </a:p>
        </p:txBody>
      </p:sp>
      <p:sp>
        <p:nvSpPr>
          <p:cNvPr id="9" name="Shape 7"/>
          <p:cNvSpPr/>
          <p:nvPr/>
        </p:nvSpPr>
        <p:spPr>
          <a:xfrm>
            <a:off x="457200" y="1173696"/>
            <a:ext cx="8229600" cy="0"/>
          </a:xfrm>
          <a:prstGeom prst="line">
            <a:avLst/>
          </a:prstGeom>
          <a:noFill/>
          <a:ln w="7144">
            <a:solidFill>
              <a:srgbClr val="2A3038"/>
            </a:solidFill>
            <a:prstDash val="solid"/>
          </a:ln>
        </p:spPr>
      </p:sp>
      <p:sp>
        <p:nvSpPr>
          <p:cNvPr id="10" name="Shape 8"/>
          <p:cNvSpPr/>
          <p:nvPr/>
        </p:nvSpPr>
        <p:spPr>
          <a:xfrm>
            <a:off x="8683228" y="1170124"/>
            <a:ext cx="0" cy="857696"/>
          </a:xfrm>
          <a:prstGeom prst="line">
            <a:avLst/>
          </a:prstGeom>
          <a:noFill/>
          <a:ln w="7144">
            <a:solidFill>
              <a:srgbClr val="2A3038"/>
            </a:solidFill>
            <a:prstDash val="solid"/>
          </a:ln>
        </p:spPr>
      </p:sp>
      <p:sp>
        <p:nvSpPr>
          <p:cNvPr id="11" name="Shape 9"/>
          <p:cNvSpPr/>
          <p:nvPr/>
        </p:nvSpPr>
        <p:spPr>
          <a:xfrm>
            <a:off x="457200" y="2024249"/>
            <a:ext cx="8229600" cy="0"/>
          </a:xfrm>
          <a:prstGeom prst="line">
            <a:avLst/>
          </a:prstGeom>
          <a:noFill/>
          <a:ln w="7144">
            <a:solidFill>
              <a:srgbClr val="2A3038"/>
            </a:solidFill>
            <a:prstDash val="solid"/>
          </a:ln>
        </p:spPr>
      </p:sp>
      <p:sp>
        <p:nvSpPr>
          <p:cNvPr id="12" name="Shape 10"/>
          <p:cNvSpPr/>
          <p:nvPr/>
        </p:nvSpPr>
        <p:spPr>
          <a:xfrm>
            <a:off x="467916" y="1170124"/>
            <a:ext cx="0" cy="857696"/>
          </a:xfrm>
          <a:prstGeom prst="line">
            <a:avLst/>
          </a:prstGeom>
          <a:noFill/>
          <a:ln w="21431">
            <a:solidFill>
              <a:srgbClr val="FFB454"/>
            </a:solidFill>
            <a:prstDash val="solid"/>
          </a:ln>
        </p:spPr>
      </p:sp>
      <p:sp>
        <p:nvSpPr>
          <p:cNvPr id="13" name="Text 11"/>
          <p:cNvSpPr/>
          <p:nvPr/>
        </p:nvSpPr>
        <p:spPr>
          <a:xfrm>
            <a:off x="457200" y="1170124"/>
            <a:ext cx="8229600" cy="915989"/>
          </a:xfrm>
          <a:prstGeom prst="rect">
            <a:avLst/>
          </a:prstGeom>
          <a:noFill/>
          <a:ln/>
        </p:spPr>
        <p:txBody>
          <a:bodyPr wrap="square" lIns="157163" tIns="100013" rIns="157163" bIns="100013" rtlCol="0" anchor="t">
            <a:normAutofit/>
          </a:bodyPr>
          <a:lstStyle/>
          <a:p>
            <a:pPr algn="l" indent="0" marL="0">
              <a:lnSpc>
                <a:spcPts val="1253"/>
              </a:lnSpc>
              <a:buNone/>
            </a:pPr>
            <a:r>
              <a:rPr lang="en-US" sz="800" dirty="0">
                <a:solidFill>
                  <a:srgbClr val="E6E6E6"/>
                </a:solidFill>
                <a:latin typeface="Carlito" pitchFamily="34" charset="0"/>
                <a:ea typeface="Carlito" pitchFamily="34" charset="-122"/>
                <a:cs typeface="Carlito" pitchFamily="34" charset="-120"/>
              </a:rPr>
              <a:t>Two continuations have advanced the Extremal Law program from a candidate variational principle to a </a:t>
            </a:r>
            <a:pPr algn="l" indent="0" marL="0">
              <a:lnSpc>
                <a:spcPts val="1253"/>
              </a:lnSpc>
              <a:buNone/>
            </a:pPr>
            <a:r>
              <a:rPr lang="en-US" sz="800" dirty="0">
                <a:solidFill>
                  <a:srgbClr val="FFB454"/>
                </a:solidFill>
                <a:latin typeface="Carlito" pitchFamily="34" charset="0"/>
                <a:ea typeface="Carlito" pitchFamily="34" charset="-122"/>
                <a:cs typeface="Carlito" pitchFamily="34" charset="-120"/>
              </a:rPr>
              <a:t>partially-axiomatised framework</a:t>
            </a:r>
            <a:pPr algn="l" indent="0" marL="0">
              <a:lnSpc>
                <a:spcPts val="1253"/>
              </a:lnSpc>
              <a:buNone/>
            </a:pPr>
            <a:r>
              <a:rPr lang="en-US" sz="800" dirty="0">
                <a:solidFill>
                  <a:srgbClr val="E6E6E6"/>
                </a:solidFill>
                <a:latin typeface="Carlito" pitchFamily="34" charset="0"/>
                <a:ea typeface="Carlito" pitchFamily="34" charset="-122"/>
                <a:cs typeface="Carlito" pitchFamily="34" charset="-120"/>
              </a:rPr>
              <a:t> with two stated theorems, three closed open questions, and one falsification published honestly. The Golay structure is now </a:t>
            </a:r>
            <a:pPr algn="l" indent="0" marL="0">
              <a:lnSpc>
                <a:spcPts val="1253"/>
              </a:lnSpc>
              <a:buNone/>
            </a:pPr>
            <a:r>
              <a:rPr lang="en-US" sz="800" dirty="0">
                <a:solidFill>
                  <a:srgbClr val="6FE3D2"/>
                </a:solidFill>
                <a:latin typeface="Carlito" pitchFamily="34" charset="0"/>
                <a:ea typeface="Carlito" pitchFamily="34" charset="-122"/>
                <a:cs typeface="Carlito" pitchFamily="34" charset="-120"/>
              </a:rPr>
              <a:t>PROVED to be consistent</a:t>
            </a:r>
            <a:pPr algn="l" indent="0" marL="0">
              <a:lnSpc>
                <a:spcPts val="1253"/>
              </a:lnSpc>
              <a:buNone/>
            </a:pPr>
            <a:r>
              <a:rPr lang="en-US" sz="800" dirty="0">
                <a:solidFill>
                  <a:srgbClr val="E6E6E6"/>
                </a:solidFill>
                <a:latin typeface="Carlito" pitchFamily="34" charset="0"/>
                <a:ea typeface="Carlito" pitchFamily="34" charset="-122"/>
                <a:cs typeface="Carlito" pitchFamily="34" charset="-120"/>
              </a:rPr>
              <a:t> with the </a:t>
            </a:r>
            <a:pPr algn="l" indent="0" marL="0">
              <a:lnSpc>
                <a:spcPts val="1253"/>
              </a:lnSpc>
              <a:buNone/>
            </a:pPr>
            <a:r>
              <a:rPr lang="en-US" sz="800" i="1" dirty="0">
                <a:solidFill>
                  <a:srgbClr val="E6E6E6"/>
                </a:solidFill>
                <a:latin typeface="Tinos" pitchFamily="34" charset="0"/>
                <a:ea typeface="Tinos" pitchFamily="34" charset="-122"/>
                <a:cs typeface="Tinos" pitchFamily="34" charset="-120"/>
              </a:rPr>
              <a:t>Φ</a:t>
            </a:r>
            <a:pPr algn="l" indent="0" marL="0">
              <a:lnSpc>
                <a:spcPts val="1253"/>
              </a:lnSpc>
              <a:buNone/>
            </a:pPr>
            <a:r>
              <a:rPr lang="en-US" sz="800" dirty="0">
                <a:solidFill>
                  <a:srgbClr val="E6E6E6"/>
                </a:solidFill>
                <a:latin typeface="Carlito" pitchFamily="34" charset="0"/>
                <a:ea typeface="Carlito" pitchFamily="34" charset="-122"/>
                <a:cs typeface="Carlito" pitchFamily="34" charset="-120"/>
              </a:rPr>
              <a:t>-optimiser role (modulo one step), and </a:t>
            </a:r>
            <a:pPr algn="l" indent="0" marL="0">
              <a:lnSpc>
                <a:spcPts val="1253"/>
              </a:lnSpc>
              <a:buNone/>
            </a:pPr>
            <a:r>
              <a:rPr lang="en-US" sz="800" dirty="0">
                <a:solidFill>
                  <a:srgbClr val="B097FF"/>
                </a:solidFill>
                <a:latin typeface="Carlito" pitchFamily="34" charset="0"/>
                <a:ea typeface="Carlito" pitchFamily="34" charset="-122"/>
                <a:cs typeface="Carlito" pitchFamily="34" charset="-120"/>
              </a:rPr>
              <a:t>STRONGLY SUGGESTED to be uniquely so</a:t>
            </a:r>
            <a:pPr algn="l" indent="0" marL="0">
              <a:lnSpc>
                <a:spcPts val="1253"/>
              </a:lnSpc>
              <a:buNone/>
            </a:pPr>
            <a:r>
              <a:rPr lang="en-US" sz="800" dirty="0">
                <a:solidFill>
                  <a:srgbClr val="E6E6E6"/>
                </a:solidFill>
                <a:latin typeface="Carlito" pitchFamily="34" charset="0"/>
                <a:ea typeface="Carlito" pitchFamily="34" charset="-122"/>
                <a:cs typeface="Carlito" pitchFamily="34" charset="-120"/>
              </a:rPr>
              <a:t> for </a:t>
            </a:r>
            <a:pPr algn="l" indent="0" marL="0">
              <a:lnSpc>
                <a:spcPts val="1253"/>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[23,12]</a:t>
            </a:r>
            <a:pPr algn="l" indent="0" marL="0">
              <a:lnSpc>
                <a:spcPts val="1253"/>
              </a:lnSpc>
              <a:buNone/>
            </a:pPr>
            <a:r>
              <a:rPr lang="en-US" sz="800" dirty="0">
                <a:solidFill>
                  <a:srgbClr val="E6E6E6"/>
                </a:solidFill>
                <a:latin typeface="Carlito" pitchFamily="34" charset="0"/>
                <a:ea typeface="Carlito" pitchFamily="34" charset="-122"/>
                <a:cs typeface="Carlito" pitchFamily="34" charset="-120"/>
              </a:rPr>
              <a:t> parameters. The self-dual extension </a:t>
            </a:r>
            <a:pPr algn="l" indent="0" marL="0">
              <a:lnSpc>
                <a:spcPts val="1253"/>
              </a:lnSpc>
              <a:buNone/>
            </a:pPr>
            <a:r>
              <a:rPr lang="en-US" sz="800" dirty="0">
                <a:solidFill>
                  <a:srgbClr val="FF6B6B"/>
                </a:solidFill>
                <a:latin typeface="Carlito" pitchFamily="34" charset="0"/>
                <a:ea typeface="Carlito" pitchFamily="34" charset="-122"/>
                <a:cs typeface="Carlito" pitchFamily="34" charset="-120"/>
              </a:rPr>
              <a:t>does not go through in any simple form</a:t>
            </a:r>
            <a:pPr algn="l" indent="0" marL="0">
              <a:lnSpc>
                <a:spcPts val="1253"/>
              </a:lnSpc>
              <a:buNone/>
            </a:pPr>
            <a:r>
              <a:rPr lang="en-US" sz="800" dirty="0">
                <a:solidFill>
                  <a:srgbClr val="E6E6E6"/>
                </a:solidFill>
                <a:latin typeface="Carlito" pitchFamily="34" charset="0"/>
                <a:ea typeface="Carlito" pitchFamily="34" charset="-122"/>
                <a:cs typeface="Carlito" pitchFamily="34" charset="-120"/>
              </a:rPr>
              <a:t>, but the refined doubly-even conjecture offers a tractable next test. The deepest question — </a:t>
            </a:r>
            <a:pPr algn="l" indent="0" marL="0">
              <a:lnSpc>
                <a:spcPts val="1253"/>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why n=24</a:t>
            </a:r>
            <a:pPr algn="l" indent="0" marL="0">
              <a:lnSpc>
                <a:spcPts val="1253"/>
              </a:lnSpc>
              <a:buNone/>
            </a:pPr>
            <a:r>
              <a:rPr lang="en-US" sz="800" dirty="0">
                <a:solidFill>
                  <a:srgbClr val="E6E6E6"/>
                </a:solidFill>
                <a:latin typeface="Carlito" pitchFamily="34" charset="0"/>
                <a:ea typeface="Carlito" pitchFamily="34" charset="-122"/>
                <a:cs typeface="Carlito" pitchFamily="34" charset="-120"/>
              </a:rPr>
              <a:t> — remains open and likely sits permanently outside </a:t>
            </a:r>
            <a:pPr algn="l" indent="0" marL="0">
              <a:lnSpc>
                <a:spcPts val="1253"/>
              </a:lnSpc>
              <a:buNone/>
            </a:pPr>
            <a:r>
              <a:rPr lang="en-US" sz="800" i="1" dirty="0">
                <a:solidFill>
                  <a:srgbClr val="E6E6E6"/>
                </a:solidFill>
                <a:latin typeface="Tinos" pitchFamily="34" charset="0"/>
                <a:ea typeface="Tinos" pitchFamily="34" charset="-122"/>
                <a:cs typeface="Tinos" pitchFamily="34" charset="-120"/>
              </a:rPr>
              <a:t>Φ</a:t>
            </a:r>
            <a:pPr algn="l" indent="0" marL="0">
              <a:lnSpc>
                <a:spcPts val="1253"/>
              </a:lnSpc>
              <a:buNone/>
            </a:pPr>
            <a:r>
              <a:rPr lang="en-US" sz="800" dirty="0">
                <a:solidFill>
                  <a:srgbClr val="E6E6E6"/>
                </a:solidFill>
                <a:latin typeface="Carlito" pitchFamily="34" charset="0"/>
                <a:ea typeface="Carlito" pitchFamily="34" charset="-122"/>
                <a:cs typeface="Carlito" pitchFamily="34" charset="-120"/>
              </a:rPr>
              <a:t>.</a:t>
            </a:r>
            <a:endParaRPr lang="en-US" sz="800" dirty="0"/>
          </a:p>
        </p:txBody>
      </p:sp>
      <p:sp>
        <p:nvSpPr>
          <p:cNvPr id="14" name="Text 12"/>
          <p:cNvSpPr/>
          <p:nvPr/>
        </p:nvSpPr>
        <p:spPr>
          <a:xfrm>
            <a:off x="457200" y="2113545"/>
            <a:ext cx="4071938" cy="2000250"/>
          </a:xfrm>
          <a:prstGeom prst="roundRect">
            <a:avLst>
              <a:gd name="adj" fmla="val 2857"/>
            </a:avLst>
          </a:prstGeom>
          <a:solidFill>
            <a:srgbClr val="161B22"/>
          </a:solidFill>
          <a:ln/>
        </p:spPr>
        <p:txBody>
          <a:bodyPr wrap="square" rtlCol="0" anchor="ctr"/>
          <a:lstStyle/>
          <a:p>
            <a:pPr indent="0" marL="0">
              <a:buNone/>
            </a:pPr>
            <a:endParaRPr lang="en-US" dirty="0"/>
          </a:p>
        </p:txBody>
      </p:sp>
      <p:sp>
        <p:nvSpPr>
          <p:cNvPr id="15" name="Shape 13"/>
          <p:cNvSpPr/>
          <p:nvPr/>
        </p:nvSpPr>
        <p:spPr>
          <a:xfrm>
            <a:off x="457200" y="2120689"/>
            <a:ext cx="4071938" cy="0"/>
          </a:xfrm>
          <a:prstGeom prst="line">
            <a:avLst/>
          </a:prstGeom>
          <a:noFill/>
          <a:ln w="14288">
            <a:solidFill>
              <a:srgbClr val="6FE3D2"/>
            </a:solidFill>
            <a:prstDash val="solid"/>
          </a:ln>
        </p:spPr>
      </p:sp>
      <p:sp>
        <p:nvSpPr>
          <p:cNvPr id="16" name="Shape 14"/>
          <p:cNvSpPr/>
          <p:nvPr/>
        </p:nvSpPr>
        <p:spPr>
          <a:xfrm>
            <a:off x="4525566" y="2113545"/>
            <a:ext cx="0" cy="2000250"/>
          </a:xfrm>
          <a:prstGeom prst="line">
            <a:avLst/>
          </a:prstGeom>
          <a:noFill/>
          <a:ln w="7144">
            <a:solidFill>
              <a:srgbClr val="2A3038"/>
            </a:solidFill>
            <a:prstDash val="solid"/>
          </a:ln>
        </p:spPr>
      </p:sp>
      <p:sp>
        <p:nvSpPr>
          <p:cNvPr id="17" name="Shape 15"/>
          <p:cNvSpPr/>
          <p:nvPr/>
        </p:nvSpPr>
        <p:spPr>
          <a:xfrm>
            <a:off x="457200" y="4110224"/>
            <a:ext cx="4071938" cy="0"/>
          </a:xfrm>
          <a:prstGeom prst="line">
            <a:avLst/>
          </a:prstGeom>
          <a:noFill/>
          <a:ln w="7144">
            <a:solidFill>
              <a:srgbClr val="2A3038"/>
            </a:solidFill>
            <a:prstDash val="solid"/>
          </a:ln>
        </p:spPr>
      </p:sp>
      <p:sp>
        <p:nvSpPr>
          <p:cNvPr id="18" name="Shape 16"/>
          <p:cNvSpPr/>
          <p:nvPr/>
        </p:nvSpPr>
        <p:spPr>
          <a:xfrm>
            <a:off x="460772" y="2113545"/>
            <a:ext cx="0" cy="2000250"/>
          </a:xfrm>
          <a:prstGeom prst="line">
            <a:avLst/>
          </a:prstGeom>
          <a:noFill/>
          <a:ln w="7144">
            <a:solidFill>
              <a:srgbClr val="2A3038"/>
            </a:solidFill>
            <a:prstDash val="solid"/>
          </a:ln>
        </p:spPr>
      </p:sp>
      <p:sp>
        <p:nvSpPr>
          <p:cNvPr id="19" name="Text 17"/>
          <p:cNvSpPr/>
          <p:nvPr/>
        </p:nvSpPr>
        <p:spPr>
          <a:xfrm>
            <a:off x="764381" y="2242133"/>
            <a:ext cx="1594766" cy="125403"/>
          </a:xfrm>
          <a:prstGeom prst="rect">
            <a:avLst/>
          </a:prstGeom>
          <a:noFill/>
          <a:ln/>
        </p:spPr>
        <p:txBody>
          <a:bodyPr wrap="none" lIns="0" tIns="0" rIns="0" bIns="0" rtlCol="0" anchor="t"/>
          <a:lstStyle/>
          <a:p>
            <a:pPr algn="l" indent="0" marL="0">
              <a:lnSpc>
                <a:spcPts val="1181"/>
              </a:lnSpc>
              <a:buNone/>
            </a:pPr>
            <a:r>
              <a:rPr lang="en-US" sz="800" spc="4" kern="0" dirty="0">
                <a:solidFill>
                  <a:srgbClr val="B5BAC4"/>
                </a:solidFill>
                <a:latin typeface="Carlito" pitchFamily="34" charset="0"/>
                <a:ea typeface="Carlito" pitchFamily="34" charset="-122"/>
                <a:cs typeface="Carlito" pitchFamily="34" charset="-120"/>
              </a:rPr>
              <a:t>What is now firmly established</a:t>
            </a:r>
            <a:endParaRPr lang="en-US" sz="800" dirty="0"/>
          </a:p>
        </p:txBody>
      </p:sp>
      <p:sp>
        <p:nvSpPr>
          <p:cNvPr id="20" name="Text 18"/>
          <p:cNvSpPr/>
          <p:nvPr/>
        </p:nvSpPr>
        <p:spPr>
          <a:xfrm>
            <a:off x="578644" y="2449302"/>
            <a:ext cx="3938778" cy="136428"/>
          </a:xfrm>
          <a:prstGeom prst="rect">
            <a:avLst/>
          </a:prstGeom>
          <a:noFill/>
          <a:ln/>
        </p:spPr>
        <p:txBody>
          <a:bodyPr wrap="square" lIns="0" tIns="0" rIns="0" bIns="0" rtlCol="0" anchor="t">
            <a:normAutofit/>
          </a:bodyPr>
          <a:lstStyle/>
          <a:p>
            <a:pPr algn="l" indent="0" marL="0">
              <a:lnSpc>
                <a:spcPts val="938"/>
              </a:lnSpc>
              <a:buNone/>
            </a:pPr>
            <a:r>
              <a:rPr lang="en-US" sz="800" dirty="0">
                <a:solidFill>
                  <a:srgbClr val="E6E6E6"/>
                </a:solidFill>
                <a:latin typeface="Carlito" pitchFamily="34" charset="0"/>
                <a:ea typeface="Carlito" pitchFamily="34" charset="-122"/>
                <a:cs typeface="Carlito" pitchFamily="34" charset="-120"/>
              </a:rPr>
              <a:t>Constant Peak: algebraic identity, exact.</a:t>
            </a:r>
            <a:endParaRPr lang="en-US" sz="800" dirty="0"/>
          </a:p>
        </p:txBody>
      </p:sp>
      <p:sp>
        <p:nvSpPr>
          <p:cNvPr id="21" name="Text 19"/>
          <p:cNvSpPr/>
          <p:nvPr/>
        </p:nvSpPr>
        <p:spPr>
          <a:xfrm>
            <a:off x="578644" y="2613161"/>
            <a:ext cx="3829050" cy="136428"/>
          </a:xfrm>
          <a:prstGeom prst="rect">
            <a:avLst/>
          </a:prstGeom>
          <a:noFill/>
          <a:ln/>
        </p:spPr>
        <p:txBody>
          <a:bodyPr wrap="square" lIns="0" tIns="0" rIns="0" bIns="0" rtlCol="0" anchor="t">
            <a:normAutofit/>
          </a:bodyPr>
          <a:lstStyle/>
          <a:p>
            <a:pPr algn="l" indent="0" marL="0">
              <a:lnSpc>
                <a:spcPts val="938"/>
              </a:lnSpc>
              <a:buNone/>
            </a:pPr>
            <a:r>
              <a:rPr lang="en-US" sz="800" dirty="0">
                <a:solidFill>
                  <a:srgbClr val="E6E6E6"/>
                </a:solidFill>
                <a:latin typeface="Carlito" pitchFamily="34" charset="0"/>
                <a:ea typeface="Carlito" pitchFamily="34" charset="-122"/>
                <a:cs typeface="Carlito" pitchFamily="34" charset="-120"/>
              </a:rPr>
              <a:t>Analytic Dominance: universal across linear codes.</a:t>
            </a:r>
            <a:endParaRPr lang="en-US" sz="800" dirty="0"/>
          </a:p>
        </p:txBody>
      </p:sp>
      <p:sp>
        <p:nvSpPr>
          <p:cNvPr id="22" name="Text 20"/>
          <p:cNvSpPr/>
          <p:nvPr/>
        </p:nvSpPr>
        <p:spPr>
          <a:xfrm>
            <a:off x="578644" y="2777021"/>
            <a:ext cx="3829050" cy="136428"/>
          </a:xfrm>
          <a:prstGeom prst="rect">
            <a:avLst/>
          </a:prstGeom>
          <a:noFill/>
          <a:ln/>
        </p:spPr>
        <p:txBody>
          <a:bodyPr wrap="square" lIns="0" tIns="0" rIns="0" bIns="0" rtlCol="0" anchor="t">
            <a:normAutofit/>
          </a:bodyPr>
          <a:lstStyle/>
          <a:p>
            <a:pPr algn="l" indent="0" marL="0">
              <a:lnSpc>
                <a:spcPts val="938"/>
              </a:lnSpc>
              <a:buNone/>
            </a:pPr>
            <a:r>
              <a:rPr lang="en-US" sz="800" dirty="0">
                <a:solidFill>
                  <a:srgbClr val="E6E6E6"/>
                </a:solidFill>
                <a:latin typeface="Carlito" pitchFamily="34" charset="0"/>
                <a:ea typeface="Carlito" pitchFamily="34" charset="-122"/>
                <a:cs typeface="Carlito" pitchFamily="34" charset="-120"/>
              </a:rPr>
              <a:t>Decoder-Flow Monotonicity: holds up to vacuum collapse.</a:t>
            </a:r>
            <a:endParaRPr lang="en-US" sz="800" dirty="0"/>
          </a:p>
        </p:txBody>
      </p:sp>
      <p:sp>
        <p:nvSpPr>
          <p:cNvPr id="23" name="Text 21"/>
          <p:cNvSpPr/>
          <p:nvPr/>
        </p:nvSpPr>
        <p:spPr>
          <a:xfrm>
            <a:off x="690265" y="2955168"/>
            <a:ext cx="2623654" cy="114499"/>
          </a:xfrm>
          <a:prstGeom prst="rect">
            <a:avLst/>
          </a:prstGeom>
          <a:noFill/>
          <a:ln/>
        </p:spPr>
        <p:txBody>
          <a:bodyPr wrap="square" lIns="0" tIns="0" rIns="0" bIns="0" rtlCol="0" anchor="t"/>
          <a:lstStyle/>
          <a:p>
            <a:pPr algn="l" indent="0" marL="0">
              <a:lnSpc>
                <a:spcPts val="938"/>
              </a:lnSpc>
              <a:buNone/>
            </a:pPr>
            <a:r>
              <a:rPr lang="en-US" sz="800" dirty="0">
                <a:solidFill>
                  <a:srgbClr val="E6E6E6"/>
                </a:solidFill>
                <a:latin typeface="Carlito" pitchFamily="34" charset="0"/>
                <a:ea typeface="Carlito" pitchFamily="34" charset="-122"/>
                <a:cs typeface="Carlito" pitchFamily="34" charset="-120"/>
              </a:rPr>
              <a:t>avg_ -Covering equivalence: theorem (EXTREMAL_003 Thread C).</a:t>
            </a:r>
            <a:endParaRPr lang="en-US" sz="800" dirty="0"/>
          </a:p>
        </p:txBody>
      </p:sp>
      <p:sp>
        <p:nvSpPr>
          <p:cNvPr id="24" name="Text 22"/>
          <p:cNvSpPr/>
          <p:nvPr/>
        </p:nvSpPr>
        <p:spPr>
          <a:xfrm>
            <a:off x="932706" y="2940881"/>
            <a:ext cx="3474988" cy="159076"/>
          </a:xfrm>
          <a:prstGeom prst="rect">
            <a:avLst/>
          </a:prstGeom>
          <a:noFill/>
          <a:ln/>
        </p:spPr>
        <p:txBody>
          <a:bodyPr wrap="none" lIns="0" tIns="0" rIns="0" bIns="0" rtlCol="0" anchor="t"/>
          <a:lstStyle/>
          <a:p>
            <a:pPr algn="l" indent="0" marL="0">
              <a:lnSpc>
                <a:spcPts val="938"/>
              </a:lnSpc>
              <a:buNone/>
            </a:pPr>
            <a:r>
              <a:rPr lang="en-US" sz="800" i="1" dirty="0">
                <a:solidFill>
                  <a:srgbClr val="E6E6E6"/>
                </a:solidFill>
                <a:latin typeface="Tinos" pitchFamily="34" charset="0"/>
                <a:ea typeface="Tinos" pitchFamily="34" charset="-122"/>
                <a:cs typeface="Tinos" pitchFamily="34" charset="-120"/>
              </a:rPr>
              <a:t>Φ</a:t>
            </a:r>
            <a:endParaRPr lang="en-US" sz="800" dirty="0"/>
          </a:p>
        </p:txBody>
      </p:sp>
      <p:sp>
        <p:nvSpPr>
          <p:cNvPr id="25" name="Text 23"/>
          <p:cNvSpPr/>
          <p:nvPr/>
        </p:nvSpPr>
        <p:spPr>
          <a:xfrm>
            <a:off x="690265" y="3119028"/>
            <a:ext cx="2450529" cy="114499"/>
          </a:xfrm>
          <a:prstGeom prst="rect">
            <a:avLst/>
          </a:prstGeom>
          <a:noFill/>
          <a:ln/>
        </p:spPr>
        <p:txBody>
          <a:bodyPr wrap="square" lIns="0" tIns="0" rIns="0" bIns="0" rtlCol="0" anchor="t"/>
          <a:lstStyle/>
          <a:p>
            <a:pPr algn="l" indent="0" marL="0">
              <a:lnSpc>
                <a:spcPts val="938"/>
              </a:lnSpc>
              <a:buNone/>
            </a:pPr>
            <a:r>
              <a:rPr lang="en-US" sz="800" dirty="0">
                <a:solidFill>
                  <a:srgbClr val="E6E6E6"/>
                </a:solidFill>
                <a:latin typeface="Carlito" pitchFamily="34" charset="0"/>
                <a:ea typeface="Carlito" pitchFamily="34" charset="-122"/>
                <a:cs typeface="Carlito" pitchFamily="34" charset="-120"/>
              </a:rPr>
              <a:t>Vacuum basin: exactly vectors (this document, Thread E).</a:t>
            </a:r>
            <a:endParaRPr lang="en-US" sz="800" dirty="0"/>
          </a:p>
        </p:txBody>
      </p:sp>
      <p:sp>
        <p:nvSpPr>
          <p:cNvPr id="26" name="Text 24"/>
          <p:cNvSpPr/>
          <p:nvPr/>
        </p:nvSpPr>
        <p:spPr>
          <a:xfrm>
            <a:off x="1570397" y="3104741"/>
            <a:ext cx="2837297" cy="159076"/>
          </a:xfrm>
          <a:prstGeom prst="rect">
            <a:avLst/>
          </a:prstGeom>
          <a:noFill/>
          <a:ln/>
        </p:spPr>
        <p:txBody>
          <a:bodyPr wrap="square" lIns="0" tIns="0" rIns="0" bIns="0" rtlCol="0" anchor="t"/>
          <a:lstStyle/>
          <a:p>
            <a:pPr algn="l" indent="0" marL="0">
              <a:lnSpc>
                <a:spcPts val="938"/>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2,325</a:t>
            </a:r>
            <a:endParaRPr lang="en-US" sz="800" dirty="0"/>
          </a:p>
        </p:txBody>
      </p:sp>
      <p:sp>
        <p:nvSpPr>
          <p:cNvPr id="27" name="Text 25"/>
          <p:cNvSpPr/>
          <p:nvPr/>
        </p:nvSpPr>
        <p:spPr>
          <a:xfrm>
            <a:off x="690265" y="3282888"/>
            <a:ext cx="2571710" cy="114499"/>
          </a:xfrm>
          <a:prstGeom prst="rect">
            <a:avLst/>
          </a:prstGeom>
          <a:noFill/>
          <a:ln/>
        </p:spPr>
        <p:txBody>
          <a:bodyPr wrap="square" lIns="0" tIns="0" rIns="0" bIns="0" rtlCol="0" anchor="t"/>
          <a:lstStyle/>
          <a:p>
            <a:pPr algn="l" indent="0" marL="0">
              <a:lnSpc>
                <a:spcPts val="938"/>
              </a:lnSpc>
              <a:buNone/>
            </a:pPr>
            <a:r>
              <a:rPr lang="en-US" sz="800" dirty="0">
                <a:solidFill>
                  <a:srgbClr val="E6E6E6"/>
                </a:solidFill>
                <a:latin typeface="Carlito" pitchFamily="34" charset="0"/>
                <a:ea typeface="Carlito" pitchFamily="34" charset="-122"/>
                <a:cs typeface="Carlito" pitchFamily="34" charset="-120"/>
              </a:rPr>
              <a:t>Golay strictly maximises avg_ in Monte Carlo.</a:t>
            </a:r>
            <a:endParaRPr lang="en-US" sz="800" dirty="0"/>
          </a:p>
        </p:txBody>
      </p:sp>
      <p:sp>
        <p:nvSpPr>
          <p:cNvPr id="28" name="Text 26"/>
          <p:cNvSpPr/>
          <p:nvPr/>
        </p:nvSpPr>
        <p:spPr>
          <a:xfrm>
            <a:off x="969206" y="3268600"/>
            <a:ext cx="1386111" cy="159076"/>
          </a:xfrm>
          <a:prstGeom prst="rect">
            <a:avLst/>
          </a:prstGeom>
          <a:noFill/>
          <a:ln/>
        </p:spPr>
        <p:txBody>
          <a:bodyPr wrap="none" lIns="0" tIns="0" rIns="0" bIns="0" rtlCol="0" anchor="t"/>
          <a:lstStyle/>
          <a:p>
            <a:pPr algn="l" indent="0" marL="0">
              <a:lnSpc>
                <a:spcPts val="938"/>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[23,12,7]</a:t>
            </a:r>
            <a:endParaRPr lang="en-US" sz="800" dirty="0"/>
          </a:p>
        </p:txBody>
      </p:sp>
      <p:sp>
        <p:nvSpPr>
          <p:cNvPr id="29" name="Text 27"/>
          <p:cNvSpPr/>
          <p:nvPr/>
        </p:nvSpPr>
        <p:spPr>
          <a:xfrm>
            <a:off x="2387464" y="3268600"/>
            <a:ext cx="2020230" cy="159076"/>
          </a:xfrm>
          <a:prstGeom prst="rect">
            <a:avLst/>
          </a:prstGeom>
          <a:noFill/>
          <a:ln/>
        </p:spPr>
        <p:txBody>
          <a:bodyPr wrap="none" lIns="0" tIns="0" rIns="0" bIns="0" rtlCol="0" anchor="t"/>
          <a:lstStyle/>
          <a:p>
            <a:pPr algn="l" indent="0" marL="0">
              <a:lnSpc>
                <a:spcPts val="938"/>
              </a:lnSpc>
              <a:buNone/>
            </a:pPr>
            <a:r>
              <a:rPr lang="en-US" sz="800" i="1" dirty="0">
                <a:solidFill>
                  <a:srgbClr val="E6E6E6"/>
                </a:solidFill>
                <a:latin typeface="Tinos" pitchFamily="34" charset="0"/>
                <a:ea typeface="Tinos" pitchFamily="34" charset="-122"/>
                <a:cs typeface="Tinos" pitchFamily="34" charset="-120"/>
              </a:rPr>
              <a:t>Φ</a:t>
            </a:r>
            <a:endParaRPr lang="en-US" sz="800" dirty="0"/>
          </a:p>
        </p:txBody>
      </p:sp>
      <p:sp>
        <p:nvSpPr>
          <p:cNvPr id="30" name="Text 28"/>
          <p:cNvSpPr/>
          <p:nvPr/>
        </p:nvSpPr>
        <p:spPr>
          <a:xfrm>
            <a:off x="690265" y="3446748"/>
            <a:ext cx="2444408" cy="114499"/>
          </a:xfrm>
          <a:prstGeom prst="rect">
            <a:avLst/>
          </a:prstGeom>
          <a:noFill/>
          <a:ln/>
        </p:spPr>
        <p:txBody>
          <a:bodyPr wrap="square" lIns="0" tIns="0" rIns="0" bIns="0" rtlCol="0" anchor="t"/>
          <a:lstStyle/>
          <a:p>
            <a:pPr algn="l" indent="0" marL="0">
              <a:lnSpc>
                <a:spcPts val="938"/>
              </a:lnSpc>
              <a:buNone/>
            </a:pPr>
            <a:r>
              <a:rPr lang="en-US" sz="800" dirty="0">
                <a:solidFill>
                  <a:srgbClr val="E6E6E6"/>
                </a:solidFill>
                <a:latin typeface="Carlito" pitchFamily="34" charset="0"/>
                <a:ea typeface="Carlito" pitchFamily="34" charset="-122"/>
                <a:cs typeface="Carlito" pitchFamily="34" charset="-120"/>
              </a:rPr>
              <a:t>Golay strictly beats random codes.</a:t>
            </a:r>
            <a:endParaRPr lang="en-US" sz="800" dirty="0"/>
          </a:p>
        </p:txBody>
      </p:sp>
      <p:sp>
        <p:nvSpPr>
          <p:cNvPr id="31" name="Text 29"/>
          <p:cNvSpPr/>
          <p:nvPr/>
        </p:nvSpPr>
        <p:spPr>
          <a:xfrm>
            <a:off x="969206" y="3432460"/>
            <a:ext cx="1299604" cy="159076"/>
          </a:xfrm>
          <a:prstGeom prst="rect">
            <a:avLst/>
          </a:prstGeom>
          <a:noFill/>
          <a:ln/>
        </p:spPr>
        <p:txBody>
          <a:bodyPr wrap="none" lIns="0" tIns="0" rIns="0" bIns="0" rtlCol="0" anchor="t"/>
          <a:lstStyle/>
          <a:p>
            <a:pPr algn="l" indent="0" marL="0">
              <a:lnSpc>
                <a:spcPts val="938"/>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[24,12,8]</a:t>
            </a:r>
            <a:endParaRPr lang="en-US" sz="800" dirty="0"/>
          </a:p>
        </p:txBody>
      </p:sp>
      <p:sp>
        <p:nvSpPr>
          <p:cNvPr id="32" name="Text 30"/>
          <p:cNvSpPr/>
          <p:nvPr/>
        </p:nvSpPr>
        <p:spPr>
          <a:xfrm>
            <a:off x="2300957" y="3432460"/>
            <a:ext cx="2106737" cy="159076"/>
          </a:xfrm>
          <a:prstGeom prst="rect">
            <a:avLst/>
          </a:prstGeom>
          <a:noFill/>
          <a:ln/>
        </p:spPr>
        <p:txBody>
          <a:bodyPr wrap="none" lIns="0" tIns="0" rIns="0" bIns="0" rtlCol="0" anchor="t"/>
          <a:lstStyle/>
          <a:p>
            <a:pPr algn="l" indent="0" marL="0">
              <a:lnSpc>
                <a:spcPts val="938"/>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[24,12]</a:t>
            </a:r>
            <a:endParaRPr lang="en-US" sz="800" dirty="0"/>
          </a:p>
        </p:txBody>
      </p:sp>
      <p:sp>
        <p:nvSpPr>
          <p:cNvPr id="33" name="Text 31"/>
          <p:cNvSpPr/>
          <p:nvPr/>
        </p:nvSpPr>
        <p:spPr>
          <a:xfrm>
            <a:off x="690265" y="3610608"/>
            <a:ext cx="2374516" cy="114499"/>
          </a:xfrm>
          <a:prstGeom prst="rect">
            <a:avLst/>
          </a:prstGeom>
          <a:noFill/>
          <a:ln/>
        </p:spPr>
        <p:txBody>
          <a:bodyPr wrap="square" lIns="0" tIns="0" rIns="0" bIns="0" rtlCol="0" anchor="t"/>
          <a:lstStyle/>
          <a:p>
            <a:pPr algn="l" indent="0" marL="0">
              <a:lnSpc>
                <a:spcPts val="938"/>
              </a:lnSpc>
              <a:buNone/>
            </a:pPr>
            <a:r>
              <a:rPr lang="en-US" sz="800" dirty="0">
                <a:solidFill>
                  <a:srgbClr val="E6E6E6"/>
                </a:solidFill>
                <a:latin typeface="Carlito" pitchFamily="34" charset="0"/>
                <a:ea typeface="Carlito" pitchFamily="34" charset="-122"/>
                <a:cs typeface="Carlito" pitchFamily="34" charset="-120"/>
              </a:rPr>
              <a:t>Uniqueness theorem for stated (4-step proof sketch).</a:t>
            </a:r>
            <a:endParaRPr lang="en-US" sz="800" dirty="0"/>
          </a:p>
        </p:txBody>
      </p:sp>
      <p:sp>
        <p:nvSpPr>
          <p:cNvPr id="34" name="Text 32"/>
          <p:cNvSpPr/>
          <p:nvPr/>
        </p:nvSpPr>
        <p:spPr>
          <a:xfrm>
            <a:off x="1631342" y="3596320"/>
            <a:ext cx="2776351" cy="159076"/>
          </a:xfrm>
          <a:prstGeom prst="rect">
            <a:avLst/>
          </a:prstGeom>
          <a:noFill/>
          <a:ln/>
        </p:spPr>
        <p:txBody>
          <a:bodyPr wrap="none" lIns="0" tIns="0" rIns="0" bIns="0" rtlCol="0" anchor="t"/>
          <a:lstStyle/>
          <a:p>
            <a:pPr algn="l" indent="0" marL="0">
              <a:lnSpc>
                <a:spcPts val="938"/>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[23,12]</a:t>
            </a:r>
            <a:endParaRPr lang="en-US" sz="800" dirty="0"/>
          </a:p>
        </p:txBody>
      </p:sp>
      <p:sp>
        <p:nvSpPr>
          <p:cNvPr id="35" name="Text 33"/>
          <p:cNvSpPr/>
          <p:nvPr/>
        </p:nvSpPr>
        <p:spPr>
          <a:xfrm>
            <a:off x="4614863" y="2113545"/>
            <a:ext cx="4071938" cy="2000250"/>
          </a:xfrm>
          <a:prstGeom prst="roundRect">
            <a:avLst>
              <a:gd name="adj" fmla="val 2857"/>
            </a:avLst>
          </a:prstGeom>
          <a:solidFill>
            <a:srgbClr val="161B22"/>
          </a:solidFill>
          <a:ln/>
        </p:spPr>
        <p:txBody>
          <a:bodyPr wrap="square" rtlCol="0" anchor="ctr"/>
          <a:lstStyle/>
          <a:p>
            <a:pPr indent="0" marL="0">
              <a:buNone/>
            </a:pPr>
            <a:endParaRPr lang="en-US" dirty="0"/>
          </a:p>
        </p:txBody>
      </p:sp>
      <p:sp>
        <p:nvSpPr>
          <p:cNvPr id="36" name="Shape 34"/>
          <p:cNvSpPr/>
          <p:nvPr/>
        </p:nvSpPr>
        <p:spPr>
          <a:xfrm>
            <a:off x="4614863" y="2120689"/>
            <a:ext cx="4071938" cy="0"/>
          </a:xfrm>
          <a:prstGeom prst="line">
            <a:avLst/>
          </a:prstGeom>
          <a:noFill/>
          <a:ln w="14288">
            <a:solidFill>
              <a:srgbClr val="FFB454"/>
            </a:solidFill>
            <a:prstDash val="solid"/>
          </a:ln>
        </p:spPr>
      </p:sp>
      <p:sp>
        <p:nvSpPr>
          <p:cNvPr id="37" name="Shape 35"/>
          <p:cNvSpPr/>
          <p:nvPr/>
        </p:nvSpPr>
        <p:spPr>
          <a:xfrm>
            <a:off x="8683228" y="2113545"/>
            <a:ext cx="0" cy="2000250"/>
          </a:xfrm>
          <a:prstGeom prst="line">
            <a:avLst/>
          </a:prstGeom>
          <a:noFill/>
          <a:ln w="7144">
            <a:solidFill>
              <a:srgbClr val="2A3038"/>
            </a:solidFill>
            <a:prstDash val="solid"/>
          </a:ln>
        </p:spPr>
      </p:sp>
      <p:sp>
        <p:nvSpPr>
          <p:cNvPr id="38" name="Shape 36"/>
          <p:cNvSpPr/>
          <p:nvPr/>
        </p:nvSpPr>
        <p:spPr>
          <a:xfrm>
            <a:off x="4614863" y="4110224"/>
            <a:ext cx="4071938" cy="0"/>
          </a:xfrm>
          <a:prstGeom prst="line">
            <a:avLst/>
          </a:prstGeom>
          <a:noFill/>
          <a:ln w="7144">
            <a:solidFill>
              <a:srgbClr val="2A3038"/>
            </a:solidFill>
            <a:prstDash val="solid"/>
          </a:ln>
        </p:spPr>
      </p:sp>
      <p:sp>
        <p:nvSpPr>
          <p:cNvPr id="39" name="Shape 37"/>
          <p:cNvSpPr/>
          <p:nvPr/>
        </p:nvSpPr>
        <p:spPr>
          <a:xfrm>
            <a:off x="4618434" y="2113545"/>
            <a:ext cx="0" cy="2000250"/>
          </a:xfrm>
          <a:prstGeom prst="line">
            <a:avLst/>
          </a:prstGeom>
          <a:noFill/>
          <a:ln w="7144">
            <a:solidFill>
              <a:srgbClr val="2A3038"/>
            </a:solidFill>
            <a:prstDash val="solid"/>
          </a:ln>
        </p:spPr>
      </p:sp>
      <p:sp>
        <p:nvSpPr>
          <p:cNvPr id="40" name="Text 38"/>
          <p:cNvSpPr/>
          <p:nvPr/>
        </p:nvSpPr>
        <p:spPr>
          <a:xfrm>
            <a:off x="4922044" y="2242133"/>
            <a:ext cx="1521230" cy="125403"/>
          </a:xfrm>
          <a:prstGeom prst="rect">
            <a:avLst/>
          </a:prstGeom>
          <a:noFill/>
          <a:ln/>
        </p:spPr>
        <p:txBody>
          <a:bodyPr wrap="none" lIns="0" tIns="0" rIns="0" bIns="0" rtlCol="0" anchor="t"/>
          <a:lstStyle/>
          <a:p>
            <a:pPr algn="l" indent="0" marL="0">
              <a:lnSpc>
                <a:spcPts val="1181"/>
              </a:lnSpc>
              <a:buNone/>
            </a:pPr>
            <a:r>
              <a:rPr lang="en-US" sz="800" spc="4" kern="0" dirty="0">
                <a:solidFill>
                  <a:srgbClr val="B5BAC4"/>
                </a:solidFill>
                <a:latin typeface="Liberation Sans Narrow" pitchFamily="34" charset="0"/>
                <a:ea typeface="Liberation Sans Narrow" pitchFamily="34" charset="-122"/>
                <a:cs typeface="Liberation Sans Narrow" pitchFamily="34" charset="-120"/>
              </a:rPr>
              <a:t>Priorities for EXTREMAL_005</a:t>
            </a:r>
            <a:endParaRPr lang="en-US" sz="800" dirty="0"/>
          </a:p>
        </p:txBody>
      </p:sp>
      <p:sp>
        <p:nvSpPr>
          <p:cNvPr id="41" name="Text 39"/>
          <p:cNvSpPr/>
          <p:nvPr/>
        </p:nvSpPr>
        <p:spPr>
          <a:xfrm>
            <a:off x="4739878" y="2460017"/>
            <a:ext cx="121444" cy="121444"/>
          </a:xfrm>
          <a:prstGeom prst="roundRect">
            <a:avLst>
              <a:gd name="adj" fmla="val 23529"/>
            </a:avLst>
          </a:prstGeom>
          <a:solidFill>
            <a:srgbClr val="FFB454">
              <a:alpha val="8000"/>
            </a:srgbClr>
          </a:solidFill>
          <a:ln w="7144">
            <a:solidFill>
              <a:srgbClr val="FFB454"/>
            </a:solidFill>
            <a:prstDash val="solid"/>
          </a:ln>
        </p:spPr>
        <p:txBody>
          <a:bodyPr wrap="square" rtlCol="0" anchor="ctr"/>
          <a:lstStyle/>
          <a:p>
            <a:pPr indent="0" marL="0">
              <a:buNone/>
            </a:pPr>
            <a:endParaRPr lang="en-US" dirty="0"/>
          </a:p>
        </p:txBody>
      </p:sp>
      <p:sp>
        <p:nvSpPr>
          <p:cNvPr id="42" name="Text 40"/>
          <p:cNvSpPr/>
          <p:nvPr/>
        </p:nvSpPr>
        <p:spPr>
          <a:xfrm>
            <a:off x="4736306" y="2456445"/>
            <a:ext cx="164306" cy="128588"/>
          </a:xfrm>
          <a:prstGeom prst="rect">
            <a:avLst/>
          </a:prstGeom>
          <a:noFill/>
          <a:ln/>
        </p:spPr>
        <p:txBody>
          <a:bodyPr wrap="none" lIns="0" tIns="0" rIns="0" bIns="0" rtlCol="0" anchor="ctr"/>
          <a:lstStyle/>
          <a:p>
            <a:pPr algn="ctr" indent="0" marL="0">
              <a:lnSpc>
                <a:spcPts val="897"/>
              </a:lnSpc>
              <a:buNone/>
            </a:pPr>
            <a:r>
              <a:rPr lang="en-US" sz="800" b="1" dirty="0">
                <a:solidFill>
                  <a:srgbClr val="FFB454"/>
                </a:solidFill>
                <a:latin typeface="Liberation Sans Narrow" pitchFamily="34" charset="0"/>
                <a:ea typeface="Liberation Sans Narrow" pitchFamily="34" charset="-122"/>
                <a:cs typeface="Liberation Sans Narrow" pitchFamily="34" charset="-120"/>
              </a:rPr>
              <a:t>1</a:t>
            </a:r>
            <a:endParaRPr lang="en-US" sz="800" dirty="0"/>
          </a:p>
        </p:txBody>
      </p:sp>
      <p:sp>
        <p:nvSpPr>
          <p:cNvPr id="43" name="Text 41"/>
          <p:cNvSpPr/>
          <p:nvPr/>
        </p:nvSpPr>
        <p:spPr>
          <a:xfrm>
            <a:off x="4936331" y="2449302"/>
            <a:ext cx="3629025" cy="159076"/>
          </a:xfrm>
          <a:prstGeom prst="rect">
            <a:avLst/>
          </a:prstGeom>
          <a:noFill/>
          <a:ln/>
        </p:spPr>
        <p:txBody>
          <a:bodyPr wrap="square" lIns="0" tIns="0" rIns="0" bIns="0" rtlCol="0" anchor="t"/>
          <a:lstStyle/>
          <a:p>
            <a:pPr algn="l" indent="0" marL="0">
              <a:lnSpc>
                <a:spcPts val="938"/>
              </a:lnSpc>
              <a:buNone/>
            </a:pPr>
            <a:r>
              <a:rPr lang="en-US" sz="800" dirty="0">
                <a:solidFill>
                  <a:srgbClr val="E6E6E6"/>
                </a:solidFill>
                <a:latin typeface="Carlito" pitchFamily="34" charset="0"/>
                <a:ea typeface="Carlito" pitchFamily="34" charset="-122"/>
                <a:cs typeface="Carlito" pitchFamily="34" charset="-120"/>
              </a:rPr>
              <a:t>Complete </a:t>
            </a:r>
            <a:pPr algn="l" indent="0" marL="0">
              <a:lnSpc>
                <a:spcPts val="938"/>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Step 3</a:t>
            </a:r>
            <a:pPr algn="l" indent="0" marL="0">
              <a:lnSpc>
                <a:spcPts val="938"/>
              </a:lnSpc>
              <a:buNone/>
            </a:pPr>
            <a:r>
              <a:rPr lang="en-US" sz="800" dirty="0">
                <a:solidFill>
                  <a:srgbClr val="E6E6E6"/>
                </a:solidFill>
                <a:latin typeface="Carlito" pitchFamily="34" charset="0"/>
                <a:ea typeface="Carlito" pitchFamily="34" charset="-122"/>
                <a:cs typeface="Carlito" pitchFamily="34" charset="-120"/>
              </a:rPr>
              <a:t> of the uniqueness theorem (perfect codes minimise </a:t>
            </a:r>
            <a:pPr algn="l" indent="0" marL="0">
              <a:lnSpc>
                <a:spcPts val="938"/>
              </a:lnSpc>
              <a:buNone/>
            </a:pPr>
            <a:r>
              <a:rPr lang="en-US" sz="800" i="1" dirty="0">
                <a:solidFill>
                  <a:srgbClr val="E6E6E6"/>
                </a:solidFill>
                <a:latin typeface="Tinos" pitchFamily="34" charset="0"/>
                <a:ea typeface="Tinos" pitchFamily="34" charset="-122"/>
                <a:cs typeface="Tinos" pitchFamily="34" charset="-120"/>
              </a:rPr>
              <a:t>ρ</a:t>
            </a:r>
            <a:pPr algn="l" indent="0" marL="0">
              <a:lnSpc>
                <a:spcPts val="938"/>
              </a:lnSpc>
              <a:buNone/>
            </a:pPr>
            <a:r>
              <a:rPr lang="en-US" sz="800" i="1" baseline="-40000" dirty="0">
                <a:solidFill>
                  <a:srgbClr val="E6E6E6"/>
                </a:solidFill>
                <a:latin typeface="Tinos" pitchFamily="34" charset="0"/>
                <a:ea typeface="Tinos" pitchFamily="34" charset="-122"/>
                <a:cs typeface="Tinos" pitchFamily="34" charset="-120"/>
              </a:rPr>
              <a:t>Φ</a:t>
            </a:r>
            <a:pPr algn="l" indent="0" marL="0">
              <a:lnSpc>
                <a:spcPts val="938"/>
              </a:lnSpc>
              <a:buNone/>
            </a:pPr>
            <a:r>
              <a:rPr lang="en-US" sz="800" dirty="0">
                <a:solidFill>
                  <a:srgbClr val="E6E6E6"/>
                </a:solidFill>
                <a:latin typeface="Carlito" pitchFamily="34" charset="0"/>
                <a:ea typeface="Carlito" pitchFamily="34" charset="-122"/>
                <a:cs typeface="Carlito" pitchFamily="34" charset="-120"/>
              </a:rPr>
              <a:t>).</a:t>
            </a:r>
            <a:endParaRPr lang="en-US" sz="800" dirty="0"/>
          </a:p>
        </p:txBody>
      </p:sp>
      <p:sp>
        <p:nvSpPr>
          <p:cNvPr id="44" name="Text 42"/>
          <p:cNvSpPr/>
          <p:nvPr/>
        </p:nvSpPr>
        <p:spPr>
          <a:xfrm>
            <a:off x="4739878" y="2652899"/>
            <a:ext cx="121444" cy="121444"/>
          </a:xfrm>
          <a:prstGeom prst="roundRect">
            <a:avLst>
              <a:gd name="adj" fmla="val 23529"/>
            </a:avLst>
          </a:prstGeom>
          <a:solidFill>
            <a:srgbClr val="FFB454">
              <a:alpha val="8000"/>
            </a:srgbClr>
          </a:solidFill>
          <a:ln w="7144">
            <a:solidFill>
              <a:srgbClr val="FFB454"/>
            </a:solidFill>
            <a:prstDash val="solid"/>
          </a:ln>
        </p:spPr>
        <p:txBody>
          <a:bodyPr wrap="square" rtlCol="0" anchor="ctr"/>
          <a:lstStyle/>
          <a:p>
            <a:pPr indent="0" marL="0">
              <a:buNone/>
            </a:pPr>
            <a:endParaRPr lang="en-US" dirty="0"/>
          </a:p>
        </p:txBody>
      </p:sp>
      <p:sp>
        <p:nvSpPr>
          <p:cNvPr id="45" name="Text 43"/>
          <p:cNvSpPr/>
          <p:nvPr/>
        </p:nvSpPr>
        <p:spPr>
          <a:xfrm>
            <a:off x="4736306" y="2649327"/>
            <a:ext cx="164306" cy="128588"/>
          </a:xfrm>
          <a:prstGeom prst="rect">
            <a:avLst/>
          </a:prstGeom>
          <a:noFill/>
          <a:ln/>
        </p:spPr>
        <p:txBody>
          <a:bodyPr wrap="none" lIns="0" tIns="0" rIns="0" bIns="0" rtlCol="0" anchor="ctr"/>
          <a:lstStyle/>
          <a:p>
            <a:pPr algn="ctr" indent="0" marL="0">
              <a:lnSpc>
                <a:spcPts val="897"/>
              </a:lnSpc>
              <a:buNone/>
            </a:pPr>
            <a:r>
              <a:rPr lang="en-US" sz="800" b="1" dirty="0">
                <a:solidFill>
                  <a:srgbClr val="FFB454"/>
                </a:solidFill>
                <a:latin typeface="Liberation Sans Narrow" pitchFamily="34" charset="0"/>
                <a:ea typeface="Liberation Sans Narrow" pitchFamily="34" charset="-122"/>
                <a:cs typeface="Liberation Sans Narrow" pitchFamily="34" charset="-120"/>
              </a:rPr>
              <a:t>2</a:t>
            </a:r>
            <a:endParaRPr lang="en-US" sz="800" dirty="0"/>
          </a:p>
        </p:txBody>
      </p:sp>
      <p:sp>
        <p:nvSpPr>
          <p:cNvPr id="46" name="Text 44"/>
          <p:cNvSpPr/>
          <p:nvPr/>
        </p:nvSpPr>
        <p:spPr>
          <a:xfrm>
            <a:off x="4936331" y="2642183"/>
            <a:ext cx="3629025" cy="159076"/>
          </a:xfrm>
          <a:prstGeom prst="rect">
            <a:avLst/>
          </a:prstGeom>
          <a:noFill/>
          <a:ln/>
        </p:spPr>
        <p:txBody>
          <a:bodyPr wrap="square" lIns="0" tIns="0" rIns="0" bIns="0" rtlCol="0" anchor="t"/>
          <a:lstStyle/>
          <a:p>
            <a:pPr algn="l" indent="0" marL="0">
              <a:lnSpc>
                <a:spcPts val="938"/>
              </a:lnSpc>
              <a:buNone/>
            </a:pPr>
            <a:r>
              <a:rPr lang="en-US" sz="800" dirty="0">
                <a:solidFill>
                  <a:srgbClr val="E6E6E6"/>
                </a:solidFill>
                <a:latin typeface="Carlito" pitchFamily="34" charset="0"/>
                <a:ea typeface="Carlito" pitchFamily="34" charset="-122"/>
                <a:cs typeface="Carlito" pitchFamily="34" charset="-120"/>
              </a:rPr>
              <a:t>Test the </a:t>
            </a:r>
            <a:pPr algn="l" indent="0" marL="0">
              <a:lnSpc>
                <a:spcPts val="938"/>
              </a:lnSpc>
              <a:buNone/>
            </a:pPr>
            <a:r>
              <a:rPr lang="en-US" sz="800" dirty="0">
                <a:solidFill>
                  <a:srgbClr val="6FE3D2"/>
                </a:solidFill>
                <a:latin typeface="Carlito" pitchFamily="34" charset="0"/>
                <a:ea typeface="Carlito" pitchFamily="34" charset="-122"/>
                <a:cs typeface="Carlito" pitchFamily="34" charset="-120"/>
              </a:rPr>
              <a:t>doubly-even refined conjecture</a:t>
            </a:r>
            <a:pPr algn="l" indent="0" marL="0">
              <a:lnSpc>
                <a:spcPts val="938"/>
              </a:lnSpc>
              <a:buNone/>
            </a:pPr>
            <a:r>
              <a:rPr lang="en-US" sz="800" dirty="0">
                <a:solidFill>
                  <a:srgbClr val="E6E6E6"/>
                </a:solidFill>
                <a:latin typeface="Carlito" pitchFamily="34" charset="0"/>
                <a:ea typeface="Carlito" pitchFamily="34" charset="-122"/>
                <a:cs typeface="Carlito" pitchFamily="34" charset="-120"/>
              </a:rPr>
              <a:t> on </a:t>
            </a:r>
            <a:pPr algn="l" indent="0" marL="0">
              <a:lnSpc>
                <a:spcPts val="938"/>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[16,8]</a:t>
            </a:r>
            <a:pPr algn="l" indent="0" marL="0">
              <a:lnSpc>
                <a:spcPts val="938"/>
              </a:lnSpc>
              <a:buNone/>
            </a:pPr>
            <a:r>
              <a:rPr lang="en-US" sz="800" dirty="0">
                <a:solidFill>
                  <a:srgbClr val="E6E6E6"/>
                </a:solidFill>
                <a:latin typeface="Carlito" pitchFamily="34" charset="0"/>
                <a:ea typeface="Carlito" pitchFamily="34" charset="-122"/>
                <a:cs typeface="Carlito" pitchFamily="34" charset="-120"/>
              </a:rPr>
              <a:t> (generate random DE-SD codes).</a:t>
            </a:r>
            <a:endParaRPr lang="en-US" sz="800" dirty="0"/>
          </a:p>
        </p:txBody>
      </p:sp>
      <p:sp>
        <p:nvSpPr>
          <p:cNvPr id="47" name="Text 45"/>
          <p:cNvSpPr/>
          <p:nvPr/>
        </p:nvSpPr>
        <p:spPr>
          <a:xfrm>
            <a:off x="4739878" y="2845780"/>
            <a:ext cx="121444" cy="121444"/>
          </a:xfrm>
          <a:prstGeom prst="roundRect">
            <a:avLst>
              <a:gd name="adj" fmla="val 23529"/>
            </a:avLst>
          </a:prstGeom>
          <a:solidFill>
            <a:srgbClr val="FFB454">
              <a:alpha val="8000"/>
            </a:srgbClr>
          </a:solidFill>
          <a:ln w="7144">
            <a:solidFill>
              <a:srgbClr val="FFB454"/>
            </a:solidFill>
            <a:prstDash val="solid"/>
          </a:ln>
        </p:spPr>
        <p:txBody>
          <a:bodyPr wrap="square" rtlCol="0" anchor="ctr"/>
          <a:lstStyle/>
          <a:p>
            <a:pPr indent="0" marL="0">
              <a:buNone/>
            </a:pPr>
            <a:endParaRPr lang="en-US" dirty="0"/>
          </a:p>
        </p:txBody>
      </p:sp>
      <p:sp>
        <p:nvSpPr>
          <p:cNvPr id="48" name="Text 46"/>
          <p:cNvSpPr/>
          <p:nvPr/>
        </p:nvSpPr>
        <p:spPr>
          <a:xfrm>
            <a:off x="4736306" y="2842208"/>
            <a:ext cx="164306" cy="128588"/>
          </a:xfrm>
          <a:prstGeom prst="rect">
            <a:avLst/>
          </a:prstGeom>
          <a:noFill/>
          <a:ln/>
        </p:spPr>
        <p:txBody>
          <a:bodyPr wrap="none" lIns="0" tIns="0" rIns="0" bIns="0" rtlCol="0" anchor="ctr"/>
          <a:lstStyle/>
          <a:p>
            <a:pPr algn="ctr" indent="0" marL="0">
              <a:lnSpc>
                <a:spcPts val="897"/>
              </a:lnSpc>
              <a:buNone/>
            </a:pPr>
            <a:r>
              <a:rPr lang="en-US" sz="800" b="1" dirty="0">
                <a:solidFill>
                  <a:srgbClr val="FFB454"/>
                </a:solidFill>
                <a:latin typeface="Liberation Sans Narrow" pitchFamily="34" charset="0"/>
                <a:ea typeface="Liberation Sans Narrow" pitchFamily="34" charset="-122"/>
                <a:cs typeface="Liberation Sans Narrow" pitchFamily="34" charset="-120"/>
              </a:rPr>
              <a:t>3</a:t>
            </a:r>
            <a:endParaRPr lang="en-US" sz="800" dirty="0"/>
          </a:p>
        </p:txBody>
      </p:sp>
      <p:sp>
        <p:nvSpPr>
          <p:cNvPr id="49" name="Text 47"/>
          <p:cNvSpPr/>
          <p:nvPr/>
        </p:nvSpPr>
        <p:spPr>
          <a:xfrm>
            <a:off x="4936331" y="2835064"/>
            <a:ext cx="3629025" cy="159076"/>
          </a:xfrm>
          <a:prstGeom prst="rect">
            <a:avLst/>
          </a:prstGeom>
          <a:noFill/>
          <a:ln/>
        </p:spPr>
        <p:txBody>
          <a:bodyPr wrap="square" lIns="0" tIns="0" rIns="0" bIns="0" rtlCol="0" anchor="t"/>
          <a:lstStyle/>
          <a:p>
            <a:pPr algn="l" indent="0" marL="0">
              <a:lnSpc>
                <a:spcPts val="938"/>
              </a:lnSpc>
              <a:buNone/>
            </a:pPr>
            <a:r>
              <a:rPr lang="en-US" sz="800" dirty="0">
                <a:solidFill>
                  <a:srgbClr val="E6E6E6"/>
                </a:solidFill>
                <a:latin typeface="Carlito" pitchFamily="34" charset="0"/>
                <a:ea typeface="Carlito" pitchFamily="34" charset="-122"/>
                <a:cs typeface="Carlito" pitchFamily="34" charset="-120"/>
              </a:rPr>
              <a:t>Implement smarter self-dual </a:t>
            </a:r>
            <a:pPr algn="l" indent="0" marL="0">
              <a:lnSpc>
                <a:spcPts val="938"/>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[24,12]</a:t>
            </a:r>
            <a:pPr algn="l" indent="0" marL="0">
              <a:lnSpc>
                <a:spcPts val="938"/>
              </a:lnSpc>
              <a:buNone/>
            </a:pPr>
            <a:r>
              <a:rPr lang="en-US" sz="800" dirty="0">
                <a:solidFill>
                  <a:srgbClr val="E6E6E6"/>
                </a:solidFill>
                <a:latin typeface="Carlito" pitchFamily="34" charset="0"/>
                <a:ea typeface="Carlito" pitchFamily="34" charset="-122"/>
                <a:cs typeface="Carlito" pitchFamily="34" charset="-120"/>
              </a:rPr>
              <a:t> sampling (reflections or Construction A).</a:t>
            </a:r>
            <a:endParaRPr lang="en-US" sz="800" dirty="0"/>
          </a:p>
        </p:txBody>
      </p:sp>
      <p:sp>
        <p:nvSpPr>
          <p:cNvPr id="50" name="Text 48"/>
          <p:cNvSpPr/>
          <p:nvPr/>
        </p:nvSpPr>
        <p:spPr>
          <a:xfrm>
            <a:off x="4739878" y="3038661"/>
            <a:ext cx="121444" cy="121444"/>
          </a:xfrm>
          <a:prstGeom prst="roundRect">
            <a:avLst>
              <a:gd name="adj" fmla="val 23529"/>
            </a:avLst>
          </a:prstGeom>
          <a:solidFill>
            <a:srgbClr val="FFB454">
              <a:alpha val="8000"/>
            </a:srgbClr>
          </a:solidFill>
          <a:ln w="7144">
            <a:solidFill>
              <a:srgbClr val="FFB454"/>
            </a:solidFill>
            <a:prstDash val="solid"/>
          </a:ln>
        </p:spPr>
        <p:txBody>
          <a:bodyPr wrap="square" rtlCol="0" anchor="ctr"/>
          <a:lstStyle/>
          <a:p>
            <a:pPr indent="0" marL="0">
              <a:buNone/>
            </a:pPr>
            <a:endParaRPr lang="en-US" dirty="0"/>
          </a:p>
        </p:txBody>
      </p:sp>
      <p:sp>
        <p:nvSpPr>
          <p:cNvPr id="51" name="Text 49"/>
          <p:cNvSpPr/>
          <p:nvPr/>
        </p:nvSpPr>
        <p:spPr>
          <a:xfrm>
            <a:off x="4736306" y="3035089"/>
            <a:ext cx="164306" cy="128588"/>
          </a:xfrm>
          <a:prstGeom prst="rect">
            <a:avLst/>
          </a:prstGeom>
          <a:noFill/>
          <a:ln/>
        </p:spPr>
        <p:txBody>
          <a:bodyPr wrap="none" lIns="0" tIns="0" rIns="0" bIns="0" rtlCol="0" anchor="ctr"/>
          <a:lstStyle/>
          <a:p>
            <a:pPr algn="ctr" indent="0" marL="0">
              <a:lnSpc>
                <a:spcPts val="897"/>
              </a:lnSpc>
              <a:buNone/>
            </a:pPr>
            <a:r>
              <a:rPr lang="en-US" sz="800" b="1" dirty="0">
                <a:solidFill>
                  <a:srgbClr val="FFB454"/>
                </a:solidFill>
                <a:latin typeface="Liberation Sans Narrow" pitchFamily="34" charset="0"/>
                <a:ea typeface="Liberation Sans Narrow" pitchFamily="34" charset="-122"/>
                <a:cs typeface="Liberation Sans Narrow" pitchFamily="34" charset="-120"/>
              </a:rPr>
              <a:t>4</a:t>
            </a:r>
            <a:endParaRPr lang="en-US" sz="800" dirty="0"/>
          </a:p>
        </p:txBody>
      </p:sp>
      <p:sp>
        <p:nvSpPr>
          <p:cNvPr id="52" name="Text 50"/>
          <p:cNvSpPr/>
          <p:nvPr/>
        </p:nvSpPr>
        <p:spPr>
          <a:xfrm>
            <a:off x="4936331" y="3027945"/>
            <a:ext cx="3629025" cy="159076"/>
          </a:xfrm>
          <a:prstGeom prst="rect">
            <a:avLst/>
          </a:prstGeom>
          <a:noFill/>
          <a:ln/>
        </p:spPr>
        <p:txBody>
          <a:bodyPr wrap="square" lIns="0" tIns="0" rIns="0" bIns="0" rtlCol="0" anchor="t"/>
          <a:lstStyle/>
          <a:p>
            <a:pPr algn="l" indent="0" marL="0">
              <a:lnSpc>
                <a:spcPts val="938"/>
              </a:lnSpc>
              <a:buNone/>
            </a:pPr>
            <a:r>
              <a:rPr lang="en-US" sz="800" dirty="0">
                <a:solidFill>
                  <a:srgbClr val="E6E6E6"/>
                </a:solidFill>
                <a:latin typeface="Carlito" pitchFamily="34" charset="0"/>
                <a:ea typeface="Carlito" pitchFamily="34" charset="-122"/>
                <a:cs typeface="Carlito" pitchFamily="34" charset="-120"/>
              </a:rPr>
              <a:t>Run avg_</a:t>
            </a:r>
            <a:pPr algn="l" indent="0" marL="0">
              <a:lnSpc>
                <a:spcPts val="938"/>
              </a:lnSpc>
              <a:buNone/>
            </a:pPr>
            <a:r>
              <a:rPr lang="en-US" sz="800" i="1" dirty="0">
                <a:solidFill>
                  <a:srgbClr val="E6E6E6"/>
                </a:solidFill>
                <a:latin typeface="Tinos" pitchFamily="34" charset="0"/>
                <a:ea typeface="Tinos" pitchFamily="34" charset="-122"/>
                <a:cs typeface="Tinos" pitchFamily="34" charset="-120"/>
              </a:rPr>
              <a:t>Φ</a:t>
            </a:r>
            <a:pPr algn="l" indent="0" marL="0">
              <a:lnSpc>
                <a:spcPts val="938"/>
              </a:lnSpc>
              <a:buNone/>
            </a:pPr>
            <a:r>
              <a:rPr lang="en-US" sz="800" dirty="0">
                <a:solidFill>
                  <a:srgbClr val="E6E6E6"/>
                </a:solidFill>
                <a:latin typeface="Carlito" pitchFamily="34" charset="0"/>
                <a:ea typeface="Carlito" pitchFamily="34" charset="-122"/>
                <a:cs typeface="Carlito" pitchFamily="34" charset="-120"/>
              </a:rPr>
              <a:t> on a much larger random </a:t>
            </a:r>
            <a:pPr algn="l" indent="0" marL="0">
              <a:lnSpc>
                <a:spcPts val="938"/>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[24,12,8]</a:t>
            </a:r>
            <a:pPr algn="l" indent="0" marL="0">
              <a:lnSpc>
                <a:spcPts val="938"/>
              </a:lnSpc>
              <a:buNone/>
            </a:pPr>
            <a:r>
              <a:rPr lang="en-US" sz="800" dirty="0">
                <a:solidFill>
                  <a:srgbClr val="E6E6E6"/>
                </a:solidFill>
                <a:latin typeface="Carlito" pitchFamily="34" charset="0"/>
                <a:ea typeface="Carlito" pitchFamily="34" charset="-122"/>
                <a:cs typeface="Carlito" pitchFamily="34" charset="-120"/>
              </a:rPr>
              <a:t> sample (</a:t>
            </a:r>
            <a:pPr algn="l" indent="0" marL="0">
              <a:lnSpc>
                <a:spcPts val="938"/>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100+</a:t>
            </a:r>
            <a:pPr algn="l" indent="0" marL="0">
              <a:lnSpc>
                <a:spcPts val="938"/>
              </a:lnSpc>
              <a:buNone/>
            </a:pPr>
            <a:r>
              <a:rPr lang="en-US" sz="800" dirty="0">
                <a:solidFill>
                  <a:srgbClr val="E6E6E6"/>
                </a:solidFill>
                <a:latin typeface="Carlito" pitchFamily="34" charset="0"/>
                <a:ea typeface="Carlito" pitchFamily="34" charset="-122"/>
                <a:cs typeface="Carlito" pitchFamily="34" charset="-120"/>
              </a:rPr>
              <a:t> codes).</a:t>
            </a:r>
            <a:endParaRPr lang="en-US" sz="800" dirty="0"/>
          </a:p>
        </p:txBody>
      </p:sp>
      <p:sp>
        <p:nvSpPr>
          <p:cNvPr id="53" name="Text 51"/>
          <p:cNvSpPr/>
          <p:nvPr/>
        </p:nvSpPr>
        <p:spPr>
          <a:xfrm>
            <a:off x="4739878" y="3231542"/>
            <a:ext cx="121444" cy="121444"/>
          </a:xfrm>
          <a:prstGeom prst="roundRect">
            <a:avLst>
              <a:gd name="adj" fmla="val 23529"/>
            </a:avLst>
          </a:prstGeom>
          <a:solidFill>
            <a:srgbClr val="FFB454">
              <a:alpha val="8000"/>
            </a:srgbClr>
          </a:solidFill>
          <a:ln w="7144">
            <a:solidFill>
              <a:srgbClr val="FFB454"/>
            </a:solidFill>
            <a:prstDash val="solid"/>
          </a:ln>
        </p:spPr>
        <p:txBody>
          <a:bodyPr wrap="square" rtlCol="0" anchor="ctr"/>
          <a:lstStyle/>
          <a:p>
            <a:pPr indent="0" marL="0">
              <a:buNone/>
            </a:pPr>
            <a:endParaRPr lang="en-US" dirty="0"/>
          </a:p>
        </p:txBody>
      </p:sp>
      <p:sp>
        <p:nvSpPr>
          <p:cNvPr id="54" name="Text 52"/>
          <p:cNvSpPr/>
          <p:nvPr/>
        </p:nvSpPr>
        <p:spPr>
          <a:xfrm>
            <a:off x="4736306" y="3227970"/>
            <a:ext cx="164306" cy="128588"/>
          </a:xfrm>
          <a:prstGeom prst="rect">
            <a:avLst/>
          </a:prstGeom>
          <a:noFill/>
          <a:ln/>
        </p:spPr>
        <p:txBody>
          <a:bodyPr wrap="none" lIns="0" tIns="0" rIns="0" bIns="0" rtlCol="0" anchor="ctr"/>
          <a:lstStyle/>
          <a:p>
            <a:pPr algn="ctr" indent="0" marL="0">
              <a:lnSpc>
                <a:spcPts val="897"/>
              </a:lnSpc>
              <a:buNone/>
            </a:pPr>
            <a:r>
              <a:rPr lang="en-US" sz="800" b="1" dirty="0">
                <a:solidFill>
                  <a:srgbClr val="FFB454"/>
                </a:solidFill>
                <a:latin typeface="Liberation Sans Narrow" pitchFamily="34" charset="0"/>
                <a:ea typeface="Liberation Sans Narrow" pitchFamily="34" charset="-122"/>
                <a:cs typeface="Liberation Sans Narrow" pitchFamily="34" charset="-120"/>
              </a:rPr>
              <a:t>5</a:t>
            </a:r>
            <a:endParaRPr lang="en-US" sz="800" dirty="0"/>
          </a:p>
        </p:txBody>
      </p:sp>
      <p:sp>
        <p:nvSpPr>
          <p:cNvPr id="55" name="Text 53"/>
          <p:cNvSpPr/>
          <p:nvPr/>
        </p:nvSpPr>
        <p:spPr>
          <a:xfrm>
            <a:off x="4936331" y="3220827"/>
            <a:ext cx="3629025" cy="159076"/>
          </a:xfrm>
          <a:prstGeom prst="rect">
            <a:avLst/>
          </a:prstGeom>
          <a:noFill/>
          <a:ln/>
        </p:spPr>
        <p:txBody>
          <a:bodyPr wrap="square" lIns="0" tIns="0" rIns="0" bIns="0" rtlCol="0" anchor="t"/>
          <a:lstStyle/>
          <a:p>
            <a:pPr algn="l" indent="0" marL="0">
              <a:lnSpc>
                <a:spcPts val="938"/>
              </a:lnSpc>
              <a:buNone/>
            </a:pPr>
            <a:r>
              <a:rPr lang="en-US" sz="800" dirty="0">
                <a:solidFill>
                  <a:srgbClr val="E6E6E6"/>
                </a:solidFill>
                <a:latin typeface="Carlito" pitchFamily="34" charset="0"/>
                <a:ea typeface="Carlito" pitchFamily="34" charset="-122"/>
                <a:cs typeface="Carlito" pitchFamily="34" charset="-120"/>
              </a:rPr>
              <a:t>Explore whether </a:t>
            </a:r>
            <a:pPr algn="l" indent="0" marL="0">
              <a:lnSpc>
                <a:spcPts val="938"/>
              </a:lnSpc>
              <a:buNone/>
            </a:pPr>
            <a:r>
              <a:rPr lang="en-US" sz="800" i="1" dirty="0">
                <a:solidFill>
                  <a:srgbClr val="E6E6E6"/>
                </a:solidFill>
                <a:latin typeface="Tinos" pitchFamily="34" charset="0"/>
                <a:ea typeface="Tinos" pitchFamily="34" charset="-122"/>
                <a:cs typeface="Tinos" pitchFamily="34" charset="-120"/>
              </a:rPr>
              <a:t>Φ</a:t>
            </a:r>
            <a:pPr algn="l" indent="0" marL="0">
              <a:lnSpc>
                <a:spcPts val="938"/>
              </a:lnSpc>
              <a:buNone/>
            </a:pPr>
            <a:r>
              <a:rPr lang="en-US" sz="800" dirty="0">
                <a:solidFill>
                  <a:srgbClr val="E6E6E6"/>
                </a:solidFill>
                <a:latin typeface="Carlito" pitchFamily="34" charset="0"/>
                <a:ea typeface="Carlito" pitchFamily="34" charset="-122"/>
                <a:cs typeface="Carlito" pitchFamily="34" charset="-120"/>
              </a:rPr>
              <a:t> can be extended to incorporate lattice structure </a:t>
            </a:r>
            <a:pPr algn="l" indent="0" marL="0">
              <a:lnSpc>
                <a:spcPts val="938"/>
              </a:lnSpc>
              <a:buNone/>
            </a:pPr>
            <a:r>
              <a:rPr lang="en-US" sz="800" dirty="0">
                <a:solidFill>
                  <a:srgbClr val="B097FF"/>
                </a:solidFill>
                <a:latin typeface="Liberation Sans Narrow" pitchFamily="34" charset="0"/>
                <a:ea typeface="Liberation Sans Narrow" pitchFamily="34" charset="-122"/>
                <a:cs typeface="Liberation Sans Narrow" pitchFamily="34" charset="-120"/>
              </a:rPr>
              <a:t>(Q3, hardest)</a:t>
            </a:r>
            <a:pPr algn="l" indent="0" marL="0">
              <a:lnSpc>
                <a:spcPts val="938"/>
              </a:lnSpc>
              <a:buNone/>
            </a:pPr>
            <a:r>
              <a:rPr lang="en-US" sz="800" dirty="0">
                <a:solidFill>
                  <a:srgbClr val="E6E6E6"/>
                </a:solidFill>
                <a:latin typeface="Carlito" pitchFamily="34" charset="0"/>
                <a:ea typeface="Carlito" pitchFamily="34" charset="-122"/>
                <a:cs typeface="Carlito" pitchFamily="34" charset="-120"/>
              </a:rPr>
              <a:t>.</a:t>
            </a:r>
            <a:endParaRPr lang="en-US" sz="800" dirty="0"/>
          </a:p>
        </p:txBody>
      </p:sp>
      <p:sp>
        <p:nvSpPr>
          <p:cNvPr id="56" name="Text 54"/>
          <p:cNvSpPr/>
          <p:nvPr/>
        </p:nvSpPr>
        <p:spPr>
          <a:xfrm>
            <a:off x="6767029" y="4203092"/>
            <a:ext cx="1873337" cy="196453"/>
          </a:xfrm>
          <a:prstGeom prst="roundRect">
            <a:avLst>
              <a:gd name="adj" fmla="val 4843639"/>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57" name="Text 55"/>
          <p:cNvSpPr/>
          <p:nvPr/>
        </p:nvSpPr>
        <p:spPr>
          <a:xfrm>
            <a:off x="6763457" y="4199520"/>
            <a:ext cx="1923343" cy="284295"/>
          </a:xfrm>
          <a:prstGeom prst="rect">
            <a:avLst/>
          </a:prstGeom>
          <a:noFill/>
          <a:ln/>
        </p:spPr>
        <p:txBody>
          <a:bodyPr wrap="square" lIns="100013" tIns="35719" rIns="100013" bIns="35719" rtlCol="0" anchor="t"/>
          <a:lstStyle/>
          <a:p>
            <a:pPr algn="l" indent="0" marL="0">
              <a:lnSpc>
                <a:spcPts val="928"/>
              </a:lnSpc>
              <a:buNone/>
            </a:pPr>
            <a:r>
              <a:rPr lang="en-US" sz="800" spc="62" kern="0" dirty="0">
                <a:solidFill>
                  <a:srgbClr val="FFB454"/>
                </a:solidFill>
                <a:latin typeface="Segoe UI Symbol" pitchFamily="34" charset="0"/>
                <a:ea typeface="Segoe UI Symbol" pitchFamily="34" charset="-122"/>
                <a:cs typeface="Segoe UI Symbol" pitchFamily="34" charset="-120"/>
              </a:rPr>
              <a:t>✓</a:t>
            </a:r>
            <a:pPr algn="l" indent="0" marL="0">
              <a:lnSpc>
                <a:spcPts val="928"/>
              </a:lnSpc>
              <a:buNone/>
            </a:pPr>
            <a:r>
              <a:rPr lang="en-US" sz="800" spc="62" kern="0" dirty="0">
                <a:solidFill>
                  <a:srgbClr val="FFB454"/>
                </a:solidFill>
                <a:latin typeface="Courier New" pitchFamily="34" charset="0"/>
                <a:ea typeface="Courier New" pitchFamily="34" charset="-122"/>
                <a:cs typeface="Courier New" pitchFamily="34" charset="-120"/>
              </a:rPr>
              <a:t> CONTINUATION STATUS: ACTIVE</a:t>
            </a:r>
            <a:endParaRPr lang="en-US" sz="800" dirty="0"/>
          </a:p>
        </p:txBody>
      </p:sp>
      <p:sp>
        <p:nvSpPr>
          <p:cNvPr id="58" name="Text 56"/>
          <p:cNvSpPr/>
          <p:nvPr/>
        </p:nvSpPr>
        <p:spPr>
          <a:xfrm>
            <a:off x="457200" y="4893469"/>
            <a:ext cx="6217630"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Liberation Sans Narrow" pitchFamily="34" charset="0"/>
                <a:ea typeface="Liberation Sans Narrow" pitchFamily="34" charset="-122"/>
                <a:cs typeface="Liberation Sans Narrow" pitchFamily="34" charset="-120"/>
              </a:rPr>
              <a:t>UBP_STUDY_EXTREMAL_004 / End / p.16</a:t>
            </a:r>
            <a:endParaRPr lang="en-US" sz="800" dirty="0"/>
          </a:p>
        </p:txBody>
      </p:sp>
      <p:sp>
        <p:nvSpPr>
          <p:cNvPr id="59" name="Text 57"/>
          <p:cNvSpPr/>
          <p:nvPr/>
        </p:nvSpPr>
        <p:spPr>
          <a:xfrm>
            <a:off x="6689117" y="4893469"/>
            <a:ext cx="2157497"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E.R.A. CRAIG (DIGITALEUAN) · AUCKLAND, NZ</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2026-06-24T08:08:15Z</dcterms:created>
  <dcterms:modified xsi:type="dcterms:W3CDTF">2026-06-24T08:08:15Z</dcterms:modified>
</cp:coreProperties>
</file>